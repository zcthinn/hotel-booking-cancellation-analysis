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Ex1.xml" ContentType="application/vnd.ms-office.chartex+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Ex2.xml" ContentType="application/vnd.ms-office.chartex+xml"/>
  <Override PartName="/ppt/charts/style8.xml" ContentType="application/vnd.ms-office.chartstyle+xml"/>
  <Override PartName="/ppt/charts/colors8.xml" ContentType="application/vnd.ms-office.chartcolorstyle+xml"/>
  <Override PartName="/ppt/charts/chart7.xml" ContentType="application/vnd.openxmlformats-officedocument.drawingml.chart+xml"/>
  <Override PartName="/ppt/charts/style9.xml" ContentType="application/vnd.ms-office.chartstyle+xml"/>
  <Override PartName="/ppt/charts/colors9.xml" ContentType="application/vnd.ms-office.chartcolorstyle+xml"/>
  <Override PartName="/ppt/charts/chart8.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9.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0.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1.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2.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3.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4.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5.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6.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7.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2.xml" ContentType="application/vnd.openxmlformats-officedocument.presentationml.notesSlide+xml"/>
  <Override PartName="/ppt/charts/chart18.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19.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0.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Ex3.xml" ContentType="application/vnd.ms-office.chartex+xml"/>
  <Override PartName="/ppt/charts/style23.xml" ContentType="application/vnd.ms-office.chartstyle+xml"/>
  <Override PartName="/ppt/charts/colors23.xml" ContentType="application/vnd.ms-office.chartcolorstyle+xml"/>
  <Override PartName="/ppt/charts/chart21.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2.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3.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4.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5.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6.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27.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28.xml" ContentType="application/vnd.openxmlformats-officedocument.drawingml.chart+xml"/>
  <Override PartName="/ppt/charts/style31.xml" ContentType="application/vnd.ms-office.chartstyle+xml"/>
  <Override PartName="/ppt/charts/colors3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0"/>
  </p:notesMasterIdLst>
  <p:sldIdLst>
    <p:sldId id="256" r:id="rId2"/>
    <p:sldId id="257" r:id="rId3"/>
    <p:sldId id="337" r:id="rId4"/>
    <p:sldId id="342" r:id="rId5"/>
    <p:sldId id="341" r:id="rId6"/>
    <p:sldId id="338" r:id="rId7"/>
    <p:sldId id="340" r:id="rId8"/>
    <p:sldId id="339" r:id="rId9"/>
    <p:sldId id="343" r:id="rId10"/>
    <p:sldId id="345" r:id="rId11"/>
    <p:sldId id="344" r:id="rId12"/>
    <p:sldId id="346" r:id="rId13"/>
    <p:sldId id="347" r:id="rId14"/>
    <p:sldId id="270" r:id="rId15"/>
    <p:sldId id="348" r:id="rId16"/>
    <p:sldId id="349" r:id="rId17"/>
    <p:sldId id="350" r:id="rId18"/>
    <p:sldId id="351" r:id="rId19"/>
    <p:sldId id="352" r:id="rId20"/>
    <p:sldId id="353" r:id="rId21"/>
    <p:sldId id="354" r:id="rId22"/>
    <p:sldId id="355" r:id="rId23"/>
    <p:sldId id="356" r:id="rId24"/>
    <p:sldId id="357" r:id="rId25"/>
    <p:sldId id="358" r:id="rId26"/>
    <p:sldId id="363" r:id="rId27"/>
    <p:sldId id="362" r:id="rId28"/>
    <p:sldId id="359" r:id="rId29"/>
    <p:sldId id="364" r:id="rId30"/>
    <p:sldId id="365" r:id="rId31"/>
    <p:sldId id="367" r:id="rId32"/>
    <p:sldId id="366" r:id="rId33"/>
    <p:sldId id="369" r:id="rId34"/>
    <p:sldId id="370" r:id="rId35"/>
    <p:sldId id="371" r:id="rId36"/>
    <p:sldId id="368" r:id="rId37"/>
    <p:sldId id="372" r:id="rId38"/>
    <p:sldId id="312" r:id="rId39"/>
    <p:sldId id="374" r:id="rId40"/>
    <p:sldId id="373" r:id="rId41"/>
    <p:sldId id="315" r:id="rId42"/>
    <p:sldId id="375" r:id="rId43"/>
    <p:sldId id="376" r:id="rId44"/>
    <p:sldId id="377" r:id="rId45"/>
    <p:sldId id="378" r:id="rId46"/>
    <p:sldId id="379" r:id="rId47"/>
    <p:sldId id="318" r:id="rId48"/>
    <p:sldId id="380"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643"/>
  </p:normalViewPr>
  <p:slideViewPr>
    <p:cSldViewPr snapToGrid="0">
      <p:cViewPr varScale="1">
        <p:scale>
          <a:sx n="70" d="100"/>
          <a:sy n="70" d="100"/>
        </p:scale>
        <p:origin x="208" y="11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zarchithinn/Desktop/hotel_bookings_cleaned_V3.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zarchithinn/Desktop/hotel_bookings_cleaned_V3.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zarchithinn/Desktop/hotel_bookings_cleaned_V3.xlsx" TargetMode="External"/><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9.xml"/><Relationship Id="rId1" Type="http://schemas.microsoft.com/office/2011/relationships/chartStyle" Target="style9.xml"/></Relationships>
</file>

<file path=ppt/charts/_rels/chart8.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10.xml"/><Relationship Id="rId1" Type="http://schemas.microsoft.com/office/2011/relationships/chartStyle" Target="style10.xml"/></Relationships>
</file>

<file path=ppt/charts/_rels/chart9.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11.xml"/><Relationship Id="rId1" Type="http://schemas.microsoft.com/office/2011/relationships/chartStyle" Target="style11.xml"/></Relationships>
</file>

<file path=ppt/charts/_rels/chart10.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12.xml"/><Relationship Id="rId1" Type="http://schemas.microsoft.com/office/2011/relationships/chartStyle" Target="style12.xml"/></Relationships>
</file>

<file path=ppt/charts/_rels/chart11.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13.xml"/><Relationship Id="rId1" Type="http://schemas.microsoft.com/office/2011/relationships/chartStyle" Target="style13.xml"/></Relationships>
</file>

<file path=ppt/charts/_rels/chart12.xml.rels><?xml version="1.0" encoding="UTF-8" standalone="yes"?>
<Relationships xmlns="http://schemas.openxmlformats.org/package/2006/relationships"><Relationship Id="rId3" Type="http://schemas.openxmlformats.org/officeDocument/2006/relationships/oleObject" Target="file:////Users/zarchithinn/Desktop/hotel_bookings_cleaned_V3.xlsx" TargetMode="External"/><Relationship Id="rId2" Type="http://schemas.microsoft.com/office/2011/relationships/chartColorStyle" Target="colors14.xml"/><Relationship Id="rId1" Type="http://schemas.microsoft.com/office/2011/relationships/chartStyle" Target="style14.xml"/></Relationships>
</file>

<file path=ppt/charts/_rels/chart13.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15.xml"/><Relationship Id="rId1" Type="http://schemas.microsoft.com/office/2011/relationships/chartStyle" Target="style15.xml"/></Relationships>
</file>

<file path=ppt/charts/_rels/chart14.xml.rels><?xml version="1.0" encoding="UTF-8" standalone="yes"?>
<Relationships xmlns="http://schemas.openxmlformats.org/package/2006/relationships"><Relationship Id="rId3" Type="http://schemas.openxmlformats.org/officeDocument/2006/relationships/oleObject" Target="file:////Users/zarchithinn/Desktop/hotel_bookings_cleaned_V3.xlsx" TargetMode="External"/><Relationship Id="rId2" Type="http://schemas.microsoft.com/office/2011/relationships/chartColorStyle" Target="colors16.xml"/><Relationship Id="rId1" Type="http://schemas.microsoft.com/office/2011/relationships/chartStyle" Target="style16.xml"/></Relationships>
</file>

<file path=ppt/charts/_rels/chart15.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17.xml"/><Relationship Id="rId1" Type="http://schemas.microsoft.com/office/2011/relationships/chartStyle" Target="style17.xml"/></Relationships>
</file>

<file path=ppt/charts/_rels/chart16.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18.xml"/><Relationship Id="rId1" Type="http://schemas.microsoft.com/office/2011/relationships/chartStyle" Target="style18.xml"/></Relationships>
</file>

<file path=ppt/charts/_rels/chart17.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19.xml"/><Relationship Id="rId1" Type="http://schemas.microsoft.com/office/2011/relationships/chartStyle" Target="style19.xml"/></Relationships>
</file>

<file path=ppt/charts/_rels/chart18.xml.rels><?xml version="1.0" encoding="UTF-8" standalone="yes"?>
<Relationships xmlns="http://schemas.openxmlformats.org/package/2006/relationships"><Relationship Id="rId3" Type="http://schemas.openxmlformats.org/officeDocument/2006/relationships/oleObject" Target="file:////Users/zarchithinn/Desktop/hotel_bookings_cleaned_V3.xlsx" TargetMode="External"/><Relationship Id="rId2" Type="http://schemas.microsoft.com/office/2011/relationships/chartColorStyle" Target="colors20.xml"/><Relationship Id="rId1" Type="http://schemas.microsoft.com/office/2011/relationships/chartStyle" Target="style20.xml"/></Relationships>
</file>

<file path=ppt/charts/_rels/chart19.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21.xml"/><Relationship Id="rId1" Type="http://schemas.microsoft.com/office/2011/relationships/chartStyle" Target="style21.xml"/></Relationships>
</file>

<file path=ppt/charts/_rels/chart20.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22.xml"/><Relationship Id="rId1" Type="http://schemas.microsoft.com/office/2011/relationships/chartStyle" Target="style22.xml"/></Relationships>
</file>

<file path=ppt/charts/_rels/chart21.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24.xml"/><Relationship Id="rId1" Type="http://schemas.microsoft.com/office/2011/relationships/chartStyle" Target="style24.xml"/></Relationships>
</file>

<file path=ppt/charts/_rels/chart22.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25.xml"/><Relationship Id="rId1" Type="http://schemas.microsoft.com/office/2011/relationships/chartStyle" Target="style25.xml"/></Relationships>
</file>

<file path=ppt/charts/_rels/chart23.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26.xml"/><Relationship Id="rId1" Type="http://schemas.microsoft.com/office/2011/relationships/chartStyle" Target="style26.xml"/></Relationships>
</file>

<file path=ppt/charts/_rels/chart24.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27.xml"/><Relationship Id="rId1" Type="http://schemas.microsoft.com/office/2011/relationships/chartStyle" Target="style27.xml"/></Relationships>
</file>

<file path=ppt/charts/_rels/chart25.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28.xml"/><Relationship Id="rId1" Type="http://schemas.microsoft.com/office/2011/relationships/chartStyle" Target="style28.xml"/></Relationships>
</file>

<file path=ppt/charts/_rels/chart26.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29.xml"/><Relationship Id="rId1" Type="http://schemas.microsoft.com/office/2011/relationships/chartStyle" Target="style29.xml"/></Relationships>
</file>

<file path=ppt/charts/_rels/chart27.xml.rels><?xml version="1.0" encoding="UTF-8" standalone="yes"?>
<Relationships xmlns="http://schemas.openxmlformats.org/package/2006/relationships"><Relationship Id="rId3" Type="http://schemas.openxmlformats.org/officeDocument/2006/relationships/oleObject" Target="file:////Users/zarchithinn/Desktop/hotel_bookings_cleaned_V2-2.xlsx" TargetMode="External"/><Relationship Id="rId2" Type="http://schemas.microsoft.com/office/2011/relationships/chartColorStyle" Target="colors30.xml"/><Relationship Id="rId1" Type="http://schemas.microsoft.com/office/2011/relationships/chartStyle" Target="style30.xml"/></Relationships>
</file>

<file path=ppt/charts/_rels/chart28.xml.rels><?xml version="1.0" encoding="UTF-8" standalone="yes"?>
<Relationships xmlns="http://schemas.openxmlformats.org/package/2006/relationships"><Relationship Id="rId3" Type="http://schemas.openxmlformats.org/officeDocument/2006/relationships/oleObject" Target="file:////Users/zarchithinn/Desktop/hotel_bookings_cleaned_V3.xlsx" TargetMode="External"/><Relationship Id="rId2" Type="http://schemas.microsoft.com/office/2011/relationships/chartColorStyle" Target="colors31.xml"/><Relationship Id="rId1" Type="http://schemas.microsoft.com/office/2011/relationships/chartStyle" Target="style31.xml"/></Relationships>
</file>

<file path=ppt/charts/_rels/chartEx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Users/zarchithinn/Desktop/hotel_bookings_cleaned_V2-2.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Users/zarchithinn/Desktop/hotel_bookings_cleaned_V2-2.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23.xml"/><Relationship Id="rId2" Type="http://schemas.microsoft.com/office/2011/relationships/chartStyle" Target="style23.xml"/><Relationship Id="rId1" Type="http://schemas.openxmlformats.org/officeDocument/2006/relationships/oleObject" Target="file:////Users/zarchithinn/Desktop/hotel_bookings_cleaned_V2-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Room Revenue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'City Hotel'!$B$502</c:f>
              <c:strCache>
                <c:ptCount val="1"/>
                <c:pt idx="0">
                  <c:v>2015</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Hotel'!$A$503:$A$506</c:f>
              <c:strCache>
                <c:ptCount val="4"/>
                <c:pt idx="0">
                  <c:v>Qtr1</c:v>
                </c:pt>
                <c:pt idx="1">
                  <c:v>Qtr2</c:v>
                </c:pt>
                <c:pt idx="2">
                  <c:v>Qtr3</c:v>
                </c:pt>
                <c:pt idx="3">
                  <c:v>Qtr4</c:v>
                </c:pt>
              </c:strCache>
            </c:strRef>
          </c:cat>
          <c:val>
            <c:numRef>
              <c:f>'City Hotel'!$B$503:$B$506</c:f>
              <c:numCache>
                <c:formatCode>General</c:formatCode>
                <c:ptCount val="4"/>
                <c:pt idx="2" formatCode="#,##0.00">
                  <c:v>931847.13000000059</c:v>
                </c:pt>
                <c:pt idx="3" formatCode="#,##0.00">
                  <c:v>934157.38000000175</c:v>
                </c:pt>
              </c:numCache>
            </c:numRef>
          </c:val>
          <c:extLst>
            <c:ext xmlns:c16="http://schemas.microsoft.com/office/drawing/2014/chart" uri="{C3380CC4-5D6E-409C-BE32-E72D297353CC}">
              <c16:uniqueId val="{00000000-07F2-4947-B59E-8393E90D7BC5}"/>
            </c:ext>
          </c:extLst>
        </c:ser>
        <c:ser>
          <c:idx val="1"/>
          <c:order val="1"/>
          <c:tx>
            <c:strRef>
              <c:f>'City Hotel'!$C$502</c:f>
              <c:strCache>
                <c:ptCount val="1"/>
                <c:pt idx="0">
                  <c:v>2016</c:v>
                </c:pt>
              </c:strCache>
            </c:strRef>
          </c:tx>
          <c:spPr>
            <a:solidFill>
              <a:schemeClr val="accent2"/>
            </a:solidFill>
            <a:ln>
              <a:noFill/>
            </a:ln>
            <a:effectLst/>
            <a:sp3d/>
          </c:spPr>
          <c:invertIfNegative val="0"/>
          <c:dLbls>
            <c:dLbl>
              <c:idx val="1"/>
              <c:layout>
                <c:manualLayout>
                  <c:x val="1.1111111111111059E-2"/>
                  <c:y val="-3.7037037037037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7F2-4947-B59E-8393E90D7BC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Hotel'!$A$503:$A$506</c:f>
              <c:strCache>
                <c:ptCount val="4"/>
                <c:pt idx="0">
                  <c:v>Qtr1</c:v>
                </c:pt>
                <c:pt idx="1">
                  <c:v>Qtr2</c:v>
                </c:pt>
                <c:pt idx="2">
                  <c:v>Qtr3</c:v>
                </c:pt>
                <c:pt idx="3">
                  <c:v>Qtr4</c:v>
                </c:pt>
              </c:strCache>
            </c:strRef>
          </c:cat>
          <c:val>
            <c:numRef>
              <c:f>'City Hotel'!$C$503:$C$506</c:f>
              <c:numCache>
                <c:formatCode>#,##0.00</c:formatCode>
                <c:ptCount val="4"/>
                <c:pt idx="0">
                  <c:v>994749.81000000029</c:v>
                </c:pt>
                <c:pt idx="1">
                  <c:v>1881962.1100000003</c:v>
                </c:pt>
                <c:pt idx="2">
                  <c:v>2221214.3800000041</c:v>
                </c:pt>
                <c:pt idx="3">
                  <c:v>1598854.8800000004</c:v>
                </c:pt>
              </c:numCache>
            </c:numRef>
          </c:val>
          <c:extLst>
            <c:ext xmlns:c16="http://schemas.microsoft.com/office/drawing/2014/chart" uri="{C3380CC4-5D6E-409C-BE32-E72D297353CC}">
              <c16:uniqueId val="{00000002-07F2-4947-B59E-8393E90D7BC5}"/>
            </c:ext>
          </c:extLst>
        </c:ser>
        <c:ser>
          <c:idx val="2"/>
          <c:order val="2"/>
          <c:tx>
            <c:strRef>
              <c:f>'City Hotel'!$D$502</c:f>
              <c:strCache>
                <c:ptCount val="1"/>
                <c:pt idx="0">
                  <c:v>2017</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Hotel'!$A$503:$A$506</c:f>
              <c:strCache>
                <c:ptCount val="4"/>
                <c:pt idx="0">
                  <c:v>Qtr1</c:v>
                </c:pt>
                <c:pt idx="1">
                  <c:v>Qtr2</c:v>
                </c:pt>
                <c:pt idx="2">
                  <c:v>Qtr3</c:v>
                </c:pt>
                <c:pt idx="3">
                  <c:v>Qtr4</c:v>
                </c:pt>
              </c:strCache>
            </c:strRef>
          </c:cat>
          <c:val>
            <c:numRef>
              <c:f>'City Hotel'!$D$503:$D$506</c:f>
              <c:numCache>
                <c:formatCode>#,##0.00</c:formatCode>
                <c:ptCount val="4"/>
                <c:pt idx="0">
                  <c:v>1367578.4799999995</c:v>
                </c:pt>
                <c:pt idx="1">
                  <c:v>2335912.6199999987</c:v>
                </c:pt>
              </c:numCache>
            </c:numRef>
          </c:val>
          <c:extLst>
            <c:ext xmlns:c16="http://schemas.microsoft.com/office/drawing/2014/chart" uri="{C3380CC4-5D6E-409C-BE32-E72D297353CC}">
              <c16:uniqueId val="{00000003-07F2-4947-B59E-8393E90D7BC5}"/>
            </c:ext>
          </c:extLst>
        </c:ser>
        <c:dLbls>
          <c:showLegendKey val="0"/>
          <c:showVal val="0"/>
          <c:showCatName val="0"/>
          <c:showSerName val="0"/>
          <c:showPercent val="0"/>
          <c:showBubbleSize val="0"/>
        </c:dLbls>
        <c:gapWidth val="219"/>
        <c:shape val="box"/>
        <c:axId val="1332796415"/>
        <c:axId val="1332804479"/>
        <c:axId val="828303871"/>
      </c:bar3DChart>
      <c:catAx>
        <c:axId val="1332796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2804479"/>
        <c:crosses val="autoZero"/>
        <c:auto val="1"/>
        <c:lblAlgn val="ctr"/>
        <c:lblOffset val="100"/>
        <c:noMultiLvlLbl val="0"/>
      </c:catAx>
      <c:valAx>
        <c:axId val="13328044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2796415"/>
        <c:crosses val="autoZero"/>
        <c:crossBetween val="between"/>
      </c:valAx>
      <c:serAx>
        <c:axId val="828303871"/>
        <c:scaling>
          <c:orientation val="minMax"/>
        </c:scaling>
        <c:delete val="0"/>
        <c:axPos val="b"/>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2804479"/>
        <c:crosses val="autoZero"/>
      </c:ser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Cancel</a:t>
            </a:r>
            <a:r>
              <a:rPr lang="en-GB" baseline="0"/>
              <a:t> Revenue</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'City Hotel'!$B$496</c:f>
              <c:strCache>
                <c:ptCount val="1"/>
                <c:pt idx="0">
                  <c:v>2015</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Hotel'!$A$497:$A$500</c:f>
              <c:strCache>
                <c:ptCount val="4"/>
                <c:pt idx="0">
                  <c:v>Qtr1</c:v>
                </c:pt>
                <c:pt idx="1">
                  <c:v>Qtr2</c:v>
                </c:pt>
                <c:pt idx="2">
                  <c:v>Qtr3</c:v>
                </c:pt>
                <c:pt idx="3">
                  <c:v>Qtr4</c:v>
                </c:pt>
              </c:strCache>
            </c:strRef>
          </c:cat>
          <c:val>
            <c:numRef>
              <c:f>'City Hotel'!$B$497:$B$500</c:f>
              <c:numCache>
                <c:formatCode>General</c:formatCode>
                <c:ptCount val="4"/>
                <c:pt idx="2" formatCode="#,##0.00">
                  <c:v>851648.74000000069</c:v>
                </c:pt>
                <c:pt idx="3" formatCode="#,##0.00">
                  <c:v>537910.24000000022</c:v>
                </c:pt>
              </c:numCache>
            </c:numRef>
          </c:val>
          <c:extLst>
            <c:ext xmlns:c16="http://schemas.microsoft.com/office/drawing/2014/chart" uri="{C3380CC4-5D6E-409C-BE32-E72D297353CC}">
              <c16:uniqueId val="{00000000-645B-3B43-967D-EC9AC70B01CE}"/>
            </c:ext>
          </c:extLst>
        </c:ser>
        <c:ser>
          <c:idx val="1"/>
          <c:order val="1"/>
          <c:tx>
            <c:strRef>
              <c:f>'City Hotel'!$C$496</c:f>
              <c:strCache>
                <c:ptCount val="1"/>
                <c:pt idx="0">
                  <c:v>2016</c:v>
                </c:pt>
              </c:strCache>
            </c:strRef>
          </c:tx>
          <c:spPr>
            <a:solidFill>
              <a:schemeClr val="accent2"/>
            </a:solidFill>
            <a:ln>
              <a:noFill/>
            </a:ln>
            <a:effectLst/>
            <a:sp3d/>
          </c:spPr>
          <c:invertIfNegative val="0"/>
          <c:dLbls>
            <c:dLbl>
              <c:idx val="1"/>
              <c:layout>
                <c:manualLayout>
                  <c:x val="3.0555555555555506E-2"/>
                  <c:y val="-4.16666666666666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45B-3B43-967D-EC9AC70B01C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Hotel'!$A$497:$A$500</c:f>
              <c:strCache>
                <c:ptCount val="4"/>
                <c:pt idx="0">
                  <c:v>Qtr1</c:v>
                </c:pt>
                <c:pt idx="1">
                  <c:v>Qtr2</c:v>
                </c:pt>
                <c:pt idx="2">
                  <c:v>Qtr3</c:v>
                </c:pt>
                <c:pt idx="3">
                  <c:v>Qtr4</c:v>
                </c:pt>
              </c:strCache>
            </c:strRef>
          </c:cat>
          <c:val>
            <c:numRef>
              <c:f>'City Hotel'!$C$497:$C$500</c:f>
              <c:numCache>
                <c:formatCode>#,##0.00</c:formatCode>
                <c:ptCount val="4"/>
                <c:pt idx="0">
                  <c:v>670840.6399999999</c:v>
                </c:pt>
                <c:pt idx="1">
                  <c:v>1420057.4700000007</c:v>
                </c:pt>
                <c:pt idx="2">
                  <c:v>1368571.2100000004</c:v>
                </c:pt>
                <c:pt idx="3">
                  <c:v>1345822.0699999987</c:v>
                </c:pt>
              </c:numCache>
            </c:numRef>
          </c:val>
          <c:extLst>
            <c:ext xmlns:c16="http://schemas.microsoft.com/office/drawing/2014/chart" uri="{C3380CC4-5D6E-409C-BE32-E72D297353CC}">
              <c16:uniqueId val="{00000002-645B-3B43-967D-EC9AC70B01CE}"/>
            </c:ext>
          </c:extLst>
        </c:ser>
        <c:ser>
          <c:idx val="2"/>
          <c:order val="2"/>
          <c:tx>
            <c:strRef>
              <c:f>'City Hotel'!$D$496</c:f>
              <c:strCache>
                <c:ptCount val="1"/>
                <c:pt idx="0">
                  <c:v>2017</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Hotel'!$A$497:$A$500</c:f>
              <c:strCache>
                <c:ptCount val="4"/>
                <c:pt idx="0">
                  <c:v>Qtr1</c:v>
                </c:pt>
                <c:pt idx="1">
                  <c:v>Qtr2</c:v>
                </c:pt>
                <c:pt idx="2">
                  <c:v>Qtr3</c:v>
                </c:pt>
                <c:pt idx="3">
                  <c:v>Qtr4</c:v>
                </c:pt>
              </c:strCache>
            </c:strRef>
          </c:cat>
          <c:val>
            <c:numRef>
              <c:f>'City Hotel'!$D$497:$D$500</c:f>
              <c:numCache>
                <c:formatCode>#,##0.00</c:formatCode>
                <c:ptCount val="4"/>
                <c:pt idx="0">
                  <c:v>980545.65000000119</c:v>
                </c:pt>
                <c:pt idx="1">
                  <c:v>2205914.9400000004</c:v>
                </c:pt>
              </c:numCache>
            </c:numRef>
          </c:val>
          <c:extLst>
            <c:ext xmlns:c16="http://schemas.microsoft.com/office/drawing/2014/chart" uri="{C3380CC4-5D6E-409C-BE32-E72D297353CC}">
              <c16:uniqueId val="{00000003-645B-3B43-967D-EC9AC70B01CE}"/>
            </c:ext>
          </c:extLst>
        </c:ser>
        <c:dLbls>
          <c:showLegendKey val="0"/>
          <c:showVal val="0"/>
          <c:showCatName val="0"/>
          <c:showSerName val="0"/>
          <c:showPercent val="0"/>
          <c:showBubbleSize val="0"/>
        </c:dLbls>
        <c:gapWidth val="219"/>
        <c:shape val="box"/>
        <c:axId val="1424707519"/>
        <c:axId val="1661906303"/>
        <c:axId val="638718975"/>
      </c:bar3DChart>
      <c:catAx>
        <c:axId val="14247075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1906303"/>
        <c:crosses val="autoZero"/>
        <c:auto val="1"/>
        <c:lblAlgn val="ctr"/>
        <c:lblOffset val="100"/>
        <c:noMultiLvlLbl val="0"/>
      </c:catAx>
      <c:valAx>
        <c:axId val="16619063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707519"/>
        <c:crosses val="autoZero"/>
        <c:crossBetween val="between"/>
      </c:valAx>
      <c:serAx>
        <c:axId val="638718975"/>
        <c:scaling>
          <c:orientation val="minMax"/>
        </c:scaling>
        <c:delete val="0"/>
        <c:axPos val="b"/>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1906303"/>
        <c:crosses val="autoZero"/>
      </c:ser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number of nights</a:t>
            </a:r>
            <a:r>
              <a:rPr lang="en-GB" baseline="0"/>
              <a:t> range interval</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'City Hotel'!$A$147</c:f>
              <c:strCache>
                <c:ptCount val="1"/>
                <c:pt idx="0">
                  <c:v>0</c:v>
                </c:pt>
              </c:strCache>
            </c:strRef>
          </c:tx>
          <c:spPr>
            <a:solidFill>
              <a:schemeClr val="accent1"/>
            </a:solidFill>
            <a:ln>
              <a:noFill/>
            </a:ln>
            <a:effectLst/>
          </c:spPr>
          <c:invertIfNegative val="0"/>
          <c:cat>
            <c:strRef>
              <c:f>'City Hotel'!$B$146:$M$146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'City Hotel'!$B$147:$M$147</c:f>
              <c:numCache>
                <c:formatCode>#,##0</c:formatCode>
                <c:ptCount val="12"/>
                <c:pt idx="0">
                  <c:v>21</c:v>
                </c:pt>
                <c:pt idx="1">
                  <c:v>39</c:v>
                </c:pt>
                <c:pt idx="2">
                  <c:v>37</c:v>
                </c:pt>
                <c:pt idx="3">
                  <c:v>16</c:v>
                </c:pt>
                <c:pt idx="4">
                  <c:v>40</c:v>
                </c:pt>
                <c:pt idx="5">
                  <c:v>15</c:v>
                </c:pt>
                <c:pt idx="6">
                  <c:v>19</c:v>
                </c:pt>
                <c:pt idx="7">
                  <c:v>17</c:v>
                </c:pt>
                <c:pt idx="8">
                  <c:v>15</c:v>
                </c:pt>
                <c:pt idx="9">
                  <c:v>42</c:v>
                </c:pt>
                <c:pt idx="10">
                  <c:v>38</c:v>
                </c:pt>
                <c:pt idx="11">
                  <c:v>32</c:v>
                </c:pt>
              </c:numCache>
            </c:numRef>
          </c:val>
          <c:extLst>
            <c:ext xmlns:c16="http://schemas.microsoft.com/office/drawing/2014/chart" uri="{C3380CC4-5D6E-409C-BE32-E72D297353CC}">
              <c16:uniqueId val="{00000000-07E4-0C4C-A6B6-263CA560A466}"/>
            </c:ext>
          </c:extLst>
        </c:ser>
        <c:ser>
          <c:idx val="1"/>
          <c:order val="1"/>
          <c:tx>
            <c:strRef>
              <c:f>'City Hotel'!$A$148</c:f>
              <c:strCache>
                <c:ptCount val="1"/>
                <c:pt idx="0">
                  <c:v>1~3</c:v>
                </c:pt>
              </c:strCache>
            </c:strRef>
          </c:tx>
          <c:spPr>
            <a:solidFill>
              <a:schemeClr val="accent2"/>
            </a:solidFill>
            <a:ln>
              <a:noFill/>
            </a:ln>
            <a:effectLst/>
          </c:spPr>
          <c:invertIfNegative val="0"/>
          <c:cat>
            <c:strRef>
              <c:f>'City Hotel'!$B$146:$M$146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'City Hotel'!$B$148:$M$148</c:f>
              <c:numCache>
                <c:formatCode>#,##0</c:formatCode>
                <c:ptCount val="12"/>
                <c:pt idx="0">
                  <c:v>2741</c:v>
                </c:pt>
                <c:pt idx="1">
                  <c:v>3418</c:v>
                </c:pt>
                <c:pt idx="2">
                  <c:v>4411</c:v>
                </c:pt>
                <c:pt idx="3">
                  <c:v>4818</c:v>
                </c:pt>
                <c:pt idx="4">
                  <c:v>5995</c:v>
                </c:pt>
                <c:pt idx="5">
                  <c:v>5775</c:v>
                </c:pt>
                <c:pt idx="6">
                  <c:v>5372</c:v>
                </c:pt>
                <c:pt idx="7">
                  <c:v>5705</c:v>
                </c:pt>
                <c:pt idx="8">
                  <c:v>5393</c:v>
                </c:pt>
                <c:pt idx="9">
                  <c:v>5742</c:v>
                </c:pt>
                <c:pt idx="10">
                  <c:v>3215</c:v>
                </c:pt>
                <c:pt idx="11">
                  <c:v>2611</c:v>
                </c:pt>
              </c:numCache>
            </c:numRef>
          </c:val>
          <c:extLst>
            <c:ext xmlns:c16="http://schemas.microsoft.com/office/drawing/2014/chart" uri="{C3380CC4-5D6E-409C-BE32-E72D297353CC}">
              <c16:uniqueId val="{00000001-07E4-0C4C-A6B6-263CA560A466}"/>
            </c:ext>
          </c:extLst>
        </c:ser>
        <c:ser>
          <c:idx val="2"/>
          <c:order val="2"/>
          <c:tx>
            <c:strRef>
              <c:f>'City Hotel'!$A$149</c:f>
              <c:strCache>
                <c:ptCount val="1"/>
                <c:pt idx="0">
                  <c:v>4~7</c:v>
                </c:pt>
              </c:strCache>
            </c:strRef>
          </c:tx>
          <c:spPr>
            <a:solidFill>
              <a:schemeClr val="accent3"/>
            </a:solidFill>
            <a:ln>
              <a:noFill/>
            </a:ln>
            <a:effectLst/>
          </c:spPr>
          <c:invertIfNegative val="0"/>
          <c:cat>
            <c:strRef>
              <c:f>'City Hotel'!$B$146:$M$146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'City Hotel'!$B$149:$M$149</c:f>
              <c:numCache>
                <c:formatCode>#,##0</c:formatCode>
                <c:ptCount val="12"/>
                <c:pt idx="0">
                  <c:v>838</c:v>
                </c:pt>
                <c:pt idx="1">
                  <c:v>1394</c:v>
                </c:pt>
                <c:pt idx="2">
                  <c:v>1889</c:v>
                </c:pt>
                <c:pt idx="3">
                  <c:v>2444</c:v>
                </c:pt>
                <c:pt idx="4">
                  <c:v>1924</c:v>
                </c:pt>
                <c:pt idx="5">
                  <c:v>1858</c:v>
                </c:pt>
                <c:pt idx="6">
                  <c:v>2269</c:v>
                </c:pt>
                <c:pt idx="7">
                  <c:v>2746</c:v>
                </c:pt>
                <c:pt idx="8">
                  <c:v>1816</c:v>
                </c:pt>
                <c:pt idx="9">
                  <c:v>1730</c:v>
                </c:pt>
                <c:pt idx="10">
                  <c:v>1031</c:v>
                </c:pt>
                <c:pt idx="11">
                  <c:v>1368</c:v>
                </c:pt>
              </c:numCache>
            </c:numRef>
          </c:val>
          <c:extLst>
            <c:ext xmlns:c16="http://schemas.microsoft.com/office/drawing/2014/chart" uri="{C3380CC4-5D6E-409C-BE32-E72D297353CC}">
              <c16:uniqueId val="{00000002-07E4-0C4C-A6B6-263CA560A466}"/>
            </c:ext>
          </c:extLst>
        </c:ser>
        <c:dLbls>
          <c:showLegendKey val="0"/>
          <c:showVal val="0"/>
          <c:showCatName val="0"/>
          <c:showSerName val="0"/>
          <c:showPercent val="0"/>
          <c:showBubbleSize val="0"/>
        </c:dLbls>
        <c:gapWidth val="150"/>
        <c:axId val="239485376"/>
        <c:axId val="239500160"/>
      </c:barChart>
      <c:lineChart>
        <c:grouping val="standard"/>
        <c:varyColors val="0"/>
        <c:ser>
          <c:idx val="3"/>
          <c:order val="3"/>
          <c:tx>
            <c:strRef>
              <c:f>'City Hotel'!$A$150</c:f>
              <c:strCache>
                <c:ptCount val="1"/>
                <c:pt idx="0">
                  <c:v>8~14</c:v>
                </c:pt>
              </c:strCache>
            </c:strRef>
          </c:tx>
          <c:spPr>
            <a:ln w="28575" cap="rnd">
              <a:solidFill>
                <a:schemeClr val="accent4"/>
              </a:solidFill>
              <a:round/>
            </a:ln>
            <a:effectLst/>
          </c:spPr>
          <c:marker>
            <c:symbol val="none"/>
          </c:marker>
          <c:cat>
            <c:strRef>
              <c:f>'City Hotel'!$B$146:$M$146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'City Hotel'!$B$150:$M$150</c:f>
              <c:numCache>
                <c:formatCode>#,##0</c:formatCode>
                <c:ptCount val="12"/>
                <c:pt idx="0">
                  <c:v>89</c:v>
                </c:pt>
                <c:pt idx="1">
                  <c:v>71</c:v>
                </c:pt>
                <c:pt idx="2">
                  <c:v>74</c:v>
                </c:pt>
                <c:pt idx="3">
                  <c:v>55</c:v>
                </c:pt>
                <c:pt idx="4">
                  <c:v>48</c:v>
                </c:pt>
                <c:pt idx="5">
                  <c:v>77</c:v>
                </c:pt>
                <c:pt idx="6">
                  <c:v>218</c:v>
                </c:pt>
                <c:pt idx="7">
                  <c:v>197</c:v>
                </c:pt>
                <c:pt idx="8">
                  <c:v>57</c:v>
                </c:pt>
                <c:pt idx="9">
                  <c:v>29</c:v>
                </c:pt>
                <c:pt idx="10">
                  <c:v>43</c:v>
                </c:pt>
                <c:pt idx="11">
                  <c:v>89</c:v>
                </c:pt>
              </c:numCache>
            </c:numRef>
          </c:val>
          <c:smooth val="0"/>
          <c:extLst>
            <c:ext xmlns:c16="http://schemas.microsoft.com/office/drawing/2014/chart" uri="{C3380CC4-5D6E-409C-BE32-E72D297353CC}">
              <c16:uniqueId val="{00000003-07E4-0C4C-A6B6-263CA560A466}"/>
            </c:ext>
          </c:extLst>
        </c:ser>
        <c:ser>
          <c:idx val="4"/>
          <c:order val="4"/>
          <c:tx>
            <c:strRef>
              <c:f>'City Hotel'!$A$151</c:f>
              <c:strCache>
                <c:ptCount val="1"/>
                <c:pt idx="0">
                  <c:v>15~57</c:v>
                </c:pt>
              </c:strCache>
            </c:strRef>
          </c:tx>
          <c:spPr>
            <a:ln w="28575" cap="rnd">
              <a:solidFill>
                <a:schemeClr val="accent5"/>
              </a:solidFill>
              <a:round/>
            </a:ln>
            <a:effectLst/>
          </c:spPr>
          <c:marker>
            <c:symbol val="none"/>
          </c:marker>
          <c:cat>
            <c:strRef>
              <c:f>'City Hotel'!$B$146:$M$146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'City Hotel'!$B$151:$M$151</c:f>
              <c:numCache>
                <c:formatCode>#,##0</c:formatCode>
                <c:ptCount val="12"/>
                <c:pt idx="0">
                  <c:v>43</c:v>
                </c:pt>
                <c:pt idx="1">
                  <c:v>23</c:v>
                </c:pt>
                <c:pt idx="2">
                  <c:v>9</c:v>
                </c:pt>
                <c:pt idx="3">
                  <c:v>4</c:v>
                </c:pt>
                <c:pt idx="4">
                  <c:v>14</c:v>
                </c:pt>
                <c:pt idx="5">
                  <c:v>1</c:v>
                </c:pt>
                <c:pt idx="6">
                  <c:v>16</c:v>
                </c:pt>
                <c:pt idx="7">
                  <c:v>14</c:v>
                </c:pt>
                <c:pt idx="8">
                  <c:v>5</c:v>
                </c:pt>
                <c:pt idx="9">
                  <c:v>3</c:v>
                </c:pt>
                <c:pt idx="10">
                  <c:v>17</c:v>
                </c:pt>
                <c:pt idx="11">
                  <c:v>10</c:v>
                </c:pt>
              </c:numCache>
            </c:numRef>
          </c:val>
          <c:smooth val="0"/>
          <c:extLst>
            <c:ext xmlns:c16="http://schemas.microsoft.com/office/drawing/2014/chart" uri="{C3380CC4-5D6E-409C-BE32-E72D297353CC}">
              <c16:uniqueId val="{00000004-07E4-0C4C-A6B6-263CA560A466}"/>
            </c:ext>
          </c:extLst>
        </c:ser>
        <c:dLbls>
          <c:showLegendKey val="0"/>
          <c:showVal val="0"/>
          <c:showCatName val="0"/>
          <c:showSerName val="0"/>
          <c:showPercent val="0"/>
          <c:showBubbleSize val="0"/>
        </c:dLbls>
        <c:marker val="1"/>
        <c:smooth val="0"/>
        <c:axId val="239485376"/>
        <c:axId val="239500160"/>
      </c:lineChart>
      <c:catAx>
        <c:axId val="239485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9500160"/>
        <c:crosses val="autoZero"/>
        <c:auto val="1"/>
        <c:lblAlgn val="ctr"/>
        <c:lblOffset val="100"/>
        <c:noMultiLvlLbl val="0"/>
      </c:catAx>
      <c:valAx>
        <c:axId val="23950016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94853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ADR</a:t>
            </a:r>
            <a:r>
              <a:rPr lang="en-GB" baseline="0"/>
              <a:t> range interval</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'City Hotel'!$A$219</c:f>
              <c:strCache>
                <c:ptCount val="1"/>
                <c:pt idx="0">
                  <c:v>0~ 30</c:v>
                </c:pt>
              </c:strCache>
            </c:strRef>
          </c:tx>
          <c:spPr>
            <a:solidFill>
              <a:schemeClr val="accent1"/>
            </a:solidFill>
            <a:ln>
              <a:noFill/>
            </a:ln>
            <a:effectLst/>
          </c:spPr>
          <c:invertIfNegative val="0"/>
          <c:cat>
            <c:strRef>
              <c:f>'City Hotel'!$B$218:$M$218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'City Hotel'!$B$219:$M$219</c:f>
              <c:numCache>
                <c:formatCode>#,##0</c:formatCode>
                <c:ptCount val="12"/>
                <c:pt idx="0">
                  <c:v>86</c:v>
                </c:pt>
                <c:pt idx="1">
                  <c:v>118</c:v>
                </c:pt>
                <c:pt idx="2">
                  <c:v>112</c:v>
                </c:pt>
                <c:pt idx="3">
                  <c:v>99</c:v>
                </c:pt>
                <c:pt idx="4">
                  <c:v>127</c:v>
                </c:pt>
                <c:pt idx="5">
                  <c:v>89</c:v>
                </c:pt>
                <c:pt idx="6">
                  <c:v>122</c:v>
                </c:pt>
                <c:pt idx="7">
                  <c:v>154</c:v>
                </c:pt>
                <c:pt idx="8">
                  <c:v>136</c:v>
                </c:pt>
                <c:pt idx="9">
                  <c:v>164</c:v>
                </c:pt>
                <c:pt idx="10">
                  <c:v>108</c:v>
                </c:pt>
                <c:pt idx="11">
                  <c:v>138</c:v>
                </c:pt>
              </c:numCache>
            </c:numRef>
          </c:val>
          <c:extLst>
            <c:ext xmlns:c16="http://schemas.microsoft.com/office/drawing/2014/chart" uri="{C3380CC4-5D6E-409C-BE32-E72D297353CC}">
              <c16:uniqueId val="{00000000-FB9B-C14D-B88C-AC15729BD87A}"/>
            </c:ext>
          </c:extLst>
        </c:ser>
        <c:ser>
          <c:idx val="1"/>
          <c:order val="1"/>
          <c:tx>
            <c:strRef>
              <c:f>'City Hotel'!$A$220</c:f>
              <c:strCache>
                <c:ptCount val="1"/>
                <c:pt idx="0">
                  <c:v>31~70</c:v>
                </c:pt>
              </c:strCache>
            </c:strRef>
          </c:tx>
          <c:spPr>
            <a:solidFill>
              <a:schemeClr val="accent2"/>
            </a:solidFill>
            <a:ln>
              <a:noFill/>
            </a:ln>
            <a:effectLst/>
          </c:spPr>
          <c:invertIfNegative val="0"/>
          <c:cat>
            <c:strRef>
              <c:f>'City Hotel'!$B$218:$M$218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'City Hotel'!$B$220:$M$220</c:f>
              <c:numCache>
                <c:formatCode>#,##0</c:formatCode>
                <c:ptCount val="12"/>
                <c:pt idx="0">
                  <c:v>935</c:v>
                </c:pt>
                <c:pt idx="1">
                  <c:v>951</c:v>
                </c:pt>
                <c:pt idx="2">
                  <c:v>1061</c:v>
                </c:pt>
                <c:pt idx="3">
                  <c:v>450</c:v>
                </c:pt>
                <c:pt idx="4">
                  <c:v>522</c:v>
                </c:pt>
                <c:pt idx="5">
                  <c:v>379</c:v>
                </c:pt>
                <c:pt idx="6">
                  <c:v>1180</c:v>
                </c:pt>
                <c:pt idx="7">
                  <c:v>1405</c:v>
                </c:pt>
                <c:pt idx="8">
                  <c:v>1319</c:v>
                </c:pt>
                <c:pt idx="9">
                  <c:v>1286</c:v>
                </c:pt>
                <c:pt idx="10">
                  <c:v>966</c:v>
                </c:pt>
                <c:pt idx="11">
                  <c:v>996</c:v>
                </c:pt>
              </c:numCache>
            </c:numRef>
          </c:val>
          <c:extLst>
            <c:ext xmlns:c16="http://schemas.microsoft.com/office/drawing/2014/chart" uri="{C3380CC4-5D6E-409C-BE32-E72D297353CC}">
              <c16:uniqueId val="{00000001-FB9B-C14D-B88C-AC15729BD87A}"/>
            </c:ext>
          </c:extLst>
        </c:ser>
        <c:ser>
          <c:idx val="2"/>
          <c:order val="2"/>
          <c:tx>
            <c:strRef>
              <c:f>'City Hotel'!$A$221</c:f>
              <c:strCache>
                <c:ptCount val="1"/>
                <c:pt idx="0">
                  <c:v>71~110</c:v>
                </c:pt>
              </c:strCache>
            </c:strRef>
          </c:tx>
          <c:spPr>
            <a:solidFill>
              <a:schemeClr val="accent3"/>
            </a:solidFill>
            <a:ln>
              <a:noFill/>
            </a:ln>
            <a:effectLst/>
          </c:spPr>
          <c:invertIfNegative val="0"/>
          <c:cat>
            <c:strRef>
              <c:f>'City Hotel'!$B$218:$M$218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'City Hotel'!$B$221:$M$221</c:f>
              <c:numCache>
                <c:formatCode>#,##0</c:formatCode>
                <c:ptCount val="12"/>
                <c:pt idx="0">
                  <c:v>2336</c:v>
                </c:pt>
                <c:pt idx="1">
                  <c:v>3274</c:v>
                </c:pt>
                <c:pt idx="2">
                  <c:v>4105</c:v>
                </c:pt>
                <c:pt idx="3">
                  <c:v>3806</c:v>
                </c:pt>
                <c:pt idx="4">
                  <c:v>2746</c:v>
                </c:pt>
                <c:pt idx="5">
                  <c:v>2841</c:v>
                </c:pt>
                <c:pt idx="6">
                  <c:v>3160</c:v>
                </c:pt>
                <c:pt idx="7">
                  <c:v>3029</c:v>
                </c:pt>
                <c:pt idx="8">
                  <c:v>2603</c:v>
                </c:pt>
                <c:pt idx="9">
                  <c:v>3805</c:v>
                </c:pt>
                <c:pt idx="10">
                  <c:v>2614</c:v>
                </c:pt>
                <c:pt idx="11">
                  <c:v>2183</c:v>
                </c:pt>
              </c:numCache>
            </c:numRef>
          </c:val>
          <c:extLst>
            <c:ext xmlns:c16="http://schemas.microsoft.com/office/drawing/2014/chart" uri="{C3380CC4-5D6E-409C-BE32-E72D297353CC}">
              <c16:uniqueId val="{00000002-FB9B-C14D-B88C-AC15729BD87A}"/>
            </c:ext>
          </c:extLst>
        </c:ser>
        <c:dLbls>
          <c:showLegendKey val="0"/>
          <c:showVal val="0"/>
          <c:showCatName val="0"/>
          <c:showSerName val="0"/>
          <c:showPercent val="0"/>
          <c:showBubbleSize val="0"/>
        </c:dLbls>
        <c:gapWidth val="150"/>
        <c:axId val="239544384"/>
        <c:axId val="239546176"/>
      </c:barChart>
      <c:lineChart>
        <c:grouping val="standard"/>
        <c:varyColors val="0"/>
        <c:ser>
          <c:idx val="3"/>
          <c:order val="3"/>
          <c:tx>
            <c:strRef>
              <c:f>'City Hotel'!$A$222</c:f>
              <c:strCache>
                <c:ptCount val="1"/>
                <c:pt idx="0">
                  <c:v>111~150</c:v>
                </c:pt>
              </c:strCache>
            </c:strRef>
          </c:tx>
          <c:spPr>
            <a:ln w="28575" cap="rnd">
              <a:solidFill>
                <a:schemeClr val="accent4"/>
              </a:solidFill>
              <a:round/>
            </a:ln>
            <a:effectLst/>
          </c:spPr>
          <c:marker>
            <c:symbol val="none"/>
          </c:marker>
          <c:cat>
            <c:strRef>
              <c:f>'City Hotel'!$B$218:$M$218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'City Hotel'!$B$222:$M$222</c:f>
              <c:numCache>
                <c:formatCode>#,##0</c:formatCode>
                <c:ptCount val="12"/>
                <c:pt idx="0">
                  <c:v>282</c:v>
                </c:pt>
                <c:pt idx="1">
                  <c:v>437</c:v>
                </c:pt>
                <c:pt idx="2">
                  <c:v>766</c:v>
                </c:pt>
                <c:pt idx="3">
                  <c:v>2237</c:v>
                </c:pt>
                <c:pt idx="4">
                  <c:v>3280</c:v>
                </c:pt>
                <c:pt idx="5">
                  <c:v>3408</c:v>
                </c:pt>
                <c:pt idx="6">
                  <c:v>2412</c:v>
                </c:pt>
                <c:pt idx="7">
                  <c:v>2613</c:v>
                </c:pt>
                <c:pt idx="8">
                  <c:v>2059</c:v>
                </c:pt>
                <c:pt idx="9">
                  <c:v>1809</c:v>
                </c:pt>
                <c:pt idx="10">
                  <c:v>471</c:v>
                </c:pt>
                <c:pt idx="11">
                  <c:v>549</c:v>
                </c:pt>
              </c:numCache>
            </c:numRef>
          </c:val>
          <c:smooth val="0"/>
          <c:extLst>
            <c:ext xmlns:c16="http://schemas.microsoft.com/office/drawing/2014/chart" uri="{C3380CC4-5D6E-409C-BE32-E72D297353CC}">
              <c16:uniqueId val="{00000003-FB9B-C14D-B88C-AC15729BD87A}"/>
            </c:ext>
          </c:extLst>
        </c:ser>
        <c:ser>
          <c:idx val="4"/>
          <c:order val="4"/>
          <c:tx>
            <c:strRef>
              <c:f>'City Hotel'!$A$223</c:f>
              <c:strCache>
                <c:ptCount val="1"/>
                <c:pt idx="0">
                  <c:v>151~211</c:v>
                </c:pt>
              </c:strCache>
            </c:strRef>
          </c:tx>
          <c:spPr>
            <a:ln w="28575" cap="rnd">
              <a:solidFill>
                <a:schemeClr val="accent5"/>
              </a:solidFill>
              <a:round/>
            </a:ln>
            <a:effectLst/>
          </c:spPr>
          <c:marker>
            <c:symbol val="none"/>
          </c:marker>
          <c:cat>
            <c:strRef>
              <c:f>'City Hotel'!$B$218:$M$218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'City Hotel'!$B$223:$M$223</c:f>
              <c:numCache>
                <c:formatCode>#,##0</c:formatCode>
                <c:ptCount val="12"/>
                <c:pt idx="0">
                  <c:v>69</c:v>
                </c:pt>
                <c:pt idx="1">
                  <c:v>133</c:v>
                </c:pt>
                <c:pt idx="2">
                  <c:v>277</c:v>
                </c:pt>
                <c:pt idx="3">
                  <c:v>700</c:v>
                </c:pt>
                <c:pt idx="4">
                  <c:v>1301</c:v>
                </c:pt>
                <c:pt idx="5">
                  <c:v>959</c:v>
                </c:pt>
                <c:pt idx="6">
                  <c:v>975</c:v>
                </c:pt>
                <c:pt idx="7">
                  <c:v>1414</c:v>
                </c:pt>
                <c:pt idx="8">
                  <c:v>1137</c:v>
                </c:pt>
                <c:pt idx="9">
                  <c:v>446</c:v>
                </c:pt>
                <c:pt idx="10">
                  <c:v>167</c:v>
                </c:pt>
                <c:pt idx="11">
                  <c:v>185</c:v>
                </c:pt>
              </c:numCache>
            </c:numRef>
          </c:val>
          <c:smooth val="0"/>
          <c:extLst>
            <c:ext xmlns:c16="http://schemas.microsoft.com/office/drawing/2014/chart" uri="{C3380CC4-5D6E-409C-BE32-E72D297353CC}">
              <c16:uniqueId val="{00000004-FB9B-C14D-B88C-AC15729BD87A}"/>
            </c:ext>
          </c:extLst>
        </c:ser>
        <c:dLbls>
          <c:showLegendKey val="0"/>
          <c:showVal val="0"/>
          <c:showCatName val="0"/>
          <c:showSerName val="0"/>
          <c:showPercent val="0"/>
          <c:showBubbleSize val="0"/>
        </c:dLbls>
        <c:marker val="1"/>
        <c:smooth val="0"/>
        <c:axId val="239544384"/>
        <c:axId val="239546176"/>
      </c:lineChart>
      <c:catAx>
        <c:axId val="239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9546176"/>
        <c:crosses val="autoZero"/>
        <c:auto val="1"/>
        <c:lblAlgn val="ctr"/>
        <c:lblOffset val="100"/>
        <c:noMultiLvlLbl val="0"/>
      </c:catAx>
      <c:valAx>
        <c:axId val="23954617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95443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days_in_waiting _list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'City Hotel'!$B$249</c:f>
              <c:strCache>
                <c:ptCount val="1"/>
                <c:pt idx="0">
                  <c:v>2015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Hotel'!$A$250:$A$253</c:f>
              <c:strCache>
                <c:ptCount val="4"/>
                <c:pt idx="0">
                  <c:v>Qtr1</c:v>
                </c:pt>
                <c:pt idx="1">
                  <c:v>Qtr2</c:v>
                </c:pt>
                <c:pt idx="2">
                  <c:v>Qtr3</c:v>
                </c:pt>
                <c:pt idx="3">
                  <c:v>Qtr4</c:v>
                </c:pt>
              </c:strCache>
            </c:strRef>
          </c:cat>
          <c:val>
            <c:numRef>
              <c:f>'City Hotel'!$B$250:$B$253</c:f>
              <c:numCache>
                <c:formatCode>General</c:formatCode>
                <c:ptCount val="4"/>
                <c:pt idx="2" formatCode="#,##0">
                  <c:v>3760</c:v>
                </c:pt>
                <c:pt idx="3" formatCode="#,##0">
                  <c:v>35987</c:v>
                </c:pt>
              </c:numCache>
            </c:numRef>
          </c:val>
          <c:extLst>
            <c:ext xmlns:c16="http://schemas.microsoft.com/office/drawing/2014/chart" uri="{C3380CC4-5D6E-409C-BE32-E72D297353CC}">
              <c16:uniqueId val="{00000000-BDE6-9B45-B870-39B72B320A86}"/>
            </c:ext>
          </c:extLst>
        </c:ser>
        <c:ser>
          <c:idx val="1"/>
          <c:order val="1"/>
          <c:tx>
            <c:strRef>
              <c:f>'City Hotel'!$C$249</c:f>
              <c:strCache>
                <c:ptCount val="1"/>
                <c:pt idx="0">
                  <c:v>2016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Hotel'!$A$250:$A$253</c:f>
              <c:strCache>
                <c:ptCount val="4"/>
                <c:pt idx="0">
                  <c:v>Qtr1</c:v>
                </c:pt>
                <c:pt idx="1">
                  <c:v>Qtr2</c:v>
                </c:pt>
                <c:pt idx="2">
                  <c:v>Qtr3</c:v>
                </c:pt>
                <c:pt idx="3">
                  <c:v>Qtr4</c:v>
                </c:pt>
              </c:strCache>
            </c:strRef>
          </c:cat>
          <c:val>
            <c:numRef>
              <c:f>'City Hotel'!$C$250:$C$253</c:f>
              <c:numCache>
                <c:formatCode>#,##0</c:formatCode>
                <c:ptCount val="4"/>
                <c:pt idx="0">
                  <c:v>31058</c:v>
                </c:pt>
                <c:pt idx="1">
                  <c:v>98728</c:v>
                </c:pt>
                <c:pt idx="2">
                  <c:v>47904</c:v>
                </c:pt>
                <c:pt idx="3">
                  <c:v>32062</c:v>
                </c:pt>
              </c:numCache>
            </c:numRef>
          </c:val>
          <c:extLst>
            <c:ext xmlns:c16="http://schemas.microsoft.com/office/drawing/2014/chart" uri="{C3380CC4-5D6E-409C-BE32-E72D297353CC}">
              <c16:uniqueId val="{00000001-BDE6-9B45-B870-39B72B320A86}"/>
            </c:ext>
          </c:extLst>
        </c:ser>
        <c:ser>
          <c:idx val="2"/>
          <c:order val="2"/>
          <c:tx>
            <c:strRef>
              <c:f>'City Hotel'!$D$249</c:f>
              <c:strCache>
                <c:ptCount val="1"/>
                <c:pt idx="0">
                  <c:v>2017</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Hotel'!$A$250:$A$253</c:f>
              <c:strCache>
                <c:ptCount val="4"/>
                <c:pt idx="0">
                  <c:v>Qtr1</c:v>
                </c:pt>
                <c:pt idx="1">
                  <c:v>Qtr2</c:v>
                </c:pt>
                <c:pt idx="2">
                  <c:v>Qtr3</c:v>
                </c:pt>
                <c:pt idx="3">
                  <c:v>Qtr4</c:v>
                </c:pt>
              </c:strCache>
            </c:strRef>
          </c:cat>
          <c:val>
            <c:numRef>
              <c:f>'City Hotel'!$D$250:$D$253</c:f>
              <c:numCache>
                <c:formatCode>#,##0</c:formatCode>
                <c:ptCount val="4"/>
                <c:pt idx="0">
                  <c:v>1203</c:v>
                </c:pt>
                <c:pt idx="1">
                  <c:v>4146</c:v>
                </c:pt>
              </c:numCache>
            </c:numRef>
          </c:val>
          <c:extLst>
            <c:ext xmlns:c16="http://schemas.microsoft.com/office/drawing/2014/chart" uri="{C3380CC4-5D6E-409C-BE32-E72D297353CC}">
              <c16:uniqueId val="{00000002-BDE6-9B45-B870-39B72B320A86}"/>
            </c:ext>
          </c:extLst>
        </c:ser>
        <c:dLbls>
          <c:showLegendKey val="0"/>
          <c:showVal val="0"/>
          <c:showCatName val="0"/>
          <c:showSerName val="0"/>
          <c:showPercent val="0"/>
          <c:showBubbleSize val="0"/>
        </c:dLbls>
        <c:gapWidth val="182"/>
        <c:axId val="236291840"/>
        <c:axId val="258446592"/>
      </c:barChart>
      <c:catAx>
        <c:axId val="2362918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8446592"/>
        <c:crosses val="autoZero"/>
        <c:auto val="1"/>
        <c:lblAlgn val="ctr"/>
        <c:lblOffset val="100"/>
        <c:noMultiLvlLbl val="0"/>
      </c:catAx>
      <c:valAx>
        <c:axId val="2584465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62918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GB">
                <a:solidFill>
                  <a:schemeClr val="tx1"/>
                </a:solidFill>
              </a:rPr>
              <a:t>lead_time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clustered"/>
        <c:varyColors val="0"/>
        <c:ser>
          <c:idx val="0"/>
          <c:order val="0"/>
          <c:tx>
            <c:strRef>
              <c:f>'City Hotel'!$B$487</c:f>
              <c:strCache>
                <c:ptCount val="1"/>
                <c:pt idx="0">
                  <c:v>2015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Hotel'!$A$488:$A$491</c:f>
              <c:strCache>
                <c:ptCount val="4"/>
                <c:pt idx="0">
                  <c:v>Qtr1</c:v>
                </c:pt>
                <c:pt idx="1">
                  <c:v>Qtr2</c:v>
                </c:pt>
                <c:pt idx="2">
                  <c:v>Qtr3</c:v>
                </c:pt>
                <c:pt idx="3">
                  <c:v>Qtr4</c:v>
                </c:pt>
              </c:strCache>
            </c:strRef>
          </c:cat>
          <c:val>
            <c:numRef>
              <c:f>'City Hotel'!$B$488:$B$491</c:f>
              <c:numCache>
                <c:formatCode>General</c:formatCode>
                <c:ptCount val="4"/>
                <c:pt idx="2" formatCode="#,##0">
                  <c:v>934424</c:v>
                </c:pt>
                <c:pt idx="3" formatCode="#,##0">
                  <c:v>511019</c:v>
                </c:pt>
              </c:numCache>
            </c:numRef>
          </c:val>
          <c:extLst>
            <c:ext xmlns:c16="http://schemas.microsoft.com/office/drawing/2014/chart" uri="{C3380CC4-5D6E-409C-BE32-E72D297353CC}">
              <c16:uniqueId val="{00000000-B504-F442-AF7F-C98F3831131A}"/>
            </c:ext>
          </c:extLst>
        </c:ser>
        <c:ser>
          <c:idx val="1"/>
          <c:order val="1"/>
          <c:tx>
            <c:strRef>
              <c:f>'City Hotel'!$C$487</c:f>
              <c:strCache>
                <c:ptCount val="1"/>
                <c:pt idx="0">
                  <c:v>2016</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Hotel'!$A$488:$A$491</c:f>
              <c:strCache>
                <c:ptCount val="4"/>
                <c:pt idx="0">
                  <c:v>Qtr1</c:v>
                </c:pt>
                <c:pt idx="1">
                  <c:v>Qtr2</c:v>
                </c:pt>
                <c:pt idx="2">
                  <c:v>Qtr3</c:v>
                </c:pt>
                <c:pt idx="3">
                  <c:v>Qtr4</c:v>
                </c:pt>
              </c:strCache>
            </c:strRef>
          </c:cat>
          <c:val>
            <c:numRef>
              <c:f>'City Hotel'!$C$488:$C$491</c:f>
              <c:numCache>
                <c:formatCode>#,##0</c:formatCode>
                <c:ptCount val="4"/>
                <c:pt idx="0">
                  <c:v>334933</c:v>
                </c:pt>
                <c:pt idx="1">
                  <c:v>1204024</c:v>
                </c:pt>
                <c:pt idx="2">
                  <c:v>1366183</c:v>
                </c:pt>
                <c:pt idx="3">
                  <c:v>1201294</c:v>
                </c:pt>
              </c:numCache>
            </c:numRef>
          </c:val>
          <c:extLst>
            <c:ext xmlns:c16="http://schemas.microsoft.com/office/drawing/2014/chart" uri="{C3380CC4-5D6E-409C-BE32-E72D297353CC}">
              <c16:uniqueId val="{00000001-B504-F442-AF7F-C98F3831131A}"/>
            </c:ext>
          </c:extLst>
        </c:ser>
        <c:ser>
          <c:idx val="2"/>
          <c:order val="2"/>
          <c:tx>
            <c:strRef>
              <c:f>'City Hotel'!$D$487</c:f>
              <c:strCache>
                <c:ptCount val="1"/>
                <c:pt idx="0">
                  <c:v>2017</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Hotel'!$A$488:$A$491</c:f>
              <c:strCache>
                <c:ptCount val="4"/>
                <c:pt idx="0">
                  <c:v>Qtr1</c:v>
                </c:pt>
                <c:pt idx="1">
                  <c:v>Qtr2</c:v>
                </c:pt>
                <c:pt idx="2">
                  <c:v>Qtr3</c:v>
                </c:pt>
                <c:pt idx="3">
                  <c:v>Qtr4</c:v>
                </c:pt>
              </c:strCache>
            </c:strRef>
          </c:cat>
          <c:val>
            <c:numRef>
              <c:f>'City Hotel'!$D$488:$D$491</c:f>
              <c:numCache>
                <c:formatCode>#,##0</c:formatCode>
                <c:ptCount val="4"/>
                <c:pt idx="0">
                  <c:v>610076</c:v>
                </c:pt>
                <c:pt idx="1">
                  <c:v>1446523</c:v>
                </c:pt>
                <c:pt idx="2">
                  <c:v>1021890</c:v>
                </c:pt>
              </c:numCache>
            </c:numRef>
          </c:val>
          <c:extLst>
            <c:ext xmlns:c16="http://schemas.microsoft.com/office/drawing/2014/chart" uri="{C3380CC4-5D6E-409C-BE32-E72D297353CC}">
              <c16:uniqueId val="{00000002-B504-F442-AF7F-C98F3831131A}"/>
            </c:ext>
          </c:extLst>
        </c:ser>
        <c:dLbls>
          <c:showLegendKey val="0"/>
          <c:showVal val="0"/>
          <c:showCatName val="0"/>
          <c:showSerName val="0"/>
          <c:showPercent val="0"/>
          <c:showBubbleSize val="0"/>
        </c:dLbls>
        <c:gapWidth val="182"/>
        <c:axId val="825597375"/>
        <c:axId val="825601407"/>
      </c:barChart>
      <c:catAx>
        <c:axId val="82559737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825601407"/>
        <c:crosses val="autoZero"/>
        <c:auto val="1"/>
        <c:lblAlgn val="ctr"/>
        <c:lblOffset val="100"/>
        <c:noMultiLvlLbl val="0"/>
      </c:catAx>
      <c:valAx>
        <c:axId val="82560140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8255973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dirty="0"/>
              <a:t>Each market </a:t>
            </a:r>
            <a:r>
              <a:rPr lang="en-GB" dirty="0" err="1"/>
              <a:t>segments_lead</a:t>
            </a:r>
            <a:r>
              <a:rPr lang="en-GB" baseline="0" dirty="0" err="1"/>
              <a:t>_time_status</a:t>
            </a:r>
            <a:endParaRPr lang="en-GB"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stacked"/>
        <c:varyColors val="0"/>
        <c:ser>
          <c:idx val="0"/>
          <c:order val="0"/>
          <c:tx>
            <c:strRef>
              <c:f>'City Hotel'!$A$587</c:f>
              <c:strCache>
                <c:ptCount val="1"/>
                <c:pt idx="0">
                  <c:v>Non_Cancel %</c:v>
                </c:pt>
              </c:strCache>
            </c:strRef>
          </c:tx>
          <c:spPr>
            <a:solidFill>
              <a:schemeClr val="accent1"/>
            </a:solidFill>
            <a:ln>
              <a:noFill/>
            </a:ln>
            <a:effectLst/>
          </c:spPr>
          <c:invertIfNegative val="0"/>
          <c:cat>
            <c:strRef>
              <c:f>'City Hotel'!$B$586:$I$586</c:f>
              <c:strCache>
                <c:ptCount val="8"/>
                <c:pt idx="0">
                  <c:v>Direct</c:v>
                </c:pt>
                <c:pt idx="1">
                  <c:v>Corporate</c:v>
                </c:pt>
                <c:pt idx="2">
                  <c:v>Online TA</c:v>
                </c:pt>
                <c:pt idx="3">
                  <c:v>Offline TA/TO</c:v>
                </c:pt>
                <c:pt idx="4">
                  <c:v>Complementary</c:v>
                </c:pt>
                <c:pt idx="5">
                  <c:v>Groups</c:v>
                </c:pt>
                <c:pt idx="6">
                  <c:v>Undefined</c:v>
                </c:pt>
                <c:pt idx="7">
                  <c:v>Aviation</c:v>
                </c:pt>
              </c:strCache>
            </c:strRef>
          </c:cat>
          <c:val>
            <c:numRef>
              <c:f>'City Hotel'!$B$587:$I$587</c:f>
              <c:numCache>
                <c:formatCode>0%</c:formatCode>
                <c:ptCount val="8"/>
                <c:pt idx="0">
                  <c:v>0.78375673929994949</c:v>
                </c:pt>
                <c:pt idx="1">
                  <c:v>0.54450323493202712</c:v>
                </c:pt>
                <c:pt idx="2">
                  <c:v>0.54439620683748291</c:v>
                </c:pt>
                <c:pt idx="3">
                  <c:v>0.48976075608717112</c:v>
                </c:pt>
                <c:pt idx="4">
                  <c:v>0.90117968883569843</c:v>
                </c:pt>
                <c:pt idx="5">
                  <c:v>0.19443329785597563</c:v>
                </c:pt>
                <c:pt idx="6">
                  <c:v>0</c:v>
                </c:pt>
                <c:pt idx="7">
                  <c:v>0.72744539411206077</c:v>
                </c:pt>
              </c:numCache>
            </c:numRef>
          </c:val>
          <c:extLst>
            <c:ext xmlns:c16="http://schemas.microsoft.com/office/drawing/2014/chart" uri="{C3380CC4-5D6E-409C-BE32-E72D297353CC}">
              <c16:uniqueId val="{00000000-D054-7C44-8331-F6A36BD099C1}"/>
            </c:ext>
          </c:extLst>
        </c:ser>
        <c:ser>
          <c:idx val="1"/>
          <c:order val="1"/>
          <c:tx>
            <c:strRef>
              <c:f>'City Hotel'!$A$588</c:f>
              <c:strCache>
                <c:ptCount val="1"/>
                <c:pt idx="0">
                  <c:v>Cancel %</c:v>
                </c:pt>
              </c:strCache>
            </c:strRef>
          </c:tx>
          <c:spPr>
            <a:solidFill>
              <a:schemeClr val="accent2"/>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054-7C44-8331-F6A36BD099C1}"/>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054-7C44-8331-F6A36BD099C1}"/>
                </c:ext>
              </c:extLst>
            </c:dLbl>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054-7C44-8331-F6A36BD099C1}"/>
                </c:ext>
              </c:extLst>
            </c:dLbl>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054-7C44-8331-F6A36BD099C1}"/>
                </c:ext>
              </c:extLst>
            </c:dLbl>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054-7C44-8331-F6A36BD099C1}"/>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054-7C44-8331-F6A36BD099C1}"/>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054-7C44-8331-F6A36BD099C1}"/>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054-7C44-8331-F6A36BD099C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Hotel'!$B$586:$I$586</c:f>
              <c:strCache>
                <c:ptCount val="8"/>
                <c:pt idx="0">
                  <c:v>Direct</c:v>
                </c:pt>
                <c:pt idx="1">
                  <c:v>Corporate</c:v>
                </c:pt>
                <c:pt idx="2">
                  <c:v>Online TA</c:v>
                </c:pt>
                <c:pt idx="3">
                  <c:v>Offline TA/TO</c:v>
                </c:pt>
                <c:pt idx="4">
                  <c:v>Complementary</c:v>
                </c:pt>
                <c:pt idx="5">
                  <c:v>Groups</c:v>
                </c:pt>
                <c:pt idx="6">
                  <c:v>Undefined</c:v>
                </c:pt>
                <c:pt idx="7">
                  <c:v>Aviation</c:v>
                </c:pt>
              </c:strCache>
            </c:strRef>
          </c:cat>
          <c:val>
            <c:numRef>
              <c:f>'City Hotel'!$B$588:$I$588</c:f>
              <c:numCache>
                <c:formatCode>0%</c:formatCode>
                <c:ptCount val="8"/>
                <c:pt idx="0">
                  <c:v>0.21624326070005054</c:v>
                </c:pt>
                <c:pt idx="1">
                  <c:v>0.45549676506797288</c:v>
                </c:pt>
                <c:pt idx="2">
                  <c:v>0.45560379316251709</c:v>
                </c:pt>
                <c:pt idx="3">
                  <c:v>0.51023924391282882</c:v>
                </c:pt>
                <c:pt idx="4">
                  <c:v>9.8820311164301594E-2</c:v>
                </c:pt>
                <c:pt idx="5">
                  <c:v>0.80556670214402437</c:v>
                </c:pt>
                <c:pt idx="6">
                  <c:v>1</c:v>
                </c:pt>
                <c:pt idx="7">
                  <c:v>0.27255460588793923</c:v>
                </c:pt>
              </c:numCache>
            </c:numRef>
          </c:val>
          <c:extLst>
            <c:ext xmlns:c16="http://schemas.microsoft.com/office/drawing/2014/chart" uri="{C3380CC4-5D6E-409C-BE32-E72D297353CC}">
              <c16:uniqueId val="{00000009-D054-7C44-8331-F6A36BD099C1}"/>
            </c:ext>
          </c:extLst>
        </c:ser>
        <c:dLbls>
          <c:showLegendKey val="0"/>
          <c:showVal val="0"/>
          <c:showCatName val="0"/>
          <c:showSerName val="0"/>
          <c:showPercent val="0"/>
          <c:showBubbleSize val="0"/>
        </c:dLbls>
        <c:gapWidth val="150"/>
        <c:overlap val="100"/>
        <c:axId val="257915327"/>
        <c:axId val="257909951"/>
      </c:barChart>
      <c:catAx>
        <c:axId val="25791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7909951"/>
        <c:crosses val="autoZero"/>
        <c:auto val="1"/>
        <c:lblAlgn val="ctr"/>
        <c:lblOffset val="100"/>
        <c:noMultiLvlLbl val="0"/>
      </c:catAx>
      <c:valAx>
        <c:axId val="2579099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7915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2016</a:t>
            </a:r>
            <a:r>
              <a:rPr lang="en-GB" baseline="0"/>
              <a:t> e</a:t>
            </a:r>
            <a:r>
              <a:rPr lang="en-GB"/>
              <a:t>ach market</a:t>
            </a:r>
            <a:r>
              <a:rPr lang="en-GB" baseline="0"/>
              <a:t> segments revenue</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lineChart>
        <c:grouping val="standard"/>
        <c:varyColors val="0"/>
        <c:ser>
          <c:idx val="0"/>
          <c:order val="0"/>
          <c:tx>
            <c:strRef>
              <c:f>'City Hotel'!$A$651</c:f>
              <c:strCache>
                <c:ptCount val="1"/>
                <c:pt idx="0">
                  <c:v>Room_revenue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5.2631578947368418E-2"/>
                  <c:y val="-5.09984861079320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3B0-B94F-80DF-F55521759B95}"/>
                </c:ext>
              </c:extLst>
            </c:dLbl>
            <c:dLbl>
              <c:idx val="1"/>
              <c:layout>
                <c:manualLayout>
                  <c:x val="-6.0526315789473685E-2"/>
                  <c:y val="-7.649772916189803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3B0-B94F-80DF-F55521759B95}"/>
                </c:ext>
              </c:extLst>
            </c:dLbl>
            <c:dLbl>
              <c:idx val="2"/>
              <c:layout>
                <c:manualLayout>
                  <c:x val="-6.5789473684210578E-2"/>
                  <c:y val="-5.09984861079320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3B0-B94F-80DF-F55521759B95}"/>
                </c:ext>
              </c:extLst>
            </c:dLbl>
            <c:dLbl>
              <c:idx val="3"/>
              <c:layout>
                <c:manualLayout>
                  <c:x val="-7.8947368421052627E-2"/>
                  <c:y val="-6.921223114647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3B0-B94F-80DF-F55521759B95}"/>
                </c:ext>
              </c:extLst>
            </c:dLbl>
            <c:dLbl>
              <c:idx val="5"/>
              <c:layout>
                <c:manualLayout>
                  <c:x val="-0.15263157894736842"/>
                  <c:y val="-3.27847410693849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3B0-B94F-80DF-F55521759B95}"/>
                </c:ext>
              </c:extLst>
            </c:dLbl>
            <c:dLbl>
              <c:idx val="6"/>
              <c:layout>
                <c:manualLayout>
                  <c:x val="-0.10526315789473684"/>
                  <c:y val="-1.09282470231283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3B0-B94F-80DF-F55521759B9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Hotel'!$B$650:$H$650</c:f>
              <c:strCache>
                <c:ptCount val="7"/>
                <c:pt idx="0">
                  <c:v>Aviation</c:v>
                </c:pt>
                <c:pt idx="1">
                  <c:v>Complementary</c:v>
                </c:pt>
                <c:pt idx="2">
                  <c:v>Corporate</c:v>
                </c:pt>
                <c:pt idx="3">
                  <c:v>Direct</c:v>
                </c:pt>
                <c:pt idx="4">
                  <c:v>Groups</c:v>
                </c:pt>
                <c:pt idx="5">
                  <c:v>Offline TA/TO</c:v>
                </c:pt>
                <c:pt idx="6">
                  <c:v>Online TA</c:v>
                </c:pt>
              </c:strCache>
            </c:strRef>
          </c:cat>
          <c:val>
            <c:numRef>
              <c:f>'City Hotel'!$B$651:$H$651</c:f>
              <c:numCache>
                <c:formatCode>#,##0.00</c:formatCode>
                <c:ptCount val="7"/>
                <c:pt idx="0">
                  <c:v>40155</c:v>
                </c:pt>
                <c:pt idx="1">
                  <c:v>1894</c:v>
                </c:pt>
                <c:pt idx="2">
                  <c:v>214532.41000000006</c:v>
                </c:pt>
                <c:pt idx="3">
                  <c:v>643232.52</c:v>
                </c:pt>
                <c:pt idx="4">
                  <c:v>251791.49999999994</c:v>
                </c:pt>
                <c:pt idx="5">
                  <c:v>1338170.7699999977</c:v>
                </c:pt>
                <c:pt idx="6">
                  <c:v>4207004.9799999557</c:v>
                </c:pt>
              </c:numCache>
            </c:numRef>
          </c:val>
          <c:smooth val="0"/>
          <c:extLst>
            <c:ext xmlns:c16="http://schemas.microsoft.com/office/drawing/2014/chart" uri="{C3380CC4-5D6E-409C-BE32-E72D297353CC}">
              <c16:uniqueId val="{00000006-A3B0-B94F-80DF-F55521759B95}"/>
            </c:ext>
          </c:extLst>
        </c:ser>
        <c:ser>
          <c:idx val="1"/>
          <c:order val="1"/>
          <c:tx>
            <c:strRef>
              <c:f>'City Hotel'!$A$652</c:f>
              <c:strCache>
                <c:ptCount val="1"/>
                <c:pt idx="0">
                  <c:v>Cancel_revenue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'City Hotel'!$B$650:$H$650</c:f>
              <c:strCache>
                <c:ptCount val="7"/>
                <c:pt idx="0">
                  <c:v>Aviation</c:v>
                </c:pt>
                <c:pt idx="1">
                  <c:v>Complementary</c:v>
                </c:pt>
                <c:pt idx="2">
                  <c:v>Corporate</c:v>
                </c:pt>
                <c:pt idx="3">
                  <c:v>Direct</c:v>
                </c:pt>
                <c:pt idx="4">
                  <c:v>Groups</c:v>
                </c:pt>
                <c:pt idx="5">
                  <c:v>Offline TA/TO</c:v>
                </c:pt>
                <c:pt idx="6">
                  <c:v>Online TA</c:v>
                </c:pt>
              </c:strCache>
            </c:strRef>
          </c:cat>
          <c:val>
            <c:numRef>
              <c:f>'City Hotel'!$B$652:$H$652</c:f>
              <c:numCache>
                <c:formatCode>#,##0.00</c:formatCode>
                <c:ptCount val="7"/>
                <c:pt idx="0">
                  <c:v>10349</c:v>
                </c:pt>
                <c:pt idx="1">
                  <c:v>4</c:v>
                </c:pt>
                <c:pt idx="2">
                  <c:v>55001.98</c:v>
                </c:pt>
                <c:pt idx="3">
                  <c:v>203807.95000000007</c:v>
                </c:pt>
                <c:pt idx="4">
                  <c:v>666725.78999999992</c:v>
                </c:pt>
                <c:pt idx="5">
                  <c:v>1071791.5899999982</c:v>
                </c:pt>
                <c:pt idx="6">
                  <c:v>2797611.0799999828</c:v>
                </c:pt>
              </c:numCache>
            </c:numRef>
          </c:val>
          <c:smooth val="0"/>
          <c:extLst>
            <c:ext xmlns:c16="http://schemas.microsoft.com/office/drawing/2014/chart" uri="{C3380CC4-5D6E-409C-BE32-E72D297353CC}">
              <c16:uniqueId val="{00000007-A3B0-B94F-80DF-F55521759B95}"/>
            </c:ext>
          </c:extLst>
        </c:ser>
        <c:dLbls>
          <c:showLegendKey val="0"/>
          <c:showVal val="0"/>
          <c:showCatName val="0"/>
          <c:showSerName val="0"/>
          <c:showPercent val="0"/>
          <c:showBubbleSize val="0"/>
        </c:dLbls>
        <c:marker val="1"/>
        <c:smooth val="0"/>
        <c:axId val="218811903"/>
        <c:axId val="218821759"/>
      </c:lineChart>
      <c:catAx>
        <c:axId val="2188119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8821759"/>
        <c:crosses val="autoZero"/>
        <c:auto val="1"/>
        <c:lblAlgn val="ctr"/>
        <c:lblOffset val="100"/>
        <c:noMultiLvlLbl val="0"/>
      </c:catAx>
      <c:valAx>
        <c:axId val="21882175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88119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Cancellation in</a:t>
            </a:r>
            <a:r>
              <a:rPr lang="en-GB" baseline="0"/>
              <a:t> each market segments</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stacked"/>
        <c:varyColors val="0"/>
        <c:ser>
          <c:idx val="0"/>
          <c:order val="0"/>
          <c:tx>
            <c:strRef>
              <c:f>'City Hotel'!$B$640</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Hotel'!$A$641:$A$647</c:f>
              <c:strCache>
                <c:ptCount val="7"/>
                <c:pt idx="0">
                  <c:v>Aviation</c:v>
                </c:pt>
                <c:pt idx="1">
                  <c:v>Complementary</c:v>
                </c:pt>
                <c:pt idx="2">
                  <c:v>Corporate</c:v>
                </c:pt>
                <c:pt idx="3">
                  <c:v>Direct</c:v>
                </c:pt>
                <c:pt idx="4">
                  <c:v>Groups</c:v>
                </c:pt>
                <c:pt idx="5">
                  <c:v>Offline TA/TO</c:v>
                </c:pt>
                <c:pt idx="6">
                  <c:v>Online TA</c:v>
                </c:pt>
              </c:strCache>
            </c:strRef>
          </c:cat>
          <c:val>
            <c:numRef>
              <c:f>'City Hotel'!$B$641:$B$647</c:f>
              <c:numCache>
                <c:formatCode>0%</c:formatCode>
                <c:ptCount val="7"/>
                <c:pt idx="0">
                  <c:v>0</c:v>
                </c:pt>
                <c:pt idx="1">
                  <c:v>0.27586206896551724</c:v>
                </c:pt>
                <c:pt idx="2">
                  <c:v>0.37716262975778547</c:v>
                </c:pt>
                <c:pt idx="3">
                  <c:v>0.18106995884773663</c:v>
                </c:pt>
                <c:pt idx="4">
                  <c:v>0.16447368421052633</c:v>
                </c:pt>
                <c:pt idx="5">
                  <c:v>0.16273705791901588</c:v>
                </c:pt>
                <c:pt idx="6">
                  <c:v>0.14965213687349141</c:v>
                </c:pt>
              </c:numCache>
            </c:numRef>
          </c:val>
          <c:extLst>
            <c:ext xmlns:c16="http://schemas.microsoft.com/office/drawing/2014/chart" uri="{C3380CC4-5D6E-409C-BE32-E72D297353CC}">
              <c16:uniqueId val="{00000000-32D1-F045-A67F-B1757AE94838}"/>
            </c:ext>
          </c:extLst>
        </c:ser>
        <c:ser>
          <c:idx val="1"/>
          <c:order val="1"/>
          <c:tx>
            <c:strRef>
              <c:f>'City Hotel'!$C$640</c:f>
              <c:strCache>
                <c:ptCount val="1"/>
                <c:pt idx="0">
                  <c:v>Q2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Hotel'!$A$641:$A$647</c:f>
              <c:strCache>
                <c:ptCount val="7"/>
                <c:pt idx="0">
                  <c:v>Aviation</c:v>
                </c:pt>
                <c:pt idx="1">
                  <c:v>Complementary</c:v>
                </c:pt>
                <c:pt idx="2">
                  <c:v>Corporate</c:v>
                </c:pt>
                <c:pt idx="3">
                  <c:v>Direct</c:v>
                </c:pt>
                <c:pt idx="4">
                  <c:v>Groups</c:v>
                </c:pt>
                <c:pt idx="5">
                  <c:v>Offline TA/TO</c:v>
                </c:pt>
                <c:pt idx="6">
                  <c:v>Online TA</c:v>
                </c:pt>
              </c:strCache>
            </c:strRef>
          </c:cat>
          <c:val>
            <c:numRef>
              <c:f>'City Hotel'!$C$641:$C$647</c:f>
              <c:numCache>
                <c:formatCode>0%</c:formatCode>
                <c:ptCount val="7"/>
                <c:pt idx="0">
                  <c:v>0.51724137931034486</c:v>
                </c:pt>
                <c:pt idx="1">
                  <c:v>0.20689655172413793</c:v>
                </c:pt>
                <c:pt idx="2">
                  <c:v>0.3217993079584775</c:v>
                </c:pt>
                <c:pt idx="3">
                  <c:v>0.23045267489711935</c:v>
                </c:pt>
                <c:pt idx="4">
                  <c:v>0.30892448512585813</c:v>
                </c:pt>
                <c:pt idx="5">
                  <c:v>0.42388518708354689</c:v>
                </c:pt>
                <c:pt idx="6">
                  <c:v>0.24222632400965496</c:v>
                </c:pt>
              </c:numCache>
            </c:numRef>
          </c:val>
          <c:extLst>
            <c:ext xmlns:c16="http://schemas.microsoft.com/office/drawing/2014/chart" uri="{C3380CC4-5D6E-409C-BE32-E72D297353CC}">
              <c16:uniqueId val="{00000001-32D1-F045-A67F-B1757AE94838}"/>
            </c:ext>
          </c:extLst>
        </c:ser>
        <c:ser>
          <c:idx val="2"/>
          <c:order val="2"/>
          <c:tx>
            <c:strRef>
              <c:f>'City Hotel'!$D$640</c:f>
              <c:strCache>
                <c:ptCount val="1"/>
                <c:pt idx="0">
                  <c:v>Q3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Hotel'!$A$641:$A$647</c:f>
              <c:strCache>
                <c:ptCount val="7"/>
                <c:pt idx="0">
                  <c:v>Aviation</c:v>
                </c:pt>
                <c:pt idx="1">
                  <c:v>Complementary</c:v>
                </c:pt>
                <c:pt idx="2">
                  <c:v>Corporate</c:v>
                </c:pt>
                <c:pt idx="3">
                  <c:v>Direct</c:v>
                </c:pt>
                <c:pt idx="4">
                  <c:v>Groups</c:v>
                </c:pt>
                <c:pt idx="5">
                  <c:v>Offline TA/TO</c:v>
                </c:pt>
                <c:pt idx="6">
                  <c:v>Online TA</c:v>
                </c:pt>
              </c:strCache>
            </c:strRef>
          </c:cat>
          <c:val>
            <c:numRef>
              <c:f>'City Hotel'!$D$641:$D$647</c:f>
              <c:numCache>
                <c:formatCode>0%</c:formatCode>
                <c:ptCount val="7"/>
                <c:pt idx="0">
                  <c:v>0.2413793103448276</c:v>
                </c:pt>
                <c:pt idx="1">
                  <c:v>0.10344827586206896</c:v>
                </c:pt>
                <c:pt idx="2">
                  <c:v>0.1245674740484429</c:v>
                </c:pt>
                <c:pt idx="3">
                  <c:v>0.29218106995884774</c:v>
                </c:pt>
                <c:pt idx="4">
                  <c:v>0.24685354691075514</c:v>
                </c:pt>
                <c:pt idx="5">
                  <c:v>0.15914915427985649</c:v>
                </c:pt>
                <c:pt idx="6">
                  <c:v>0.30186000283969899</c:v>
                </c:pt>
              </c:numCache>
            </c:numRef>
          </c:val>
          <c:extLst>
            <c:ext xmlns:c16="http://schemas.microsoft.com/office/drawing/2014/chart" uri="{C3380CC4-5D6E-409C-BE32-E72D297353CC}">
              <c16:uniqueId val="{00000002-32D1-F045-A67F-B1757AE94838}"/>
            </c:ext>
          </c:extLst>
        </c:ser>
        <c:ser>
          <c:idx val="3"/>
          <c:order val="3"/>
          <c:tx>
            <c:strRef>
              <c:f>'City Hotel'!$E$640</c:f>
              <c:strCache>
                <c:ptCount val="1"/>
                <c:pt idx="0">
                  <c:v>Q4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Hotel'!$A$641:$A$647</c:f>
              <c:strCache>
                <c:ptCount val="7"/>
                <c:pt idx="0">
                  <c:v>Aviation</c:v>
                </c:pt>
                <c:pt idx="1">
                  <c:v>Complementary</c:v>
                </c:pt>
                <c:pt idx="2">
                  <c:v>Corporate</c:v>
                </c:pt>
                <c:pt idx="3">
                  <c:v>Direct</c:v>
                </c:pt>
                <c:pt idx="4">
                  <c:v>Groups</c:v>
                </c:pt>
                <c:pt idx="5">
                  <c:v>Offline TA/TO</c:v>
                </c:pt>
                <c:pt idx="6">
                  <c:v>Online TA</c:v>
                </c:pt>
              </c:strCache>
            </c:strRef>
          </c:cat>
          <c:val>
            <c:numRef>
              <c:f>'City Hotel'!$E$641:$E$647</c:f>
              <c:numCache>
                <c:formatCode>0%</c:formatCode>
                <c:ptCount val="7"/>
                <c:pt idx="0">
                  <c:v>0.2413793103448276</c:v>
                </c:pt>
                <c:pt idx="1">
                  <c:v>0.41379310344827586</c:v>
                </c:pt>
                <c:pt idx="2">
                  <c:v>0.17647058823529413</c:v>
                </c:pt>
                <c:pt idx="3">
                  <c:v>0.29629629629629628</c:v>
                </c:pt>
                <c:pt idx="4">
                  <c:v>0.27974828375286043</c:v>
                </c:pt>
                <c:pt idx="5">
                  <c:v>0.25422860071758074</c:v>
                </c:pt>
                <c:pt idx="6">
                  <c:v>0.30626153627715463</c:v>
                </c:pt>
              </c:numCache>
            </c:numRef>
          </c:val>
          <c:extLst>
            <c:ext xmlns:c16="http://schemas.microsoft.com/office/drawing/2014/chart" uri="{C3380CC4-5D6E-409C-BE32-E72D297353CC}">
              <c16:uniqueId val="{00000003-32D1-F045-A67F-B1757AE94838}"/>
            </c:ext>
          </c:extLst>
        </c:ser>
        <c:dLbls>
          <c:showLegendKey val="0"/>
          <c:showVal val="0"/>
          <c:showCatName val="0"/>
          <c:showSerName val="0"/>
          <c:showPercent val="0"/>
          <c:showBubbleSize val="0"/>
        </c:dLbls>
        <c:gapWidth val="150"/>
        <c:overlap val="100"/>
        <c:axId val="250883007"/>
        <c:axId val="250058431"/>
      </c:barChart>
      <c:catAx>
        <c:axId val="250883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0058431"/>
        <c:crosses val="autoZero"/>
        <c:auto val="1"/>
        <c:lblAlgn val="ctr"/>
        <c:lblOffset val="100"/>
        <c:noMultiLvlLbl val="0"/>
      </c:catAx>
      <c:valAx>
        <c:axId val="25005843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08830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nights of each country zone_non_cancelled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'City Hotel'!$A$729</c:f>
              <c:strCache>
                <c:ptCount val="1"/>
                <c:pt idx="0">
                  <c:v>Non_Cancelled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501-314F-B280-9F280F468FD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501-314F-B280-9F280F468FD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501-314F-B280-9F280F468FD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3501-314F-B280-9F280F468FD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3501-314F-B280-9F280F468FD8}"/>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3501-314F-B280-9F280F468FD8}"/>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3501-314F-B280-9F280F468FD8}"/>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3501-314F-B280-9F280F468FD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'City Hotel'!$B$728:$I$728</c:f>
              <c:strCache>
                <c:ptCount val="8"/>
                <c:pt idx="0">
                  <c:v>Africa</c:v>
                </c:pt>
                <c:pt idx="1">
                  <c:v>Antarctica</c:v>
                </c:pt>
                <c:pt idx="2">
                  <c:v>Asia</c:v>
                </c:pt>
                <c:pt idx="3">
                  <c:v>Europe</c:v>
                </c:pt>
                <c:pt idx="4">
                  <c:v>North America</c:v>
                </c:pt>
                <c:pt idx="5">
                  <c:v>Oceania</c:v>
                </c:pt>
                <c:pt idx="6">
                  <c:v>South America</c:v>
                </c:pt>
                <c:pt idx="7">
                  <c:v>Undefined</c:v>
                </c:pt>
              </c:strCache>
            </c:strRef>
          </c:cat>
          <c:val>
            <c:numRef>
              <c:f>'City Hotel'!$B$729:$I$729</c:f>
              <c:numCache>
                <c:formatCode>0%</c:formatCode>
                <c:ptCount val="8"/>
                <c:pt idx="0">
                  <c:v>1.4016582150864468E-2</c:v>
                </c:pt>
                <c:pt idx="1">
                  <c:v>4.5141971500368657E-5</c:v>
                </c:pt>
                <c:pt idx="2">
                  <c:v>4.055253773116451E-2</c:v>
                </c:pt>
                <c:pt idx="3">
                  <c:v>0.88348104789563175</c:v>
                </c:pt>
                <c:pt idx="4">
                  <c:v>2.4745324044118753E-2</c:v>
                </c:pt>
                <c:pt idx="5">
                  <c:v>6.3349233338850681E-3</c:v>
                </c:pt>
                <c:pt idx="6">
                  <c:v>3.0771777239417968E-2</c:v>
                </c:pt>
                <c:pt idx="7">
                  <c:v>5.2665633417096767E-5</c:v>
                </c:pt>
              </c:numCache>
            </c:numRef>
          </c:val>
          <c:extLst>
            <c:ext xmlns:c16="http://schemas.microsoft.com/office/drawing/2014/chart" uri="{C3380CC4-5D6E-409C-BE32-E72D297353CC}">
              <c16:uniqueId val="{00000010-3501-314F-B280-9F280F468FD8}"/>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200"/>
              <a:t>Cancellation</a:t>
            </a:r>
            <a:r>
              <a:rPr lang="en-GB" sz="1200" baseline="0"/>
              <a:t> transactions count in each country zone</a:t>
            </a:r>
            <a:endParaRPr lang="en-GB" sz="120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percentStacked"/>
        <c:varyColors val="0"/>
        <c:ser>
          <c:idx val="0"/>
          <c:order val="0"/>
          <c:tx>
            <c:strRef>
              <c:f>'City Hotel'!$A$716</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Hotel'!$B$715:$I$715</c:f>
              <c:strCache>
                <c:ptCount val="8"/>
                <c:pt idx="0">
                  <c:v>Africa</c:v>
                </c:pt>
                <c:pt idx="1">
                  <c:v>Antarctica</c:v>
                </c:pt>
                <c:pt idx="2">
                  <c:v>Asia</c:v>
                </c:pt>
                <c:pt idx="3">
                  <c:v>Europe</c:v>
                </c:pt>
                <c:pt idx="4">
                  <c:v>North America</c:v>
                </c:pt>
                <c:pt idx="5">
                  <c:v>Oceania</c:v>
                </c:pt>
                <c:pt idx="6">
                  <c:v>South America</c:v>
                </c:pt>
                <c:pt idx="7">
                  <c:v>Undefined</c:v>
                </c:pt>
              </c:strCache>
            </c:strRef>
          </c:cat>
          <c:val>
            <c:numRef>
              <c:f>'City Hotel'!$B$716:$I$716</c:f>
              <c:numCache>
                <c:formatCode>0%</c:formatCode>
                <c:ptCount val="8"/>
                <c:pt idx="0">
                  <c:v>2.7835768963117607E-2</c:v>
                </c:pt>
                <c:pt idx="1">
                  <c:v>0</c:v>
                </c:pt>
                <c:pt idx="2">
                  <c:v>5.2713987473903968E-2</c:v>
                </c:pt>
                <c:pt idx="3">
                  <c:v>0.86673625608907445</c:v>
                </c:pt>
                <c:pt idx="4">
                  <c:v>9.2205984690327068E-3</c:v>
                </c:pt>
                <c:pt idx="5">
                  <c:v>4.0013917884481557E-3</c:v>
                </c:pt>
                <c:pt idx="6">
                  <c:v>3.9491997216423103E-2</c:v>
                </c:pt>
                <c:pt idx="7">
                  <c:v>0</c:v>
                </c:pt>
              </c:numCache>
            </c:numRef>
          </c:val>
          <c:extLst>
            <c:ext xmlns:c16="http://schemas.microsoft.com/office/drawing/2014/chart" uri="{C3380CC4-5D6E-409C-BE32-E72D297353CC}">
              <c16:uniqueId val="{00000000-50CE-9A4F-9A68-19E63D70FD24}"/>
            </c:ext>
          </c:extLst>
        </c:ser>
        <c:ser>
          <c:idx val="1"/>
          <c:order val="1"/>
          <c:tx>
            <c:strRef>
              <c:f>'City Hotel'!$A$717</c:f>
              <c:strCache>
                <c:ptCount val="1"/>
                <c:pt idx="0">
                  <c:v>Q2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Hotel'!$B$715:$I$715</c:f>
              <c:strCache>
                <c:ptCount val="8"/>
                <c:pt idx="0">
                  <c:v>Africa</c:v>
                </c:pt>
                <c:pt idx="1">
                  <c:v>Antarctica</c:v>
                </c:pt>
                <c:pt idx="2">
                  <c:v>Asia</c:v>
                </c:pt>
                <c:pt idx="3">
                  <c:v>Europe</c:v>
                </c:pt>
                <c:pt idx="4">
                  <c:v>North America</c:v>
                </c:pt>
                <c:pt idx="5">
                  <c:v>Oceania</c:v>
                </c:pt>
                <c:pt idx="6">
                  <c:v>South America</c:v>
                </c:pt>
                <c:pt idx="7">
                  <c:v>Undefined</c:v>
                </c:pt>
              </c:strCache>
            </c:strRef>
          </c:cat>
          <c:val>
            <c:numRef>
              <c:f>'City Hotel'!$B$717:$I$717</c:f>
              <c:numCache>
                <c:formatCode>0%</c:formatCode>
                <c:ptCount val="8"/>
                <c:pt idx="0">
                  <c:v>7.2053031030838701E-3</c:v>
                </c:pt>
                <c:pt idx="1">
                  <c:v>0</c:v>
                </c:pt>
                <c:pt idx="2">
                  <c:v>4.188682870592756E-2</c:v>
                </c:pt>
                <c:pt idx="3">
                  <c:v>0.90325679700259387</c:v>
                </c:pt>
                <c:pt idx="4">
                  <c:v>1.5371313286578921E-2</c:v>
                </c:pt>
                <c:pt idx="5">
                  <c:v>4.1310404457680855E-3</c:v>
                </c:pt>
                <c:pt idx="6">
                  <c:v>2.7764434623883179E-2</c:v>
                </c:pt>
                <c:pt idx="7">
                  <c:v>3.8428283216447308E-4</c:v>
                </c:pt>
              </c:numCache>
            </c:numRef>
          </c:val>
          <c:extLst>
            <c:ext xmlns:c16="http://schemas.microsoft.com/office/drawing/2014/chart" uri="{C3380CC4-5D6E-409C-BE32-E72D297353CC}">
              <c16:uniqueId val="{00000001-50CE-9A4F-9A68-19E63D70FD24}"/>
            </c:ext>
          </c:extLst>
        </c:ser>
        <c:ser>
          <c:idx val="2"/>
          <c:order val="2"/>
          <c:tx>
            <c:strRef>
              <c:f>'City Hotel'!$A$718</c:f>
              <c:strCache>
                <c:ptCount val="1"/>
                <c:pt idx="0">
                  <c:v>Q3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Hotel'!$B$715:$I$715</c:f>
              <c:strCache>
                <c:ptCount val="8"/>
                <c:pt idx="0">
                  <c:v>Africa</c:v>
                </c:pt>
                <c:pt idx="1">
                  <c:v>Antarctica</c:v>
                </c:pt>
                <c:pt idx="2">
                  <c:v>Asia</c:v>
                </c:pt>
                <c:pt idx="3">
                  <c:v>Europe</c:v>
                </c:pt>
                <c:pt idx="4">
                  <c:v>North America</c:v>
                </c:pt>
                <c:pt idx="5">
                  <c:v>Oceania</c:v>
                </c:pt>
                <c:pt idx="6">
                  <c:v>South America</c:v>
                </c:pt>
                <c:pt idx="7">
                  <c:v>Undefined</c:v>
                </c:pt>
              </c:strCache>
            </c:strRef>
          </c:cat>
          <c:val>
            <c:numRef>
              <c:f>'City Hotel'!$B$718:$I$718</c:f>
              <c:numCache>
                <c:formatCode>0%</c:formatCode>
                <c:ptCount val="8"/>
                <c:pt idx="0">
                  <c:v>9.3638676844783712E-3</c:v>
                </c:pt>
                <c:pt idx="1">
                  <c:v>0</c:v>
                </c:pt>
                <c:pt idx="2">
                  <c:v>3.2264631043256997E-2</c:v>
                </c:pt>
                <c:pt idx="3">
                  <c:v>0.92193384223918573</c:v>
                </c:pt>
                <c:pt idx="4">
                  <c:v>1.7099236641221375E-2</c:v>
                </c:pt>
                <c:pt idx="5">
                  <c:v>2.8498727735368958E-3</c:v>
                </c:pt>
                <c:pt idx="6">
                  <c:v>1.6488549618320612E-2</c:v>
                </c:pt>
                <c:pt idx="7">
                  <c:v>0</c:v>
                </c:pt>
              </c:numCache>
            </c:numRef>
          </c:val>
          <c:extLst>
            <c:ext xmlns:c16="http://schemas.microsoft.com/office/drawing/2014/chart" uri="{C3380CC4-5D6E-409C-BE32-E72D297353CC}">
              <c16:uniqueId val="{00000002-50CE-9A4F-9A68-19E63D70FD24}"/>
            </c:ext>
          </c:extLst>
        </c:ser>
        <c:ser>
          <c:idx val="3"/>
          <c:order val="3"/>
          <c:tx>
            <c:strRef>
              <c:f>'City Hotel'!$A$719</c:f>
              <c:strCache>
                <c:ptCount val="1"/>
                <c:pt idx="0">
                  <c:v>Q4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Hotel'!$B$715:$I$715</c:f>
              <c:strCache>
                <c:ptCount val="8"/>
                <c:pt idx="0">
                  <c:v>Africa</c:v>
                </c:pt>
                <c:pt idx="1">
                  <c:v>Antarctica</c:v>
                </c:pt>
                <c:pt idx="2">
                  <c:v>Asia</c:v>
                </c:pt>
                <c:pt idx="3">
                  <c:v>Europe</c:v>
                </c:pt>
                <c:pt idx="4">
                  <c:v>North America</c:v>
                </c:pt>
                <c:pt idx="5">
                  <c:v>Oceania</c:v>
                </c:pt>
                <c:pt idx="6">
                  <c:v>South America</c:v>
                </c:pt>
                <c:pt idx="7">
                  <c:v>Undefined</c:v>
                </c:pt>
              </c:strCache>
            </c:strRef>
          </c:cat>
          <c:val>
            <c:numRef>
              <c:f>'City Hotel'!$B$719:$I$719</c:f>
              <c:numCache>
                <c:formatCode>0%</c:formatCode>
                <c:ptCount val="8"/>
                <c:pt idx="0">
                  <c:v>1.0108630054315027E-2</c:v>
                </c:pt>
                <c:pt idx="1">
                  <c:v>0</c:v>
                </c:pt>
                <c:pt idx="2">
                  <c:v>2.8968014484007241E-2</c:v>
                </c:pt>
                <c:pt idx="3">
                  <c:v>0.92697646348823171</c:v>
                </c:pt>
                <c:pt idx="4">
                  <c:v>7.8455039227519618E-3</c:v>
                </c:pt>
                <c:pt idx="5">
                  <c:v>7.5437537718768858E-4</c:v>
                </c:pt>
                <c:pt idx="6">
                  <c:v>2.2631261315630657E-2</c:v>
                </c:pt>
                <c:pt idx="7">
                  <c:v>2.7157513578756789E-3</c:v>
                </c:pt>
              </c:numCache>
            </c:numRef>
          </c:val>
          <c:extLst>
            <c:ext xmlns:c16="http://schemas.microsoft.com/office/drawing/2014/chart" uri="{C3380CC4-5D6E-409C-BE32-E72D297353CC}">
              <c16:uniqueId val="{00000003-50CE-9A4F-9A68-19E63D70FD24}"/>
            </c:ext>
          </c:extLst>
        </c:ser>
        <c:dLbls>
          <c:showLegendKey val="0"/>
          <c:showVal val="0"/>
          <c:showCatName val="0"/>
          <c:showSerName val="0"/>
          <c:showPercent val="0"/>
          <c:showBubbleSize val="0"/>
        </c:dLbls>
        <c:gapWidth val="150"/>
        <c:overlap val="100"/>
        <c:axId val="201755711"/>
        <c:axId val="201754815"/>
      </c:barChart>
      <c:catAx>
        <c:axId val="2017557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754815"/>
        <c:crosses val="autoZero"/>
        <c:auto val="1"/>
        <c:lblAlgn val="ctr"/>
        <c:lblOffset val="100"/>
        <c:noMultiLvlLbl val="0"/>
      </c:catAx>
      <c:valAx>
        <c:axId val="20175481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7557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Cancellation Revenue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strRef>
              <c:f>'City Hotel'!$B$610</c:f>
              <c:strCache>
                <c:ptCount val="1"/>
                <c:pt idx="0">
                  <c:v>Corporate</c:v>
                </c:pt>
              </c:strCache>
            </c:strRef>
          </c:tx>
          <c:spPr>
            <a:solidFill>
              <a:schemeClr val="accent1"/>
            </a:solidFill>
            <a:ln>
              <a:noFill/>
            </a:ln>
            <a:effectLst/>
            <a:sp3d/>
          </c:spPr>
          <c:invertIfNegative val="0"/>
          <c:cat>
            <c:strRef>
              <c:f>'City Hotel'!$A$611:$A$614</c:f>
              <c:strCache>
                <c:ptCount val="4"/>
                <c:pt idx="0">
                  <c:v>Q1</c:v>
                </c:pt>
                <c:pt idx="1">
                  <c:v>Q2</c:v>
                </c:pt>
                <c:pt idx="2">
                  <c:v>Q3</c:v>
                </c:pt>
                <c:pt idx="3">
                  <c:v>Q4</c:v>
                </c:pt>
              </c:strCache>
            </c:strRef>
          </c:cat>
          <c:val>
            <c:numRef>
              <c:f>'City Hotel'!$B$611:$B$614</c:f>
              <c:numCache>
                <c:formatCode>#,##0.00</c:formatCode>
                <c:ptCount val="4"/>
                <c:pt idx="0">
                  <c:v>19104.8</c:v>
                </c:pt>
                <c:pt idx="1">
                  <c:v>56456.1</c:v>
                </c:pt>
                <c:pt idx="2">
                  <c:v>30766.069999999996</c:v>
                </c:pt>
                <c:pt idx="3">
                  <c:v>19135.47</c:v>
                </c:pt>
              </c:numCache>
            </c:numRef>
          </c:val>
          <c:extLst>
            <c:ext xmlns:c16="http://schemas.microsoft.com/office/drawing/2014/chart" uri="{C3380CC4-5D6E-409C-BE32-E72D297353CC}">
              <c16:uniqueId val="{00000000-FE5F-7543-86F0-A61F462E24E0}"/>
            </c:ext>
          </c:extLst>
        </c:ser>
        <c:ser>
          <c:idx val="1"/>
          <c:order val="1"/>
          <c:tx>
            <c:strRef>
              <c:f>'City Hotel'!$C$610</c:f>
              <c:strCache>
                <c:ptCount val="1"/>
                <c:pt idx="0">
                  <c:v>Direct</c:v>
                </c:pt>
              </c:strCache>
            </c:strRef>
          </c:tx>
          <c:spPr>
            <a:solidFill>
              <a:schemeClr val="accent2"/>
            </a:solidFill>
            <a:ln>
              <a:noFill/>
            </a:ln>
            <a:effectLst/>
            <a:sp3d/>
          </c:spPr>
          <c:invertIfNegative val="0"/>
          <c:cat>
            <c:strRef>
              <c:f>'City Hotel'!$A$611:$A$614</c:f>
              <c:strCache>
                <c:ptCount val="4"/>
                <c:pt idx="0">
                  <c:v>Q1</c:v>
                </c:pt>
                <c:pt idx="1">
                  <c:v>Q2</c:v>
                </c:pt>
                <c:pt idx="2">
                  <c:v>Q3</c:v>
                </c:pt>
                <c:pt idx="3">
                  <c:v>Q4</c:v>
                </c:pt>
              </c:strCache>
            </c:strRef>
          </c:cat>
          <c:val>
            <c:numRef>
              <c:f>'City Hotel'!$C$611:$C$614</c:f>
              <c:numCache>
                <c:formatCode>#,##0.00</c:formatCode>
                <c:ptCount val="4"/>
                <c:pt idx="0">
                  <c:v>88230.510000000024</c:v>
                </c:pt>
                <c:pt idx="1">
                  <c:v>126647.25999999997</c:v>
                </c:pt>
                <c:pt idx="2">
                  <c:v>121342.59999999996</c:v>
                </c:pt>
                <c:pt idx="3">
                  <c:v>96604.329999999973</c:v>
                </c:pt>
              </c:numCache>
            </c:numRef>
          </c:val>
          <c:extLst>
            <c:ext xmlns:c16="http://schemas.microsoft.com/office/drawing/2014/chart" uri="{C3380CC4-5D6E-409C-BE32-E72D297353CC}">
              <c16:uniqueId val="{00000001-FE5F-7543-86F0-A61F462E24E0}"/>
            </c:ext>
          </c:extLst>
        </c:ser>
        <c:ser>
          <c:idx val="2"/>
          <c:order val="2"/>
          <c:tx>
            <c:strRef>
              <c:f>'City Hotel'!$D$610</c:f>
              <c:strCache>
                <c:ptCount val="1"/>
                <c:pt idx="0">
                  <c:v>GDS</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Hotel'!$A$611:$A$614</c:f>
              <c:strCache>
                <c:ptCount val="4"/>
                <c:pt idx="0">
                  <c:v>Q1</c:v>
                </c:pt>
                <c:pt idx="1">
                  <c:v>Q2</c:v>
                </c:pt>
                <c:pt idx="2">
                  <c:v>Q3</c:v>
                </c:pt>
                <c:pt idx="3">
                  <c:v>Q4</c:v>
                </c:pt>
              </c:strCache>
            </c:strRef>
          </c:cat>
          <c:val>
            <c:numRef>
              <c:f>'City Hotel'!$D$611:$D$614</c:f>
              <c:numCache>
                <c:formatCode>#,##0.00</c:formatCode>
                <c:ptCount val="4"/>
                <c:pt idx="0">
                  <c:v>1983</c:v>
                </c:pt>
                <c:pt idx="1">
                  <c:v>2285.6</c:v>
                </c:pt>
                <c:pt idx="2">
                  <c:v>376</c:v>
                </c:pt>
                <c:pt idx="3">
                  <c:v>6600.86</c:v>
                </c:pt>
              </c:numCache>
            </c:numRef>
          </c:val>
          <c:extLst>
            <c:ext xmlns:c16="http://schemas.microsoft.com/office/drawing/2014/chart" uri="{C3380CC4-5D6E-409C-BE32-E72D297353CC}">
              <c16:uniqueId val="{00000002-FE5F-7543-86F0-A61F462E24E0}"/>
            </c:ext>
          </c:extLst>
        </c:ser>
        <c:ser>
          <c:idx val="3"/>
          <c:order val="3"/>
          <c:tx>
            <c:strRef>
              <c:f>'City Hotel'!$E$610</c:f>
              <c:strCache>
                <c:ptCount val="1"/>
                <c:pt idx="0">
                  <c:v>TA/TO</c:v>
                </c:pt>
              </c:strCache>
            </c:strRef>
          </c:tx>
          <c:spPr>
            <a:solidFill>
              <a:schemeClr val="accent4"/>
            </a:solidFill>
            <a:ln>
              <a:noFill/>
            </a:ln>
            <a:effectLst/>
            <a:sp3d/>
          </c:spPr>
          <c:invertIfNegative val="0"/>
          <c:cat>
            <c:strRef>
              <c:f>'City Hotel'!$A$611:$A$614</c:f>
              <c:strCache>
                <c:ptCount val="4"/>
                <c:pt idx="0">
                  <c:v>Q1</c:v>
                </c:pt>
                <c:pt idx="1">
                  <c:v>Q2</c:v>
                </c:pt>
                <c:pt idx="2">
                  <c:v>Q3</c:v>
                </c:pt>
                <c:pt idx="3">
                  <c:v>Q4</c:v>
                </c:pt>
              </c:strCache>
            </c:strRef>
          </c:cat>
          <c:val>
            <c:numRef>
              <c:f>'City Hotel'!$E$611:$E$614</c:f>
              <c:numCache>
                <c:formatCode>#,##0.00</c:formatCode>
                <c:ptCount val="4"/>
                <c:pt idx="0">
                  <c:v>1542067.9799999988</c:v>
                </c:pt>
                <c:pt idx="1">
                  <c:v>3440583.4500000039</c:v>
                </c:pt>
                <c:pt idx="2">
                  <c:v>3142518.309999987</c:v>
                </c:pt>
                <c:pt idx="3">
                  <c:v>1761391.6499999955</c:v>
                </c:pt>
              </c:numCache>
            </c:numRef>
          </c:val>
          <c:extLst>
            <c:ext xmlns:c16="http://schemas.microsoft.com/office/drawing/2014/chart" uri="{C3380CC4-5D6E-409C-BE32-E72D297353CC}">
              <c16:uniqueId val="{00000003-FE5F-7543-86F0-A61F462E24E0}"/>
            </c:ext>
          </c:extLst>
        </c:ser>
        <c:ser>
          <c:idx val="4"/>
          <c:order val="4"/>
          <c:tx>
            <c:strRef>
              <c:f>'City Hotel'!$F$610</c:f>
              <c:strCache>
                <c:ptCount val="1"/>
                <c:pt idx="0">
                  <c:v>Undefined</c:v>
                </c:pt>
              </c:strCache>
            </c:strRef>
          </c:tx>
          <c:spPr>
            <a:solidFill>
              <a:schemeClr val="accent5"/>
            </a:solidFill>
            <a:ln>
              <a:noFill/>
            </a:ln>
            <a:effectLst/>
            <a:sp3d/>
          </c:spPr>
          <c:invertIfNegative val="0"/>
          <c:cat>
            <c:strRef>
              <c:f>'City Hotel'!$A$611:$A$614</c:f>
              <c:strCache>
                <c:ptCount val="4"/>
                <c:pt idx="0">
                  <c:v>Q1</c:v>
                </c:pt>
                <c:pt idx="1">
                  <c:v>Q2</c:v>
                </c:pt>
                <c:pt idx="2">
                  <c:v>Q3</c:v>
                </c:pt>
                <c:pt idx="3">
                  <c:v>Q4</c:v>
                </c:pt>
              </c:strCache>
            </c:strRef>
          </c:cat>
          <c:val>
            <c:numRef>
              <c:f>'City Hotel'!$F$611:$F$614</c:f>
              <c:numCache>
                <c:formatCode>General</c:formatCode>
                <c:ptCount val="4"/>
                <c:pt idx="2" formatCode="#,##0.00">
                  <c:v>607.5</c:v>
                </c:pt>
              </c:numCache>
            </c:numRef>
          </c:val>
          <c:extLst>
            <c:ext xmlns:c16="http://schemas.microsoft.com/office/drawing/2014/chart" uri="{C3380CC4-5D6E-409C-BE32-E72D297353CC}">
              <c16:uniqueId val="{00000004-FE5F-7543-86F0-A61F462E24E0}"/>
            </c:ext>
          </c:extLst>
        </c:ser>
        <c:dLbls>
          <c:showLegendKey val="0"/>
          <c:showVal val="0"/>
          <c:showCatName val="0"/>
          <c:showSerName val="0"/>
          <c:showPercent val="0"/>
          <c:showBubbleSize val="0"/>
        </c:dLbls>
        <c:gapWidth val="150"/>
        <c:shape val="box"/>
        <c:axId val="283657536"/>
        <c:axId val="239729536"/>
        <c:axId val="0"/>
      </c:bar3DChart>
      <c:catAx>
        <c:axId val="28365753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9729536"/>
        <c:crosses val="autoZero"/>
        <c:auto val="1"/>
        <c:lblAlgn val="ctr"/>
        <c:lblOffset val="100"/>
        <c:noMultiLvlLbl val="0"/>
      </c:catAx>
      <c:valAx>
        <c:axId val="239729536"/>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36575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200" dirty="0" err="1"/>
              <a:t>Total</a:t>
            </a:r>
            <a:r>
              <a:rPr lang="en-GB" sz="1200" baseline="0" dirty="0" err="1"/>
              <a:t>_nights</a:t>
            </a:r>
            <a:r>
              <a:rPr lang="en-GB" sz="1200" baseline="0" dirty="0"/>
              <a:t> in each customer types</a:t>
            </a:r>
            <a:endParaRPr lang="en-GB" sz="12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manualLayout>
          <c:layoutTarget val="inner"/>
          <c:xMode val="edge"/>
          <c:yMode val="edge"/>
          <c:x val="0.11770596174425001"/>
          <c:y val="8.1527957660439479E-2"/>
          <c:w val="0.83925680709724648"/>
          <c:h val="0.81735992607817942"/>
        </c:manualLayout>
      </c:layout>
      <c:barChart>
        <c:barDir val="bar"/>
        <c:grouping val="clustered"/>
        <c:varyColors val="0"/>
        <c:ser>
          <c:idx val="0"/>
          <c:order val="0"/>
          <c:tx>
            <c:strRef>
              <c:f>'City Hotel'!$B$794</c:f>
              <c:strCache>
                <c:ptCount val="1"/>
                <c:pt idx="0">
                  <c:v>Contract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Hotel'!$A$795:$A$799</c:f>
              <c:strCache>
                <c:ptCount val="5"/>
                <c:pt idx="0">
                  <c:v>Corporate</c:v>
                </c:pt>
                <c:pt idx="1">
                  <c:v>Direct</c:v>
                </c:pt>
                <c:pt idx="2">
                  <c:v>GDS</c:v>
                </c:pt>
                <c:pt idx="3">
                  <c:v>TA/TO</c:v>
                </c:pt>
                <c:pt idx="4">
                  <c:v>Undefined</c:v>
                </c:pt>
              </c:strCache>
            </c:strRef>
          </c:cat>
          <c:val>
            <c:numRef>
              <c:f>'City Hotel'!$B$795:$B$799</c:f>
              <c:numCache>
                <c:formatCode>#,##0</c:formatCode>
                <c:ptCount val="5"/>
                <c:pt idx="1">
                  <c:v>9</c:v>
                </c:pt>
                <c:pt idx="3">
                  <c:v>6447</c:v>
                </c:pt>
              </c:numCache>
            </c:numRef>
          </c:val>
          <c:extLst>
            <c:ext xmlns:c16="http://schemas.microsoft.com/office/drawing/2014/chart" uri="{C3380CC4-5D6E-409C-BE32-E72D297353CC}">
              <c16:uniqueId val="{00000000-5180-2242-A25F-1A0D164BA5C6}"/>
            </c:ext>
          </c:extLst>
        </c:ser>
        <c:ser>
          <c:idx val="1"/>
          <c:order val="1"/>
          <c:tx>
            <c:strRef>
              <c:f>'City Hotel'!$C$794</c:f>
              <c:strCache>
                <c:ptCount val="1"/>
                <c:pt idx="0">
                  <c:v>Group</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Hotel'!$A$795:$A$799</c:f>
              <c:strCache>
                <c:ptCount val="5"/>
                <c:pt idx="0">
                  <c:v>Corporate</c:v>
                </c:pt>
                <c:pt idx="1">
                  <c:v>Direct</c:v>
                </c:pt>
                <c:pt idx="2">
                  <c:v>GDS</c:v>
                </c:pt>
                <c:pt idx="3">
                  <c:v>TA/TO</c:v>
                </c:pt>
                <c:pt idx="4">
                  <c:v>Undefined</c:v>
                </c:pt>
              </c:strCache>
            </c:strRef>
          </c:cat>
          <c:val>
            <c:numRef>
              <c:f>'City Hotel'!$C$795:$C$799</c:f>
              <c:numCache>
                <c:formatCode>#,##0</c:formatCode>
                <c:ptCount val="5"/>
                <c:pt idx="0">
                  <c:v>33</c:v>
                </c:pt>
                <c:pt idx="1">
                  <c:v>125</c:v>
                </c:pt>
                <c:pt idx="3">
                  <c:v>588</c:v>
                </c:pt>
              </c:numCache>
            </c:numRef>
          </c:val>
          <c:extLst>
            <c:ext xmlns:c16="http://schemas.microsoft.com/office/drawing/2014/chart" uri="{C3380CC4-5D6E-409C-BE32-E72D297353CC}">
              <c16:uniqueId val="{00000001-5180-2242-A25F-1A0D164BA5C6}"/>
            </c:ext>
          </c:extLst>
        </c:ser>
        <c:ser>
          <c:idx val="2"/>
          <c:order val="2"/>
          <c:tx>
            <c:strRef>
              <c:f>'City Hotel'!$D$794</c:f>
              <c:strCache>
                <c:ptCount val="1"/>
                <c:pt idx="0">
                  <c:v>Transient</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Hotel'!$A$795:$A$799</c:f>
              <c:strCache>
                <c:ptCount val="5"/>
                <c:pt idx="0">
                  <c:v>Corporate</c:v>
                </c:pt>
                <c:pt idx="1">
                  <c:v>Direct</c:v>
                </c:pt>
                <c:pt idx="2">
                  <c:v>GDS</c:v>
                </c:pt>
                <c:pt idx="3">
                  <c:v>TA/TO</c:v>
                </c:pt>
                <c:pt idx="4">
                  <c:v>Undefined</c:v>
                </c:pt>
              </c:strCache>
            </c:strRef>
          </c:cat>
          <c:val>
            <c:numRef>
              <c:f>'City Hotel'!$D$795:$D$799</c:f>
              <c:numCache>
                <c:formatCode>#,##0</c:formatCode>
                <c:ptCount val="5"/>
                <c:pt idx="0">
                  <c:v>4472</c:v>
                </c:pt>
                <c:pt idx="1">
                  <c:v>15870</c:v>
                </c:pt>
                <c:pt idx="2">
                  <c:v>370</c:v>
                </c:pt>
                <c:pt idx="3">
                  <c:v>158236</c:v>
                </c:pt>
              </c:numCache>
            </c:numRef>
          </c:val>
          <c:extLst>
            <c:ext xmlns:c16="http://schemas.microsoft.com/office/drawing/2014/chart" uri="{C3380CC4-5D6E-409C-BE32-E72D297353CC}">
              <c16:uniqueId val="{00000002-5180-2242-A25F-1A0D164BA5C6}"/>
            </c:ext>
          </c:extLst>
        </c:ser>
        <c:ser>
          <c:idx val="3"/>
          <c:order val="3"/>
          <c:tx>
            <c:strRef>
              <c:f>'City Hotel'!$E$794</c:f>
              <c:strCache>
                <c:ptCount val="1"/>
                <c:pt idx="0">
                  <c:v>Transient-Party</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Hotel'!$A$795:$A$799</c:f>
              <c:strCache>
                <c:ptCount val="5"/>
                <c:pt idx="0">
                  <c:v>Corporate</c:v>
                </c:pt>
                <c:pt idx="1">
                  <c:v>Direct</c:v>
                </c:pt>
                <c:pt idx="2">
                  <c:v>GDS</c:v>
                </c:pt>
                <c:pt idx="3">
                  <c:v>TA/TO</c:v>
                </c:pt>
                <c:pt idx="4">
                  <c:v>Undefined</c:v>
                </c:pt>
              </c:strCache>
            </c:strRef>
          </c:cat>
          <c:val>
            <c:numRef>
              <c:f>'City Hotel'!$E$795:$E$799</c:f>
              <c:numCache>
                <c:formatCode>#,##0</c:formatCode>
                <c:ptCount val="5"/>
                <c:pt idx="0">
                  <c:v>2286</c:v>
                </c:pt>
                <c:pt idx="1">
                  <c:v>1887</c:v>
                </c:pt>
                <c:pt idx="3">
                  <c:v>41907</c:v>
                </c:pt>
                <c:pt idx="4">
                  <c:v>12</c:v>
                </c:pt>
              </c:numCache>
            </c:numRef>
          </c:val>
          <c:extLst>
            <c:ext xmlns:c16="http://schemas.microsoft.com/office/drawing/2014/chart" uri="{C3380CC4-5D6E-409C-BE32-E72D297353CC}">
              <c16:uniqueId val="{00000003-5180-2242-A25F-1A0D164BA5C6}"/>
            </c:ext>
          </c:extLst>
        </c:ser>
        <c:dLbls>
          <c:showLegendKey val="0"/>
          <c:showVal val="0"/>
          <c:showCatName val="0"/>
          <c:showSerName val="0"/>
          <c:showPercent val="0"/>
          <c:showBubbleSize val="0"/>
        </c:dLbls>
        <c:gapWidth val="182"/>
        <c:axId val="196814911"/>
        <c:axId val="196806847"/>
      </c:barChart>
      <c:catAx>
        <c:axId val="19681491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6806847"/>
        <c:crosses val="autoZero"/>
        <c:auto val="1"/>
        <c:lblAlgn val="ctr"/>
        <c:lblOffset val="100"/>
        <c:noMultiLvlLbl val="0"/>
      </c:catAx>
      <c:valAx>
        <c:axId val="196806847"/>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6814911"/>
        <c:crosses val="autoZero"/>
        <c:crossBetween val="between"/>
      </c:valAx>
      <c:spPr>
        <a:noFill/>
        <a:ln>
          <a:noFill/>
        </a:ln>
        <a:effectLst/>
      </c:spPr>
    </c:plotArea>
    <c:legend>
      <c:legendPos val="b"/>
      <c:layout>
        <c:manualLayout>
          <c:xMode val="edge"/>
          <c:yMode val="edge"/>
          <c:x val="0.53803021384866945"/>
          <c:y val="0.13927232706701267"/>
          <c:w val="0.39463181913019363"/>
          <c:h val="6.327831129546550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GB" sz="1200" b="0" i="0" u="none" strike="noStrike" kern="1200" spc="0" baseline="0">
                <a:solidFill>
                  <a:schemeClr val="tx1"/>
                </a:solidFill>
              </a:rPr>
              <a:t>Meals preferences in each customer type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stacked"/>
        <c:varyColors val="0"/>
        <c:ser>
          <c:idx val="0"/>
          <c:order val="0"/>
          <c:tx>
            <c:strRef>
              <c:f>'City Hotel'!$B$690</c:f>
              <c:strCache>
                <c:ptCount val="1"/>
                <c:pt idx="0">
                  <c:v>Bed and Breakfast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Hotel'!$A$691:$A$694</c:f>
              <c:strCache>
                <c:ptCount val="4"/>
                <c:pt idx="0">
                  <c:v>Contract</c:v>
                </c:pt>
                <c:pt idx="1">
                  <c:v>Group</c:v>
                </c:pt>
                <c:pt idx="2">
                  <c:v>Transient</c:v>
                </c:pt>
                <c:pt idx="3">
                  <c:v>Transient-Party</c:v>
                </c:pt>
              </c:strCache>
            </c:strRef>
          </c:cat>
          <c:val>
            <c:numRef>
              <c:f>'City Hotel'!$B$691:$B$694</c:f>
              <c:numCache>
                <c:formatCode>#,##0</c:formatCode>
                <c:ptCount val="4"/>
                <c:pt idx="0">
                  <c:v>5867</c:v>
                </c:pt>
                <c:pt idx="1">
                  <c:v>645</c:v>
                </c:pt>
                <c:pt idx="2">
                  <c:v>141743</c:v>
                </c:pt>
                <c:pt idx="3">
                  <c:v>36259</c:v>
                </c:pt>
              </c:numCache>
            </c:numRef>
          </c:val>
          <c:extLst>
            <c:ext xmlns:c16="http://schemas.microsoft.com/office/drawing/2014/chart" uri="{C3380CC4-5D6E-409C-BE32-E72D297353CC}">
              <c16:uniqueId val="{00000000-D4F6-E448-845E-DED18A926301}"/>
            </c:ext>
          </c:extLst>
        </c:ser>
        <c:ser>
          <c:idx val="1"/>
          <c:order val="1"/>
          <c:tx>
            <c:strRef>
              <c:f>'City Hotel'!$C$690</c:f>
              <c:strCache>
                <c:ptCount val="1"/>
                <c:pt idx="0">
                  <c:v>Full Board</c:v>
                </c:pt>
              </c:strCache>
            </c:strRef>
          </c:tx>
          <c:spPr>
            <a:solidFill>
              <a:schemeClr val="accent2"/>
            </a:solidFill>
            <a:ln>
              <a:noFill/>
            </a:ln>
            <a:effectLst/>
          </c:spPr>
          <c:invertIfNegative val="0"/>
          <c:cat>
            <c:strRef>
              <c:f>'City Hotel'!$A$691:$A$694</c:f>
              <c:strCache>
                <c:ptCount val="4"/>
                <c:pt idx="0">
                  <c:v>Contract</c:v>
                </c:pt>
                <c:pt idx="1">
                  <c:v>Group</c:v>
                </c:pt>
                <c:pt idx="2">
                  <c:v>Transient</c:v>
                </c:pt>
                <c:pt idx="3">
                  <c:v>Transient-Party</c:v>
                </c:pt>
              </c:strCache>
            </c:strRef>
          </c:cat>
          <c:val>
            <c:numRef>
              <c:f>'City Hotel'!$C$691:$C$694</c:f>
              <c:numCache>
                <c:formatCode>General</c:formatCode>
                <c:ptCount val="4"/>
                <c:pt idx="2" formatCode="#,##0">
                  <c:v>13</c:v>
                </c:pt>
                <c:pt idx="3" formatCode="#,##0">
                  <c:v>106</c:v>
                </c:pt>
              </c:numCache>
            </c:numRef>
          </c:val>
          <c:extLst>
            <c:ext xmlns:c16="http://schemas.microsoft.com/office/drawing/2014/chart" uri="{C3380CC4-5D6E-409C-BE32-E72D297353CC}">
              <c16:uniqueId val="{00000001-D4F6-E448-845E-DED18A926301}"/>
            </c:ext>
          </c:extLst>
        </c:ser>
        <c:ser>
          <c:idx val="2"/>
          <c:order val="2"/>
          <c:tx>
            <c:strRef>
              <c:f>'City Hotel'!$D$690</c:f>
              <c:strCache>
                <c:ptCount val="1"/>
                <c:pt idx="0">
                  <c:v>Half Board</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Hotel'!$A$691:$A$694</c:f>
              <c:strCache>
                <c:ptCount val="4"/>
                <c:pt idx="0">
                  <c:v>Contract</c:v>
                </c:pt>
                <c:pt idx="1">
                  <c:v>Group</c:v>
                </c:pt>
                <c:pt idx="2">
                  <c:v>Transient</c:v>
                </c:pt>
                <c:pt idx="3">
                  <c:v>Transient-Party</c:v>
                </c:pt>
              </c:strCache>
            </c:strRef>
          </c:cat>
          <c:val>
            <c:numRef>
              <c:f>'City Hotel'!$D$691:$D$694</c:f>
              <c:numCache>
                <c:formatCode>#,##0</c:formatCode>
                <c:ptCount val="4"/>
                <c:pt idx="0">
                  <c:v>46</c:v>
                </c:pt>
                <c:pt idx="1">
                  <c:v>24</c:v>
                </c:pt>
                <c:pt idx="2">
                  <c:v>8454</c:v>
                </c:pt>
                <c:pt idx="3">
                  <c:v>8453</c:v>
                </c:pt>
              </c:numCache>
            </c:numRef>
          </c:val>
          <c:extLst>
            <c:ext xmlns:c16="http://schemas.microsoft.com/office/drawing/2014/chart" uri="{C3380CC4-5D6E-409C-BE32-E72D297353CC}">
              <c16:uniqueId val="{00000002-D4F6-E448-845E-DED18A926301}"/>
            </c:ext>
          </c:extLst>
        </c:ser>
        <c:ser>
          <c:idx val="3"/>
          <c:order val="3"/>
          <c:tx>
            <c:strRef>
              <c:f>'City Hotel'!$E$690</c:f>
              <c:strCache>
                <c:ptCount val="1"/>
                <c:pt idx="0">
                  <c:v>Self-Catering</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 Hotel'!$A$691:$A$694</c:f>
              <c:strCache>
                <c:ptCount val="4"/>
                <c:pt idx="0">
                  <c:v>Contract</c:v>
                </c:pt>
                <c:pt idx="1">
                  <c:v>Group</c:v>
                </c:pt>
                <c:pt idx="2">
                  <c:v>Transient</c:v>
                </c:pt>
                <c:pt idx="3">
                  <c:v>Transient-Party</c:v>
                </c:pt>
              </c:strCache>
            </c:strRef>
          </c:cat>
          <c:val>
            <c:numRef>
              <c:f>'City Hotel'!$E$691:$E$694</c:f>
              <c:numCache>
                <c:formatCode>#,##0</c:formatCode>
                <c:ptCount val="4"/>
                <c:pt idx="0">
                  <c:v>543</c:v>
                </c:pt>
                <c:pt idx="1">
                  <c:v>77</c:v>
                </c:pt>
                <c:pt idx="2">
                  <c:v>28738</c:v>
                </c:pt>
                <c:pt idx="3">
                  <c:v>1274</c:v>
                </c:pt>
              </c:numCache>
            </c:numRef>
          </c:val>
          <c:extLst>
            <c:ext xmlns:c16="http://schemas.microsoft.com/office/drawing/2014/chart" uri="{C3380CC4-5D6E-409C-BE32-E72D297353CC}">
              <c16:uniqueId val="{00000003-D4F6-E448-845E-DED18A926301}"/>
            </c:ext>
          </c:extLst>
        </c:ser>
        <c:dLbls>
          <c:showLegendKey val="0"/>
          <c:showVal val="0"/>
          <c:showCatName val="0"/>
          <c:showSerName val="0"/>
          <c:showPercent val="0"/>
          <c:showBubbleSize val="0"/>
        </c:dLbls>
        <c:gapWidth val="150"/>
        <c:overlap val="100"/>
        <c:axId val="191140223"/>
        <c:axId val="191150527"/>
      </c:barChart>
      <c:catAx>
        <c:axId val="191140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150527"/>
        <c:crosses val="autoZero"/>
        <c:auto val="1"/>
        <c:lblAlgn val="ctr"/>
        <c:lblOffset val="100"/>
        <c:noMultiLvlLbl val="0"/>
      </c:catAx>
      <c:valAx>
        <c:axId val="19115052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140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Room Revenue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'Resort Hotel'!$B$502</c:f>
              <c:strCache>
                <c:ptCount val="1"/>
                <c:pt idx="0">
                  <c:v>2015</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Hotel'!$A$503:$A$506</c:f>
              <c:strCache>
                <c:ptCount val="4"/>
                <c:pt idx="0">
                  <c:v>Qtr1</c:v>
                </c:pt>
                <c:pt idx="1">
                  <c:v>Qtr2</c:v>
                </c:pt>
                <c:pt idx="2">
                  <c:v>Qtr3</c:v>
                </c:pt>
                <c:pt idx="3">
                  <c:v>Qtr4</c:v>
                </c:pt>
              </c:strCache>
            </c:strRef>
          </c:cat>
          <c:val>
            <c:numRef>
              <c:f>'Resort Hotel'!$B$503:$B$506</c:f>
              <c:numCache>
                <c:formatCode>General</c:formatCode>
                <c:ptCount val="4"/>
                <c:pt idx="2" formatCode="#,##0.00">
                  <c:v>1839481.6299999997</c:v>
                </c:pt>
                <c:pt idx="3" formatCode="#,##0.00">
                  <c:v>600732.90000000014</c:v>
                </c:pt>
              </c:numCache>
            </c:numRef>
          </c:val>
          <c:extLst>
            <c:ext xmlns:c16="http://schemas.microsoft.com/office/drawing/2014/chart" uri="{C3380CC4-5D6E-409C-BE32-E72D297353CC}">
              <c16:uniqueId val="{00000000-F9FB-DA42-B75F-BFBC3379F897}"/>
            </c:ext>
          </c:extLst>
        </c:ser>
        <c:ser>
          <c:idx val="1"/>
          <c:order val="1"/>
          <c:tx>
            <c:strRef>
              <c:f>'Resort Hotel'!$C$502</c:f>
              <c:strCache>
                <c:ptCount val="1"/>
                <c:pt idx="0">
                  <c:v>2016</c:v>
                </c:pt>
              </c:strCache>
            </c:strRef>
          </c:tx>
          <c:spPr>
            <a:solidFill>
              <a:schemeClr val="accent2"/>
            </a:solidFill>
            <a:ln>
              <a:noFill/>
            </a:ln>
            <a:effectLst/>
            <a:sp3d/>
          </c:spPr>
          <c:invertIfNegative val="0"/>
          <c:dLbls>
            <c:dLbl>
              <c:idx val="1"/>
              <c:layout>
                <c:manualLayout>
                  <c:x val="1.1111111111111059E-2"/>
                  <c:y val="-3.7037037037037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9FB-DA42-B75F-BFBC3379F89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Hotel'!$A$503:$A$506</c:f>
              <c:strCache>
                <c:ptCount val="4"/>
                <c:pt idx="0">
                  <c:v>Qtr1</c:v>
                </c:pt>
                <c:pt idx="1">
                  <c:v>Qtr2</c:v>
                </c:pt>
                <c:pt idx="2">
                  <c:v>Qtr3</c:v>
                </c:pt>
                <c:pt idx="3">
                  <c:v>Qtr4</c:v>
                </c:pt>
              </c:strCache>
            </c:strRef>
          </c:cat>
          <c:val>
            <c:numRef>
              <c:f>'Resort Hotel'!$C$503:$C$506</c:f>
              <c:numCache>
                <c:formatCode>#,##0.00</c:formatCode>
                <c:ptCount val="4"/>
                <c:pt idx="0">
                  <c:v>511131.00000000111</c:v>
                </c:pt>
                <c:pt idx="1">
                  <c:v>1202245.1700000016</c:v>
                </c:pt>
                <c:pt idx="2">
                  <c:v>1707075.2599999991</c:v>
                </c:pt>
                <c:pt idx="3">
                  <c:v>762962.46000000148</c:v>
                </c:pt>
              </c:numCache>
            </c:numRef>
          </c:val>
          <c:extLst>
            <c:ext xmlns:c16="http://schemas.microsoft.com/office/drawing/2014/chart" uri="{C3380CC4-5D6E-409C-BE32-E72D297353CC}">
              <c16:uniqueId val="{00000002-F9FB-DA42-B75F-BFBC3379F897}"/>
            </c:ext>
          </c:extLst>
        </c:ser>
        <c:ser>
          <c:idx val="2"/>
          <c:order val="2"/>
          <c:tx>
            <c:strRef>
              <c:f>'Resort Hotel'!$D$502</c:f>
              <c:strCache>
                <c:ptCount val="1"/>
                <c:pt idx="0">
                  <c:v>2017</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Hotel'!$A$503:$A$506</c:f>
              <c:strCache>
                <c:ptCount val="4"/>
                <c:pt idx="0">
                  <c:v>Qtr1</c:v>
                </c:pt>
                <c:pt idx="1">
                  <c:v>Qtr2</c:v>
                </c:pt>
                <c:pt idx="2">
                  <c:v>Qtr3</c:v>
                </c:pt>
                <c:pt idx="3">
                  <c:v>Qtr4</c:v>
                </c:pt>
              </c:strCache>
            </c:strRef>
          </c:cat>
          <c:val>
            <c:numRef>
              <c:f>'Resort Hotel'!$D$503:$D$506</c:f>
              <c:numCache>
                <c:formatCode>#,##0.00</c:formatCode>
                <c:ptCount val="4"/>
                <c:pt idx="0">
                  <c:v>671827.82999999926</c:v>
                </c:pt>
                <c:pt idx="1">
                  <c:v>1410889.1200000024</c:v>
                </c:pt>
                <c:pt idx="2">
                  <c:v>1173398.6099999992</c:v>
                </c:pt>
              </c:numCache>
            </c:numRef>
          </c:val>
          <c:extLst>
            <c:ext xmlns:c16="http://schemas.microsoft.com/office/drawing/2014/chart" uri="{C3380CC4-5D6E-409C-BE32-E72D297353CC}">
              <c16:uniqueId val="{00000003-F9FB-DA42-B75F-BFBC3379F897}"/>
            </c:ext>
          </c:extLst>
        </c:ser>
        <c:dLbls>
          <c:showLegendKey val="0"/>
          <c:showVal val="0"/>
          <c:showCatName val="0"/>
          <c:showSerName val="0"/>
          <c:showPercent val="0"/>
          <c:showBubbleSize val="0"/>
        </c:dLbls>
        <c:gapWidth val="219"/>
        <c:shape val="box"/>
        <c:axId val="1332796415"/>
        <c:axId val="1332804479"/>
        <c:axId val="828303871"/>
      </c:bar3DChart>
      <c:catAx>
        <c:axId val="1332796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2804479"/>
        <c:crosses val="autoZero"/>
        <c:auto val="1"/>
        <c:lblAlgn val="ctr"/>
        <c:lblOffset val="100"/>
        <c:noMultiLvlLbl val="0"/>
      </c:catAx>
      <c:valAx>
        <c:axId val="13328044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2796415"/>
        <c:crosses val="autoZero"/>
        <c:crossBetween val="between"/>
      </c:valAx>
      <c:serAx>
        <c:axId val="828303871"/>
        <c:scaling>
          <c:orientation val="minMax"/>
        </c:scaling>
        <c:delete val="0"/>
        <c:axPos val="b"/>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2804479"/>
        <c:crosses val="autoZero"/>
      </c:ser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Cancel</a:t>
            </a:r>
            <a:r>
              <a:rPr lang="en-GB" baseline="0"/>
              <a:t> Revenue</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'Resort Hotel'!$B$496</c:f>
              <c:strCache>
                <c:ptCount val="1"/>
                <c:pt idx="0">
                  <c:v>2015</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Hotel'!$A$497:$A$500</c:f>
              <c:strCache>
                <c:ptCount val="4"/>
                <c:pt idx="0">
                  <c:v>Qtr1</c:v>
                </c:pt>
                <c:pt idx="1">
                  <c:v>Qtr2</c:v>
                </c:pt>
                <c:pt idx="2">
                  <c:v>Qtr3</c:v>
                </c:pt>
                <c:pt idx="3">
                  <c:v>Qtr4</c:v>
                </c:pt>
              </c:strCache>
            </c:strRef>
          </c:cat>
          <c:val>
            <c:numRef>
              <c:f>'Resort Hotel'!$B$497:$B$500</c:f>
              <c:numCache>
                <c:formatCode>General</c:formatCode>
                <c:ptCount val="4"/>
                <c:pt idx="2" formatCode="#,##0.00">
                  <c:v>643123.09000000195</c:v>
                </c:pt>
                <c:pt idx="3" formatCode="#,##0.00">
                  <c:v>205536.79</c:v>
                </c:pt>
              </c:numCache>
            </c:numRef>
          </c:val>
          <c:extLst>
            <c:ext xmlns:c16="http://schemas.microsoft.com/office/drawing/2014/chart" uri="{C3380CC4-5D6E-409C-BE32-E72D297353CC}">
              <c16:uniqueId val="{00000000-E718-9645-8ADB-65E29E9F03D6}"/>
            </c:ext>
          </c:extLst>
        </c:ser>
        <c:ser>
          <c:idx val="1"/>
          <c:order val="1"/>
          <c:tx>
            <c:strRef>
              <c:f>'Resort Hotel'!$C$496</c:f>
              <c:strCache>
                <c:ptCount val="1"/>
                <c:pt idx="0">
                  <c:v>2016</c:v>
                </c:pt>
              </c:strCache>
            </c:strRef>
          </c:tx>
          <c:spPr>
            <a:solidFill>
              <a:schemeClr val="accent2"/>
            </a:solidFill>
            <a:ln>
              <a:noFill/>
            </a:ln>
            <a:effectLst/>
            <a:sp3d/>
          </c:spPr>
          <c:invertIfNegative val="0"/>
          <c:dLbls>
            <c:dLbl>
              <c:idx val="1"/>
              <c:layout>
                <c:manualLayout>
                  <c:x val="3.0555555555555506E-2"/>
                  <c:y val="-4.16666666666666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718-9645-8ADB-65E29E9F03D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Hotel'!$A$497:$A$500</c:f>
              <c:strCache>
                <c:ptCount val="4"/>
                <c:pt idx="0">
                  <c:v>Qtr1</c:v>
                </c:pt>
                <c:pt idx="1">
                  <c:v>Qtr2</c:v>
                </c:pt>
                <c:pt idx="2">
                  <c:v>Qtr3</c:v>
                </c:pt>
                <c:pt idx="3">
                  <c:v>Qtr4</c:v>
                </c:pt>
              </c:strCache>
            </c:strRef>
          </c:cat>
          <c:val>
            <c:numRef>
              <c:f>'Resort Hotel'!$C$497:$C$500</c:f>
              <c:numCache>
                <c:formatCode>#,##0.00</c:formatCode>
                <c:ptCount val="4"/>
                <c:pt idx="0">
                  <c:v>220525.53999999995</c:v>
                </c:pt>
                <c:pt idx="1">
                  <c:v>510851.41999999934</c:v>
                </c:pt>
                <c:pt idx="2">
                  <c:v>872262.15999999992</c:v>
                </c:pt>
                <c:pt idx="3">
                  <c:v>302676.84999999998</c:v>
                </c:pt>
              </c:numCache>
            </c:numRef>
          </c:val>
          <c:extLst>
            <c:ext xmlns:c16="http://schemas.microsoft.com/office/drawing/2014/chart" uri="{C3380CC4-5D6E-409C-BE32-E72D297353CC}">
              <c16:uniqueId val="{00000002-E718-9645-8ADB-65E29E9F03D6}"/>
            </c:ext>
          </c:extLst>
        </c:ser>
        <c:ser>
          <c:idx val="2"/>
          <c:order val="2"/>
          <c:tx>
            <c:strRef>
              <c:f>'Resort Hotel'!$D$496</c:f>
              <c:strCache>
                <c:ptCount val="1"/>
                <c:pt idx="0">
                  <c:v>2017</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Hotel'!$A$497:$A$500</c:f>
              <c:strCache>
                <c:ptCount val="4"/>
                <c:pt idx="0">
                  <c:v>Qtr1</c:v>
                </c:pt>
                <c:pt idx="1">
                  <c:v>Qtr2</c:v>
                </c:pt>
                <c:pt idx="2">
                  <c:v>Qtr3</c:v>
                </c:pt>
                <c:pt idx="3">
                  <c:v>Qtr4</c:v>
                </c:pt>
              </c:strCache>
            </c:strRef>
          </c:cat>
          <c:val>
            <c:numRef>
              <c:f>'Resort Hotel'!$D$497:$D$500</c:f>
              <c:numCache>
                <c:formatCode>#,##0.00</c:formatCode>
                <c:ptCount val="4"/>
                <c:pt idx="0">
                  <c:v>255136.31</c:v>
                </c:pt>
                <c:pt idx="1">
                  <c:v>844599.98000000045</c:v>
                </c:pt>
                <c:pt idx="2">
                  <c:v>736666.16000000027</c:v>
                </c:pt>
              </c:numCache>
            </c:numRef>
          </c:val>
          <c:extLst>
            <c:ext xmlns:c16="http://schemas.microsoft.com/office/drawing/2014/chart" uri="{C3380CC4-5D6E-409C-BE32-E72D297353CC}">
              <c16:uniqueId val="{00000003-E718-9645-8ADB-65E29E9F03D6}"/>
            </c:ext>
          </c:extLst>
        </c:ser>
        <c:dLbls>
          <c:showLegendKey val="0"/>
          <c:showVal val="0"/>
          <c:showCatName val="0"/>
          <c:showSerName val="0"/>
          <c:showPercent val="0"/>
          <c:showBubbleSize val="0"/>
        </c:dLbls>
        <c:gapWidth val="219"/>
        <c:shape val="box"/>
        <c:axId val="1424707519"/>
        <c:axId val="1661906303"/>
        <c:axId val="638718975"/>
      </c:bar3DChart>
      <c:catAx>
        <c:axId val="14247075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1906303"/>
        <c:crosses val="autoZero"/>
        <c:auto val="1"/>
        <c:lblAlgn val="ctr"/>
        <c:lblOffset val="100"/>
        <c:noMultiLvlLbl val="0"/>
      </c:catAx>
      <c:valAx>
        <c:axId val="16619063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707519"/>
        <c:crosses val="autoZero"/>
        <c:crossBetween val="between"/>
      </c:valAx>
      <c:serAx>
        <c:axId val="638718975"/>
        <c:scaling>
          <c:orientation val="minMax"/>
        </c:scaling>
        <c:delete val="0"/>
        <c:axPos val="b"/>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1906303"/>
        <c:crosses val="autoZero"/>
      </c:ser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number of nights</a:t>
            </a:r>
            <a:r>
              <a:rPr lang="en-GB" baseline="0"/>
              <a:t> range interval</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'Resort Hotel'!$R$105</c:f>
              <c:strCache>
                <c:ptCount val="1"/>
                <c:pt idx="0">
                  <c:v>0</c:v>
                </c:pt>
              </c:strCache>
            </c:strRef>
          </c:tx>
          <c:spPr>
            <a:solidFill>
              <a:schemeClr val="accent1"/>
            </a:solidFill>
            <a:ln>
              <a:noFill/>
            </a:ln>
            <a:effectLst/>
          </c:spPr>
          <c:invertIfNegative val="0"/>
          <c:cat>
            <c:strRef>
              <c:f>'Resort Hotel'!$S$104:$AD$104</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'Resort Hotel'!$S$105:$AD$105</c:f>
              <c:numCache>
                <c:formatCode>#,##0</c:formatCode>
                <c:ptCount val="12"/>
                <c:pt idx="0">
                  <c:v>32</c:v>
                </c:pt>
                <c:pt idx="1">
                  <c:v>22</c:v>
                </c:pt>
                <c:pt idx="2">
                  <c:v>29</c:v>
                </c:pt>
                <c:pt idx="3">
                  <c:v>22</c:v>
                </c:pt>
                <c:pt idx="4">
                  <c:v>39</c:v>
                </c:pt>
                <c:pt idx="5">
                  <c:v>27</c:v>
                </c:pt>
                <c:pt idx="6">
                  <c:v>41</c:v>
                </c:pt>
                <c:pt idx="7">
                  <c:v>34</c:v>
                </c:pt>
                <c:pt idx="8">
                  <c:v>8</c:v>
                </c:pt>
                <c:pt idx="9">
                  <c:v>44</c:v>
                </c:pt>
                <c:pt idx="10">
                  <c:v>33</c:v>
                </c:pt>
                <c:pt idx="11">
                  <c:v>53</c:v>
                </c:pt>
              </c:numCache>
            </c:numRef>
          </c:val>
          <c:extLst>
            <c:ext xmlns:c16="http://schemas.microsoft.com/office/drawing/2014/chart" uri="{C3380CC4-5D6E-409C-BE32-E72D297353CC}">
              <c16:uniqueId val="{00000000-E6D8-E042-9EBA-524C952475BD}"/>
            </c:ext>
          </c:extLst>
        </c:ser>
        <c:ser>
          <c:idx val="1"/>
          <c:order val="1"/>
          <c:tx>
            <c:strRef>
              <c:f>'Resort Hotel'!$R$106</c:f>
              <c:strCache>
                <c:ptCount val="1"/>
                <c:pt idx="0">
                  <c:v>1~3</c:v>
                </c:pt>
              </c:strCache>
            </c:strRef>
          </c:tx>
          <c:spPr>
            <a:solidFill>
              <a:schemeClr val="accent2"/>
            </a:solidFill>
            <a:ln>
              <a:noFill/>
            </a:ln>
            <a:effectLst/>
          </c:spPr>
          <c:invertIfNegative val="0"/>
          <c:cat>
            <c:strRef>
              <c:f>'Resort Hotel'!$S$104:$AD$104</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'Resort Hotel'!$S$106:$AD$106</c:f>
              <c:numCache>
                <c:formatCode>#,##0</c:formatCode>
                <c:ptCount val="12"/>
                <c:pt idx="0">
                  <c:v>1833</c:v>
                </c:pt>
                <c:pt idx="1">
                  <c:v>2591</c:v>
                </c:pt>
                <c:pt idx="2">
                  <c:v>2286</c:v>
                </c:pt>
                <c:pt idx="3">
                  <c:v>2277</c:v>
                </c:pt>
                <c:pt idx="4">
                  <c:v>2134</c:v>
                </c:pt>
                <c:pt idx="5">
                  <c:v>1390</c:v>
                </c:pt>
                <c:pt idx="6">
                  <c:v>1708</c:v>
                </c:pt>
                <c:pt idx="7">
                  <c:v>1321</c:v>
                </c:pt>
                <c:pt idx="8">
                  <c:v>1612</c:v>
                </c:pt>
                <c:pt idx="9">
                  <c:v>2345</c:v>
                </c:pt>
                <c:pt idx="10">
                  <c:v>1760</c:v>
                </c:pt>
                <c:pt idx="11">
                  <c:v>1979</c:v>
                </c:pt>
              </c:numCache>
            </c:numRef>
          </c:val>
          <c:extLst>
            <c:ext xmlns:c16="http://schemas.microsoft.com/office/drawing/2014/chart" uri="{C3380CC4-5D6E-409C-BE32-E72D297353CC}">
              <c16:uniqueId val="{00000001-E6D8-E042-9EBA-524C952475BD}"/>
            </c:ext>
          </c:extLst>
        </c:ser>
        <c:ser>
          <c:idx val="2"/>
          <c:order val="2"/>
          <c:tx>
            <c:strRef>
              <c:f>'Resort Hotel'!$R$107</c:f>
              <c:strCache>
                <c:ptCount val="1"/>
                <c:pt idx="0">
                  <c:v>4~7</c:v>
                </c:pt>
              </c:strCache>
            </c:strRef>
          </c:tx>
          <c:spPr>
            <a:solidFill>
              <a:schemeClr val="accent3"/>
            </a:solidFill>
            <a:ln>
              <a:noFill/>
            </a:ln>
            <a:effectLst/>
          </c:spPr>
          <c:invertIfNegative val="0"/>
          <c:cat>
            <c:strRef>
              <c:f>'Resort Hotel'!$S$104:$AD$104</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'Resort Hotel'!$S$107:$AD$107</c:f>
              <c:numCache>
                <c:formatCode>#,##0</c:formatCode>
                <c:ptCount val="12"/>
                <c:pt idx="0">
                  <c:v>231</c:v>
                </c:pt>
                <c:pt idx="1">
                  <c:v>358</c:v>
                </c:pt>
                <c:pt idx="2">
                  <c:v>742</c:v>
                </c:pt>
                <c:pt idx="3">
                  <c:v>1105</c:v>
                </c:pt>
                <c:pt idx="4">
                  <c:v>1043</c:v>
                </c:pt>
                <c:pt idx="5">
                  <c:v>1028</c:v>
                </c:pt>
                <c:pt idx="6">
                  <c:v>1468</c:v>
                </c:pt>
                <c:pt idx="7">
                  <c:v>1376</c:v>
                </c:pt>
                <c:pt idx="8">
                  <c:v>1015</c:v>
                </c:pt>
                <c:pt idx="9">
                  <c:v>960</c:v>
                </c:pt>
                <c:pt idx="10">
                  <c:v>447</c:v>
                </c:pt>
                <c:pt idx="11">
                  <c:v>401</c:v>
                </c:pt>
              </c:numCache>
            </c:numRef>
          </c:val>
          <c:extLst>
            <c:ext xmlns:c16="http://schemas.microsoft.com/office/drawing/2014/chart" uri="{C3380CC4-5D6E-409C-BE32-E72D297353CC}">
              <c16:uniqueId val="{00000002-E6D8-E042-9EBA-524C952475BD}"/>
            </c:ext>
          </c:extLst>
        </c:ser>
        <c:dLbls>
          <c:showLegendKey val="0"/>
          <c:showVal val="0"/>
          <c:showCatName val="0"/>
          <c:showSerName val="0"/>
          <c:showPercent val="0"/>
          <c:showBubbleSize val="0"/>
        </c:dLbls>
        <c:gapWidth val="150"/>
        <c:axId val="239485376"/>
        <c:axId val="239500160"/>
      </c:barChart>
      <c:lineChart>
        <c:grouping val="standard"/>
        <c:varyColors val="0"/>
        <c:ser>
          <c:idx val="3"/>
          <c:order val="3"/>
          <c:tx>
            <c:strRef>
              <c:f>'Resort Hotel'!$R$108</c:f>
              <c:strCache>
                <c:ptCount val="1"/>
                <c:pt idx="0">
                  <c:v>8~14</c:v>
                </c:pt>
              </c:strCache>
            </c:strRef>
          </c:tx>
          <c:spPr>
            <a:ln w="28575" cap="rnd">
              <a:solidFill>
                <a:schemeClr val="accent4"/>
              </a:solidFill>
              <a:round/>
            </a:ln>
            <a:effectLst/>
          </c:spPr>
          <c:marker>
            <c:symbol val="none"/>
          </c:marker>
          <c:cat>
            <c:strRef>
              <c:f>'Resort Hotel'!$S$104:$AD$104</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'Resort Hotel'!$S$108:$AD$108</c:f>
              <c:numCache>
                <c:formatCode>#,##0</c:formatCode>
                <c:ptCount val="12"/>
                <c:pt idx="0">
                  <c:v>77</c:v>
                </c:pt>
                <c:pt idx="1">
                  <c:v>98</c:v>
                </c:pt>
                <c:pt idx="2">
                  <c:v>188</c:v>
                </c:pt>
                <c:pt idx="3">
                  <c:v>191</c:v>
                </c:pt>
                <c:pt idx="4">
                  <c:v>329</c:v>
                </c:pt>
                <c:pt idx="5">
                  <c:v>514</c:v>
                </c:pt>
                <c:pt idx="6">
                  <c:v>646</c:v>
                </c:pt>
                <c:pt idx="7">
                  <c:v>549</c:v>
                </c:pt>
                <c:pt idx="8">
                  <c:v>419</c:v>
                </c:pt>
                <c:pt idx="9">
                  <c:v>187</c:v>
                </c:pt>
                <c:pt idx="10">
                  <c:v>172</c:v>
                </c:pt>
                <c:pt idx="11">
                  <c:v>116</c:v>
                </c:pt>
              </c:numCache>
            </c:numRef>
          </c:val>
          <c:smooth val="0"/>
          <c:extLst>
            <c:ext xmlns:c16="http://schemas.microsoft.com/office/drawing/2014/chart" uri="{C3380CC4-5D6E-409C-BE32-E72D297353CC}">
              <c16:uniqueId val="{00000003-E6D8-E042-9EBA-524C952475BD}"/>
            </c:ext>
          </c:extLst>
        </c:ser>
        <c:ser>
          <c:idx val="4"/>
          <c:order val="4"/>
          <c:tx>
            <c:strRef>
              <c:f>'Resort Hotel'!$R$109</c:f>
              <c:strCache>
                <c:ptCount val="1"/>
                <c:pt idx="0">
                  <c:v>15~69</c:v>
                </c:pt>
              </c:strCache>
            </c:strRef>
          </c:tx>
          <c:spPr>
            <a:ln w="28575" cap="rnd">
              <a:solidFill>
                <a:schemeClr val="accent5"/>
              </a:solidFill>
              <a:round/>
            </a:ln>
            <a:effectLst/>
          </c:spPr>
          <c:marker>
            <c:symbol val="none"/>
          </c:marker>
          <c:cat>
            <c:strRef>
              <c:f>'Resort Hotel'!$S$104:$AD$104</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'Resort Hotel'!$S$109:$AD$109</c:f>
              <c:numCache>
                <c:formatCode>#,##0</c:formatCode>
                <c:ptCount val="12"/>
                <c:pt idx="0">
                  <c:v>20</c:v>
                </c:pt>
                <c:pt idx="1">
                  <c:v>34</c:v>
                </c:pt>
                <c:pt idx="2">
                  <c:v>90</c:v>
                </c:pt>
                <c:pt idx="3">
                  <c:v>5</c:v>
                </c:pt>
                <c:pt idx="4">
                  <c:v>5</c:v>
                </c:pt>
                <c:pt idx="5">
                  <c:v>11</c:v>
                </c:pt>
                <c:pt idx="6">
                  <c:v>23</c:v>
                </c:pt>
                <c:pt idx="7">
                  <c:v>12</c:v>
                </c:pt>
                <c:pt idx="8">
                  <c:v>16</c:v>
                </c:pt>
                <c:pt idx="9">
                  <c:v>18</c:v>
                </c:pt>
                <c:pt idx="10">
                  <c:v>25</c:v>
                </c:pt>
                <c:pt idx="11">
                  <c:v>17</c:v>
                </c:pt>
              </c:numCache>
            </c:numRef>
          </c:val>
          <c:smooth val="0"/>
          <c:extLst>
            <c:ext xmlns:c16="http://schemas.microsoft.com/office/drawing/2014/chart" uri="{C3380CC4-5D6E-409C-BE32-E72D297353CC}">
              <c16:uniqueId val="{00000004-E6D8-E042-9EBA-524C952475BD}"/>
            </c:ext>
          </c:extLst>
        </c:ser>
        <c:dLbls>
          <c:showLegendKey val="0"/>
          <c:showVal val="0"/>
          <c:showCatName val="0"/>
          <c:showSerName val="0"/>
          <c:showPercent val="0"/>
          <c:showBubbleSize val="0"/>
        </c:dLbls>
        <c:marker val="1"/>
        <c:smooth val="0"/>
        <c:axId val="239485376"/>
        <c:axId val="239500160"/>
      </c:lineChart>
      <c:catAx>
        <c:axId val="239485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9500160"/>
        <c:crosses val="autoZero"/>
        <c:auto val="1"/>
        <c:lblAlgn val="ctr"/>
        <c:lblOffset val="100"/>
        <c:noMultiLvlLbl val="0"/>
      </c:catAx>
      <c:valAx>
        <c:axId val="23950016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94853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ADR</a:t>
            </a:r>
            <a:r>
              <a:rPr lang="en-GB" baseline="0"/>
              <a:t> range interval</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'Resort Hotel'!$A$219</c:f>
              <c:strCache>
                <c:ptCount val="1"/>
                <c:pt idx="0">
                  <c:v>0~ 30</c:v>
                </c:pt>
              </c:strCache>
            </c:strRef>
          </c:tx>
          <c:spPr>
            <a:solidFill>
              <a:schemeClr val="accent1"/>
            </a:solidFill>
            <a:ln>
              <a:noFill/>
            </a:ln>
            <a:effectLst/>
          </c:spPr>
          <c:invertIfNegative val="0"/>
          <c:cat>
            <c:strRef>
              <c:f>'Resort Hotel'!$B$218:$M$218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'Resort Hotel'!$B$219:$M$219</c:f>
              <c:numCache>
                <c:formatCode>General</c:formatCode>
                <c:ptCount val="12"/>
                <c:pt idx="0">
                  <c:v>250</c:v>
                </c:pt>
                <c:pt idx="1">
                  <c:v>275</c:v>
                </c:pt>
                <c:pt idx="2">
                  <c:v>375</c:v>
                </c:pt>
                <c:pt idx="3">
                  <c:v>81</c:v>
                </c:pt>
                <c:pt idx="4">
                  <c:v>88</c:v>
                </c:pt>
                <c:pt idx="5">
                  <c:v>54</c:v>
                </c:pt>
                <c:pt idx="6">
                  <c:v>80</c:v>
                </c:pt>
                <c:pt idx="7">
                  <c:v>56</c:v>
                </c:pt>
                <c:pt idx="8">
                  <c:v>93</c:v>
                </c:pt>
                <c:pt idx="9">
                  <c:v>123</c:v>
                </c:pt>
                <c:pt idx="10">
                  <c:v>314</c:v>
                </c:pt>
                <c:pt idx="11">
                  <c:v>287</c:v>
                </c:pt>
              </c:numCache>
            </c:numRef>
          </c:val>
          <c:extLst>
            <c:ext xmlns:c16="http://schemas.microsoft.com/office/drawing/2014/chart" uri="{C3380CC4-5D6E-409C-BE32-E72D297353CC}">
              <c16:uniqueId val="{00000000-87FD-374C-A50B-630582CF4B3E}"/>
            </c:ext>
          </c:extLst>
        </c:ser>
        <c:ser>
          <c:idx val="1"/>
          <c:order val="1"/>
          <c:tx>
            <c:strRef>
              <c:f>'Resort Hotel'!$A$220</c:f>
              <c:strCache>
                <c:ptCount val="1"/>
                <c:pt idx="0">
                  <c:v>31~70</c:v>
                </c:pt>
              </c:strCache>
            </c:strRef>
          </c:tx>
          <c:spPr>
            <a:solidFill>
              <a:schemeClr val="accent2"/>
            </a:solidFill>
            <a:ln>
              <a:noFill/>
            </a:ln>
            <a:effectLst/>
          </c:spPr>
          <c:invertIfNegative val="0"/>
          <c:cat>
            <c:strRef>
              <c:f>'Resort Hotel'!$B$218:$M$218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'Resort Hotel'!$B$220:$M$220</c:f>
              <c:numCache>
                <c:formatCode>General</c:formatCode>
                <c:ptCount val="12"/>
                <c:pt idx="0">
                  <c:v>1653</c:v>
                </c:pt>
                <c:pt idx="1">
                  <c:v>2205</c:v>
                </c:pt>
                <c:pt idx="2">
                  <c:v>2097</c:v>
                </c:pt>
                <c:pt idx="3">
                  <c:v>1460</c:v>
                </c:pt>
                <c:pt idx="4">
                  <c:v>1536</c:v>
                </c:pt>
                <c:pt idx="5">
                  <c:v>427</c:v>
                </c:pt>
                <c:pt idx="6">
                  <c:v>89</c:v>
                </c:pt>
                <c:pt idx="7">
                  <c:v>36</c:v>
                </c:pt>
                <c:pt idx="8">
                  <c:v>883</c:v>
                </c:pt>
                <c:pt idx="9">
                  <c:v>2365</c:v>
                </c:pt>
                <c:pt idx="10">
                  <c:v>1812</c:v>
                </c:pt>
                <c:pt idx="11">
                  <c:v>1502</c:v>
                </c:pt>
              </c:numCache>
            </c:numRef>
          </c:val>
          <c:extLst>
            <c:ext xmlns:c16="http://schemas.microsoft.com/office/drawing/2014/chart" uri="{C3380CC4-5D6E-409C-BE32-E72D297353CC}">
              <c16:uniqueId val="{00000001-87FD-374C-A50B-630582CF4B3E}"/>
            </c:ext>
          </c:extLst>
        </c:ser>
        <c:ser>
          <c:idx val="2"/>
          <c:order val="2"/>
          <c:tx>
            <c:strRef>
              <c:f>'Resort Hotel'!$A$221</c:f>
              <c:strCache>
                <c:ptCount val="1"/>
                <c:pt idx="0">
                  <c:v>71~110</c:v>
                </c:pt>
              </c:strCache>
            </c:strRef>
          </c:tx>
          <c:spPr>
            <a:solidFill>
              <a:schemeClr val="accent3"/>
            </a:solidFill>
            <a:ln>
              <a:noFill/>
            </a:ln>
            <a:effectLst/>
          </c:spPr>
          <c:invertIfNegative val="0"/>
          <c:cat>
            <c:strRef>
              <c:f>'Resort Hotel'!$B$218:$M$218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'Resort Hotel'!$B$221:$M$221</c:f>
              <c:numCache>
                <c:formatCode>General</c:formatCode>
                <c:ptCount val="12"/>
                <c:pt idx="0">
                  <c:v>266</c:v>
                </c:pt>
                <c:pt idx="1">
                  <c:v>566</c:v>
                </c:pt>
                <c:pt idx="2">
                  <c:v>734</c:v>
                </c:pt>
                <c:pt idx="3">
                  <c:v>1578</c:v>
                </c:pt>
                <c:pt idx="4">
                  <c:v>1374</c:v>
                </c:pt>
                <c:pt idx="5">
                  <c:v>1233</c:v>
                </c:pt>
                <c:pt idx="6">
                  <c:v>756</c:v>
                </c:pt>
                <c:pt idx="7">
                  <c:v>282</c:v>
                </c:pt>
                <c:pt idx="8">
                  <c:v>1180</c:v>
                </c:pt>
                <c:pt idx="9">
                  <c:v>845</c:v>
                </c:pt>
                <c:pt idx="10">
                  <c:v>252</c:v>
                </c:pt>
                <c:pt idx="11">
                  <c:v>523</c:v>
                </c:pt>
              </c:numCache>
            </c:numRef>
          </c:val>
          <c:extLst>
            <c:ext xmlns:c16="http://schemas.microsoft.com/office/drawing/2014/chart" uri="{C3380CC4-5D6E-409C-BE32-E72D297353CC}">
              <c16:uniqueId val="{00000002-87FD-374C-A50B-630582CF4B3E}"/>
            </c:ext>
          </c:extLst>
        </c:ser>
        <c:dLbls>
          <c:showLegendKey val="0"/>
          <c:showVal val="0"/>
          <c:showCatName val="0"/>
          <c:showSerName val="0"/>
          <c:showPercent val="0"/>
          <c:showBubbleSize val="0"/>
        </c:dLbls>
        <c:gapWidth val="150"/>
        <c:axId val="239544384"/>
        <c:axId val="239546176"/>
      </c:barChart>
      <c:lineChart>
        <c:grouping val="standard"/>
        <c:varyColors val="0"/>
        <c:ser>
          <c:idx val="3"/>
          <c:order val="3"/>
          <c:tx>
            <c:strRef>
              <c:f>'Resort Hotel'!$A$222</c:f>
              <c:strCache>
                <c:ptCount val="1"/>
                <c:pt idx="0">
                  <c:v>111~150</c:v>
                </c:pt>
              </c:strCache>
            </c:strRef>
          </c:tx>
          <c:spPr>
            <a:ln w="28575" cap="rnd">
              <a:solidFill>
                <a:schemeClr val="accent4"/>
              </a:solidFill>
              <a:round/>
            </a:ln>
            <a:effectLst/>
          </c:spPr>
          <c:marker>
            <c:symbol val="none"/>
          </c:marker>
          <c:cat>
            <c:strRef>
              <c:f>'Resort Hotel'!$B$218:$M$218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'Resort Hotel'!$B$222:$M$222</c:f>
              <c:numCache>
                <c:formatCode>General</c:formatCode>
                <c:ptCount val="12"/>
                <c:pt idx="0">
                  <c:v>17</c:v>
                </c:pt>
                <c:pt idx="1">
                  <c:v>41</c:v>
                </c:pt>
                <c:pt idx="2">
                  <c:v>74</c:v>
                </c:pt>
                <c:pt idx="3">
                  <c:v>353</c:v>
                </c:pt>
                <c:pt idx="4">
                  <c:v>397</c:v>
                </c:pt>
                <c:pt idx="5">
                  <c:v>739</c:v>
                </c:pt>
                <c:pt idx="6">
                  <c:v>1251</c:v>
                </c:pt>
                <c:pt idx="7">
                  <c:v>941</c:v>
                </c:pt>
                <c:pt idx="8">
                  <c:v>542</c:v>
                </c:pt>
                <c:pt idx="9">
                  <c:v>157</c:v>
                </c:pt>
                <c:pt idx="10">
                  <c:v>17</c:v>
                </c:pt>
                <c:pt idx="11">
                  <c:v>150</c:v>
                </c:pt>
              </c:numCache>
            </c:numRef>
          </c:val>
          <c:smooth val="0"/>
          <c:extLst>
            <c:ext xmlns:c16="http://schemas.microsoft.com/office/drawing/2014/chart" uri="{C3380CC4-5D6E-409C-BE32-E72D297353CC}">
              <c16:uniqueId val="{00000003-87FD-374C-A50B-630582CF4B3E}"/>
            </c:ext>
          </c:extLst>
        </c:ser>
        <c:ser>
          <c:idx val="4"/>
          <c:order val="4"/>
          <c:tx>
            <c:strRef>
              <c:f>'Resort Hotel'!$A$223</c:f>
              <c:strCache>
                <c:ptCount val="1"/>
                <c:pt idx="0">
                  <c:v>151~211</c:v>
                </c:pt>
              </c:strCache>
            </c:strRef>
          </c:tx>
          <c:spPr>
            <a:ln w="28575" cap="rnd">
              <a:solidFill>
                <a:schemeClr val="accent5"/>
              </a:solidFill>
              <a:round/>
            </a:ln>
            <a:effectLst/>
          </c:spPr>
          <c:marker>
            <c:symbol val="none"/>
          </c:marker>
          <c:cat>
            <c:strRef>
              <c:f>'Resort Hotel'!$B$218:$M$218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'Resort Hotel'!$B$223:$M$223</c:f>
              <c:numCache>
                <c:formatCode>General</c:formatCode>
                <c:ptCount val="12"/>
                <c:pt idx="0">
                  <c:v>0</c:v>
                </c:pt>
                <c:pt idx="1">
                  <c:v>7</c:v>
                </c:pt>
                <c:pt idx="2">
                  <c:v>12</c:v>
                </c:pt>
                <c:pt idx="3">
                  <c:v>113</c:v>
                </c:pt>
                <c:pt idx="4">
                  <c:v>129</c:v>
                </c:pt>
                <c:pt idx="5">
                  <c:v>472</c:v>
                </c:pt>
                <c:pt idx="6">
                  <c:v>1652</c:v>
                </c:pt>
                <c:pt idx="7">
                  <c:v>1936</c:v>
                </c:pt>
                <c:pt idx="8">
                  <c:v>314</c:v>
                </c:pt>
                <c:pt idx="9">
                  <c:v>31</c:v>
                </c:pt>
                <c:pt idx="10">
                  <c:v>1</c:v>
                </c:pt>
                <c:pt idx="11">
                  <c:v>75</c:v>
                </c:pt>
              </c:numCache>
            </c:numRef>
          </c:val>
          <c:smooth val="0"/>
          <c:extLst>
            <c:ext xmlns:c16="http://schemas.microsoft.com/office/drawing/2014/chart" uri="{C3380CC4-5D6E-409C-BE32-E72D297353CC}">
              <c16:uniqueId val="{00000004-87FD-374C-A50B-630582CF4B3E}"/>
            </c:ext>
          </c:extLst>
        </c:ser>
        <c:dLbls>
          <c:showLegendKey val="0"/>
          <c:showVal val="0"/>
          <c:showCatName val="0"/>
          <c:showSerName val="0"/>
          <c:showPercent val="0"/>
          <c:showBubbleSize val="0"/>
        </c:dLbls>
        <c:marker val="1"/>
        <c:smooth val="0"/>
        <c:axId val="239544384"/>
        <c:axId val="239546176"/>
      </c:lineChart>
      <c:catAx>
        <c:axId val="239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9546176"/>
        <c:crosses val="autoZero"/>
        <c:auto val="1"/>
        <c:lblAlgn val="ctr"/>
        <c:lblOffset val="100"/>
        <c:noMultiLvlLbl val="0"/>
      </c:catAx>
      <c:valAx>
        <c:axId val="2395461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95443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days_in_waiting _list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'Resort Hotel'!$B$203</c:f>
              <c:strCache>
                <c:ptCount val="1"/>
                <c:pt idx="0">
                  <c:v>2015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Hotel'!$A$204:$A$207</c:f>
              <c:strCache>
                <c:ptCount val="4"/>
                <c:pt idx="0">
                  <c:v>Qtr1</c:v>
                </c:pt>
                <c:pt idx="1">
                  <c:v>Qtr2</c:v>
                </c:pt>
                <c:pt idx="2">
                  <c:v>Qtr3</c:v>
                </c:pt>
                <c:pt idx="3">
                  <c:v>Qtr4</c:v>
                </c:pt>
              </c:strCache>
            </c:strRef>
          </c:cat>
          <c:val>
            <c:numRef>
              <c:f>'Resort Hotel'!$B$204:$B$207</c:f>
              <c:numCache>
                <c:formatCode>General</c:formatCode>
                <c:ptCount val="4"/>
                <c:pt idx="2" formatCode="#,##0">
                  <c:v>0</c:v>
                </c:pt>
                <c:pt idx="3" formatCode="#,##0">
                  <c:v>9574</c:v>
                </c:pt>
              </c:numCache>
            </c:numRef>
          </c:val>
          <c:extLst>
            <c:ext xmlns:c16="http://schemas.microsoft.com/office/drawing/2014/chart" uri="{C3380CC4-5D6E-409C-BE32-E72D297353CC}">
              <c16:uniqueId val="{00000000-DA0D-854D-A726-2FC5AA01CE6C}"/>
            </c:ext>
          </c:extLst>
        </c:ser>
        <c:ser>
          <c:idx val="1"/>
          <c:order val="1"/>
          <c:tx>
            <c:strRef>
              <c:f>'Resort Hotel'!$C$203</c:f>
              <c:strCache>
                <c:ptCount val="1"/>
                <c:pt idx="0">
                  <c:v>2016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Hotel'!$A$204:$A$207</c:f>
              <c:strCache>
                <c:ptCount val="4"/>
                <c:pt idx="0">
                  <c:v>Qtr1</c:v>
                </c:pt>
                <c:pt idx="1">
                  <c:v>Qtr2</c:v>
                </c:pt>
                <c:pt idx="2">
                  <c:v>Qtr3</c:v>
                </c:pt>
                <c:pt idx="3">
                  <c:v>Qtr4</c:v>
                </c:pt>
              </c:strCache>
            </c:strRef>
          </c:cat>
          <c:val>
            <c:numRef>
              <c:f>'Resort Hotel'!$C$204:$C$207</c:f>
              <c:numCache>
                <c:formatCode>#,##0</c:formatCode>
                <c:ptCount val="4"/>
                <c:pt idx="0">
                  <c:v>0</c:v>
                </c:pt>
                <c:pt idx="1">
                  <c:v>1554</c:v>
                </c:pt>
                <c:pt idx="2">
                  <c:v>0</c:v>
                </c:pt>
                <c:pt idx="3">
                  <c:v>5808</c:v>
                </c:pt>
              </c:numCache>
            </c:numRef>
          </c:val>
          <c:extLst>
            <c:ext xmlns:c16="http://schemas.microsoft.com/office/drawing/2014/chart" uri="{C3380CC4-5D6E-409C-BE32-E72D297353CC}">
              <c16:uniqueId val="{00000001-DA0D-854D-A726-2FC5AA01CE6C}"/>
            </c:ext>
          </c:extLst>
        </c:ser>
        <c:ser>
          <c:idx val="2"/>
          <c:order val="2"/>
          <c:tx>
            <c:strRef>
              <c:f>'Resort Hotel'!$D$203</c:f>
              <c:strCache>
                <c:ptCount val="1"/>
                <c:pt idx="0">
                  <c:v>2017</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Hotel'!$A$204:$A$207</c:f>
              <c:strCache>
                <c:ptCount val="4"/>
                <c:pt idx="0">
                  <c:v>Qtr1</c:v>
                </c:pt>
                <c:pt idx="1">
                  <c:v>Qtr2</c:v>
                </c:pt>
                <c:pt idx="2">
                  <c:v>Qtr3</c:v>
                </c:pt>
                <c:pt idx="3">
                  <c:v>Qtr4</c:v>
                </c:pt>
              </c:strCache>
            </c:strRef>
          </c:cat>
          <c:val>
            <c:numRef>
              <c:f>'Resort Hotel'!$D$204:$D$207</c:f>
              <c:numCache>
                <c:formatCode>#,##0</c:formatCode>
                <c:ptCount val="4"/>
                <c:pt idx="0">
                  <c:v>2375</c:v>
                </c:pt>
                <c:pt idx="1">
                  <c:v>1526</c:v>
                </c:pt>
                <c:pt idx="2">
                  <c:v>12</c:v>
                </c:pt>
              </c:numCache>
            </c:numRef>
          </c:val>
          <c:extLst>
            <c:ext xmlns:c16="http://schemas.microsoft.com/office/drawing/2014/chart" uri="{C3380CC4-5D6E-409C-BE32-E72D297353CC}">
              <c16:uniqueId val="{00000002-DA0D-854D-A726-2FC5AA01CE6C}"/>
            </c:ext>
          </c:extLst>
        </c:ser>
        <c:dLbls>
          <c:showLegendKey val="0"/>
          <c:showVal val="0"/>
          <c:showCatName val="0"/>
          <c:showSerName val="0"/>
          <c:showPercent val="0"/>
          <c:showBubbleSize val="0"/>
        </c:dLbls>
        <c:gapWidth val="182"/>
        <c:axId val="236291840"/>
        <c:axId val="258446592"/>
      </c:barChart>
      <c:catAx>
        <c:axId val="2362918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8446592"/>
        <c:crosses val="autoZero"/>
        <c:auto val="1"/>
        <c:lblAlgn val="ctr"/>
        <c:lblOffset val="100"/>
        <c:noMultiLvlLbl val="0"/>
      </c:catAx>
      <c:valAx>
        <c:axId val="2584465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62918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lead_time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'Resort Hotel'!$B$262</c:f>
              <c:strCache>
                <c:ptCount val="1"/>
                <c:pt idx="0">
                  <c:v>2015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Hotel'!$A$263:$A$266</c:f>
              <c:strCache>
                <c:ptCount val="4"/>
                <c:pt idx="0">
                  <c:v>Qtr1</c:v>
                </c:pt>
                <c:pt idx="1">
                  <c:v>Qtr2</c:v>
                </c:pt>
                <c:pt idx="2">
                  <c:v>Qtr3</c:v>
                </c:pt>
                <c:pt idx="3">
                  <c:v>Qtr4</c:v>
                </c:pt>
              </c:strCache>
            </c:strRef>
          </c:cat>
          <c:val>
            <c:numRef>
              <c:f>'Resort Hotel'!$B$263:$B$266</c:f>
              <c:numCache>
                <c:formatCode>General</c:formatCode>
                <c:ptCount val="4"/>
                <c:pt idx="2" formatCode="#,##0">
                  <c:v>934424</c:v>
                </c:pt>
                <c:pt idx="3" formatCode="#,##0">
                  <c:v>511019</c:v>
                </c:pt>
              </c:numCache>
            </c:numRef>
          </c:val>
          <c:extLst>
            <c:ext xmlns:c16="http://schemas.microsoft.com/office/drawing/2014/chart" uri="{C3380CC4-5D6E-409C-BE32-E72D297353CC}">
              <c16:uniqueId val="{00000000-768A-C34B-945B-E82AD6CAE288}"/>
            </c:ext>
          </c:extLst>
        </c:ser>
        <c:ser>
          <c:idx val="1"/>
          <c:order val="1"/>
          <c:tx>
            <c:strRef>
              <c:f>'Resort Hotel'!$C$262</c:f>
              <c:strCache>
                <c:ptCount val="1"/>
                <c:pt idx="0">
                  <c:v>2016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Hotel'!$A$263:$A$266</c:f>
              <c:strCache>
                <c:ptCount val="4"/>
                <c:pt idx="0">
                  <c:v>Qtr1</c:v>
                </c:pt>
                <c:pt idx="1">
                  <c:v>Qtr2</c:v>
                </c:pt>
                <c:pt idx="2">
                  <c:v>Qtr3</c:v>
                </c:pt>
                <c:pt idx="3">
                  <c:v>Qtr4</c:v>
                </c:pt>
              </c:strCache>
            </c:strRef>
          </c:cat>
          <c:val>
            <c:numRef>
              <c:f>'Resort Hotel'!$C$263:$C$266</c:f>
              <c:numCache>
                <c:formatCode>#,##0</c:formatCode>
                <c:ptCount val="4"/>
                <c:pt idx="0">
                  <c:v>334933</c:v>
                </c:pt>
                <c:pt idx="1">
                  <c:v>1204024</c:v>
                </c:pt>
                <c:pt idx="2">
                  <c:v>1366183</c:v>
                </c:pt>
                <c:pt idx="3">
                  <c:v>1201294</c:v>
                </c:pt>
              </c:numCache>
            </c:numRef>
          </c:val>
          <c:extLst>
            <c:ext xmlns:c16="http://schemas.microsoft.com/office/drawing/2014/chart" uri="{C3380CC4-5D6E-409C-BE32-E72D297353CC}">
              <c16:uniqueId val="{00000001-768A-C34B-945B-E82AD6CAE288}"/>
            </c:ext>
          </c:extLst>
        </c:ser>
        <c:ser>
          <c:idx val="2"/>
          <c:order val="2"/>
          <c:tx>
            <c:strRef>
              <c:f>'Resort Hotel'!$D$262</c:f>
              <c:strCache>
                <c:ptCount val="1"/>
                <c:pt idx="0">
                  <c:v>2017</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Hotel'!$A$263:$A$266</c:f>
              <c:strCache>
                <c:ptCount val="4"/>
                <c:pt idx="0">
                  <c:v>Qtr1</c:v>
                </c:pt>
                <c:pt idx="1">
                  <c:v>Qtr2</c:v>
                </c:pt>
                <c:pt idx="2">
                  <c:v>Qtr3</c:v>
                </c:pt>
                <c:pt idx="3">
                  <c:v>Qtr4</c:v>
                </c:pt>
              </c:strCache>
            </c:strRef>
          </c:cat>
          <c:val>
            <c:numRef>
              <c:f>'Resort Hotel'!$D$263:$D$266</c:f>
              <c:numCache>
                <c:formatCode>#,##0</c:formatCode>
                <c:ptCount val="4"/>
                <c:pt idx="0">
                  <c:v>610076</c:v>
                </c:pt>
                <c:pt idx="1">
                  <c:v>1446523</c:v>
                </c:pt>
                <c:pt idx="2">
                  <c:v>1021890</c:v>
                </c:pt>
              </c:numCache>
            </c:numRef>
          </c:val>
          <c:extLst>
            <c:ext xmlns:c16="http://schemas.microsoft.com/office/drawing/2014/chart" uri="{C3380CC4-5D6E-409C-BE32-E72D297353CC}">
              <c16:uniqueId val="{00000002-768A-C34B-945B-E82AD6CAE288}"/>
            </c:ext>
          </c:extLst>
        </c:ser>
        <c:dLbls>
          <c:showLegendKey val="0"/>
          <c:showVal val="0"/>
          <c:showCatName val="0"/>
          <c:showSerName val="0"/>
          <c:showPercent val="0"/>
          <c:showBubbleSize val="0"/>
        </c:dLbls>
        <c:gapWidth val="182"/>
        <c:axId val="825597375"/>
        <c:axId val="825601407"/>
      </c:barChart>
      <c:catAx>
        <c:axId val="82559737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5601407"/>
        <c:crosses val="autoZero"/>
        <c:auto val="1"/>
        <c:lblAlgn val="ctr"/>
        <c:lblOffset val="100"/>
        <c:noMultiLvlLbl val="0"/>
      </c:catAx>
      <c:valAx>
        <c:axId val="82560140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55973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Each market segments</a:t>
            </a:r>
            <a:r>
              <a:rPr lang="en-GB" baseline="0"/>
              <a:t>_lead_time with status</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stacked"/>
        <c:varyColors val="0"/>
        <c:ser>
          <c:idx val="0"/>
          <c:order val="0"/>
          <c:tx>
            <c:strRef>
              <c:f>'Resort Hotel'!$A$313</c:f>
              <c:strCache>
                <c:ptCount val="1"/>
                <c:pt idx="0">
                  <c:v>Non_Cancel %</c:v>
                </c:pt>
              </c:strCache>
            </c:strRef>
          </c:tx>
          <c:spPr>
            <a:solidFill>
              <a:schemeClr val="accent1"/>
            </a:solidFill>
            <a:ln>
              <a:noFill/>
            </a:ln>
            <a:effectLst/>
          </c:spPr>
          <c:invertIfNegative val="0"/>
          <c:cat>
            <c:strRef>
              <c:f>'Resort Hotel'!$B$312:$I$312</c:f>
              <c:strCache>
                <c:ptCount val="8"/>
                <c:pt idx="0">
                  <c:v>Direct</c:v>
                </c:pt>
                <c:pt idx="1">
                  <c:v>Corporate</c:v>
                </c:pt>
                <c:pt idx="2">
                  <c:v>Online TA</c:v>
                </c:pt>
                <c:pt idx="3">
                  <c:v>Offline TA/TO</c:v>
                </c:pt>
                <c:pt idx="4">
                  <c:v>Complementary</c:v>
                </c:pt>
                <c:pt idx="5">
                  <c:v>Groups</c:v>
                </c:pt>
                <c:pt idx="6">
                  <c:v>Undefined</c:v>
                </c:pt>
                <c:pt idx="7">
                  <c:v>Aviation</c:v>
                </c:pt>
              </c:strCache>
            </c:strRef>
          </c:cat>
          <c:val>
            <c:numRef>
              <c:f>'Resort Hotel'!$B$313:$I$313</c:f>
              <c:numCache>
                <c:formatCode>0%</c:formatCode>
                <c:ptCount val="8"/>
                <c:pt idx="0">
                  <c:v>0.77510528675481605</c:v>
                </c:pt>
                <c:pt idx="1">
                  <c:v>0.75956042877817842</c:v>
                </c:pt>
                <c:pt idx="2">
                  <c:v>0.50831680330650819</c:v>
                </c:pt>
                <c:pt idx="3">
                  <c:v>0.80455066003005471</c:v>
                </c:pt>
                <c:pt idx="4">
                  <c:v>0.71687795177728064</c:v>
                </c:pt>
                <c:pt idx="5">
                  <c:v>0.55454517384054836</c:v>
                </c:pt>
                <c:pt idx="6">
                  <c:v>0</c:v>
                </c:pt>
                <c:pt idx="7">
                  <c:v>0</c:v>
                </c:pt>
              </c:numCache>
            </c:numRef>
          </c:val>
          <c:extLst>
            <c:ext xmlns:c16="http://schemas.microsoft.com/office/drawing/2014/chart" uri="{C3380CC4-5D6E-409C-BE32-E72D297353CC}">
              <c16:uniqueId val="{00000000-F1FA-4D46-AD4E-4E7DF8CB11C4}"/>
            </c:ext>
          </c:extLst>
        </c:ser>
        <c:ser>
          <c:idx val="1"/>
          <c:order val="1"/>
          <c:tx>
            <c:strRef>
              <c:f>'Resort Hotel'!$A$314</c:f>
              <c:strCache>
                <c:ptCount val="1"/>
                <c:pt idx="0">
                  <c:v>Cancel %</c:v>
                </c:pt>
              </c:strCache>
            </c:strRef>
          </c:tx>
          <c:spPr>
            <a:solidFill>
              <a:schemeClr val="accent2"/>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1FA-4D46-AD4E-4E7DF8CB11C4}"/>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1FA-4D46-AD4E-4E7DF8CB11C4}"/>
                </c:ext>
              </c:extLst>
            </c:dLbl>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1FA-4D46-AD4E-4E7DF8CB11C4}"/>
                </c:ext>
              </c:extLst>
            </c:dLbl>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1FA-4D46-AD4E-4E7DF8CB11C4}"/>
                </c:ext>
              </c:extLst>
            </c:dLbl>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1FA-4D46-AD4E-4E7DF8CB11C4}"/>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1FA-4D46-AD4E-4E7DF8CB11C4}"/>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1FA-4D46-AD4E-4E7DF8CB11C4}"/>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1FA-4D46-AD4E-4E7DF8CB11C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Hotel'!$B$312:$I$312</c:f>
              <c:strCache>
                <c:ptCount val="8"/>
                <c:pt idx="0">
                  <c:v>Direct</c:v>
                </c:pt>
                <c:pt idx="1">
                  <c:v>Corporate</c:v>
                </c:pt>
                <c:pt idx="2">
                  <c:v>Online TA</c:v>
                </c:pt>
                <c:pt idx="3">
                  <c:v>Offline TA/TO</c:v>
                </c:pt>
                <c:pt idx="4">
                  <c:v>Complementary</c:v>
                </c:pt>
                <c:pt idx="5">
                  <c:v>Groups</c:v>
                </c:pt>
                <c:pt idx="6">
                  <c:v>Undefined</c:v>
                </c:pt>
                <c:pt idx="7">
                  <c:v>Aviation</c:v>
                </c:pt>
              </c:strCache>
            </c:strRef>
          </c:cat>
          <c:val>
            <c:numRef>
              <c:f>'Resort Hotel'!$B$314:$I$314</c:f>
              <c:numCache>
                <c:formatCode>0%</c:formatCode>
                <c:ptCount val="8"/>
                <c:pt idx="0">
                  <c:v>0.22489471324518401</c:v>
                </c:pt>
                <c:pt idx="1">
                  <c:v>0.24043957122182158</c:v>
                </c:pt>
                <c:pt idx="2">
                  <c:v>0.49168319669349181</c:v>
                </c:pt>
                <c:pt idx="3">
                  <c:v>0.19544933996994532</c:v>
                </c:pt>
                <c:pt idx="4">
                  <c:v>0.28312204822271936</c:v>
                </c:pt>
                <c:pt idx="5">
                  <c:v>0.44545482615945159</c:v>
                </c:pt>
                <c:pt idx="6">
                  <c:v>0</c:v>
                </c:pt>
                <c:pt idx="7">
                  <c:v>0</c:v>
                </c:pt>
              </c:numCache>
            </c:numRef>
          </c:val>
          <c:extLst>
            <c:ext xmlns:c16="http://schemas.microsoft.com/office/drawing/2014/chart" uri="{C3380CC4-5D6E-409C-BE32-E72D297353CC}">
              <c16:uniqueId val="{00000009-F1FA-4D46-AD4E-4E7DF8CB11C4}"/>
            </c:ext>
          </c:extLst>
        </c:ser>
        <c:dLbls>
          <c:showLegendKey val="0"/>
          <c:showVal val="0"/>
          <c:showCatName val="0"/>
          <c:showSerName val="0"/>
          <c:showPercent val="0"/>
          <c:showBubbleSize val="0"/>
        </c:dLbls>
        <c:gapWidth val="150"/>
        <c:overlap val="100"/>
        <c:axId val="257915327"/>
        <c:axId val="257909951"/>
      </c:barChart>
      <c:catAx>
        <c:axId val="25791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7909951"/>
        <c:crosses val="autoZero"/>
        <c:auto val="1"/>
        <c:lblAlgn val="ctr"/>
        <c:lblOffset val="100"/>
        <c:noMultiLvlLbl val="0"/>
      </c:catAx>
      <c:valAx>
        <c:axId val="2579099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7915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2016</a:t>
            </a:r>
            <a:r>
              <a:rPr lang="en-GB" baseline="0"/>
              <a:t> e</a:t>
            </a:r>
            <a:r>
              <a:rPr lang="en-GB"/>
              <a:t>ach market</a:t>
            </a:r>
            <a:r>
              <a:rPr lang="en-GB" baseline="0"/>
              <a:t> segments revenue</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lineChart>
        <c:grouping val="standard"/>
        <c:varyColors val="0"/>
        <c:ser>
          <c:idx val="0"/>
          <c:order val="0"/>
          <c:tx>
            <c:strRef>
              <c:f>'Resort Hotel'!$A$318</c:f>
              <c:strCache>
                <c:ptCount val="1"/>
                <c:pt idx="0">
                  <c:v>Room_revenue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5.2631578947368418E-2"/>
                  <c:y val="-5.09984861079320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EA5-C743-A570-79602A1AC9BF}"/>
                </c:ext>
              </c:extLst>
            </c:dLbl>
            <c:dLbl>
              <c:idx val="1"/>
              <c:layout>
                <c:manualLayout>
                  <c:x val="-4.736842105263158E-2"/>
                  <c:y val="-5.09984861079320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EA5-C743-A570-79602A1AC9BF}"/>
                </c:ext>
              </c:extLst>
            </c:dLbl>
            <c:dLbl>
              <c:idx val="2"/>
              <c:layout>
                <c:manualLayout>
                  <c:x val="-6.5789473684210523E-2"/>
                  <c:y val="-3.2784741069384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EA5-C743-A570-79602A1AC9BF}"/>
                </c:ext>
              </c:extLst>
            </c:dLbl>
            <c:dLbl>
              <c:idx val="3"/>
              <c:layout>
                <c:manualLayout>
                  <c:x val="-6.0526315789473685E-2"/>
                  <c:y val="-5.09984861079320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EA5-C743-A570-79602A1AC9BF}"/>
                </c:ext>
              </c:extLst>
            </c:dLbl>
            <c:dLbl>
              <c:idx val="5"/>
              <c:layout>
                <c:manualLayout>
                  <c:x val="-0.15263157894736842"/>
                  <c:y val="-3.27847410693849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EA5-C743-A570-79602A1AC9BF}"/>
                </c:ext>
              </c:extLst>
            </c:dLbl>
            <c:dLbl>
              <c:idx val="6"/>
              <c:layout>
                <c:manualLayout>
                  <c:x val="-0.10789473684210527"/>
                  <c:y val="-2.18564940462566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EA5-C743-A570-79602A1AC9B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Hotel'!$B$317:$H$317</c:f>
              <c:strCache>
                <c:ptCount val="7"/>
                <c:pt idx="0">
                  <c:v>Aviation</c:v>
                </c:pt>
                <c:pt idx="1">
                  <c:v>Complementary</c:v>
                </c:pt>
                <c:pt idx="2">
                  <c:v>Corporate</c:v>
                </c:pt>
                <c:pt idx="3">
                  <c:v>Direct</c:v>
                </c:pt>
                <c:pt idx="4">
                  <c:v>Groups</c:v>
                </c:pt>
                <c:pt idx="5">
                  <c:v>Offline TA/TO</c:v>
                </c:pt>
                <c:pt idx="6">
                  <c:v>Online TA</c:v>
                </c:pt>
              </c:strCache>
            </c:strRef>
          </c:cat>
          <c:val>
            <c:numRef>
              <c:f>'Resort Hotel'!$B$318:$H$318</c:f>
              <c:numCache>
                <c:formatCode>#,##0.00</c:formatCode>
                <c:ptCount val="7"/>
                <c:pt idx="0">
                  <c:v>0</c:v>
                </c:pt>
                <c:pt idx="1">
                  <c:v>2069.5300000000002</c:v>
                </c:pt>
                <c:pt idx="2">
                  <c:v>211282.78999999995</c:v>
                </c:pt>
                <c:pt idx="3">
                  <c:v>1820197.0899999994</c:v>
                </c:pt>
                <c:pt idx="4">
                  <c:v>852816.00999999861</c:v>
                </c:pt>
                <c:pt idx="5">
                  <c:v>3044067.6699999901</c:v>
                </c:pt>
                <c:pt idx="6">
                  <c:v>3949310.890000009</c:v>
                </c:pt>
              </c:numCache>
            </c:numRef>
          </c:val>
          <c:smooth val="0"/>
          <c:extLst>
            <c:ext xmlns:c16="http://schemas.microsoft.com/office/drawing/2014/chart" uri="{C3380CC4-5D6E-409C-BE32-E72D297353CC}">
              <c16:uniqueId val="{00000006-5EA5-C743-A570-79602A1AC9BF}"/>
            </c:ext>
          </c:extLst>
        </c:ser>
        <c:ser>
          <c:idx val="1"/>
          <c:order val="1"/>
          <c:tx>
            <c:strRef>
              <c:f>'Resort Hotel'!$A$319</c:f>
              <c:strCache>
                <c:ptCount val="1"/>
                <c:pt idx="0">
                  <c:v>Cancel_revenue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'Resort Hotel'!$B$317:$H$317</c:f>
              <c:strCache>
                <c:ptCount val="7"/>
                <c:pt idx="0">
                  <c:v>Aviation</c:v>
                </c:pt>
                <c:pt idx="1">
                  <c:v>Complementary</c:v>
                </c:pt>
                <c:pt idx="2">
                  <c:v>Corporate</c:v>
                </c:pt>
                <c:pt idx="3">
                  <c:v>Direct</c:v>
                </c:pt>
                <c:pt idx="4">
                  <c:v>Groups</c:v>
                </c:pt>
                <c:pt idx="5">
                  <c:v>Offline TA/TO</c:v>
                </c:pt>
                <c:pt idx="6">
                  <c:v>Online TA</c:v>
                </c:pt>
              </c:strCache>
            </c:strRef>
          </c:cat>
          <c:val>
            <c:numRef>
              <c:f>'Resort Hotel'!$B$319:$H$319</c:f>
              <c:numCache>
                <c:formatCode>#,##0.00</c:formatCode>
                <c:ptCount val="7"/>
                <c:pt idx="0">
                  <c:v>0</c:v>
                </c:pt>
                <c:pt idx="1">
                  <c:v>75</c:v>
                </c:pt>
                <c:pt idx="2">
                  <c:v>77989.850000000006</c:v>
                </c:pt>
                <c:pt idx="3">
                  <c:v>369535.62000000017</c:v>
                </c:pt>
                <c:pt idx="4">
                  <c:v>658661.43000000215</c:v>
                </c:pt>
                <c:pt idx="5">
                  <c:v>554145.52000000025</c:v>
                </c:pt>
                <c:pt idx="6">
                  <c:v>2930970.8800000027</c:v>
                </c:pt>
              </c:numCache>
            </c:numRef>
          </c:val>
          <c:smooth val="0"/>
          <c:extLst>
            <c:ext xmlns:c16="http://schemas.microsoft.com/office/drawing/2014/chart" uri="{C3380CC4-5D6E-409C-BE32-E72D297353CC}">
              <c16:uniqueId val="{00000007-5EA5-C743-A570-79602A1AC9BF}"/>
            </c:ext>
          </c:extLst>
        </c:ser>
        <c:dLbls>
          <c:showLegendKey val="0"/>
          <c:showVal val="0"/>
          <c:showCatName val="0"/>
          <c:showSerName val="0"/>
          <c:showPercent val="0"/>
          <c:showBubbleSize val="0"/>
        </c:dLbls>
        <c:marker val="1"/>
        <c:smooth val="0"/>
        <c:axId val="218811903"/>
        <c:axId val="218821759"/>
      </c:lineChart>
      <c:catAx>
        <c:axId val="2188119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8821759"/>
        <c:crosses val="autoZero"/>
        <c:auto val="1"/>
        <c:lblAlgn val="ctr"/>
        <c:lblOffset val="100"/>
        <c:noMultiLvlLbl val="0"/>
      </c:catAx>
      <c:valAx>
        <c:axId val="21882175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88119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Cancellation in</a:t>
            </a:r>
            <a:r>
              <a:rPr lang="en-GB" baseline="0"/>
              <a:t> each market segments</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stacked"/>
        <c:varyColors val="0"/>
        <c:ser>
          <c:idx val="0"/>
          <c:order val="0"/>
          <c:tx>
            <c:strRef>
              <c:f>'Resort Hotel'!$B$332</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Hotel'!$A$333:$A$339</c:f>
              <c:strCache>
                <c:ptCount val="7"/>
                <c:pt idx="0">
                  <c:v>Aviation</c:v>
                </c:pt>
                <c:pt idx="1">
                  <c:v>Complementary</c:v>
                </c:pt>
                <c:pt idx="2">
                  <c:v>Corporate</c:v>
                </c:pt>
                <c:pt idx="3">
                  <c:v>Direct</c:v>
                </c:pt>
                <c:pt idx="4">
                  <c:v>Groups</c:v>
                </c:pt>
                <c:pt idx="5">
                  <c:v>Offline TA/TO</c:v>
                </c:pt>
                <c:pt idx="6">
                  <c:v>Online TA</c:v>
                </c:pt>
              </c:strCache>
            </c:strRef>
          </c:cat>
          <c:val>
            <c:numRef>
              <c:f>'Resort Hotel'!$B$333:$B$339</c:f>
              <c:numCache>
                <c:formatCode>0%</c:formatCode>
                <c:ptCount val="7"/>
                <c:pt idx="0">
                  <c:v>0</c:v>
                </c:pt>
                <c:pt idx="1">
                  <c:v>0.22222222222222221</c:v>
                </c:pt>
                <c:pt idx="2">
                  <c:v>0.2441860465116279</c:v>
                </c:pt>
                <c:pt idx="3">
                  <c:v>0.14596273291925466</c:v>
                </c:pt>
                <c:pt idx="4">
                  <c:v>0.28846153846153844</c:v>
                </c:pt>
                <c:pt idx="5">
                  <c:v>0.23095238095238096</c:v>
                </c:pt>
                <c:pt idx="6">
                  <c:v>0.13959285417532197</c:v>
                </c:pt>
              </c:numCache>
            </c:numRef>
          </c:val>
          <c:extLst>
            <c:ext xmlns:c16="http://schemas.microsoft.com/office/drawing/2014/chart" uri="{C3380CC4-5D6E-409C-BE32-E72D297353CC}">
              <c16:uniqueId val="{00000000-D486-9A40-A40C-7F99EEE6FF38}"/>
            </c:ext>
          </c:extLst>
        </c:ser>
        <c:ser>
          <c:idx val="1"/>
          <c:order val="1"/>
          <c:tx>
            <c:strRef>
              <c:f>'Resort Hotel'!$C$332</c:f>
              <c:strCache>
                <c:ptCount val="1"/>
                <c:pt idx="0">
                  <c:v>Q2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Hotel'!$A$333:$A$339</c:f>
              <c:strCache>
                <c:ptCount val="7"/>
                <c:pt idx="0">
                  <c:v>Aviation</c:v>
                </c:pt>
                <c:pt idx="1">
                  <c:v>Complementary</c:v>
                </c:pt>
                <c:pt idx="2">
                  <c:v>Corporate</c:v>
                </c:pt>
                <c:pt idx="3">
                  <c:v>Direct</c:v>
                </c:pt>
                <c:pt idx="4">
                  <c:v>Groups</c:v>
                </c:pt>
                <c:pt idx="5">
                  <c:v>Offline TA/TO</c:v>
                </c:pt>
                <c:pt idx="6">
                  <c:v>Online TA</c:v>
                </c:pt>
              </c:strCache>
            </c:strRef>
          </c:cat>
          <c:val>
            <c:numRef>
              <c:f>'Resort Hotel'!$C$333:$C$339</c:f>
              <c:numCache>
                <c:formatCode>0%</c:formatCode>
                <c:ptCount val="7"/>
                <c:pt idx="0">
                  <c:v>0</c:v>
                </c:pt>
                <c:pt idx="1">
                  <c:v>0.16666666666666666</c:v>
                </c:pt>
                <c:pt idx="2">
                  <c:v>0.34883720930232559</c:v>
                </c:pt>
                <c:pt idx="3">
                  <c:v>0.27018633540372672</c:v>
                </c:pt>
                <c:pt idx="4">
                  <c:v>0.39792899408284022</c:v>
                </c:pt>
                <c:pt idx="5">
                  <c:v>0.23809523809523808</c:v>
                </c:pt>
                <c:pt idx="6">
                  <c:v>0.25592023265475694</c:v>
                </c:pt>
              </c:numCache>
            </c:numRef>
          </c:val>
          <c:extLst>
            <c:ext xmlns:c16="http://schemas.microsoft.com/office/drawing/2014/chart" uri="{C3380CC4-5D6E-409C-BE32-E72D297353CC}">
              <c16:uniqueId val="{00000001-D486-9A40-A40C-7F99EEE6FF38}"/>
            </c:ext>
          </c:extLst>
        </c:ser>
        <c:ser>
          <c:idx val="2"/>
          <c:order val="2"/>
          <c:tx>
            <c:strRef>
              <c:f>'Resort Hotel'!$D$332</c:f>
              <c:strCache>
                <c:ptCount val="1"/>
                <c:pt idx="0">
                  <c:v>Q3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Hotel'!$A$333:$A$339</c:f>
              <c:strCache>
                <c:ptCount val="7"/>
                <c:pt idx="0">
                  <c:v>Aviation</c:v>
                </c:pt>
                <c:pt idx="1">
                  <c:v>Complementary</c:v>
                </c:pt>
                <c:pt idx="2">
                  <c:v>Corporate</c:v>
                </c:pt>
                <c:pt idx="3">
                  <c:v>Direct</c:v>
                </c:pt>
                <c:pt idx="4">
                  <c:v>Groups</c:v>
                </c:pt>
                <c:pt idx="5">
                  <c:v>Offline TA/TO</c:v>
                </c:pt>
                <c:pt idx="6">
                  <c:v>Online TA</c:v>
                </c:pt>
              </c:strCache>
            </c:strRef>
          </c:cat>
          <c:val>
            <c:numRef>
              <c:f>'Resort Hotel'!$D$333:$D$339</c:f>
              <c:numCache>
                <c:formatCode>0%</c:formatCode>
                <c:ptCount val="7"/>
                <c:pt idx="0">
                  <c:v>0</c:v>
                </c:pt>
                <c:pt idx="1">
                  <c:v>0.1111111111111111</c:v>
                </c:pt>
                <c:pt idx="2">
                  <c:v>0.16279069767441862</c:v>
                </c:pt>
                <c:pt idx="3">
                  <c:v>0.36024844720496896</c:v>
                </c:pt>
                <c:pt idx="4">
                  <c:v>8.5798816568047331E-2</c:v>
                </c:pt>
                <c:pt idx="5">
                  <c:v>0.38333333333333336</c:v>
                </c:pt>
                <c:pt idx="6">
                  <c:v>0.31948483589530535</c:v>
                </c:pt>
              </c:numCache>
            </c:numRef>
          </c:val>
          <c:extLst>
            <c:ext xmlns:c16="http://schemas.microsoft.com/office/drawing/2014/chart" uri="{C3380CC4-5D6E-409C-BE32-E72D297353CC}">
              <c16:uniqueId val="{00000002-D486-9A40-A40C-7F99EEE6FF38}"/>
            </c:ext>
          </c:extLst>
        </c:ser>
        <c:ser>
          <c:idx val="3"/>
          <c:order val="3"/>
          <c:tx>
            <c:strRef>
              <c:f>'Resort Hotel'!$E$332</c:f>
              <c:strCache>
                <c:ptCount val="1"/>
                <c:pt idx="0">
                  <c:v>Q4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Hotel'!$A$333:$A$339</c:f>
              <c:strCache>
                <c:ptCount val="7"/>
                <c:pt idx="0">
                  <c:v>Aviation</c:v>
                </c:pt>
                <c:pt idx="1">
                  <c:v>Complementary</c:v>
                </c:pt>
                <c:pt idx="2">
                  <c:v>Corporate</c:v>
                </c:pt>
                <c:pt idx="3">
                  <c:v>Direct</c:v>
                </c:pt>
                <c:pt idx="4">
                  <c:v>Groups</c:v>
                </c:pt>
                <c:pt idx="5">
                  <c:v>Offline TA/TO</c:v>
                </c:pt>
                <c:pt idx="6">
                  <c:v>Online TA</c:v>
                </c:pt>
              </c:strCache>
            </c:strRef>
          </c:cat>
          <c:val>
            <c:numRef>
              <c:f>'Resort Hotel'!$E$333:$E$339</c:f>
              <c:numCache>
                <c:formatCode>0%</c:formatCode>
                <c:ptCount val="7"/>
                <c:pt idx="0">
                  <c:v>0</c:v>
                </c:pt>
                <c:pt idx="1">
                  <c:v>0.5</c:v>
                </c:pt>
                <c:pt idx="2">
                  <c:v>0.2441860465116279</c:v>
                </c:pt>
                <c:pt idx="3">
                  <c:v>0.2236024844720497</c:v>
                </c:pt>
                <c:pt idx="4">
                  <c:v>0.22781065088757396</c:v>
                </c:pt>
                <c:pt idx="5">
                  <c:v>0.14761904761904762</c:v>
                </c:pt>
                <c:pt idx="6">
                  <c:v>0.28500207727461568</c:v>
                </c:pt>
              </c:numCache>
            </c:numRef>
          </c:val>
          <c:extLst>
            <c:ext xmlns:c16="http://schemas.microsoft.com/office/drawing/2014/chart" uri="{C3380CC4-5D6E-409C-BE32-E72D297353CC}">
              <c16:uniqueId val="{00000003-D486-9A40-A40C-7F99EEE6FF38}"/>
            </c:ext>
          </c:extLst>
        </c:ser>
        <c:dLbls>
          <c:showLegendKey val="0"/>
          <c:showVal val="0"/>
          <c:showCatName val="0"/>
          <c:showSerName val="0"/>
          <c:showPercent val="0"/>
          <c:showBubbleSize val="0"/>
        </c:dLbls>
        <c:gapWidth val="150"/>
        <c:overlap val="100"/>
        <c:axId val="250883007"/>
        <c:axId val="250058431"/>
      </c:barChart>
      <c:catAx>
        <c:axId val="250883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0058431"/>
        <c:crosses val="autoZero"/>
        <c:auto val="1"/>
        <c:lblAlgn val="ctr"/>
        <c:lblOffset val="100"/>
        <c:noMultiLvlLbl val="0"/>
      </c:catAx>
      <c:valAx>
        <c:axId val="25005843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08830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200"/>
              <a:t>Cancellation</a:t>
            </a:r>
            <a:r>
              <a:rPr lang="en-GB" sz="1200" baseline="0"/>
              <a:t> transactions count in each country zone</a:t>
            </a:r>
            <a:endParaRPr lang="en-GB" sz="120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percentStacked"/>
        <c:varyColors val="0"/>
        <c:ser>
          <c:idx val="0"/>
          <c:order val="0"/>
          <c:tx>
            <c:strRef>
              <c:f>'Resort Hotel'!$A$393</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Hotel'!$B$392:$I$392</c:f>
              <c:strCache>
                <c:ptCount val="8"/>
                <c:pt idx="0">
                  <c:v>Africa</c:v>
                </c:pt>
                <c:pt idx="1">
                  <c:v>Antarctica</c:v>
                </c:pt>
                <c:pt idx="2">
                  <c:v>Asia</c:v>
                </c:pt>
                <c:pt idx="3">
                  <c:v>Europe</c:v>
                </c:pt>
                <c:pt idx="4">
                  <c:v>North America</c:v>
                </c:pt>
                <c:pt idx="5">
                  <c:v>Oceania</c:v>
                </c:pt>
                <c:pt idx="6">
                  <c:v>South America</c:v>
                </c:pt>
                <c:pt idx="7">
                  <c:v>Undefined</c:v>
                </c:pt>
              </c:strCache>
            </c:strRef>
          </c:cat>
          <c:val>
            <c:numRef>
              <c:f>'Resort Hotel'!$B$393:$I$393</c:f>
              <c:numCache>
                <c:formatCode>General</c:formatCode>
                <c:ptCount val="8"/>
                <c:pt idx="0" formatCode="0.0%">
                  <c:v>2.1242697822623472E-3</c:v>
                </c:pt>
                <c:pt idx="2" formatCode="0.0%">
                  <c:v>7.5434568711052804E-3</c:v>
                </c:pt>
                <c:pt idx="3" formatCode="0.0%">
                  <c:v>0.96548061603823687</c:v>
                </c:pt>
                <c:pt idx="4" formatCode="0.0%">
                  <c:v>2.6553372278279343E-3</c:v>
                </c:pt>
                <c:pt idx="5" formatCode="0.0%">
                  <c:v>2.1242697822623472E-3</c:v>
                </c:pt>
                <c:pt idx="6" formatCode="0.0%">
                  <c:v>1.3807753584705257E-2</c:v>
                </c:pt>
                <c:pt idx="7" formatCode="0.0%">
                  <c:v>1.5932023366967605E-3</c:v>
                </c:pt>
              </c:numCache>
            </c:numRef>
          </c:val>
          <c:extLst>
            <c:ext xmlns:c16="http://schemas.microsoft.com/office/drawing/2014/chart" uri="{C3380CC4-5D6E-409C-BE32-E72D297353CC}">
              <c16:uniqueId val="{00000000-EDC8-D441-B664-7FFD64429DA3}"/>
            </c:ext>
          </c:extLst>
        </c:ser>
        <c:ser>
          <c:idx val="1"/>
          <c:order val="1"/>
          <c:tx>
            <c:strRef>
              <c:f>'Resort Hotel'!$A$394</c:f>
              <c:strCache>
                <c:ptCount val="1"/>
                <c:pt idx="0">
                  <c:v>Q2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Hotel'!$B$392:$I$392</c:f>
              <c:strCache>
                <c:ptCount val="8"/>
                <c:pt idx="0">
                  <c:v>Africa</c:v>
                </c:pt>
                <c:pt idx="1">
                  <c:v>Antarctica</c:v>
                </c:pt>
                <c:pt idx="2">
                  <c:v>Asia</c:v>
                </c:pt>
                <c:pt idx="3">
                  <c:v>Europe</c:v>
                </c:pt>
                <c:pt idx="4">
                  <c:v>North America</c:v>
                </c:pt>
                <c:pt idx="5">
                  <c:v>Oceania</c:v>
                </c:pt>
                <c:pt idx="6">
                  <c:v>South America</c:v>
                </c:pt>
                <c:pt idx="7">
                  <c:v>Undefined</c:v>
                </c:pt>
              </c:strCache>
            </c:strRef>
          </c:cat>
          <c:val>
            <c:numRef>
              <c:f>'Resort Hotel'!$B$394:$I$394</c:f>
              <c:numCache>
                <c:formatCode>General</c:formatCode>
                <c:ptCount val="8"/>
                <c:pt idx="0" formatCode="0.0%">
                  <c:v>1.6398819285011479E-3</c:v>
                </c:pt>
                <c:pt idx="2" formatCode="0.0%">
                  <c:v>1.1089987325728771E-2</c:v>
                </c:pt>
                <c:pt idx="3" formatCode="0.0%">
                  <c:v>0.96326664480157431</c:v>
                </c:pt>
                <c:pt idx="4" formatCode="0.0%">
                  <c:v>8.8553624139061995E-3</c:v>
                </c:pt>
                <c:pt idx="5" formatCode="0.0%">
                  <c:v>9.8392915710068872E-4</c:v>
                </c:pt>
                <c:pt idx="6" formatCode="0.0%">
                  <c:v>1.0823220728107576E-2</c:v>
                </c:pt>
                <c:pt idx="7" formatCode="0.0%">
                  <c:v>2.9517874713020664E-3</c:v>
                </c:pt>
              </c:numCache>
            </c:numRef>
          </c:val>
          <c:extLst>
            <c:ext xmlns:c16="http://schemas.microsoft.com/office/drawing/2014/chart" uri="{C3380CC4-5D6E-409C-BE32-E72D297353CC}">
              <c16:uniqueId val="{00000001-EDC8-D441-B664-7FFD64429DA3}"/>
            </c:ext>
          </c:extLst>
        </c:ser>
        <c:ser>
          <c:idx val="2"/>
          <c:order val="2"/>
          <c:tx>
            <c:strRef>
              <c:f>'Resort Hotel'!$A$395</c:f>
              <c:strCache>
                <c:ptCount val="1"/>
                <c:pt idx="0">
                  <c:v>Q3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Hotel'!$B$392:$I$392</c:f>
              <c:strCache>
                <c:ptCount val="8"/>
                <c:pt idx="0">
                  <c:v>Africa</c:v>
                </c:pt>
                <c:pt idx="1">
                  <c:v>Antarctica</c:v>
                </c:pt>
                <c:pt idx="2">
                  <c:v>Asia</c:v>
                </c:pt>
                <c:pt idx="3">
                  <c:v>Europe</c:v>
                </c:pt>
                <c:pt idx="4">
                  <c:v>North America</c:v>
                </c:pt>
                <c:pt idx="5">
                  <c:v>Oceania</c:v>
                </c:pt>
                <c:pt idx="6">
                  <c:v>South America</c:v>
                </c:pt>
                <c:pt idx="7">
                  <c:v>Undefined</c:v>
                </c:pt>
              </c:strCache>
            </c:strRef>
          </c:cat>
          <c:val>
            <c:numRef>
              <c:f>'Resort Hotel'!$B$395:$I$395</c:f>
              <c:numCache>
                <c:formatCode>General</c:formatCode>
                <c:ptCount val="8"/>
                <c:pt idx="0" formatCode="0.0%">
                  <c:v>4.4359949302915083E-3</c:v>
                </c:pt>
                <c:pt idx="2" formatCode="0.0%">
                  <c:v>2.6737967914438502E-2</c:v>
                </c:pt>
                <c:pt idx="3" formatCode="0.0%">
                  <c:v>0.95595690747782003</c:v>
                </c:pt>
                <c:pt idx="4" formatCode="0.0%">
                  <c:v>4.7528517110266158E-3</c:v>
                </c:pt>
                <c:pt idx="5" formatCode="0.0%">
                  <c:v>1.9011406844106464E-3</c:v>
                </c:pt>
                <c:pt idx="6" formatCode="0.0%">
                  <c:v>8.2382762991128015E-3</c:v>
                </c:pt>
                <c:pt idx="7" formatCode="0.0%">
                  <c:v>7.287705956907478E-3</c:v>
                </c:pt>
              </c:numCache>
            </c:numRef>
          </c:val>
          <c:extLst>
            <c:ext xmlns:c16="http://schemas.microsoft.com/office/drawing/2014/chart" uri="{C3380CC4-5D6E-409C-BE32-E72D297353CC}">
              <c16:uniqueId val="{00000002-EDC8-D441-B664-7FFD64429DA3}"/>
            </c:ext>
          </c:extLst>
        </c:ser>
        <c:ser>
          <c:idx val="3"/>
          <c:order val="3"/>
          <c:tx>
            <c:strRef>
              <c:f>'Resort Hotel'!$A$396</c:f>
              <c:strCache>
                <c:ptCount val="1"/>
                <c:pt idx="0">
                  <c:v>Q4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Hotel'!$B$392:$I$392</c:f>
              <c:strCache>
                <c:ptCount val="8"/>
                <c:pt idx="0">
                  <c:v>Africa</c:v>
                </c:pt>
                <c:pt idx="1">
                  <c:v>Antarctica</c:v>
                </c:pt>
                <c:pt idx="2">
                  <c:v>Asia</c:v>
                </c:pt>
                <c:pt idx="3">
                  <c:v>Europe</c:v>
                </c:pt>
                <c:pt idx="4">
                  <c:v>North America</c:v>
                </c:pt>
                <c:pt idx="5">
                  <c:v>Oceania</c:v>
                </c:pt>
                <c:pt idx="6">
                  <c:v>South America</c:v>
                </c:pt>
                <c:pt idx="7">
                  <c:v>Undefined</c:v>
                </c:pt>
              </c:strCache>
            </c:strRef>
          </c:cat>
          <c:val>
            <c:numRef>
              <c:f>'Resort Hotel'!$B$396:$I$396</c:f>
              <c:numCache>
                <c:formatCode>General</c:formatCode>
                <c:ptCount val="8"/>
                <c:pt idx="0" formatCode="0.0%">
                  <c:v>3.4030140982012642E-3</c:v>
                </c:pt>
                <c:pt idx="2" formatCode="0.0%">
                  <c:v>2.1685559388861506E-3</c:v>
                </c:pt>
                <c:pt idx="3" formatCode="0.0%">
                  <c:v>0.96840058337384538</c:v>
                </c:pt>
                <c:pt idx="4" formatCode="0.0%">
                  <c:v>1.9445794846864365E-3</c:v>
                </c:pt>
                <c:pt idx="5" formatCode="0.0%">
                  <c:v>0</c:v>
                </c:pt>
                <c:pt idx="6" formatCode="0.0%">
                  <c:v>1.06951871657754E-2</c:v>
                </c:pt>
                <c:pt idx="7" formatCode="0.0%">
                  <c:v>4.8614487117160914E-3</c:v>
                </c:pt>
              </c:numCache>
            </c:numRef>
          </c:val>
          <c:extLst>
            <c:ext xmlns:c16="http://schemas.microsoft.com/office/drawing/2014/chart" uri="{C3380CC4-5D6E-409C-BE32-E72D297353CC}">
              <c16:uniqueId val="{00000003-EDC8-D441-B664-7FFD64429DA3}"/>
            </c:ext>
          </c:extLst>
        </c:ser>
        <c:dLbls>
          <c:showLegendKey val="0"/>
          <c:showVal val="0"/>
          <c:showCatName val="0"/>
          <c:showSerName val="0"/>
          <c:showPercent val="0"/>
          <c:showBubbleSize val="0"/>
        </c:dLbls>
        <c:gapWidth val="150"/>
        <c:overlap val="100"/>
        <c:axId val="201755711"/>
        <c:axId val="201754815"/>
      </c:barChart>
      <c:catAx>
        <c:axId val="2017557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754815"/>
        <c:crosses val="autoZero"/>
        <c:auto val="1"/>
        <c:lblAlgn val="ctr"/>
        <c:lblOffset val="100"/>
        <c:noMultiLvlLbl val="0"/>
      </c:catAx>
      <c:valAx>
        <c:axId val="20175481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7557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nights of each country zone_non_cancelled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'Resort Hotel'!$A$406</c:f>
              <c:strCache>
                <c:ptCount val="1"/>
                <c:pt idx="0">
                  <c:v>Non_Cancelled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10C-1E40-9E8D-6CEBC45D383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10C-1E40-9E8D-6CEBC45D383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810C-1E40-9E8D-6CEBC45D383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810C-1E40-9E8D-6CEBC45D383E}"/>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810C-1E40-9E8D-6CEBC45D383E}"/>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810C-1E40-9E8D-6CEBC45D383E}"/>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810C-1E40-9E8D-6CEBC45D383E}"/>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810C-1E40-9E8D-6CEBC45D383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'Resort Hotel'!$B$405:$I$405</c:f>
              <c:strCache>
                <c:ptCount val="8"/>
                <c:pt idx="0">
                  <c:v>Africa</c:v>
                </c:pt>
                <c:pt idx="1">
                  <c:v>Antarctica</c:v>
                </c:pt>
                <c:pt idx="2">
                  <c:v>Asia</c:v>
                </c:pt>
                <c:pt idx="3">
                  <c:v>Europe</c:v>
                </c:pt>
                <c:pt idx="4">
                  <c:v>North America</c:v>
                </c:pt>
                <c:pt idx="5">
                  <c:v>Oceania</c:v>
                </c:pt>
                <c:pt idx="6">
                  <c:v>South America</c:v>
                </c:pt>
                <c:pt idx="7">
                  <c:v>Undefined</c:v>
                </c:pt>
              </c:strCache>
            </c:strRef>
          </c:cat>
          <c:val>
            <c:numRef>
              <c:f>'Resort Hotel'!$B$406:$I$406</c:f>
              <c:numCache>
                <c:formatCode>General</c:formatCode>
                <c:ptCount val="8"/>
                <c:pt idx="0" formatCode="0.0%">
                  <c:v>3.42928021597169E-3</c:v>
                </c:pt>
                <c:pt idx="2" formatCode="0.0%">
                  <c:v>3.2067418189777826E-2</c:v>
                </c:pt>
                <c:pt idx="3" formatCode="0.0%">
                  <c:v>0.9182809820874831</c:v>
                </c:pt>
                <c:pt idx="4" formatCode="0.0%">
                  <c:v>1.4191383021414761E-2</c:v>
                </c:pt>
                <c:pt idx="5" formatCode="0.0%">
                  <c:v>2.9550180584436907E-3</c:v>
                </c:pt>
                <c:pt idx="6" formatCode="0.0%">
                  <c:v>1.4081937908139068E-2</c:v>
                </c:pt>
                <c:pt idx="7" formatCode="0.0%">
                  <c:v>1.4993980518769837E-2</c:v>
                </c:pt>
              </c:numCache>
            </c:numRef>
          </c:val>
          <c:extLst>
            <c:ext xmlns:c16="http://schemas.microsoft.com/office/drawing/2014/chart" uri="{C3380CC4-5D6E-409C-BE32-E72D297353CC}">
              <c16:uniqueId val="{00000010-810C-1E40-9E8D-6CEBC45D383E}"/>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Cancellation Revenue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strRef>
              <c:f>'Resort Hotel'!$B$532</c:f>
              <c:strCache>
                <c:ptCount val="1"/>
                <c:pt idx="0">
                  <c:v>Corporate</c:v>
                </c:pt>
              </c:strCache>
            </c:strRef>
          </c:tx>
          <c:spPr>
            <a:solidFill>
              <a:schemeClr val="accent1"/>
            </a:solidFill>
            <a:ln>
              <a:noFill/>
            </a:ln>
            <a:effectLst/>
            <a:sp3d/>
          </c:spPr>
          <c:invertIfNegative val="0"/>
          <c:cat>
            <c:strRef>
              <c:f>'Resort Hotel'!$A$533:$A$536</c:f>
              <c:strCache>
                <c:ptCount val="4"/>
                <c:pt idx="0">
                  <c:v>Q1</c:v>
                </c:pt>
                <c:pt idx="1">
                  <c:v>Q2</c:v>
                </c:pt>
                <c:pt idx="2">
                  <c:v>Q3</c:v>
                </c:pt>
                <c:pt idx="3">
                  <c:v>Q4</c:v>
                </c:pt>
              </c:strCache>
            </c:strRef>
          </c:cat>
          <c:val>
            <c:numRef>
              <c:f>'Resort Hotel'!$B$533:$B$536</c:f>
              <c:numCache>
                <c:formatCode>#,##0.00</c:formatCode>
                <c:ptCount val="4"/>
                <c:pt idx="0">
                  <c:v>16808.949999999997</c:v>
                </c:pt>
                <c:pt idx="1">
                  <c:v>47313.509999999995</c:v>
                </c:pt>
                <c:pt idx="2">
                  <c:v>57780.990000000143</c:v>
                </c:pt>
                <c:pt idx="3">
                  <c:v>37937.65</c:v>
                </c:pt>
              </c:numCache>
            </c:numRef>
          </c:val>
          <c:extLst>
            <c:ext xmlns:c16="http://schemas.microsoft.com/office/drawing/2014/chart" uri="{C3380CC4-5D6E-409C-BE32-E72D297353CC}">
              <c16:uniqueId val="{00000000-E353-C543-A99B-DE6E29DCE5F7}"/>
            </c:ext>
          </c:extLst>
        </c:ser>
        <c:ser>
          <c:idx val="1"/>
          <c:order val="1"/>
          <c:tx>
            <c:strRef>
              <c:f>'Resort Hotel'!$C$532</c:f>
              <c:strCache>
                <c:ptCount val="1"/>
                <c:pt idx="0">
                  <c:v>Direct</c:v>
                </c:pt>
              </c:strCache>
            </c:strRef>
          </c:tx>
          <c:spPr>
            <a:solidFill>
              <a:schemeClr val="accent2"/>
            </a:solidFill>
            <a:ln>
              <a:noFill/>
            </a:ln>
            <a:effectLst/>
            <a:sp3d/>
          </c:spPr>
          <c:invertIfNegative val="0"/>
          <c:cat>
            <c:strRef>
              <c:f>'Resort Hotel'!$A$533:$A$536</c:f>
              <c:strCache>
                <c:ptCount val="4"/>
                <c:pt idx="0">
                  <c:v>Q1</c:v>
                </c:pt>
                <c:pt idx="1">
                  <c:v>Q2</c:v>
                </c:pt>
                <c:pt idx="2">
                  <c:v>Q3</c:v>
                </c:pt>
                <c:pt idx="3">
                  <c:v>Q4</c:v>
                </c:pt>
              </c:strCache>
            </c:strRef>
          </c:cat>
          <c:val>
            <c:numRef>
              <c:f>'Resort Hotel'!$C$533:$C$536</c:f>
              <c:numCache>
                <c:formatCode>#,##0.00</c:formatCode>
                <c:ptCount val="4"/>
                <c:pt idx="0">
                  <c:v>59695.94999999999</c:v>
                </c:pt>
                <c:pt idx="1">
                  <c:v>131418.97</c:v>
                </c:pt>
                <c:pt idx="2">
                  <c:v>232948.24999999997</c:v>
                </c:pt>
                <c:pt idx="3">
                  <c:v>60223.27</c:v>
                </c:pt>
              </c:numCache>
            </c:numRef>
          </c:val>
          <c:extLst>
            <c:ext xmlns:c16="http://schemas.microsoft.com/office/drawing/2014/chart" uri="{C3380CC4-5D6E-409C-BE32-E72D297353CC}">
              <c16:uniqueId val="{00000001-E353-C543-A99B-DE6E29DCE5F7}"/>
            </c:ext>
          </c:extLst>
        </c:ser>
        <c:ser>
          <c:idx val="2"/>
          <c:order val="2"/>
          <c:tx>
            <c:strRef>
              <c:f>'Resort Hotel'!$D$532</c:f>
              <c:strCache>
                <c:ptCount val="1"/>
                <c:pt idx="0">
                  <c:v>TA/TO</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Hotel'!$A$533:$A$536</c:f>
              <c:strCache>
                <c:ptCount val="4"/>
                <c:pt idx="0">
                  <c:v>Q1</c:v>
                </c:pt>
                <c:pt idx="1">
                  <c:v>Q2</c:v>
                </c:pt>
                <c:pt idx="2">
                  <c:v>Q3</c:v>
                </c:pt>
                <c:pt idx="3">
                  <c:v>Q4</c:v>
                </c:pt>
              </c:strCache>
            </c:strRef>
          </c:cat>
          <c:val>
            <c:numRef>
              <c:f>'Resort Hotel'!$D$533:$D$536</c:f>
              <c:numCache>
                <c:formatCode>#,##0.00</c:formatCode>
                <c:ptCount val="4"/>
                <c:pt idx="0">
                  <c:v>399156.95000000048</c:v>
                </c:pt>
                <c:pt idx="1">
                  <c:v>1176718.9200000016</c:v>
                </c:pt>
                <c:pt idx="2">
                  <c:v>1961322.1700000011</c:v>
                </c:pt>
                <c:pt idx="3">
                  <c:v>410052.71999999986</c:v>
                </c:pt>
              </c:numCache>
            </c:numRef>
          </c:val>
          <c:extLst>
            <c:ext xmlns:c16="http://schemas.microsoft.com/office/drawing/2014/chart" uri="{C3380CC4-5D6E-409C-BE32-E72D297353CC}">
              <c16:uniqueId val="{00000002-E353-C543-A99B-DE6E29DCE5F7}"/>
            </c:ext>
          </c:extLst>
        </c:ser>
        <c:dLbls>
          <c:showLegendKey val="0"/>
          <c:showVal val="0"/>
          <c:showCatName val="0"/>
          <c:showSerName val="0"/>
          <c:showPercent val="0"/>
          <c:showBubbleSize val="0"/>
        </c:dLbls>
        <c:gapWidth val="150"/>
        <c:shape val="box"/>
        <c:axId val="283657536"/>
        <c:axId val="239729536"/>
        <c:axId val="0"/>
      </c:bar3DChart>
      <c:catAx>
        <c:axId val="28365753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9729536"/>
        <c:crosses val="autoZero"/>
        <c:auto val="1"/>
        <c:lblAlgn val="ctr"/>
        <c:lblOffset val="100"/>
        <c:noMultiLvlLbl val="0"/>
      </c:catAx>
      <c:valAx>
        <c:axId val="239729536"/>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36575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Total</a:t>
            </a:r>
            <a:r>
              <a:rPr lang="en-GB" baseline="0"/>
              <a:t>_nights in each customer types</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manualLayout>
          <c:layoutTarget val="inner"/>
          <c:xMode val="edge"/>
          <c:yMode val="edge"/>
          <c:x val="0.11770596174425001"/>
          <c:y val="8.1527957660439479E-2"/>
          <c:w val="0.83925680709724648"/>
          <c:h val="0.81735992607817942"/>
        </c:manualLayout>
      </c:layout>
      <c:barChart>
        <c:barDir val="bar"/>
        <c:grouping val="clustered"/>
        <c:varyColors val="0"/>
        <c:ser>
          <c:idx val="0"/>
          <c:order val="0"/>
          <c:tx>
            <c:strRef>
              <c:f>'Resort Hotel'!$B$543</c:f>
              <c:strCache>
                <c:ptCount val="1"/>
                <c:pt idx="0">
                  <c:v>Contract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Hotel'!$A$544:$A$548</c:f>
              <c:strCache>
                <c:ptCount val="5"/>
                <c:pt idx="0">
                  <c:v>Corporate</c:v>
                </c:pt>
                <c:pt idx="1">
                  <c:v>Direct</c:v>
                </c:pt>
                <c:pt idx="2">
                  <c:v>TA/TO</c:v>
                </c:pt>
                <c:pt idx="3">
                  <c:v>Undefined</c:v>
                </c:pt>
                <c:pt idx="4">
                  <c:v>Grand Total</c:v>
                </c:pt>
              </c:strCache>
            </c:strRef>
          </c:cat>
          <c:val>
            <c:numRef>
              <c:f>'Resort Hotel'!$B$544:$B$548</c:f>
              <c:numCache>
                <c:formatCode>#,##0</c:formatCode>
                <c:ptCount val="5"/>
                <c:pt idx="0">
                  <c:v>162</c:v>
                </c:pt>
                <c:pt idx="1">
                  <c:v>37</c:v>
                </c:pt>
                <c:pt idx="2">
                  <c:v>14979</c:v>
                </c:pt>
                <c:pt idx="4">
                  <c:v>15178</c:v>
                </c:pt>
              </c:numCache>
            </c:numRef>
          </c:val>
          <c:extLst>
            <c:ext xmlns:c16="http://schemas.microsoft.com/office/drawing/2014/chart" uri="{C3380CC4-5D6E-409C-BE32-E72D297353CC}">
              <c16:uniqueId val="{00000000-9AE2-8C49-B018-1E250590B250}"/>
            </c:ext>
          </c:extLst>
        </c:ser>
        <c:ser>
          <c:idx val="1"/>
          <c:order val="1"/>
          <c:tx>
            <c:strRef>
              <c:f>'Resort Hotel'!$C$543</c:f>
              <c:strCache>
                <c:ptCount val="1"/>
                <c:pt idx="0">
                  <c:v>Group</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Hotel'!$A$544:$A$548</c:f>
              <c:strCache>
                <c:ptCount val="5"/>
                <c:pt idx="0">
                  <c:v>Corporate</c:v>
                </c:pt>
                <c:pt idx="1">
                  <c:v>Direct</c:v>
                </c:pt>
                <c:pt idx="2">
                  <c:v>TA/TO</c:v>
                </c:pt>
                <c:pt idx="3">
                  <c:v>Undefined</c:v>
                </c:pt>
                <c:pt idx="4">
                  <c:v>Grand Total</c:v>
                </c:pt>
              </c:strCache>
            </c:strRef>
          </c:cat>
          <c:val>
            <c:numRef>
              <c:f>'Resort Hotel'!$C$544:$C$548</c:f>
              <c:numCache>
                <c:formatCode>#,##0</c:formatCode>
                <c:ptCount val="5"/>
                <c:pt idx="0">
                  <c:v>28</c:v>
                </c:pt>
                <c:pt idx="1">
                  <c:v>210</c:v>
                </c:pt>
                <c:pt idx="2">
                  <c:v>645</c:v>
                </c:pt>
                <c:pt idx="4">
                  <c:v>883</c:v>
                </c:pt>
              </c:numCache>
            </c:numRef>
          </c:val>
          <c:extLst>
            <c:ext xmlns:c16="http://schemas.microsoft.com/office/drawing/2014/chart" uri="{C3380CC4-5D6E-409C-BE32-E72D297353CC}">
              <c16:uniqueId val="{00000001-9AE2-8C49-B018-1E250590B250}"/>
            </c:ext>
          </c:extLst>
        </c:ser>
        <c:ser>
          <c:idx val="2"/>
          <c:order val="2"/>
          <c:tx>
            <c:strRef>
              <c:f>'Resort Hotel'!$D$543</c:f>
              <c:strCache>
                <c:ptCount val="1"/>
                <c:pt idx="0">
                  <c:v>Transient</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Hotel'!$A$544:$A$548</c:f>
              <c:strCache>
                <c:ptCount val="5"/>
                <c:pt idx="0">
                  <c:v>Corporate</c:v>
                </c:pt>
                <c:pt idx="1">
                  <c:v>Direct</c:v>
                </c:pt>
                <c:pt idx="2">
                  <c:v>TA/TO</c:v>
                </c:pt>
                <c:pt idx="3">
                  <c:v>Undefined</c:v>
                </c:pt>
                <c:pt idx="4">
                  <c:v>Grand Total</c:v>
                </c:pt>
              </c:strCache>
            </c:strRef>
          </c:cat>
          <c:val>
            <c:numRef>
              <c:f>'Resort Hotel'!$D$544:$D$548</c:f>
              <c:numCache>
                <c:formatCode>#,##0</c:formatCode>
                <c:ptCount val="5"/>
                <c:pt idx="0">
                  <c:v>3712</c:v>
                </c:pt>
                <c:pt idx="1">
                  <c:v>18973</c:v>
                </c:pt>
                <c:pt idx="2">
                  <c:v>92437</c:v>
                </c:pt>
                <c:pt idx="3">
                  <c:v>5</c:v>
                </c:pt>
                <c:pt idx="4">
                  <c:v>115127</c:v>
                </c:pt>
              </c:numCache>
            </c:numRef>
          </c:val>
          <c:extLst>
            <c:ext xmlns:c16="http://schemas.microsoft.com/office/drawing/2014/chart" uri="{C3380CC4-5D6E-409C-BE32-E72D297353CC}">
              <c16:uniqueId val="{00000002-9AE2-8C49-B018-1E250590B250}"/>
            </c:ext>
          </c:extLst>
        </c:ser>
        <c:ser>
          <c:idx val="3"/>
          <c:order val="3"/>
          <c:tx>
            <c:strRef>
              <c:f>'Resort Hotel'!$E$543</c:f>
              <c:strCache>
                <c:ptCount val="1"/>
                <c:pt idx="0">
                  <c:v>Transient-Party</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Hotel'!$A$544:$A$548</c:f>
              <c:strCache>
                <c:ptCount val="5"/>
                <c:pt idx="0">
                  <c:v>Corporate</c:v>
                </c:pt>
                <c:pt idx="1">
                  <c:v>Direct</c:v>
                </c:pt>
                <c:pt idx="2">
                  <c:v>TA/TO</c:v>
                </c:pt>
                <c:pt idx="3">
                  <c:v>Undefined</c:v>
                </c:pt>
                <c:pt idx="4">
                  <c:v>Grand Total</c:v>
                </c:pt>
              </c:strCache>
            </c:strRef>
          </c:cat>
          <c:val>
            <c:numRef>
              <c:f>'Resort Hotel'!$E$544:$E$548</c:f>
              <c:numCache>
                <c:formatCode>#,##0</c:formatCode>
                <c:ptCount val="5"/>
                <c:pt idx="0">
                  <c:v>5196</c:v>
                </c:pt>
                <c:pt idx="1">
                  <c:v>5586</c:v>
                </c:pt>
                <c:pt idx="2">
                  <c:v>19066</c:v>
                </c:pt>
                <c:pt idx="4">
                  <c:v>29848</c:v>
                </c:pt>
              </c:numCache>
            </c:numRef>
          </c:val>
          <c:extLst>
            <c:ext xmlns:c16="http://schemas.microsoft.com/office/drawing/2014/chart" uri="{C3380CC4-5D6E-409C-BE32-E72D297353CC}">
              <c16:uniqueId val="{00000003-9AE2-8C49-B018-1E250590B250}"/>
            </c:ext>
          </c:extLst>
        </c:ser>
        <c:dLbls>
          <c:showLegendKey val="0"/>
          <c:showVal val="0"/>
          <c:showCatName val="0"/>
          <c:showSerName val="0"/>
          <c:showPercent val="0"/>
          <c:showBubbleSize val="0"/>
        </c:dLbls>
        <c:gapWidth val="182"/>
        <c:axId val="196814911"/>
        <c:axId val="196806847"/>
      </c:barChart>
      <c:catAx>
        <c:axId val="19681491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6806847"/>
        <c:crosses val="autoZero"/>
        <c:auto val="1"/>
        <c:lblAlgn val="ctr"/>
        <c:lblOffset val="100"/>
        <c:noMultiLvlLbl val="0"/>
      </c:catAx>
      <c:valAx>
        <c:axId val="196806847"/>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6814911"/>
        <c:crosses val="autoZero"/>
        <c:crossBetween val="between"/>
      </c:valAx>
      <c:spPr>
        <a:noFill/>
        <a:ln>
          <a:noFill/>
        </a:ln>
        <a:effectLst/>
      </c:spPr>
    </c:plotArea>
    <c:legend>
      <c:legendPos val="b"/>
      <c:layout>
        <c:manualLayout>
          <c:xMode val="edge"/>
          <c:yMode val="edge"/>
          <c:x val="0.40014496466647181"/>
          <c:y val="0.22976288843475759"/>
          <c:w val="0.59211886587678519"/>
          <c:h val="6.406819304222424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GB" sz="1200" b="0" i="0" u="none" strike="noStrike" kern="1200" spc="0" baseline="0">
                <a:solidFill>
                  <a:schemeClr val="tx1"/>
                </a:solidFill>
              </a:rPr>
              <a:t>Meals preferences in each customer type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stacked"/>
        <c:varyColors val="0"/>
        <c:ser>
          <c:idx val="0"/>
          <c:order val="0"/>
          <c:tx>
            <c:strRef>
              <c:f>'Resort Hotel'!$B$676</c:f>
              <c:strCache>
                <c:ptCount val="1"/>
                <c:pt idx="0">
                  <c:v>Bed and Breakfast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Hotel'!$A$677:$A$680</c:f>
              <c:strCache>
                <c:ptCount val="4"/>
                <c:pt idx="0">
                  <c:v>Contract</c:v>
                </c:pt>
                <c:pt idx="1">
                  <c:v>Group</c:v>
                </c:pt>
                <c:pt idx="2">
                  <c:v>Transient</c:v>
                </c:pt>
                <c:pt idx="3">
                  <c:v>Transient-Party</c:v>
                </c:pt>
              </c:strCache>
            </c:strRef>
          </c:cat>
          <c:val>
            <c:numRef>
              <c:f>'Resort Hotel'!$B$677:$B$680</c:f>
              <c:numCache>
                <c:formatCode>#,##0</c:formatCode>
                <c:ptCount val="4"/>
                <c:pt idx="0">
                  <c:v>9708</c:v>
                </c:pt>
                <c:pt idx="1">
                  <c:v>731</c:v>
                </c:pt>
                <c:pt idx="2">
                  <c:v>86527</c:v>
                </c:pt>
                <c:pt idx="3">
                  <c:v>16846</c:v>
                </c:pt>
              </c:numCache>
            </c:numRef>
          </c:val>
          <c:extLst>
            <c:ext xmlns:c16="http://schemas.microsoft.com/office/drawing/2014/chart" uri="{C3380CC4-5D6E-409C-BE32-E72D297353CC}">
              <c16:uniqueId val="{00000000-AC6C-4C46-B17D-F1D79A6A381C}"/>
            </c:ext>
          </c:extLst>
        </c:ser>
        <c:ser>
          <c:idx val="1"/>
          <c:order val="1"/>
          <c:tx>
            <c:strRef>
              <c:f>'Resort Hotel'!$C$676</c:f>
              <c:strCache>
                <c:ptCount val="1"/>
                <c:pt idx="0">
                  <c:v>Full Board</c:v>
                </c:pt>
              </c:strCache>
            </c:strRef>
          </c:tx>
          <c:spPr>
            <a:solidFill>
              <a:schemeClr val="accent2"/>
            </a:solidFill>
            <a:ln>
              <a:noFill/>
            </a:ln>
            <a:effectLst/>
          </c:spPr>
          <c:invertIfNegative val="0"/>
          <c:cat>
            <c:strRef>
              <c:f>'Resort Hotel'!$A$677:$A$680</c:f>
              <c:strCache>
                <c:ptCount val="4"/>
                <c:pt idx="0">
                  <c:v>Contract</c:v>
                </c:pt>
                <c:pt idx="1">
                  <c:v>Group</c:v>
                </c:pt>
                <c:pt idx="2">
                  <c:v>Transient</c:v>
                </c:pt>
                <c:pt idx="3">
                  <c:v>Transient-Party</c:v>
                </c:pt>
              </c:strCache>
            </c:strRef>
          </c:cat>
          <c:val>
            <c:numRef>
              <c:f>'Resort Hotel'!$C$677:$C$680</c:f>
              <c:numCache>
                <c:formatCode>#,##0</c:formatCode>
                <c:ptCount val="4"/>
                <c:pt idx="0">
                  <c:v>33</c:v>
                </c:pt>
                <c:pt idx="1">
                  <c:v>1</c:v>
                </c:pt>
                <c:pt idx="2">
                  <c:v>1923</c:v>
                </c:pt>
                <c:pt idx="3">
                  <c:v>607</c:v>
                </c:pt>
              </c:numCache>
            </c:numRef>
          </c:val>
          <c:extLst>
            <c:ext xmlns:c16="http://schemas.microsoft.com/office/drawing/2014/chart" uri="{C3380CC4-5D6E-409C-BE32-E72D297353CC}">
              <c16:uniqueId val="{00000001-AC6C-4C46-B17D-F1D79A6A381C}"/>
            </c:ext>
          </c:extLst>
        </c:ser>
        <c:ser>
          <c:idx val="2"/>
          <c:order val="2"/>
          <c:tx>
            <c:strRef>
              <c:f>'Resort Hotel'!$D$676</c:f>
              <c:strCache>
                <c:ptCount val="1"/>
                <c:pt idx="0">
                  <c:v>Half Board</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Hotel'!$A$677:$A$680</c:f>
              <c:strCache>
                <c:ptCount val="4"/>
                <c:pt idx="0">
                  <c:v>Contract</c:v>
                </c:pt>
                <c:pt idx="1">
                  <c:v>Group</c:v>
                </c:pt>
                <c:pt idx="2">
                  <c:v>Transient</c:v>
                </c:pt>
                <c:pt idx="3">
                  <c:v>Transient-Party</c:v>
                </c:pt>
              </c:strCache>
            </c:strRef>
          </c:cat>
          <c:val>
            <c:numRef>
              <c:f>'Resort Hotel'!$D$677:$D$680</c:f>
              <c:numCache>
                <c:formatCode>#,##0</c:formatCode>
                <c:ptCount val="4"/>
                <c:pt idx="0">
                  <c:v>5257</c:v>
                </c:pt>
                <c:pt idx="1">
                  <c:v>141</c:v>
                </c:pt>
                <c:pt idx="2">
                  <c:v>24440</c:v>
                </c:pt>
                <c:pt idx="3">
                  <c:v>9542</c:v>
                </c:pt>
              </c:numCache>
            </c:numRef>
          </c:val>
          <c:extLst>
            <c:ext xmlns:c16="http://schemas.microsoft.com/office/drawing/2014/chart" uri="{C3380CC4-5D6E-409C-BE32-E72D297353CC}">
              <c16:uniqueId val="{00000002-AC6C-4C46-B17D-F1D79A6A381C}"/>
            </c:ext>
          </c:extLst>
        </c:ser>
        <c:ser>
          <c:idx val="3"/>
          <c:order val="3"/>
          <c:tx>
            <c:strRef>
              <c:f>'Resort Hotel'!$E$676</c:f>
              <c:strCache>
                <c:ptCount val="1"/>
                <c:pt idx="0">
                  <c:v>Self-Catering</c:v>
                </c:pt>
              </c:strCache>
            </c:strRef>
          </c:tx>
          <c:spPr>
            <a:solidFill>
              <a:schemeClr val="accent4"/>
            </a:solidFill>
            <a:ln>
              <a:noFill/>
            </a:ln>
            <a:effectLst/>
          </c:spPr>
          <c:invertIfNegative val="0"/>
          <c:cat>
            <c:strRef>
              <c:f>'Resort Hotel'!$A$677:$A$680</c:f>
              <c:strCache>
                <c:ptCount val="4"/>
                <c:pt idx="0">
                  <c:v>Contract</c:v>
                </c:pt>
                <c:pt idx="1">
                  <c:v>Group</c:v>
                </c:pt>
                <c:pt idx="2">
                  <c:v>Transient</c:v>
                </c:pt>
                <c:pt idx="3">
                  <c:v>Transient-Party</c:v>
                </c:pt>
              </c:strCache>
            </c:strRef>
          </c:cat>
          <c:val>
            <c:numRef>
              <c:f>'Resort Hotel'!$E$677:$E$680</c:f>
              <c:numCache>
                <c:formatCode>#,##0</c:formatCode>
                <c:ptCount val="4"/>
                <c:pt idx="0">
                  <c:v>47</c:v>
                </c:pt>
                <c:pt idx="1">
                  <c:v>0</c:v>
                </c:pt>
                <c:pt idx="2">
                  <c:v>240</c:v>
                </c:pt>
                <c:pt idx="3">
                  <c:v>297</c:v>
                </c:pt>
              </c:numCache>
            </c:numRef>
          </c:val>
          <c:extLst>
            <c:ext xmlns:c16="http://schemas.microsoft.com/office/drawing/2014/chart" uri="{C3380CC4-5D6E-409C-BE32-E72D297353CC}">
              <c16:uniqueId val="{00000003-AC6C-4C46-B17D-F1D79A6A381C}"/>
            </c:ext>
          </c:extLst>
        </c:ser>
        <c:ser>
          <c:idx val="4"/>
          <c:order val="4"/>
          <c:tx>
            <c:strRef>
              <c:f>'Resort Hotel'!$F$676</c:f>
              <c:strCache>
                <c:ptCount val="1"/>
                <c:pt idx="0">
                  <c:v>Undefined</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'Resort Hotel'!$A$677:$A$680</c:f>
              <c:strCache>
                <c:ptCount val="4"/>
                <c:pt idx="0">
                  <c:v>Contract</c:v>
                </c:pt>
                <c:pt idx="1">
                  <c:v>Group</c:v>
                </c:pt>
                <c:pt idx="2">
                  <c:v>Transient</c:v>
                </c:pt>
                <c:pt idx="3">
                  <c:v>Transient-Party</c:v>
                </c:pt>
              </c:strCache>
            </c:strRef>
          </c:cat>
          <c:val>
            <c:numRef>
              <c:f>'Resort Hotel'!$F$677:$F$680</c:f>
              <c:numCache>
                <c:formatCode>#,##0</c:formatCode>
                <c:ptCount val="4"/>
                <c:pt idx="0">
                  <c:v>133</c:v>
                </c:pt>
                <c:pt idx="1">
                  <c:v>10</c:v>
                </c:pt>
                <c:pt idx="2">
                  <c:v>1997</c:v>
                </c:pt>
                <c:pt idx="3">
                  <c:v>2556</c:v>
                </c:pt>
              </c:numCache>
            </c:numRef>
          </c:val>
          <c:extLst>
            <c:ext xmlns:c16="http://schemas.microsoft.com/office/drawing/2014/chart" uri="{C3380CC4-5D6E-409C-BE32-E72D297353CC}">
              <c16:uniqueId val="{00000004-AC6C-4C46-B17D-F1D79A6A381C}"/>
            </c:ext>
          </c:extLst>
        </c:ser>
        <c:dLbls>
          <c:showLegendKey val="0"/>
          <c:showVal val="0"/>
          <c:showCatName val="0"/>
          <c:showSerName val="0"/>
          <c:showPercent val="0"/>
          <c:showBubbleSize val="0"/>
        </c:dLbls>
        <c:gapWidth val="150"/>
        <c:overlap val="100"/>
        <c:axId val="191140223"/>
        <c:axId val="191150527"/>
      </c:barChart>
      <c:catAx>
        <c:axId val="191140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150527"/>
        <c:crosses val="autoZero"/>
        <c:auto val="1"/>
        <c:lblAlgn val="ctr"/>
        <c:lblOffset val="100"/>
        <c:noMultiLvlLbl val="0"/>
      </c:catAx>
      <c:valAx>
        <c:axId val="19115052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140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'City Hotel'!$L$524:$L$527</cx:f>
        <cx:lvl ptCount="4">
          <cx:pt idx="0">Qtr1</cx:pt>
          <cx:pt idx="1">Qtr2</cx:pt>
          <cx:pt idx="2">Qtr3</cx:pt>
          <cx:pt idx="3">Qtr4</cx:pt>
        </cx:lvl>
      </cx:strDim>
      <cx:numDim type="val">
        <cx:f>'City Hotel'!$M$524:$M$527</cx:f>
        <cx:lvl ptCount="4" formatCode="#,##0.00">
          <cx:pt idx="0">994749.81000000029</cx:pt>
          <cx:pt idx="1">1881962.1100000003</cx:pt>
          <cx:pt idx="2">2221214.3800000041</cx:pt>
          <cx:pt idx="3">1598854.8800000004</cx:pt>
        </cx:lvl>
      </cx:numDim>
    </cx:data>
  </cx:chartData>
  <cx:chart>
    <cx:title pos="t" align="ctr" overlay="0">
      <cx:tx>
        <cx:txData>
          <cx:v>2016 Room Revenue</cx:v>
        </cx:txData>
      </cx:tx>
      <cx:txPr>
        <a:bodyPr spcFirstLastPara="1" vertOverflow="ellipsis" horzOverflow="overflow" wrap="square" lIns="0" tIns="0" rIns="0" bIns="0" anchor="ctr" anchorCtr="1"/>
        <a:lstStyle/>
        <a:p>
          <a:pPr algn="ctr" rtl="0">
            <a:defRPr>
              <a:solidFill>
                <a:schemeClr val="tx1"/>
              </a:solidFill>
            </a:defRPr>
          </a:pPr>
          <a:r>
            <a:rPr lang="en-GB" sz="1400" b="0" i="0" u="none" strike="noStrike" baseline="0" dirty="0">
              <a:solidFill>
                <a:schemeClr val="tx1"/>
              </a:solidFill>
              <a:latin typeface="Aptos Narrow" panose="02110004020202020204"/>
            </a:rPr>
            <a:t>2016 Room Revenue</a:t>
          </a:r>
        </a:p>
      </cx:txPr>
    </cx:title>
    <cx:plotArea>
      <cx:plotAreaRegion>
        <cx:series layoutId="clusteredColumn" uniqueId="{00000000-A201-0048-814B-BC78964D3B6A}">
          <cx:tx>
            <cx:txData>
              <cx:f>'City Hotel'!$M$523</cx:f>
              <cx:v>2016</cx:v>
            </cx:txData>
          </cx:tx>
          <cx:dataPt idx="0"/>
          <cx:dataLabels pos="inEnd">
            <cx:txPr>
              <a:bodyPr spcFirstLastPara="1" vertOverflow="ellipsis" horzOverflow="overflow" wrap="square" lIns="0" tIns="0" rIns="0" bIns="0" anchor="ctr" anchorCtr="1"/>
              <a:lstStyle/>
              <a:p>
                <a:pPr algn="ctr" rtl="0">
                  <a:defRPr>
                    <a:solidFill>
                      <a:schemeClr val="tx1"/>
                    </a:solidFill>
                  </a:defRPr>
                </a:pPr>
                <a:endParaRPr lang="en-GB" sz="1197" b="0" i="0" u="none" strike="noStrike" baseline="0">
                  <a:solidFill>
                    <a:schemeClr val="tx1"/>
                  </a:solidFill>
                  <a:latin typeface="Arial" panose="020B0604020202020204"/>
                </a:endParaRPr>
              </a:p>
            </cx:txPr>
            <cx:visibility seriesName="0" categoryName="0" value="1"/>
          </cx:dataLabels>
          <cx:dataId val="0"/>
          <cx:layoutPr>
            <cx:aggregation/>
          </cx:layoutPr>
          <cx:axisId val="1"/>
        </cx:series>
        <cx:series layoutId="paretoLine" ownerIdx="0" uniqueId="{D5A2AF31-CA41-3549-89F8-299FE19C86FD}">
          <cx:axisId val="2"/>
        </cx:series>
      </cx:plotAreaRegion>
      <cx:axis id="0">
        <cx:catScaling gapWidth="0"/>
        <cx:tickLabels/>
      </cx:axis>
      <cx:axis id="1">
        <cx:valScaling/>
        <cx:majorGridlines/>
        <cx:tickLabels/>
      </cx:axis>
      <cx:axis id="2">
        <cx:valScaling max="1" min="0"/>
        <cx:units unit="percentage"/>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'City Hotel'!$B$584:$I$584</cx:f>
        <cx:lvl ptCount="8">
          <cx:pt idx="0">Direct</cx:pt>
          <cx:pt idx="1">Corporate</cx:pt>
          <cx:pt idx="2">Online TA</cx:pt>
          <cx:pt idx="3">Offline TA/TO</cx:pt>
          <cx:pt idx="4">Complementary</cx:pt>
          <cx:pt idx="5">Groups</cx:pt>
          <cx:pt idx="6">Undefined</cx:pt>
          <cx:pt idx="7">Aviation</cx:pt>
        </cx:lvl>
      </cx:strDim>
      <cx:numDim type="val">
        <cx:f dir="row">'City Hotel'!$B$585:$I$585</cx:f>
        <cx:lvl ptCount="8" formatCode="0%">
          <cx:pt idx="0">0.034622749487101707</cx:pt>
          <cx:pt idx="1">0.0088471334819403957</cx:pt>
          <cx:pt idx="2">0.36594149077802723</cx:pt>
          <cx:pt idx="3">0.27418165116056492</cx:pt>
          <cx:pt idx="4">0.0006777232854319272</cx:pt>
          <cx:pt idx="5">0.31560689314914336</cx:pt>
          <cx:pt idx="6">3.4760982326821364e-07</cx:pt>
          <cx:pt idx="7">0.00012201104796714299</cx:pt>
        </cx:lvl>
      </cx:numDim>
    </cx:data>
    <cx:data id="1">
      <cx:strDim type="cat">
        <cx:f dir="row">'City Hotel'!$B$584:$I$584</cx:f>
        <cx:lvl ptCount="8">
          <cx:pt idx="0">Direct</cx:pt>
          <cx:pt idx="1">Corporate</cx:pt>
          <cx:pt idx="2">Online TA</cx:pt>
          <cx:pt idx="3">Offline TA/TO</cx:pt>
          <cx:pt idx="4">Complementary</cx:pt>
          <cx:pt idx="5">Groups</cx:pt>
          <cx:pt idx="6">Undefined</cx:pt>
          <cx:pt idx="7">Aviation</cx:pt>
        </cx:lvl>
      </cx:strDim>
      <cx:numDim type="val">
        <cx:f dir="row">'City Hotel'!$B$587:$I$587</cx:f>
        <cx:lvl ptCount="8" formatCode="0%">
          <cx:pt idx="0">0.78375673929994949</cx:pt>
          <cx:pt idx="1">0.54450323493202712</cx:pt>
          <cx:pt idx="2">0.54439620683748291</cx:pt>
          <cx:pt idx="3">0.48976075608717112</cx:pt>
          <cx:pt idx="4">0.90117968883569843</cx:pt>
          <cx:pt idx="5">0.19443329785597563</cx:pt>
          <cx:pt idx="6">0</cx:pt>
          <cx:pt idx="7">0.72744539411206077</cx:pt>
        </cx:lvl>
      </cx:numDim>
    </cx:data>
    <cx:data id="2">
      <cx:strDim type="cat">
        <cx:f dir="row">'City Hotel'!$B$584:$I$584</cx:f>
        <cx:lvl ptCount="8">
          <cx:pt idx="0">Direct</cx:pt>
          <cx:pt idx="1">Corporate</cx:pt>
          <cx:pt idx="2">Online TA</cx:pt>
          <cx:pt idx="3">Offline TA/TO</cx:pt>
          <cx:pt idx="4">Complementary</cx:pt>
          <cx:pt idx="5">Groups</cx:pt>
          <cx:pt idx="6">Undefined</cx:pt>
          <cx:pt idx="7">Aviation</cx:pt>
        </cx:lvl>
      </cx:strDim>
      <cx:numDim type="val">
        <cx:f dir="row">'City Hotel'!$B$588:$I$588</cx:f>
        <cx:lvl ptCount="8" formatCode="0%">
          <cx:pt idx="0">0.21624326070005054</cx:pt>
          <cx:pt idx="1">0.45549676506797288</cx:pt>
          <cx:pt idx="2">0.45560379316251709</cx:pt>
          <cx:pt idx="3">0.51023924391282882</cx:pt>
          <cx:pt idx="4">0.098820311164301594</cx:pt>
          <cx:pt idx="5">0.80556670214402437</cx:pt>
          <cx:pt idx="6">1</cx:pt>
          <cx:pt idx="7">0.27255460588793923</cx:pt>
        </cx:lvl>
      </cx:numDim>
    </cx:data>
  </cx:chartData>
  <cx:chart>
    <cx:title pos="t" align="ctr" overlay="0">
      <cx:tx>
        <cx:txData>
          <cx:v>Each market segments_lead_time</cx:v>
        </cx:txData>
      </cx:tx>
      <cx:txPr>
        <a:bodyPr spcFirstLastPara="1" vertOverflow="ellipsis" horzOverflow="overflow" wrap="square" lIns="0" tIns="0" rIns="0" bIns="0" anchor="ctr" anchorCtr="1"/>
        <a:lstStyle/>
        <a:p>
          <a:pPr algn="ctr" rtl="0">
            <a:defRPr>
              <a:solidFill>
                <a:schemeClr val="tx1"/>
              </a:solidFill>
            </a:defRPr>
          </a:pPr>
          <a:r>
            <a:rPr lang="en-GB" sz="1400" b="0" i="0" u="none" strike="noStrike" baseline="0">
              <a:solidFill>
                <a:schemeClr val="tx1"/>
              </a:solidFill>
              <a:latin typeface="Aptos Narrow" panose="02110004020202020204"/>
            </a:rPr>
            <a:t>Each market segments_lead_time</a:t>
          </a:r>
        </a:p>
      </cx:txPr>
    </cx:title>
    <cx:plotArea>
      <cx:plotAreaRegion>
        <cx:series layoutId="clusteredColumn" uniqueId="{9EF8E343-13BA-D045-8DB5-600C16CDF51F}" formatIdx="0">
          <cx:tx>
            <cx:txData>
              <cx:f>'City Hotel'!$A$585</cx:f>
              <cx:v>Total Lead Time %</cx:v>
            </cx:txData>
          </cx:tx>
          <cx:dataLabels/>
          <cx:dataId val="0"/>
          <cx:layoutPr>
            <cx:aggregation/>
          </cx:layoutPr>
          <cx:axisId val="1"/>
        </cx:series>
        <cx:series layoutId="paretoLine" ownerIdx="0" uniqueId="{50E0A534-2A14-524F-931A-80274B9453B2}" formatIdx="1">
          <cx:axisId val="2"/>
        </cx:series>
        <cx:series layoutId="clusteredColumn" hidden="1" uniqueId="{E13513C7-DDA5-F945-A20A-22F4CA508089}" formatIdx="2">
          <cx:tx>
            <cx:txData>
              <cx:f/>
              <cx:v>Non_Cancel %</cx:v>
            </cx:txData>
          </cx:tx>
          <cx:dataId val="1"/>
          <cx:layoutPr>
            <cx:aggregation/>
          </cx:layoutPr>
          <cx:axisId val="1"/>
        </cx:series>
        <cx:series layoutId="paretoLine" ownerIdx="2" uniqueId="{305F3009-105B-0641-998F-0350562ABD8E}" formatIdx="3">
          <cx:axisId val="2"/>
        </cx:series>
        <cx:series layoutId="clusteredColumn" hidden="1" uniqueId="{E478F04F-BE1B-124A-9601-E28D5B071A21}" formatIdx="4">
          <cx:tx>
            <cx:txData>
              <cx:v>Cancel %</cx:v>
            </cx:txData>
          </cx:tx>
          <cx:dataId val="2"/>
          <cx:layoutPr>
            <cx:aggregation/>
          </cx:layoutPr>
          <cx:axisId val="1"/>
        </cx:series>
        <cx:series layoutId="paretoLine" ownerIdx="4" uniqueId="{94B3DD3A-C61B-7445-812A-D64D0092645E}" formatIdx="5">
          <cx:axisId val="2"/>
        </cx:series>
      </cx:plotAreaRegion>
      <cx:axis id="0">
        <cx:catScaling gapWidth="0"/>
        <cx:tickLabels/>
      </cx:axis>
      <cx:axis id="1">
        <cx:valScaling/>
        <cx:majorGridlines/>
        <cx:tickLabels/>
      </cx:axis>
      <cx:axis id="2">
        <cx:valScaling max="1" min="0"/>
        <cx:units unit="percentage"/>
        <cx:tickLabels/>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'Resort Hotel'!$B$310:$I$310</cx:f>
        <cx:lvl ptCount="8">
          <cx:pt idx="0">Direct</cx:pt>
          <cx:pt idx="1">Corporate</cx:pt>
          <cx:pt idx="2">Online TA</cx:pt>
          <cx:pt idx="3">Offline TA/TO</cx:pt>
          <cx:pt idx="4">Complementary</cx:pt>
          <cx:pt idx="5">Groups</cx:pt>
          <cx:pt idx="6">Undefined</cx:pt>
          <cx:pt idx="7">Aviation</cx:pt>
        </cx:lvl>
      </cx:strDim>
      <cx:numDim type="val">
        <cx:f dir="row">'Resort Hotel'!$B$311:$I$311</cx:f>
        <cx:lvl ptCount="8" formatCode="0%">
          <cx:pt idx="0">0.077538853629506452</cx:pt>
          <cx:pt idx="1">0.011616552055072834</cx:pt>
          <cx:pt idx="2">0.37780650705863611</cx:pt>
          <cx:pt idx="3">0.27418165116056492</cx:pt>
          <cx:pt idx="4">0.0011463533965599139</cx:pt>
          <cx:pt idx="5">0.27685161149134507</cx:pt>
          <cx:pt idx="6">0</cx:pt>
          <cx:pt idx="7">0</cx:pt>
        </cx:lvl>
      </cx:numDim>
    </cx:data>
    <cx:data id="1">
      <cx:strDim type="cat">
        <cx:f dir="row">'Resort Hotel'!$B$310:$I$310</cx:f>
        <cx:lvl ptCount="8">
          <cx:pt idx="0">Direct</cx:pt>
          <cx:pt idx="1">Corporate</cx:pt>
          <cx:pt idx="2">Online TA</cx:pt>
          <cx:pt idx="3">Offline TA/TO</cx:pt>
          <cx:pt idx="4">Complementary</cx:pt>
          <cx:pt idx="5">Groups</cx:pt>
          <cx:pt idx="6">Undefined</cx:pt>
          <cx:pt idx="7">Aviation</cx:pt>
        </cx:lvl>
      </cx:strDim>
      <cx:numDim type="val">
        <cx:f dir="row">'Resort Hotel'!$B$313:$I$313</cx:f>
        <cx:lvl ptCount="8" formatCode="0%">
          <cx:pt idx="0">0.77510528675481605</cx:pt>
          <cx:pt idx="1">0.75956042877817842</cx:pt>
          <cx:pt idx="2">0.50831680330650819</cx:pt>
          <cx:pt idx="3">0.80455066003005471</cx:pt>
          <cx:pt idx="4">0.71687795177728064</cx:pt>
          <cx:pt idx="5">0.55454517384054836</cx:pt>
          <cx:pt idx="6">0</cx:pt>
          <cx:pt idx="7">0</cx:pt>
        </cx:lvl>
      </cx:numDim>
    </cx:data>
    <cx:data id="2">
      <cx:strDim type="cat">
        <cx:f dir="row">'Resort Hotel'!$B$310:$I$310</cx:f>
        <cx:lvl ptCount="8">
          <cx:pt idx="0">Direct</cx:pt>
          <cx:pt idx="1">Corporate</cx:pt>
          <cx:pt idx="2">Online TA</cx:pt>
          <cx:pt idx="3">Offline TA/TO</cx:pt>
          <cx:pt idx="4">Complementary</cx:pt>
          <cx:pt idx="5">Groups</cx:pt>
          <cx:pt idx="6">Undefined</cx:pt>
          <cx:pt idx="7">Aviation</cx:pt>
        </cx:lvl>
      </cx:strDim>
      <cx:numDim type="val">
        <cx:f dir="row">'Resort Hotel'!$B$314:$I$314</cx:f>
        <cx:lvl ptCount="8" formatCode="0%">
          <cx:pt idx="0">0.22489471324518401</cx:pt>
          <cx:pt idx="1">0.24043957122182158</cx:pt>
          <cx:pt idx="2">0.49168319669349181</cx:pt>
          <cx:pt idx="3">0.19544933996994532</cx:pt>
          <cx:pt idx="4">0.28312204822271936</cx:pt>
          <cx:pt idx="5">0.44545482615945159</cx:pt>
          <cx:pt idx="6">0</cx:pt>
          <cx:pt idx="7">0</cx:pt>
        </cx:lvl>
      </cx:numDim>
    </cx:data>
  </cx:chartData>
  <cx:chart>
    <cx:title pos="t" align="ctr" overlay="0">
      <cx:tx>
        <cx:rich>
          <a:bodyPr spcFirstLastPara="1" vertOverflow="ellipsis" horzOverflow="overflow" wrap="square" lIns="0" tIns="0" rIns="0" bIns="0" anchor="ctr" anchorCtr="1"/>
          <a:lstStyle/>
          <a:p>
            <a:pPr algn="ctr" rtl="0">
              <a:defRPr/>
            </a:pPr>
            <a:r>
              <a:rPr lang="en-GB" sz="1400" b="0" i="0" u="none" strike="noStrike" baseline="0" dirty="0">
                <a:solidFill>
                  <a:schemeClr val="tx1"/>
                </a:solidFill>
                <a:latin typeface="Aptos Narrow" panose="02110004020202020204"/>
              </a:rPr>
              <a:t>Each market </a:t>
            </a:r>
            <a:r>
              <a:rPr lang="en-GB" sz="1400" b="0" i="0" u="none" strike="noStrike" baseline="0" dirty="0" err="1">
                <a:solidFill>
                  <a:schemeClr val="tx1"/>
                </a:solidFill>
                <a:latin typeface="Aptos Narrow" panose="02110004020202020204"/>
              </a:rPr>
              <a:t>segments_lead_time</a:t>
            </a:r>
            <a:endParaRPr lang="en-GB" sz="1400" b="0" i="0" u="none" strike="noStrike" baseline="0" dirty="0">
              <a:solidFill>
                <a:schemeClr val="tx1"/>
              </a:solidFill>
              <a:latin typeface="Aptos Narrow" panose="02110004020202020204"/>
            </a:endParaRPr>
          </a:p>
        </cx:rich>
      </cx:tx>
    </cx:title>
    <cx:plotArea>
      <cx:plotAreaRegion>
        <cx:series layoutId="clusteredColumn" uniqueId="{9EF8E343-13BA-D045-8DB5-600C16CDF51F}" formatIdx="0">
          <cx:tx>
            <cx:txData>
              <cx:f>'Resort Hotel'!$A$311</cx:f>
              <cx:v>Total Lead Time %</cx:v>
            </cx:txData>
          </cx:tx>
          <cx:dataLabels/>
          <cx:dataId val="0"/>
          <cx:layoutPr>
            <cx:aggregation/>
          </cx:layoutPr>
          <cx:axisId val="1"/>
        </cx:series>
        <cx:series layoutId="paretoLine" ownerIdx="0" uniqueId="{50E0A534-2A14-524F-931A-80274B9453B2}" formatIdx="1">
          <cx:axisId val="2"/>
        </cx:series>
        <cx:series layoutId="clusteredColumn" hidden="1" uniqueId="{E13513C7-DDA5-F945-A20A-22F4CA508089}" formatIdx="2">
          <cx:tx>
            <cx:txData>
              <cx:f>'Resort Hotel'!$A$313</cx:f>
              <cx:v>Non_Cancel %</cx:v>
            </cx:txData>
          </cx:tx>
          <cx:dataId val="1"/>
          <cx:layoutPr>
            <cx:aggregation/>
          </cx:layoutPr>
          <cx:axisId val="1"/>
        </cx:series>
        <cx:series layoutId="paretoLine" ownerIdx="2" uniqueId="{305F3009-105B-0641-998F-0350562ABD8E}" formatIdx="3">
          <cx:axisId val="2"/>
        </cx:series>
        <cx:series layoutId="clusteredColumn" hidden="1" uniqueId="{E478F04F-BE1B-124A-9601-E28D5B071A21}" formatIdx="4">
          <cx:tx>
            <cx:txData>
              <cx:v>Cancel %</cx:v>
            </cx:txData>
          </cx:tx>
          <cx:dataId val="2"/>
          <cx:layoutPr>
            <cx:aggregation/>
          </cx:layoutPr>
          <cx:axisId val="1"/>
        </cx:series>
        <cx:series layoutId="paretoLine" ownerIdx="4" uniqueId="{94B3DD3A-C61B-7445-812A-D64D0092645E}" formatIdx="5">
          <cx:axisId val="2"/>
        </cx:series>
      </cx:plotAreaRegion>
      <cx:axis id="0">
        <cx:catScaling gapWidth="0"/>
        <cx:tickLabels/>
      </cx:axis>
      <cx:axis id="1">
        <cx:valScaling/>
        <cx:majorGridlines/>
        <cx:tickLabels/>
      </cx:axis>
      <cx:axis id="2">
        <cx:valScaling max="1" min="0"/>
        <cx:units unit="percentage"/>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9FA592-A260-F042-A0D8-161CB19C4BF0}" type="datetimeFigureOut">
              <a:rPr lang="en-US" smtClean="0"/>
              <a:t>7/1/26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9CCAD-46F8-B44E-A2C0-64E61EA0DAB0}" type="slidenum">
              <a:rPr lang="en-US" smtClean="0"/>
              <a:t>‹#›</a:t>
            </a:fld>
            <a:endParaRPr lang="en-US"/>
          </a:p>
        </p:txBody>
      </p:sp>
    </p:spTree>
    <p:extLst>
      <p:ext uri="{BB962C8B-B14F-4D97-AF65-F5344CB8AC3E}">
        <p14:creationId xmlns:p14="http://schemas.microsoft.com/office/powerpoint/2010/main" val="4075059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C9CCAD-46F8-B44E-A2C0-64E61EA0DAB0}" type="slidenum">
              <a:rPr lang="en-US" smtClean="0"/>
              <a:t>1</a:t>
            </a:fld>
            <a:endParaRPr lang="en-US"/>
          </a:p>
        </p:txBody>
      </p:sp>
    </p:spTree>
    <p:extLst>
      <p:ext uri="{BB962C8B-B14F-4D97-AF65-F5344CB8AC3E}">
        <p14:creationId xmlns:p14="http://schemas.microsoft.com/office/powerpoint/2010/main" val="1764658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C9CCAD-46F8-B44E-A2C0-64E61EA0DAB0}" type="slidenum">
              <a:rPr lang="en-US" smtClean="0"/>
              <a:t>30</a:t>
            </a:fld>
            <a:endParaRPr lang="en-US"/>
          </a:p>
        </p:txBody>
      </p:sp>
    </p:spTree>
    <p:extLst>
      <p:ext uri="{BB962C8B-B14F-4D97-AF65-F5344CB8AC3E}">
        <p14:creationId xmlns:p14="http://schemas.microsoft.com/office/powerpoint/2010/main" val="2571541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GB"/>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7/1/26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7/1/26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GB"/>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7/1/26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2609873" y="805817"/>
            <a:ext cx="7950984" cy="10817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7/1/26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GB"/>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7/1/26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7/1/26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p:cNvSpPr>
            <a:spLocks noGrp="1"/>
          </p:cNvSpPr>
          <p:nvPr>
            <p:ph type="dt" sz="half" idx="10"/>
          </p:nvPr>
        </p:nvSpPr>
        <p:spPr/>
        <p:txBody>
          <a:bodyPr/>
          <a:lstStyle/>
          <a:p>
            <a:fld id="{921D9284-D300-4297-87F7-E791DCC15DB1}" type="datetimeFigureOut">
              <a:rPr lang="en-US" dirty="0"/>
              <a:t>7/1/26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7/1/26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7/1/26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7/1/26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7/1/26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7/1/26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4.png"/><Relationship Id="rId5" Type="http://schemas.microsoft.com/office/2014/relationships/chartEx" Target="../charts/chartEx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6.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14/relationships/chartEx" Target="../charts/chartEx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1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13.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14.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chart" Target="../charts/chart16.xml"/><Relationship Id="rId5" Type="http://schemas.openxmlformats.org/officeDocument/2006/relationships/chart" Target="../charts/chart15.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17.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18.xml"/><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19.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20.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2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7.png"/><Relationship Id="rId5" Type="http://schemas.microsoft.com/office/2014/relationships/chartEx" Target="../charts/chartEx3.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chart" Target="../charts/chart23.xml"/><Relationship Id="rId5" Type="http://schemas.openxmlformats.org/officeDocument/2006/relationships/chart" Target="../charts/chart2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chart" Target="../charts/chart25.xml"/><Relationship Id="rId5" Type="http://schemas.openxmlformats.org/officeDocument/2006/relationships/chart" Target="../charts/chart24.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26.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27.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hart" Target="../charts/chart28.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5722A-D042-B48A-6C71-FF4A1A24D52B}"/>
              </a:ext>
            </a:extLst>
          </p:cNvPr>
          <p:cNvSpPr>
            <a:spLocks noGrp="1"/>
          </p:cNvSpPr>
          <p:nvPr>
            <p:ph type="ctrTitle"/>
          </p:nvPr>
        </p:nvSpPr>
        <p:spPr>
          <a:xfrm>
            <a:off x="748145" y="2545887"/>
            <a:ext cx="8021782" cy="2268559"/>
          </a:xfrm>
        </p:spPr>
        <p:txBody>
          <a:bodyPr/>
          <a:lstStyle/>
          <a:p>
            <a:r>
              <a:rPr lang="en-US" dirty="0"/>
              <a:t>Hotel Booking Analyst</a:t>
            </a:r>
          </a:p>
        </p:txBody>
      </p:sp>
      <p:sp>
        <p:nvSpPr>
          <p:cNvPr id="3" name="Subtitle 2">
            <a:extLst>
              <a:ext uri="{FF2B5EF4-FFF2-40B4-BE49-F238E27FC236}">
                <a16:creationId xmlns:a16="http://schemas.microsoft.com/office/drawing/2014/main" id="{31B99AE4-0D21-B5F1-6C15-15B13CAEC030}"/>
              </a:ext>
            </a:extLst>
          </p:cNvPr>
          <p:cNvSpPr>
            <a:spLocks noGrp="1"/>
          </p:cNvSpPr>
          <p:nvPr>
            <p:ph type="subTitle" idx="1"/>
          </p:nvPr>
        </p:nvSpPr>
        <p:spPr>
          <a:xfrm>
            <a:off x="3412327" y="2848893"/>
            <a:ext cx="5357600" cy="1160213"/>
          </a:xfrm>
        </p:spPr>
        <p:txBody>
          <a:bodyPr/>
          <a:lstStyle/>
          <a:p>
            <a:r>
              <a:rPr lang="en-US" dirty="0"/>
              <a:t>Presented by - Zar Chi Thinn</a:t>
            </a:r>
          </a:p>
        </p:txBody>
      </p:sp>
    </p:spTree>
    <p:extLst>
      <p:ext uri="{BB962C8B-B14F-4D97-AF65-F5344CB8AC3E}">
        <p14:creationId xmlns:p14="http://schemas.microsoft.com/office/powerpoint/2010/main" val="1942169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601900C-265D-4146-A578-477541E3D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41F8C064-2DC5-4758-B49C-76BFF6405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6F8F5C-6E46-D510-78E8-D326022E1F66}"/>
              </a:ext>
            </a:extLst>
          </p:cNvPr>
          <p:cNvSpPr>
            <a:spLocks noGrp="1"/>
          </p:cNvSpPr>
          <p:nvPr>
            <p:ph type="title"/>
          </p:nvPr>
        </p:nvSpPr>
        <p:spPr>
          <a:xfrm>
            <a:off x="1185601" y="545785"/>
            <a:ext cx="8381238" cy="1077229"/>
          </a:xfrm>
        </p:spPr>
        <p:txBody>
          <a:bodyPr>
            <a:normAutofit/>
          </a:bodyPr>
          <a:lstStyle/>
          <a:p>
            <a:pPr algn="l"/>
            <a:r>
              <a:rPr lang="en-US" sz="4800" dirty="0"/>
              <a:t>Hotels included in Dataset</a:t>
            </a:r>
          </a:p>
        </p:txBody>
      </p:sp>
      <p:sp>
        <p:nvSpPr>
          <p:cNvPr id="4" name="Content Placeholder 3">
            <a:extLst>
              <a:ext uri="{FF2B5EF4-FFF2-40B4-BE49-F238E27FC236}">
                <a16:creationId xmlns:a16="http://schemas.microsoft.com/office/drawing/2014/main" id="{187B627F-8825-3921-D1DA-02EC2E5AA8D9}"/>
              </a:ext>
            </a:extLst>
          </p:cNvPr>
          <p:cNvSpPr>
            <a:spLocks noGrp="1"/>
          </p:cNvSpPr>
          <p:nvPr>
            <p:ph idx="1"/>
          </p:nvPr>
        </p:nvSpPr>
        <p:spPr>
          <a:xfrm>
            <a:off x="1258606" y="1388846"/>
            <a:ext cx="7796540" cy="3997828"/>
          </a:xfrm>
        </p:spPr>
        <p:txBody>
          <a:bodyPr/>
          <a:lstStyle/>
          <a:p>
            <a:r>
              <a:rPr lang="en-US" dirty="0"/>
              <a:t>1. City Hotel</a:t>
            </a:r>
          </a:p>
          <a:p>
            <a:r>
              <a:rPr lang="en-US" dirty="0"/>
              <a:t>2. Resort Hotel</a:t>
            </a:r>
          </a:p>
        </p:txBody>
      </p:sp>
    </p:spTree>
    <p:extLst>
      <p:ext uri="{BB962C8B-B14F-4D97-AF65-F5344CB8AC3E}">
        <p14:creationId xmlns:p14="http://schemas.microsoft.com/office/powerpoint/2010/main" val="2301625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38D319DC-6197-6D27-78E9-DD0F7AE1A74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3F2764-7477-1318-4100-4969DBFF5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D27C906-A1AE-81BC-D137-04ADA1076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54CA343-F4EC-BA40-CD9A-97719F13A5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33C99614-3F12-E809-059B-B01F90196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510A499F-BAE9-8FDE-CF75-B9A253F8D3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FB473144-9208-1FB0-860E-27A788DD8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99CC9BF-B368-7761-3255-E0AD76317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B1A335C9-DFEA-E772-437A-6C71AD5B3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DDF4A621-1581-00B7-8796-14AFB105A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1">
            <a:extLst>
              <a:ext uri="{FF2B5EF4-FFF2-40B4-BE49-F238E27FC236}">
                <a16:creationId xmlns:a16="http://schemas.microsoft.com/office/drawing/2014/main" id="{9D3053A7-C922-929F-C7E8-D5F0CAC8C238}"/>
              </a:ext>
            </a:extLst>
          </p:cNvPr>
          <p:cNvSpPr txBox="1">
            <a:spLocks/>
          </p:cNvSpPr>
          <p:nvPr/>
        </p:nvSpPr>
        <p:spPr>
          <a:xfrm>
            <a:off x="1175799" y="993932"/>
            <a:ext cx="3225276"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City Hotel</a:t>
            </a:r>
          </a:p>
        </p:txBody>
      </p:sp>
      <p:sp>
        <p:nvSpPr>
          <p:cNvPr id="38" name="TextBox 37">
            <a:extLst>
              <a:ext uri="{FF2B5EF4-FFF2-40B4-BE49-F238E27FC236}">
                <a16:creationId xmlns:a16="http://schemas.microsoft.com/office/drawing/2014/main" id="{49EDE277-D3BE-6647-C436-4B0EAFD71E0F}"/>
              </a:ext>
            </a:extLst>
          </p:cNvPr>
          <p:cNvSpPr txBox="1"/>
          <p:nvPr/>
        </p:nvSpPr>
        <p:spPr>
          <a:xfrm>
            <a:off x="1175799" y="1946352"/>
            <a:ext cx="4645415" cy="156966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1. </a:t>
            </a:r>
            <a:r>
              <a:rPr lang="en-SG" sz="2400" dirty="0">
                <a:latin typeface="Times New Roman" panose="02020603050405020304" pitchFamily="18" charset="0"/>
                <a:cs typeface="Times New Roman" panose="02020603050405020304" pitchFamily="18" charset="0"/>
              </a:rPr>
              <a:t>Define</a:t>
            </a:r>
            <a:r>
              <a:rPr lang="en-SG" sz="2400" b="1" dirty="0">
                <a:latin typeface="Times New Roman" panose="02020603050405020304" pitchFamily="18" charset="0"/>
                <a:cs typeface="Times New Roman" panose="02020603050405020304" pitchFamily="18" charset="0"/>
              </a:rPr>
              <a:t> </a:t>
            </a:r>
            <a:r>
              <a:rPr lang="en-SG" sz="2400" dirty="0">
                <a:latin typeface="Times New Roman" panose="02020603050405020304" pitchFamily="18" charset="0"/>
                <a:cs typeface="Times New Roman" panose="02020603050405020304" pitchFamily="18" charset="0"/>
              </a:rPr>
              <a:t>the business problem</a:t>
            </a:r>
          </a:p>
          <a:p>
            <a:r>
              <a:rPr lang="en-US" sz="2400" dirty="0">
                <a:latin typeface="Times New Roman" panose="02020603050405020304" pitchFamily="18" charset="0"/>
                <a:cs typeface="Times New Roman" panose="02020603050405020304" pitchFamily="18" charset="0"/>
              </a:rPr>
              <a:t>2. </a:t>
            </a:r>
            <a:r>
              <a:rPr lang="en-SG" sz="2400" dirty="0">
                <a:latin typeface="Times New Roman" panose="02020603050405020304" pitchFamily="18" charset="0"/>
                <a:cs typeface="Times New Roman" panose="02020603050405020304" pitchFamily="18" charset="0"/>
              </a:rPr>
              <a:t>Measure the impact</a:t>
            </a:r>
          </a:p>
          <a:p>
            <a:r>
              <a:rPr lang="en-SG" sz="2400" dirty="0">
                <a:latin typeface="Times New Roman" panose="02020603050405020304" pitchFamily="18" charset="0"/>
                <a:cs typeface="Times New Roman" panose="02020603050405020304" pitchFamily="18" charset="0"/>
              </a:rPr>
              <a:t>3. Find the drivers</a:t>
            </a:r>
          </a:p>
          <a:p>
            <a:r>
              <a:rPr lang="en-SG" sz="2400" dirty="0">
                <a:latin typeface="Times New Roman" panose="02020603050405020304" pitchFamily="18" charset="0"/>
                <a:cs typeface="Times New Roman" panose="02020603050405020304" pitchFamily="18" charset="0"/>
              </a:rPr>
              <a:t>4. Convert insights into actions</a:t>
            </a:r>
          </a:p>
        </p:txBody>
      </p:sp>
    </p:spTree>
    <p:extLst>
      <p:ext uri="{BB962C8B-B14F-4D97-AF65-F5344CB8AC3E}">
        <p14:creationId xmlns:p14="http://schemas.microsoft.com/office/powerpoint/2010/main" val="3281134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C337DBE1-DD4E-EC17-AB5B-B44685BDBDD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6FC97C-C257-210D-E6D1-16309469F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C1BDD0-CE9E-9AE6-9053-9E114CD7F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37A13D02-AD58-27AB-54E5-C8965985FF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29659C42-5424-9592-9805-B97111303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4A4A60A7-1211-5F92-708B-5E58DBE5348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8494A9C2-1898-44BE-2AF3-938182D4F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C24BA85-9507-AC51-37E3-3C9E6B69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6AE03C6E-56C6-0244-0FD0-D1A421BC5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FE74A49C-F9FF-3B2F-8118-40EC3ED19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1">
            <a:extLst>
              <a:ext uri="{FF2B5EF4-FFF2-40B4-BE49-F238E27FC236}">
                <a16:creationId xmlns:a16="http://schemas.microsoft.com/office/drawing/2014/main" id="{2A41145A-A381-77AA-82EE-D132ACACF454}"/>
              </a:ext>
            </a:extLst>
          </p:cNvPr>
          <p:cNvSpPr txBox="1">
            <a:spLocks/>
          </p:cNvSpPr>
          <p:nvPr/>
        </p:nvSpPr>
        <p:spPr>
          <a:xfrm>
            <a:off x="1175799" y="993932"/>
            <a:ext cx="3225276"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Types of Analysis</a:t>
            </a:r>
          </a:p>
        </p:txBody>
      </p:sp>
      <p:sp>
        <p:nvSpPr>
          <p:cNvPr id="38" name="TextBox 37">
            <a:extLst>
              <a:ext uri="{FF2B5EF4-FFF2-40B4-BE49-F238E27FC236}">
                <a16:creationId xmlns:a16="http://schemas.microsoft.com/office/drawing/2014/main" id="{D89FC546-6133-6409-B62D-48CFACBC04CE}"/>
              </a:ext>
            </a:extLst>
          </p:cNvPr>
          <p:cNvSpPr txBox="1"/>
          <p:nvPr/>
        </p:nvSpPr>
        <p:spPr>
          <a:xfrm>
            <a:off x="1175799" y="1946352"/>
            <a:ext cx="6818274"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Revenue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Night of Stays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ADR (Average Daily Range)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Quarterly Trend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Waiting List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Lead Time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Market Segments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Deposit Type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Geographics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Customer Type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Correlation Analysis</a:t>
            </a:r>
            <a:endParaRPr lang="en-SG"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1246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807A1B3D-C5AB-6CFB-1D83-329C15983E3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B4D8C-62C0-678D-7DFE-3E5934D64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0F7A354-5460-7AAC-3D50-D3C236F40B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BE140B26-AFEA-1763-B671-6EA5EB7855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D0C39A64-C15B-DE7D-EAD5-66B696065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D57CA577-EBD6-DDC4-DB58-495AF5C156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F4FA4E4E-74C9-CFAE-3DD0-F1BBD734E4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09F09DF2-859A-FA3C-ED61-CB1028E33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A64AA7C2-1FB3-6982-7A3B-0699F7A98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2A35F90F-D90D-825B-04FB-97A144D8E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hart 1">
            <a:extLst>
              <a:ext uri="{FF2B5EF4-FFF2-40B4-BE49-F238E27FC236}">
                <a16:creationId xmlns:a16="http://schemas.microsoft.com/office/drawing/2014/main" id="{B283536F-37B6-8204-F31D-F6A51F4229D0}"/>
              </a:ext>
            </a:extLst>
          </p:cNvPr>
          <p:cNvGraphicFramePr>
            <a:graphicFrameLocks/>
          </p:cNvGraphicFramePr>
          <p:nvPr>
            <p:extLst>
              <p:ext uri="{D42A27DB-BD31-4B8C-83A1-F6EECF244321}">
                <p14:modId xmlns:p14="http://schemas.microsoft.com/office/powerpoint/2010/main" val="1038234482"/>
              </p:ext>
            </p:extLst>
          </p:nvPr>
        </p:nvGraphicFramePr>
        <p:xfrm>
          <a:off x="242221" y="1008796"/>
          <a:ext cx="5818772" cy="410531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 name="Chart 2">
            <a:extLst>
              <a:ext uri="{FF2B5EF4-FFF2-40B4-BE49-F238E27FC236}">
                <a16:creationId xmlns:a16="http://schemas.microsoft.com/office/drawing/2014/main" id="{076B4CC8-C7B6-3731-AAC7-D9A1E8D54BD4}"/>
              </a:ext>
            </a:extLst>
          </p:cNvPr>
          <p:cNvGraphicFramePr>
            <a:graphicFrameLocks/>
          </p:cNvGraphicFramePr>
          <p:nvPr>
            <p:extLst>
              <p:ext uri="{D42A27DB-BD31-4B8C-83A1-F6EECF244321}">
                <p14:modId xmlns:p14="http://schemas.microsoft.com/office/powerpoint/2010/main" val="1013684235"/>
              </p:ext>
            </p:extLst>
          </p:nvPr>
        </p:nvGraphicFramePr>
        <p:xfrm>
          <a:off x="6042786" y="1134409"/>
          <a:ext cx="5798192" cy="3808652"/>
        </p:xfrm>
        <a:graphic>
          <a:graphicData uri="http://schemas.openxmlformats.org/drawingml/2006/chart">
            <c:chart xmlns:c="http://schemas.openxmlformats.org/drawingml/2006/chart" xmlns:r="http://schemas.openxmlformats.org/officeDocument/2006/relationships" r:id="rId6"/>
          </a:graphicData>
        </a:graphic>
      </p:graphicFrame>
      <p:sp>
        <p:nvSpPr>
          <p:cNvPr id="4" name="Title 1">
            <a:extLst>
              <a:ext uri="{FF2B5EF4-FFF2-40B4-BE49-F238E27FC236}">
                <a16:creationId xmlns:a16="http://schemas.microsoft.com/office/drawing/2014/main" id="{ADA3468C-71EC-E2E1-9A1F-55AFEB409338}"/>
              </a:ext>
            </a:extLst>
          </p:cNvPr>
          <p:cNvSpPr txBox="1">
            <a:spLocks/>
          </p:cNvSpPr>
          <p:nvPr/>
        </p:nvSpPr>
        <p:spPr>
          <a:xfrm>
            <a:off x="994280" y="223754"/>
            <a:ext cx="3225276"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Revenue Analysis</a:t>
            </a:r>
          </a:p>
        </p:txBody>
      </p:sp>
    </p:spTree>
    <p:extLst>
      <p:ext uri="{BB962C8B-B14F-4D97-AF65-F5344CB8AC3E}">
        <p14:creationId xmlns:p14="http://schemas.microsoft.com/office/powerpoint/2010/main" val="4014503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3D1F5CF3-EBE4-0794-97F0-8361B2E2691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783128-10BE-426A-A54F-252CB3EB0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C52C24-F44F-0B52-A7B2-9E45697CA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2AA993B-EFFA-C200-2AB1-669D12BAA9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821FE281-6D44-5AC1-2ABB-F3A3447CA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43E28182-FA8F-18E0-3497-AAB1D862B4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F49A0D3F-C600-9095-DF8D-DD2667FB1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0149C7C-6D92-7B44-B334-03A8A9945A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6EB71885-D992-DD76-B7ED-7D3A41FD7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12321BB9-8DFD-1526-0373-0A7289903E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B3AE27E-8E41-36B0-5123-AA9D8D3F0B3A}"/>
              </a:ext>
            </a:extLst>
          </p:cNvPr>
          <p:cNvSpPr txBox="1"/>
          <p:nvPr/>
        </p:nvSpPr>
        <p:spPr>
          <a:xfrm>
            <a:off x="1235482" y="5266040"/>
            <a:ext cx="10291499" cy="1169885"/>
          </a:xfrm>
          <a:prstGeom prst="rect">
            <a:avLst/>
          </a:prstGeom>
        </p:spPr>
        <p:txBody>
          <a:bodyPr vert="horz" lIns="91440" tIns="45720" rIns="91440" bIns="45720" rtlCol="0" anchor="ctr">
            <a:normAutofit/>
          </a:bodyPr>
          <a:lstStyle/>
          <a:p>
            <a:pPr marL="285750" indent="-285750">
              <a:buFont typeface="Wingdings" pitchFamily="2" charset="2"/>
              <a:buChar char="§"/>
            </a:pPr>
            <a:r>
              <a:rPr lang="en-SG" sz="1400" b="1" dirty="0"/>
              <a:t>40% of all potential revenue never materialized because bookings were cancelled.</a:t>
            </a:r>
          </a:p>
          <a:p>
            <a:pPr marL="285750" indent="-285750">
              <a:buFont typeface="Wingdings" pitchFamily="2" charset="2"/>
              <a:buChar char="§"/>
            </a:pPr>
            <a:r>
              <a:rPr lang="en-US" sz="1400" dirty="0"/>
              <a:t>Number of nights Cancelled is 40% of Total Nights.</a:t>
            </a:r>
          </a:p>
          <a:p>
            <a:pPr marL="285750" indent="-285750">
              <a:buFont typeface="Wingdings" pitchFamily="2" charset="2"/>
              <a:buChar char="§"/>
            </a:pPr>
            <a:r>
              <a:rPr lang="en-US" sz="1400" dirty="0"/>
              <a:t>Cancel transaction is 40%.</a:t>
            </a:r>
          </a:p>
        </p:txBody>
      </p:sp>
      <p:sp>
        <p:nvSpPr>
          <p:cNvPr id="4" name="Title 1">
            <a:extLst>
              <a:ext uri="{FF2B5EF4-FFF2-40B4-BE49-F238E27FC236}">
                <a16:creationId xmlns:a16="http://schemas.microsoft.com/office/drawing/2014/main" id="{13B00062-CC66-E4F1-CE85-4EF0DF7946E3}"/>
              </a:ext>
            </a:extLst>
          </p:cNvPr>
          <p:cNvSpPr txBox="1">
            <a:spLocks/>
          </p:cNvSpPr>
          <p:nvPr/>
        </p:nvSpPr>
        <p:spPr>
          <a:xfrm>
            <a:off x="994280" y="223754"/>
            <a:ext cx="3225276"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Revenue Analysis</a:t>
            </a:r>
          </a:p>
        </p:txBody>
      </p:sp>
      <p:sp>
        <p:nvSpPr>
          <p:cNvPr id="5" name="TextBox 4">
            <a:extLst>
              <a:ext uri="{FF2B5EF4-FFF2-40B4-BE49-F238E27FC236}">
                <a16:creationId xmlns:a16="http://schemas.microsoft.com/office/drawing/2014/main" id="{BE5C3EFF-DCD3-4C6F-BBE8-32EC0939EBA1}"/>
              </a:ext>
            </a:extLst>
          </p:cNvPr>
          <p:cNvSpPr txBox="1"/>
          <p:nvPr/>
        </p:nvSpPr>
        <p:spPr>
          <a:xfrm>
            <a:off x="6574585" y="350571"/>
            <a:ext cx="5406450" cy="4733557"/>
          </a:xfrm>
          <a:prstGeom prst="rect">
            <a:avLst/>
          </a:prstGeom>
        </p:spPr>
        <p:txBody>
          <a:bodyPr vert="horz" lIns="91440" tIns="45720" rIns="91440" bIns="45720" rtlCol="0" anchor="ctr">
            <a:normAutofit/>
          </a:bodyPr>
          <a:lstStyle/>
          <a:p>
            <a:pPr defTabSz="914400">
              <a:lnSpc>
                <a:spcPct val="120000"/>
              </a:lnSpc>
              <a:spcAft>
                <a:spcPts val="600"/>
              </a:spcAft>
              <a:buClr>
                <a:schemeClr val="accent6"/>
              </a:buClr>
              <a:buSzPct val="90000"/>
            </a:pPr>
            <a:r>
              <a:rPr lang="en-US" b="1" dirty="0"/>
              <a:t>Descriptive Analysis</a:t>
            </a:r>
            <a:r>
              <a:rPr lang="en-US" dirty="0"/>
              <a:t> </a:t>
            </a:r>
            <a:endParaRPr lang="en-US" sz="1400" dirty="0"/>
          </a:p>
          <a:p>
            <a:pPr defTabSz="914400">
              <a:lnSpc>
                <a:spcPct val="120000"/>
              </a:lnSpc>
              <a:spcAft>
                <a:spcPts val="600"/>
              </a:spcAft>
              <a:buClr>
                <a:schemeClr val="accent6"/>
              </a:buClr>
              <a:buSzPct val="90000"/>
              <a:buFont typeface="Wingdings" panose="05000000000000000000" pitchFamily="2" charset="2"/>
              <a:buChar char="§"/>
            </a:pPr>
            <a:endParaRPr lang="en-US" sz="1400" dirty="0"/>
          </a:p>
          <a:p>
            <a:pPr defTabSz="914400">
              <a:lnSpc>
                <a:spcPct val="120000"/>
              </a:lnSpc>
              <a:spcAft>
                <a:spcPts val="600"/>
              </a:spcAft>
              <a:buClr>
                <a:schemeClr val="accent6"/>
              </a:buClr>
              <a:buSzPct val="90000"/>
              <a:buFont typeface="Wingdings" panose="05000000000000000000" pitchFamily="2" charset="2"/>
              <a:buChar char="§"/>
            </a:pPr>
            <a:r>
              <a:rPr lang="en-US" sz="1400" dirty="0"/>
              <a:t>City Hotel room revenue is around 6.93M and cancellation revenue is 4.57M.</a:t>
            </a:r>
          </a:p>
          <a:p>
            <a:pPr defTabSz="914400">
              <a:lnSpc>
                <a:spcPct val="120000"/>
              </a:lnSpc>
              <a:spcAft>
                <a:spcPts val="600"/>
              </a:spcAft>
              <a:buClr>
                <a:schemeClr val="accent6"/>
              </a:buClr>
              <a:buSzPct val="90000"/>
              <a:buFont typeface="Wingdings" panose="05000000000000000000" pitchFamily="2" charset="2"/>
              <a:buChar char="§"/>
            </a:pPr>
            <a:r>
              <a:rPr lang="en-US" sz="1400" dirty="0"/>
              <a:t>The frequent revenue is around 124$ and Median is around 260.</a:t>
            </a:r>
          </a:p>
          <a:p>
            <a:pPr defTabSz="914400">
              <a:lnSpc>
                <a:spcPct val="120000"/>
              </a:lnSpc>
              <a:spcAft>
                <a:spcPts val="600"/>
              </a:spcAft>
              <a:buClr>
                <a:schemeClr val="accent6"/>
              </a:buClr>
              <a:buSzPct val="90000"/>
              <a:buFont typeface="Wingdings" panose="05000000000000000000" pitchFamily="2" charset="2"/>
              <a:buChar char="§"/>
            </a:pPr>
            <a:r>
              <a:rPr lang="en-US" sz="1400" dirty="0"/>
              <a:t> As skewness is positive (Mode &lt; Median &lt; Mean)  the major of City Hotel revenue mostly at lower or average revenue, while a few extreme outliers pull the average up.</a:t>
            </a:r>
          </a:p>
          <a:p>
            <a:pPr defTabSz="914400">
              <a:lnSpc>
                <a:spcPct val="120000"/>
              </a:lnSpc>
              <a:spcAft>
                <a:spcPts val="600"/>
              </a:spcAft>
              <a:buClr>
                <a:schemeClr val="accent6"/>
              </a:buClr>
              <a:buSzPct val="90000"/>
              <a:buFont typeface="Wingdings" panose="05000000000000000000" pitchFamily="2" charset="2"/>
              <a:buChar char="§"/>
            </a:pPr>
            <a:r>
              <a:rPr lang="en-US" sz="1400" dirty="0"/>
              <a:t> The rage of total revenue is 0 ~ 5,000 showing there may have complementary or seasonal high earn.</a:t>
            </a:r>
          </a:p>
          <a:p>
            <a:pPr defTabSz="914400">
              <a:lnSpc>
                <a:spcPct val="120000"/>
              </a:lnSpc>
              <a:spcAft>
                <a:spcPts val="600"/>
              </a:spcAft>
              <a:buClr>
                <a:schemeClr val="accent6"/>
              </a:buClr>
              <a:buSzPct val="90000"/>
              <a:buFont typeface="Wingdings" panose="05000000000000000000" pitchFamily="2" charset="2"/>
              <a:buChar char="§"/>
            </a:pPr>
            <a:r>
              <a:rPr lang="en-US" sz="1400" dirty="0"/>
              <a:t> The average is around 300$ while standard deviation around 230 showing the variance is between 70$ ~ 530$.</a:t>
            </a:r>
          </a:p>
          <a:p>
            <a:pPr defTabSz="914400">
              <a:lnSpc>
                <a:spcPct val="120000"/>
              </a:lnSpc>
              <a:spcAft>
                <a:spcPts val="600"/>
              </a:spcAft>
              <a:buClr>
                <a:schemeClr val="accent6"/>
              </a:buClr>
              <a:buSzPct val="90000"/>
              <a:buFont typeface="Wingdings" panose="05000000000000000000" pitchFamily="2" charset="2"/>
              <a:buChar char="§"/>
            </a:pPr>
            <a:r>
              <a:rPr lang="en-US" sz="1400" dirty="0"/>
              <a:t> CV 0.7 indicates the revenue is irregular such as driven by high seasonal or luxury booking or cancellation.</a:t>
            </a:r>
          </a:p>
        </p:txBody>
      </p:sp>
      <p:graphicFrame>
        <p:nvGraphicFramePr>
          <p:cNvPr id="6" name="Table 5">
            <a:extLst>
              <a:ext uri="{FF2B5EF4-FFF2-40B4-BE49-F238E27FC236}">
                <a16:creationId xmlns:a16="http://schemas.microsoft.com/office/drawing/2014/main" id="{71821812-C1E9-0785-0B25-0CC0F6830495}"/>
              </a:ext>
            </a:extLst>
          </p:cNvPr>
          <p:cNvGraphicFramePr>
            <a:graphicFrameLocks noGrp="1"/>
          </p:cNvGraphicFramePr>
          <p:nvPr>
            <p:extLst>
              <p:ext uri="{D42A27DB-BD31-4B8C-83A1-F6EECF244321}">
                <p14:modId xmlns:p14="http://schemas.microsoft.com/office/powerpoint/2010/main" val="3081781692"/>
              </p:ext>
            </p:extLst>
          </p:nvPr>
        </p:nvGraphicFramePr>
        <p:xfrm>
          <a:off x="1074022" y="861829"/>
          <a:ext cx="5406450" cy="3958127"/>
        </p:xfrm>
        <a:graphic>
          <a:graphicData uri="http://schemas.openxmlformats.org/drawingml/2006/table">
            <a:tbl>
              <a:tblPr bandRow="1">
                <a:tableStyleId>{9D7B26C5-4107-4FEC-AEDC-1716B250A1EF}</a:tableStyleId>
              </a:tblPr>
              <a:tblGrid>
                <a:gridCol w="2690308">
                  <a:extLst>
                    <a:ext uri="{9D8B030D-6E8A-4147-A177-3AD203B41FA5}">
                      <a16:colId xmlns:a16="http://schemas.microsoft.com/office/drawing/2014/main" val="1903194018"/>
                    </a:ext>
                  </a:extLst>
                </a:gridCol>
                <a:gridCol w="1417118">
                  <a:extLst>
                    <a:ext uri="{9D8B030D-6E8A-4147-A177-3AD203B41FA5}">
                      <a16:colId xmlns:a16="http://schemas.microsoft.com/office/drawing/2014/main" val="100520378"/>
                    </a:ext>
                  </a:extLst>
                </a:gridCol>
                <a:gridCol w="1299024">
                  <a:extLst>
                    <a:ext uri="{9D8B030D-6E8A-4147-A177-3AD203B41FA5}">
                      <a16:colId xmlns:a16="http://schemas.microsoft.com/office/drawing/2014/main" val="1512815059"/>
                    </a:ext>
                  </a:extLst>
                </a:gridCol>
              </a:tblGrid>
              <a:tr h="250745">
                <a:tc>
                  <a:txBody>
                    <a:bodyPr/>
                    <a:lstStyle/>
                    <a:p>
                      <a:pPr algn="ctr" fontAlgn="b">
                        <a:buNone/>
                      </a:pPr>
                      <a:r>
                        <a:rPr lang="en-SG" sz="1200" b="0" u="none" strike="noStrike" dirty="0">
                          <a:solidFill>
                            <a:schemeClr val="tx1"/>
                          </a:solidFill>
                          <a:effectLst/>
                        </a:rPr>
                        <a:t>2016 Year</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dirty="0">
                          <a:solidFill>
                            <a:schemeClr val="tx1"/>
                          </a:solidFill>
                          <a:effectLst/>
                        </a:rPr>
                        <a:t>Cancelled</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dirty="0">
                          <a:solidFill>
                            <a:schemeClr val="tx1"/>
                          </a:solidFill>
                          <a:effectLst/>
                        </a:rPr>
                        <a:t>Non Cancel</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76868255"/>
                  </a:ext>
                </a:extLst>
              </a:tr>
              <a:tr h="264813">
                <a:tc>
                  <a:txBody>
                    <a:bodyPr/>
                    <a:lstStyle/>
                    <a:p>
                      <a:pPr algn="ctr" fontAlgn="b">
                        <a:buNone/>
                      </a:pPr>
                      <a:r>
                        <a:rPr lang="en-SG" sz="1200" b="1" u="none" strike="noStrike">
                          <a:solidFill>
                            <a:schemeClr val="tx1"/>
                          </a:solidFill>
                          <a:effectLst/>
                        </a:rPr>
                        <a:t>City Hotel</a:t>
                      </a:r>
                      <a:endParaRPr lang="en-SG" sz="1200" b="1" i="0" u="none" strike="noStrike">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a:solidFill>
                            <a:schemeClr val="tx1"/>
                          </a:solidFill>
                          <a:effectLst/>
                        </a:rPr>
                        <a:t>Revenue</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a:solidFill>
                            <a:schemeClr val="tx1"/>
                          </a:solidFill>
                          <a:effectLst/>
                        </a:rPr>
                        <a:t>Revenue</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225336427"/>
                  </a:ext>
                </a:extLst>
              </a:tr>
              <a:tr h="264813">
                <a:tc>
                  <a:txBody>
                    <a:bodyPr/>
                    <a:lstStyle/>
                    <a:p>
                      <a:pPr algn="l" fontAlgn="b">
                        <a:buNone/>
                      </a:pPr>
                      <a:r>
                        <a:rPr lang="en-SG" sz="1200" b="0" u="none" strike="noStrike">
                          <a:solidFill>
                            <a:schemeClr val="tx1"/>
                          </a:solidFill>
                          <a:effectLst/>
                        </a:rPr>
                        <a:t>Mean</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310.39</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301.01</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26715855"/>
                  </a:ext>
                </a:extLst>
              </a:tr>
              <a:tr h="264813">
                <a:tc>
                  <a:txBody>
                    <a:bodyPr/>
                    <a:lstStyle/>
                    <a:p>
                      <a:pPr algn="l" fontAlgn="b">
                        <a:buNone/>
                      </a:pPr>
                      <a:r>
                        <a:rPr lang="en-SG" sz="1200" b="0" u="none" strike="noStrike">
                          <a:solidFill>
                            <a:schemeClr val="tx1"/>
                          </a:solidFill>
                          <a:effectLst/>
                        </a:rPr>
                        <a:t>Max</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4,967.70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3,910.00</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95222485"/>
                  </a:ext>
                </a:extLst>
              </a:tr>
              <a:tr h="264813">
                <a:tc>
                  <a:txBody>
                    <a:bodyPr/>
                    <a:lstStyle/>
                    <a:p>
                      <a:pPr algn="l" fontAlgn="b">
                        <a:buNone/>
                      </a:pPr>
                      <a:r>
                        <a:rPr lang="en-SG" sz="1200" b="0" u="none" strike="noStrike">
                          <a:solidFill>
                            <a:schemeClr val="tx1"/>
                          </a:solidFill>
                          <a:effectLst/>
                        </a:rPr>
                        <a:t>Min</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4307475"/>
                  </a:ext>
                </a:extLst>
              </a:tr>
              <a:tr h="264813">
                <a:tc>
                  <a:txBody>
                    <a:bodyPr/>
                    <a:lstStyle/>
                    <a:p>
                      <a:pPr algn="l" fontAlgn="b">
                        <a:buNone/>
                      </a:pPr>
                      <a:r>
                        <a:rPr lang="en-SG" sz="1200" b="0" u="none" strike="noStrike">
                          <a:solidFill>
                            <a:schemeClr val="tx1"/>
                          </a:solidFill>
                          <a:effectLst/>
                        </a:rPr>
                        <a:t>Range</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4,967.70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3,910.00</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66711722"/>
                  </a:ext>
                </a:extLst>
              </a:tr>
              <a:tr h="264813">
                <a:tc>
                  <a:txBody>
                    <a:bodyPr/>
                    <a:lstStyle/>
                    <a:p>
                      <a:pPr algn="l" fontAlgn="b">
                        <a:buNone/>
                      </a:pPr>
                      <a:r>
                        <a:rPr lang="en-SG" sz="1200" b="0" u="none" strike="noStrike">
                          <a:solidFill>
                            <a:schemeClr val="tx1"/>
                          </a:solidFill>
                          <a:effectLst/>
                        </a:rPr>
                        <a:t>Mode</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124.00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124.00</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92228092"/>
                  </a:ext>
                </a:extLst>
              </a:tr>
              <a:tr h="264813">
                <a:tc>
                  <a:txBody>
                    <a:bodyPr/>
                    <a:lstStyle/>
                    <a:p>
                      <a:pPr algn="l" fontAlgn="b">
                        <a:buNone/>
                      </a:pPr>
                      <a:r>
                        <a:rPr lang="en-SG" sz="1200" b="0" u="none" strike="noStrike">
                          <a:solidFill>
                            <a:schemeClr val="tx1"/>
                          </a:solidFill>
                          <a:effectLst/>
                        </a:rPr>
                        <a:t>Median</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260.22</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260.22</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27523513"/>
                  </a:ext>
                </a:extLst>
              </a:tr>
              <a:tr h="264813">
                <a:tc>
                  <a:txBody>
                    <a:bodyPr/>
                    <a:lstStyle/>
                    <a:p>
                      <a:pPr algn="l" fontAlgn="b">
                        <a:buNone/>
                      </a:pPr>
                      <a:r>
                        <a:rPr lang="en-SG" sz="1200" b="0" u="none" strike="noStrike">
                          <a:solidFill>
                            <a:schemeClr val="tx1"/>
                          </a:solidFill>
                          <a:effectLst/>
                        </a:rPr>
                        <a:t>Var</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52,658.35</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52,658.35</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33028063"/>
                  </a:ext>
                </a:extLst>
              </a:tr>
              <a:tr h="264813">
                <a:tc>
                  <a:txBody>
                    <a:bodyPr/>
                    <a:lstStyle/>
                    <a:p>
                      <a:pPr algn="l" fontAlgn="b">
                        <a:buNone/>
                      </a:pPr>
                      <a:r>
                        <a:rPr lang="en-SG" sz="1200" b="0" u="none" strike="noStrike">
                          <a:solidFill>
                            <a:schemeClr val="tx1"/>
                          </a:solidFill>
                          <a:effectLst/>
                        </a:rPr>
                        <a:t>STD</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229.47</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229.47</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69857107"/>
                  </a:ext>
                </a:extLst>
              </a:tr>
              <a:tr h="264813">
                <a:tc>
                  <a:txBody>
                    <a:bodyPr/>
                    <a:lstStyle/>
                    <a:p>
                      <a:pPr algn="l" fontAlgn="b">
                        <a:buNone/>
                      </a:pPr>
                      <a:r>
                        <a:rPr lang="en-SG" sz="1200" b="0" u="none" strike="noStrike">
                          <a:solidFill>
                            <a:schemeClr val="tx1"/>
                          </a:solidFill>
                          <a:effectLst/>
                        </a:rPr>
                        <a:t>CV</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0.74</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0.76</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12503821"/>
                  </a:ext>
                </a:extLst>
              </a:tr>
              <a:tr h="264813">
                <a:tc>
                  <a:txBody>
                    <a:bodyPr/>
                    <a:lstStyle/>
                    <a:p>
                      <a:pPr algn="l" fontAlgn="b">
                        <a:buNone/>
                      </a:pPr>
                      <a:r>
                        <a:rPr lang="en-SG" sz="1200" b="0" u="none" strike="noStrike">
                          <a:solidFill>
                            <a:schemeClr val="tx1"/>
                          </a:solidFill>
                          <a:effectLst/>
                        </a:rPr>
                        <a:t>Sum</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4,571,418.53</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6,930,654.04</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18221823"/>
                  </a:ext>
                </a:extLst>
              </a:tr>
              <a:tr h="264813">
                <a:tc>
                  <a:txBody>
                    <a:bodyPr/>
                    <a:lstStyle/>
                    <a:p>
                      <a:pPr algn="l" fontAlgn="b">
                        <a:buNone/>
                      </a:pPr>
                      <a:r>
                        <a:rPr lang="en-SG" sz="1200" b="0" u="none" strike="noStrike">
                          <a:solidFill>
                            <a:schemeClr val="tx1"/>
                          </a:solidFill>
                          <a:effectLst/>
                        </a:rPr>
                        <a:t>Number of Nights</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44,363</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67,471</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65315367"/>
                  </a:ext>
                </a:extLst>
              </a:tr>
              <a:tr h="264813">
                <a:tc>
                  <a:txBody>
                    <a:bodyPr/>
                    <a:lstStyle/>
                    <a:p>
                      <a:pPr algn="l" fontAlgn="b">
                        <a:buNone/>
                      </a:pPr>
                      <a:r>
                        <a:rPr lang="en-SG" sz="1200" b="0" u="none" strike="noStrike">
                          <a:solidFill>
                            <a:schemeClr val="tx1"/>
                          </a:solidFill>
                          <a:effectLst/>
                        </a:rPr>
                        <a:t>Transaction</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15,274</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22,479</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62402168"/>
                  </a:ext>
                </a:extLst>
              </a:tr>
              <a:tr h="264813">
                <a:tc>
                  <a:txBody>
                    <a:bodyPr/>
                    <a:lstStyle/>
                    <a:p>
                      <a:pPr algn="l" fontAlgn="b">
                        <a:buNone/>
                      </a:pPr>
                      <a:r>
                        <a:rPr lang="en-SG" sz="1200" b="0" u="none" strike="noStrike">
                          <a:solidFill>
                            <a:schemeClr val="tx1"/>
                          </a:solidFill>
                          <a:effectLst/>
                        </a:rPr>
                        <a:t>Skew Revenue</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2.89</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2.89</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640077867"/>
                  </a:ext>
                </a:extLst>
              </a:tr>
            </a:tbl>
          </a:graphicData>
        </a:graphic>
      </p:graphicFrame>
    </p:spTree>
    <p:extLst>
      <p:ext uri="{BB962C8B-B14F-4D97-AF65-F5344CB8AC3E}">
        <p14:creationId xmlns:p14="http://schemas.microsoft.com/office/powerpoint/2010/main" val="4135639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5974F086-9CFD-BAA7-2636-2076411687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BBF3251-922B-4984-8986-EEE84FBBC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1B1884-6EFB-C15E-C3F0-73BD931A6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93CA5B5E-0503-76F0-0EC4-FBDF46DC7CE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81AFBE2D-6DC4-0E4D-461F-1EA9FB18F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AD5F9601-372D-656A-99C8-B480E35660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5F6D6A7B-5927-3BF9-B65B-FF04574B22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B884751-479C-DD84-1CA5-757EC1A0E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0639AD2F-DFF9-A713-3796-1522367E8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87FA1636-8293-7A7C-C41C-D01155270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B09883-7156-1F91-E75E-4343AC24A86E}"/>
              </a:ext>
            </a:extLst>
          </p:cNvPr>
          <p:cNvSpPr txBox="1">
            <a:spLocks/>
          </p:cNvSpPr>
          <p:nvPr/>
        </p:nvSpPr>
        <p:spPr>
          <a:xfrm>
            <a:off x="1191172" y="242997"/>
            <a:ext cx="4663183" cy="69156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err="1"/>
              <a:t>Night_of_Stays</a:t>
            </a:r>
            <a:r>
              <a:rPr lang="en-US" sz="2800" dirty="0"/>
              <a:t> Analysis</a:t>
            </a:r>
          </a:p>
        </p:txBody>
      </p:sp>
      <p:sp>
        <p:nvSpPr>
          <p:cNvPr id="3" name="TextBox 2">
            <a:extLst>
              <a:ext uri="{FF2B5EF4-FFF2-40B4-BE49-F238E27FC236}">
                <a16:creationId xmlns:a16="http://schemas.microsoft.com/office/drawing/2014/main" id="{2CCE01A8-62AA-7757-B627-A2C41B786B4E}"/>
              </a:ext>
            </a:extLst>
          </p:cNvPr>
          <p:cNvSpPr txBox="1"/>
          <p:nvPr/>
        </p:nvSpPr>
        <p:spPr>
          <a:xfrm>
            <a:off x="1202217" y="5518478"/>
            <a:ext cx="6819565" cy="998030"/>
          </a:xfrm>
          <a:prstGeom prst="rect">
            <a:avLst/>
          </a:prstGeom>
          <a:noFill/>
        </p:spPr>
        <p:txBody>
          <a:bodyPr wrap="square" rtlCol="0">
            <a:spAutoFit/>
          </a:bodyPr>
          <a:lstStyle/>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Weekend vs Weekday is NOT driving cancellation. </a:t>
            </a:r>
            <a:r>
              <a:rPr lang="en-US" sz="1400" dirty="0">
                <a:latin typeface="Arial" panose="020B0604020202020204" pitchFamily="34" charset="0"/>
                <a:cs typeface="Arial" panose="020B0604020202020204" pitchFamily="34" charset="0"/>
              </a:rPr>
              <a:t>Frequent mode is 2 nights.</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Over 97% of bookings are under 8 nights.</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Long stays are much riskier.</a:t>
            </a:r>
          </a:p>
        </p:txBody>
      </p:sp>
      <p:graphicFrame>
        <p:nvGraphicFramePr>
          <p:cNvPr id="4" name="Table 3">
            <a:extLst>
              <a:ext uri="{FF2B5EF4-FFF2-40B4-BE49-F238E27FC236}">
                <a16:creationId xmlns:a16="http://schemas.microsoft.com/office/drawing/2014/main" id="{203C59AC-C8F5-8155-59E9-CE81FD60063A}"/>
              </a:ext>
            </a:extLst>
          </p:cNvPr>
          <p:cNvGraphicFramePr>
            <a:graphicFrameLocks noGrp="1"/>
          </p:cNvGraphicFramePr>
          <p:nvPr>
            <p:extLst>
              <p:ext uri="{D42A27DB-BD31-4B8C-83A1-F6EECF244321}">
                <p14:modId xmlns:p14="http://schemas.microsoft.com/office/powerpoint/2010/main" val="844380927"/>
              </p:ext>
            </p:extLst>
          </p:nvPr>
        </p:nvGraphicFramePr>
        <p:xfrm>
          <a:off x="6712714" y="292315"/>
          <a:ext cx="5013161" cy="2763805"/>
        </p:xfrm>
        <a:graphic>
          <a:graphicData uri="http://schemas.openxmlformats.org/drawingml/2006/table">
            <a:tbl>
              <a:tblPr firstRow="1" bandRow="1">
                <a:tableStyleId>{9D7B26C5-4107-4FEC-AEDC-1716B250A1EF}</a:tableStyleId>
              </a:tblPr>
              <a:tblGrid>
                <a:gridCol w="1943636">
                  <a:extLst>
                    <a:ext uri="{9D8B030D-6E8A-4147-A177-3AD203B41FA5}">
                      <a16:colId xmlns:a16="http://schemas.microsoft.com/office/drawing/2014/main" val="741413321"/>
                    </a:ext>
                  </a:extLst>
                </a:gridCol>
                <a:gridCol w="936264">
                  <a:extLst>
                    <a:ext uri="{9D8B030D-6E8A-4147-A177-3AD203B41FA5}">
                      <a16:colId xmlns:a16="http://schemas.microsoft.com/office/drawing/2014/main" val="2703121116"/>
                    </a:ext>
                  </a:extLst>
                </a:gridCol>
                <a:gridCol w="995522">
                  <a:extLst>
                    <a:ext uri="{9D8B030D-6E8A-4147-A177-3AD203B41FA5}">
                      <a16:colId xmlns:a16="http://schemas.microsoft.com/office/drawing/2014/main" val="1922744071"/>
                    </a:ext>
                  </a:extLst>
                </a:gridCol>
                <a:gridCol w="1137739">
                  <a:extLst>
                    <a:ext uri="{9D8B030D-6E8A-4147-A177-3AD203B41FA5}">
                      <a16:colId xmlns:a16="http://schemas.microsoft.com/office/drawing/2014/main" val="1591580089"/>
                    </a:ext>
                  </a:extLst>
                </a:gridCol>
              </a:tblGrid>
              <a:tr h="251255">
                <a:tc>
                  <a:txBody>
                    <a:bodyPr/>
                    <a:lstStyle/>
                    <a:p>
                      <a:pPr algn="l" fontAlgn="b">
                        <a:buNone/>
                      </a:pPr>
                      <a:r>
                        <a:rPr lang="en-SG" sz="1200" b="0" u="none" strike="noStrike" dirty="0">
                          <a:solidFill>
                            <a:schemeClr val="tx1"/>
                          </a:solidFill>
                          <a:effectLst/>
                        </a:rPr>
                        <a:t>Number of nights Stay in</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dirty="0">
                          <a:solidFill>
                            <a:schemeClr val="tx1"/>
                          </a:solidFill>
                          <a:effectLst/>
                        </a:rPr>
                        <a:t>Weekend</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a:solidFill>
                            <a:schemeClr val="tx1"/>
                          </a:solidFill>
                          <a:effectLst/>
                        </a:rPr>
                        <a:t>Weekday</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dirty="0">
                          <a:solidFill>
                            <a:schemeClr val="tx1"/>
                          </a:solidFill>
                          <a:effectLst/>
                        </a:rPr>
                        <a:t>Total</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2421346"/>
                  </a:ext>
                </a:extLst>
              </a:tr>
              <a:tr h="251255">
                <a:tc>
                  <a:txBody>
                    <a:bodyPr/>
                    <a:lstStyle/>
                    <a:p>
                      <a:pPr algn="l" fontAlgn="b">
                        <a:buNone/>
                      </a:pPr>
                      <a:r>
                        <a:rPr lang="en-SG" sz="1200" b="0" u="none" strike="noStrike" dirty="0">
                          <a:solidFill>
                            <a:schemeClr val="tx1"/>
                          </a:solidFill>
                          <a:effectLst/>
                        </a:rPr>
                        <a:t>Mean</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0.81</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2.13</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2.94</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926544006"/>
                  </a:ext>
                </a:extLst>
              </a:tr>
              <a:tr h="251255">
                <a:tc>
                  <a:txBody>
                    <a:bodyPr/>
                    <a:lstStyle/>
                    <a:p>
                      <a:pPr algn="l" fontAlgn="b">
                        <a:buNone/>
                      </a:pPr>
                      <a:r>
                        <a:rPr lang="en-SG" sz="1200" b="0" u="none" strike="noStrike" dirty="0">
                          <a:solidFill>
                            <a:schemeClr val="tx1"/>
                          </a:solidFill>
                          <a:effectLst/>
                        </a:rPr>
                        <a:t>Max</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16</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41</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57</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39765942"/>
                  </a:ext>
                </a:extLst>
              </a:tr>
              <a:tr h="251255">
                <a:tc>
                  <a:txBody>
                    <a:bodyPr/>
                    <a:lstStyle/>
                    <a:p>
                      <a:pPr algn="l" fontAlgn="b">
                        <a:buNone/>
                      </a:pPr>
                      <a:r>
                        <a:rPr lang="en-SG" sz="1200" b="0" u="none" strike="noStrike" dirty="0">
                          <a:solidFill>
                            <a:schemeClr val="tx1"/>
                          </a:solidFill>
                          <a:effectLst/>
                        </a:rPr>
                        <a:t>Min</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4708910"/>
                  </a:ext>
                </a:extLst>
              </a:tr>
              <a:tr h="251255">
                <a:tc>
                  <a:txBody>
                    <a:bodyPr/>
                    <a:lstStyle/>
                    <a:p>
                      <a:pPr algn="l" fontAlgn="b">
                        <a:buNone/>
                      </a:pPr>
                      <a:r>
                        <a:rPr lang="en-SG" sz="1200" b="0" u="none" strike="noStrike" dirty="0">
                          <a:solidFill>
                            <a:schemeClr val="tx1"/>
                          </a:solidFill>
                          <a:effectLst/>
                        </a:rPr>
                        <a:t>Range</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16</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41</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57</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24668205"/>
                  </a:ext>
                </a:extLst>
              </a:tr>
              <a:tr h="251255">
                <a:tc>
                  <a:txBody>
                    <a:bodyPr/>
                    <a:lstStyle/>
                    <a:p>
                      <a:pPr algn="l" fontAlgn="b">
                        <a:buNone/>
                      </a:pPr>
                      <a:r>
                        <a:rPr lang="en-SG" sz="1200" b="0" u="none" strike="noStrike">
                          <a:solidFill>
                            <a:schemeClr val="tx1"/>
                          </a:solidFill>
                          <a:effectLst/>
                        </a:rPr>
                        <a:t>Mode</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01567446"/>
                  </a:ext>
                </a:extLst>
              </a:tr>
              <a:tr h="251255">
                <a:tc>
                  <a:txBody>
                    <a:bodyPr/>
                    <a:lstStyle/>
                    <a:p>
                      <a:pPr algn="l" fontAlgn="b">
                        <a:buNone/>
                      </a:pPr>
                      <a:r>
                        <a:rPr lang="en-SG" sz="1200" b="0" u="none" strike="noStrike">
                          <a:solidFill>
                            <a:schemeClr val="tx1"/>
                          </a:solidFill>
                          <a:effectLst/>
                        </a:rPr>
                        <a:t>Median</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2</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30829160"/>
                  </a:ext>
                </a:extLst>
              </a:tr>
              <a:tr h="251255">
                <a:tc>
                  <a:txBody>
                    <a:bodyPr/>
                    <a:lstStyle/>
                    <a:p>
                      <a:pPr algn="l" fontAlgn="b">
                        <a:buNone/>
                      </a:pPr>
                      <a:r>
                        <a:rPr lang="en-SG" sz="1200" b="0" u="none" strike="noStrike">
                          <a:solidFill>
                            <a:schemeClr val="tx1"/>
                          </a:solidFill>
                          <a:effectLst/>
                        </a:rPr>
                        <a:t>Var</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0.76</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2.09</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3.35</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0596588"/>
                  </a:ext>
                </a:extLst>
              </a:tr>
              <a:tr h="251255">
                <a:tc>
                  <a:txBody>
                    <a:bodyPr/>
                    <a:lstStyle/>
                    <a:p>
                      <a:pPr algn="l" fontAlgn="b">
                        <a:buNone/>
                      </a:pPr>
                      <a:r>
                        <a:rPr lang="en-SG" sz="1200" b="0" u="none" strike="noStrike">
                          <a:solidFill>
                            <a:schemeClr val="tx1"/>
                          </a:solidFill>
                          <a:effectLst/>
                        </a:rPr>
                        <a:t>STD</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0.87</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1.45</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1.83</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39154243"/>
                  </a:ext>
                </a:extLst>
              </a:tr>
              <a:tr h="251255">
                <a:tc>
                  <a:txBody>
                    <a:bodyPr/>
                    <a:lstStyle/>
                    <a:p>
                      <a:pPr algn="l" fontAlgn="b">
                        <a:buNone/>
                      </a:pPr>
                      <a:r>
                        <a:rPr lang="en-SG" sz="1200" b="0" u="none" strike="noStrike">
                          <a:solidFill>
                            <a:schemeClr val="tx1"/>
                          </a:solidFill>
                          <a:effectLst/>
                        </a:rPr>
                        <a:t>CV</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1.08</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0.68</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0.62</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77661579"/>
                  </a:ext>
                </a:extLst>
              </a:tr>
              <a:tr h="251255">
                <a:tc>
                  <a:txBody>
                    <a:bodyPr/>
                    <a:lstStyle/>
                    <a:p>
                      <a:pPr algn="l" fontAlgn="b">
                        <a:buNone/>
                      </a:pPr>
                      <a:r>
                        <a:rPr lang="en-SG" sz="1200" b="0" u="none" strike="noStrike">
                          <a:solidFill>
                            <a:schemeClr val="tx1"/>
                          </a:solidFill>
                          <a:effectLst/>
                        </a:rPr>
                        <a:t>Sum</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37,492.00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98,877.00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136,369.00</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62488772"/>
                  </a:ext>
                </a:extLst>
              </a:tr>
            </a:tbl>
          </a:graphicData>
        </a:graphic>
      </p:graphicFrame>
      <p:graphicFrame>
        <p:nvGraphicFramePr>
          <p:cNvPr id="5" name="Table 4">
            <a:extLst>
              <a:ext uri="{FF2B5EF4-FFF2-40B4-BE49-F238E27FC236}">
                <a16:creationId xmlns:a16="http://schemas.microsoft.com/office/drawing/2014/main" id="{84847EC3-9E3A-43A0-093E-C75A14EE34D6}"/>
              </a:ext>
            </a:extLst>
          </p:cNvPr>
          <p:cNvGraphicFramePr>
            <a:graphicFrameLocks noGrp="1"/>
          </p:cNvGraphicFramePr>
          <p:nvPr>
            <p:extLst>
              <p:ext uri="{D42A27DB-BD31-4B8C-83A1-F6EECF244321}">
                <p14:modId xmlns:p14="http://schemas.microsoft.com/office/powerpoint/2010/main" val="1269794313"/>
              </p:ext>
            </p:extLst>
          </p:nvPr>
        </p:nvGraphicFramePr>
        <p:xfrm>
          <a:off x="6353540" y="3303840"/>
          <a:ext cx="5341893" cy="1016000"/>
        </p:xfrm>
        <a:graphic>
          <a:graphicData uri="http://schemas.openxmlformats.org/drawingml/2006/table">
            <a:tbl>
              <a:tblPr firstRow="1" bandRow="1">
                <a:tableStyleId>{9D7B26C5-4107-4FEC-AEDC-1716B250A1EF}</a:tableStyleId>
              </a:tblPr>
              <a:tblGrid>
                <a:gridCol w="1913115">
                  <a:extLst>
                    <a:ext uri="{9D8B030D-6E8A-4147-A177-3AD203B41FA5}">
                      <a16:colId xmlns:a16="http://schemas.microsoft.com/office/drawing/2014/main" val="1534348419"/>
                    </a:ext>
                  </a:extLst>
                </a:gridCol>
                <a:gridCol w="1459307">
                  <a:extLst>
                    <a:ext uri="{9D8B030D-6E8A-4147-A177-3AD203B41FA5}">
                      <a16:colId xmlns:a16="http://schemas.microsoft.com/office/drawing/2014/main" val="3969110191"/>
                    </a:ext>
                  </a:extLst>
                </a:gridCol>
                <a:gridCol w="937278">
                  <a:extLst>
                    <a:ext uri="{9D8B030D-6E8A-4147-A177-3AD203B41FA5}">
                      <a16:colId xmlns:a16="http://schemas.microsoft.com/office/drawing/2014/main" val="911192398"/>
                    </a:ext>
                  </a:extLst>
                </a:gridCol>
                <a:gridCol w="1032193">
                  <a:extLst>
                    <a:ext uri="{9D8B030D-6E8A-4147-A177-3AD203B41FA5}">
                      <a16:colId xmlns:a16="http://schemas.microsoft.com/office/drawing/2014/main" val="1578903509"/>
                    </a:ext>
                  </a:extLst>
                </a:gridCol>
              </a:tblGrid>
              <a:tr h="203200">
                <a:tc>
                  <a:txBody>
                    <a:bodyPr/>
                    <a:lstStyle/>
                    <a:p>
                      <a:pPr algn="l" fontAlgn="b">
                        <a:buNone/>
                      </a:pPr>
                      <a:r>
                        <a:rPr lang="en-SG" sz="1200" b="0" u="none" strike="noStrike">
                          <a:solidFill>
                            <a:schemeClr val="tx1"/>
                          </a:solidFill>
                          <a:effectLst/>
                        </a:rPr>
                        <a:t>Number of nights Stay in</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Weekend</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Weekday</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Total</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395419310"/>
                  </a:ext>
                </a:extLst>
              </a:tr>
              <a:tr h="203200">
                <a:tc>
                  <a:txBody>
                    <a:bodyPr/>
                    <a:lstStyle/>
                    <a:p>
                      <a:pPr algn="r" fontAlgn="b">
                        <a:buNone/>
                      </a:pPr>
                      <a:r>
                        <a:rPr lang="en-SG" sz="1200" b="0" u="none" strike="noStrike" dirty="0">
                          <a:solidFill>
                            <a:schemeClr val="tx1"/>
                          </a:solidFill>
                          <a:effectLst/>
                        </a:rPr>
                        <a:t>1~3</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29,067</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89,413</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118,480</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887453841"/>
                  </a:ext>
                </a:extLst>
              </a:tr>
              <a:tr h="203200">
                <a:tc>
                  <a:txBody>
                    <a:bodyPr/>
                    <a:lstStyle/>
                    <a:p>
                      <a:pPr algn="r" fontAlgn="b">
                        <a:buNone/>
                      </a:pPr>
                      <a:r>
                        <a:rPr lang="en-SG" sz="1200" b="0" u="none" strike="noStrike">
                          <a:solidFill>
                            <a:schemeClr val="tx1"/>
                          </a:solidFill>
                          <a:effectLst/>
                        </a:rPr>
                        <a:t>4~7</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29,120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71,089</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100,209</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787918225"/>
                  </a:ext>
                </a:extLst>
              </a:tr>
              <a:tr h="203200">
                <a:tc>
                  <a:txBody>
                    <a:bodyPr/>
                    <a:lstStyle/>
                    <a:p>
                      <a:pPr algn="r" fontAlgn="b">
                        <a:buNone/>
                      </a:pPr>
                      <a:r>
                        <a:rPr lang="en-SG" sz="1200" b="0" u="none" strike="noStrike">
                          <a:solidFill>
                            <a:schemeClr val="tx1"/>
                          </a:solidFill>
                          <a:effectLst/>
                        </a:rPr>
                        <a:t>8~14</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2,911</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7,315</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10,226</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458822803"/>
                  </a:ext>
                </a:extLst>
              </a:tr>
              <a:tr h="203200">
                <a:tc>
                  <a:txBody>
                    <a:bodyPr/>
                    <a:lstStyle/>
                    <a:p>
                      <a:pPr algn="r" fontAlgn="b">
                        <a:buNone/>
                      </a:pPr>
                      <a:r>
                        <a:rPr lang="en-SG" sz="1200" b="0" u="none" strike="noStrike">
                          <a:solidFill>
                            <a:schemeClr val="tx1"/>
                          </a:solidFill>
                          <a:effectLst/>
                        </a:rPr>
                        <a:t>15~57</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951</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2,376</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3,327</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520971435"/>
                  </a:ext>
                </a:extLst>
              </a:tr>
            </a:tbl>
          </a:graphicData>
        </a:graphic>
      </p:graphicFrame>
      <p:graphicFrame>
        <p:nvGraphicFramePr>
          <p:cNvPr id="6" name="Chart 5">
            <a:extLst>
              <a:ext uri="{FF2B5EF4-FFF2-40B4-BE49-F238E27FC236}">
                <a16:creationId xmlns:a16="http://schemas.microsoft.com/office/drawing/2014/main" id="{B1CFA021-9F0D-07D7-C218-7ACD9CD4C57F}"/>
              </a:ext>
            </a:extLst>
          </p:cNvPr>
          <p:cNvGraphicFramePr>
            <a:graphicFrameLocks/>
          </p:cNvGraphicFramePr>
          <p:nvPr>
            <p:extLst>
              <p:ext uri="{D42A27DB-BD31-4B8C-83A1-F6EECF244321}">
                <p14:modId xmlns:p14="http://schemas.microsoft.com/office/powerpoint/2010/main" val="2402046972"/>
              </p:ext>
            </p:extLst>
          </p:nvPr>
        </p:nvGraphicFramePr>
        <p:xfrm>
          <a:off x="1002200" y="1097397"/>
          <a:ext cx="5241197" cy="322296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Table 6">
            <a:extLst>
              <a:ext uri="{FF2B5EF4-FFF2-40B4-BE49-F238E27FC236}">
                <a16:creationId xmlns:a16="http://schemas.microsoft.com/office/drawing/2014/main" id="{CBA296DB-963B-FD38-C230-857178468D60}"/>
              </a:ext>
            </a:extLst>
          </p:cNvPr>
          <p:cNvGraphicFramePr>
            <a:graphicFrameLocks noGrp="1"/>
          </p:cNvGraphicFramePr>
          <p:nvPr>
            <p:extLst>
              <p:ext uri="{D42A27DB-BD31-4B8C-83A1-F6EECF244321}">
                <p14:modId xmlns:p14="http://schemas.microsoft.com/office/powerpoint/2010/main" val="3423285450"/>
              </p:ext>
            </p:extLst>
          </p:nvPr>
        </p:nvGraphicFramePr>
        <p:xfrm>
          <a:off x="1274299" y="4400079"/>
          <a:ext cx="4580056" cy="714057"/>
        </p:xfrm>
        <a:graphic>
          <a:graphicData uri="http://schemas.openxmlformats.org/drawingml/2006/table">
            <a:tbl>
              <a:tblPr firstRow="1" bandRow="1">
                <a:tableStyleId>{9D7B26C5-4107-4FEC-AEDC-1716B250A1EF}</a:tableStyleId>
              </a:tblPr>
              <a:tblGrid>
                <a:gridCol w="2089401">
                  <a:extLst>
                    <a:ext uri="{9D8B030D-6E8A-4147-A177-3AD203B41FA5}">
                      <a16:colId xmlns:a16="http://schemas.microsoft.com/office/drawing/2014/main" val="30908278"/>
                    </a:ext>
                  </a:extLst>
                </a:gridCol>
                <a:gridCol w="1191998">
                  <a:extLst>
                    <a:ext uri="{9D8B030D-6E8A-4147-A177-3AD203B41FA5}">
                      <a16:colId xmlns:a16="http://schemas.microsoft.com/office/drawing/2014/main" val="487843936"/>
                    </a:ext>
                  </a:extLst>
                </a:gridCol>
                <a:gridCol w="1298657">
                  <a:extLst>
                    <a:ext uri="{9D8B030D-6E8A-4147-A177-3AD203B41FA5}">
                      <a16:colId xmlns:a16="http://schemas.microsoft.com/office/drawing/2014/main" val="928036020"/>
                    </a:ext>
                  </a:extLst>
                </a:gridCol>
              </a:tblGrid>
              <a:tr h="232024">
                <a:tc>
                  <a:txBody>
                    <a:bodyPr/>
                    <a:lstStyle/>
                    <a:p>
                      <a:pPr algn="l" fontAlgn="b">
                        <a:buNone/>
                      </a:pPr>
                      <a:endParaRPr lang="en-SG" sz="1200" b="0" i="0" u="none" strike="noStrike" dirty="0">
                        <a:solidFill>
                          <a:schemeClr val="tx1"/>
                        </a:solidFill>
                        <a:effectLst/>
                        <a:latin typeface=""/>
                      </a:endParaRPr>
                    </a:p>
                  </a:txBody>
                  <a:tcPr marL="9525" marR="9525" marT="9525" marB="0" anchor="b"/>
                </a:tc>
                <a:tc>
                  <a:txBody>
                    <a:bodyPr/>
                    <a:lstStyle/>
                    <a:p>
                      <a:pPr algn="l" fontAlgn="b">
                        <a:buNone/>
                      </a:pPr>
                      <a:r>
                        <a:rPr lang="en-SG" sz="1200" b="0" u="none" strike="noStrike">
                          <a:solidFill>
                            <a:schemeClr val="tx1"/>
                          </a:solidFill>
                          <a:effectLst/>
                        </a:rPr>
                        <a:t>Weekday</a:t>
                      </a:r>
                      <a:endParaRPr lang="en-SG" sz="1200" b="0" i="0" u="none" strike="noStrike">
                        <a:solidFill>
                          <a:schemeClr val="tx1"/>
                        </a:solidFill>
                        <a:effectLst/>
                        <a:latin typeface=""/>
                      </a:endParaRPr>
                    </a:p>
                  </a:txBody>
                  <a:tcPr marL="9525" marR="9525" marT="9525" marB="0" anchor="b"/>
                </a:tc>
                <a:tc>
                  <a:txBody>
                    <a:bodyPr/>
                    <a:lstStyle/>
                    <a:p>
                      <a:pPr algn="l" fontAlgn="b">
                        <a:buNone/>
                      </a:pPr>
                      <a:r>
                        <a:rPr lang="en-SG" sz="1200" b="0" u="none" strike="noStrike">
                          <a:solidFill>
                            <a:schemeClr val="tx1"/>
                          </a:solidFill>
                          <a:effectLst/>
                        </a:rPr>
                        <a:t>Weekend</a:t>
                      </a:r>
                      <a:endParaRPr lang="en-SG" sz="1200" b="0" i="0" u="none" strike="noStrike">
                        <a:solidFill>
                          <a:schemeClr val="tx1"/>
                        </a:solidFill>
                        <a:effectLst/>
                        <a:latin typeface=""/>
                      </a:endParaRPr>
                    </a:p>
                  </a:txBody>
                  <a:tcPr marL="9525" marR="9525" marT="9525" marB="0" anchor="b"/>
                </a:tc>
                <a:extLst>
                  <a:ext uri="{0D108BD9-81ED-4DB2-BD59-A6C34878D82A}">
                    <a16:rowId xmlns:a16="http://schemas.microsoft.com/office/drawing/2014/main" val="2103623560"/>
                  </a:ext>
                </a:extLst>
              </a:tr>
              <a:tr h="232024">
                <a:tc>
                  <a:txBody>
                    <a:bodyPr/>
                    <a:lstStyle/>
                    <a:p>
                      <a:pPr algn="l" fontAlgn="b">
                        <a:buNone/>
                      </a:pPr>
                      <a:r>
                        <a:rPr lang="en-SG" sz="1200" b="0" u="none" strike="noStrike" dirty="0">
                          <a:solidFill>
                            <a:schemeClr val="tx1"/>
                          </a:solidFill>
                          <a:effectLst/>
                        </a:rPr>
                        <a:t>Cancelled Nights</a:t>
                      </a:r>
                      <a:endParaRPr lang="en-SG" sz="1200" b="0" i="0" u="none" strike="noStrike" dirty="0">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74%</a:t>
                      </a:r>
                      <a:endParaRPr lang="en-SG" sz="1200" b="0" i="0" u="none" strike="noStrike" dirty="0">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26%</a:t>
                      </a:r>
                      <a:endParaRPr lang="en-SG" sz="1200" b="0" i="0" u="none" strike="noStrike" dirty="0">
                        <a:solidFill>
                          <a:schemeClr val="tx1"/>
                        </a:solidFill>
                        <a:effectLst/>
                        <a:latin typeface=""/>
                      </a:endParaRPr>
                    </a:p>
                  </a:txBody>
                  <a:tcPr marL="9525" marR="9525" marT="9525" marB="0" anchor="ctr"/>
                </a:tc>
                <a:extLst>
                  <a:ext uri="{0D108BD9-81ED-4DB2-BD59-A6C34878D82A}">
                    <a16:rowId xmlns:a16="http://schemas.microsoft.com/office/drawing/2014/main" val="2417510055"/>
                  </a:ext>
                </a:extLst>
              </a:tr>
              <a:tr h="250009">
                <a:tc>
                  <a:txBody>
                    <a:bodyPr/>
                    <a:lstStyle/>
                    <a:p>
                      <a:pPr algn="l" fontAlgn="b">
                        <a:buNone/>
                      </a:pPr>
                      <a:r>
                        <a:rPr lang="en-SG" sz="1200" b="0" u="none" strike="noStrike">
                          <a:solidFill>
                            <a:schemeClr val="tx1"/>
                          </a:solidFill>
                          <a:effectLst/>
                        </a:rPr>
                        <a:t>Non-Cancelled Nights</a:t>
                      </a:r>
                      <a:endParaRPr lang="en-SG" sz="1200" b="0" i="0" u="none" strike="noStrike">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73%</a:t>
                      </a:r>
                      <a:endParaRPr lang="en-SG" sz="1200" b="0" i="0" u="none" strike="noStrike" dirty="0">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27%</a:t>
                      </a:r>
                      <a:endParaRPr lang="en-SG" sz="1200" b="0" i="0" u="none" strike="noStrike" dirty="0">
                        <a:solidFill>
                          <a:schemeClr val="tx1"/>
                        </a:solidFill>
                        <a:effectLst/>
                        <a:latin typeface=""/>
                      </a:endParaRPr>
                    </a:p>
                  </a:txBody>
                  <a:tcPr marL="9525" marR="9525" marT="9525" marB="0" anchor="ctr"/>
                </a:tc>
                <a:extLst>
                  <a:ext uri="{0D108BD9-81ED-4DB2-BD59-A6C34878D82A}">
                    <a16:rowId xmlns:a16="http://schemas.microsoft.com/office/drawing/2014/main" val="2409894537"/>
                  </a:ext>
                </a:extLst>
              </a:tr>
            </a:tbl>
          </a:graphicData>
        </a:graphic>
      </p:graphicFrame>
      <p:graphicFrame>
        <p:nvGraphicFramePr>
          <p:cNvPr id="11" name="Table 10">
            <a:extLst>
              <a:ext uri="{FF2B5EF4-FFF2-40B4-BE49-F238E27FC236}">
                <a16:creationId xmlns:a16="http://schemas.microsoft.com/office/drawing/2014/main" id="{23DADB1F-8FBD-1407-3ACE-30A16ED8CDF5}"/>
              </a:ext>
            </a:extLst>
          </p:cNvPr>
          <p:cNvGraphicFramePr>
            <a:graphicFrameLocks noGrp="1"/>
          </p:cNvGraphicFramePr>
          <p:nvPr>
            <p:extLst>
              <p:ext uri="{D42A27DB-BD31-4B8C-83A1-F6EECF244321}">
                <p14:modId xmlns:p14="http://schemas.microsoft.com/office/powerpoint/2010/main" val="2334741162"/>
              </p:ext>
            </p:extLst>
          </p:nvPr>
        </p:nvGraphicFramePr>
        <p:xfrm>
          <a:off x="8656567" y="4472117"/>
          <a:ext cx="3069308" cy="1371600"/>
        </p:xfrm>
        <a:graphic>
          <a:graphicData uri="http://schemas.openxmlformats.org/drawingml/2006/table">
            <a:tbl>
              <a:tblPr firstRow="1" bandRow="1">
                <a:tableStyleId>{9D7B26C5-4107-4FEC-AEDC-1716B250A1EF}</a:tableStyleId>
              </a:tblPr>
              <a:tblGrid>
                <a:gridCol w="1479047">
                  <a:extLst>
                    <a:ext uri="{9D8B030D-6E8A-4147-A177-3AD203B41FA5}">
                      <a16:colId xmlns:a16="http://schemas.microsoft.com/office/drawing/2014/main" val="2076941594"/>
                    </a:ext>
                  </a:extLst>
                </a:gridCol>
                <a:gridCol w="1590261">
                  <a:extLst>
                    <a:ext uri="{9D8B030D-6E8A-4147-A177-3AD203B41FA5}">
                      <a16:colId xmlns:a16="http://schemas.microsoft.com/office/drawing/2014/main" val="718078368"/>
                    </a:ext>
                  </a:extLst>
                </a:gridCol>
              </a:tblGrid>
              <a:tr h="271410">
                <a:tc>
                  <a:txBody>
                    <a:bodyPr/>
                    <a:lstStyle/>
                    <a:p>
                      <a:pPr>
                        <a:buNone/>
                      </a:pPr>
                      <a:r>
                        <a:rPr lang="en-SG" sz="1200"/>
                        <a:t>Nights</a:t>
                      </a:r>
                    </a:p>
                  </a:txBody>
                  <a:tcPr anchor="ctr"/>
                </a:tc>
                <a:tc>
                  <a:txBody>
                    <a:bodyPr/>
                    <a:lstStyle/>
                    <a:p>
                      <a:pPr>
                        <a:buNone/>
                      </a:pPr>
                      <a:r>
                        <a:rPr lang="en-SG" sz="1200" dirty="0"/>
                        <a:t>Cancel Rate</a:t>
                      </a:r>
                    </a:p>
                  </a:txBody>
                  <a:tcPr anchor="ctr"/>
                </a:tc>
                <a:extLst>
                  <a:ext uri="{0D108BD9-81ED-4DB2-BD59-A6C34878D82A}">
                    <a16:rowId xmlns:a16="http://schemas.microsoft.com/office/drawing/2014/main" val="3582163111"/>
                  </a:ext>
                </a:extLst>
              </a:tr>
              <a:tr h="271410">
                <a:tc>
                  <a:txBody>
                    <a:bodyPr/>
                    <a:lstStyle/>
                    <a:p>
                      <a:pPr>
                        <a:buNone/>
                      </a:pPr>
                      <a:r>
                        <a:rPr lang="en-SG" sz="1200"/>
                        <a:t>1-3</a:t>
                      </a:r>
                    </a:p>
                  </a:txBody>
                  <a:tcPr anchor="ctr"/>
                </a:tc>
                <a:tc>
                  <a:txBody>
                    <a:bodyPr/>
                    <a:lstStyle/>
                    <a:p>
                      <a:pPr>
                        <a:buNone/>
                      </a:pPr>
                      <a:r>
                        <a:rPr lang="en-SG" sz="1200" dirty="0"/>
                        <a:t>43%</a:t>
                      </a:r>
                    </a:p>
                  </a:txBody>
                  <a:tcPr anchor="ctr"/>
                </a:tc>
                <a:extLst>
                  <a:ext uri="{0D108BD9-81ED-4DB2-BD59-A6C34878D82A}">
                    <a16:rowId xmlns:a16="http://schemas.microsoft.com/office/drawing/2014/main" val="1252598221"/>
                  </a:ext>
                </a:extLst>
              </a:tr>
              <a:tr h="271410">
                <a:tc>
                  <a:txBody>
                    <a:bodyPr/>
                    <a:lstStyle/>
                    <a:p>
                      <a:pPr>
                        <a:buNone/>
                      </a:pPr>
                      <a:r>
                        <a:rPr lang="en-SG" sz="1200"/>
                        <a:t>4-7</a:t>
                      </a:r>
                    </a:p>
                  </a:txBody>
                  <a:tcPr anchor="ctr"/>
                </a:tc>
                <a:tc>
                  <a:txBody>
                    <a:bodyPr/>
                    <a:lstStyle/>
                    <a:p>
                      <a:pPr>
                        <a:buNone/>
                      </a:pPr>
                      <a:r>
                        <a:rPr lang="en-SG" sz="1200" dirty="0"/>
                        <a:t>38%</a:t>
                      </a:r>
                    </a:p>
                  </a:txBody>
                  <a:tcPr anchor="ctr"/>
                </a:tc>
                <a:extLst>
                  <a:ext uri="{0D108BD9-81ED-4DB2-BD59-A6C34878D82A}">
                    <a16:rowId xmlns:a16="http://schemas.microsoft.com/office/drawing/2014/main" val="3701258738"/>
                  </a:ext>
                </a:extLst>
              </a:tr>
              <a:tr h="271410">
                <a:tc>
                  <a:txBody>
                    <a:bodyPr/>
                    <a:lstStyle/>
                    <a:p>
                      <a:pPr>
                        <a:buNone/>
                      </a:pPr>
                      <a:r>
                        <a:rPr lang="en-SG" sz="1200"/>
                        <a:t>8-14</a:t>
                      </a:r>
                    </a:p>
                  </a:txBody>
                  <a:tcPr anchor="ctr"/>
                </a:tc>
                <a:tc>
                  <a:txBody>
                    <a:bodyPr/>
                    <a:lstStyle/>
                    <a:p>
                      <a:pPr>
                        <a:buNone/>
                      </a:pPr>
                      <a:r>
                        <a:rPr lang="en-SG" sz="1200"/>
                        <a:t>51%</a:t>
                      </a:r>
                    </a:p>
                  </a:txBody>
                  <a:tcPr anchor="ctr"/>
                </a:tc>
                <a:extLst>
                  <a:ext uri="{0D108BD9-81ED-4DB2-BD59-A6C34878D82A}">
                    <a16:rowId xmlns:a16="http://schemas.microsoft.com/office/drawing/2014/main" val="2782997743"/>
                  </a:ext>
                </a:extLst>
              </a:tr>
              <a:tr h="271410">
                <a:tc>
                  <a:txBody>
                    <a:bodyPr/>
                    <a:lstStyle/>
                    <a:p>
                      <a:pPr>
                        <a:buNone/>
                      </a:pPr>
                      <a:r>
                        <a:rPr lang="en-SG" sz="1200"/>
                        <a:t>15+</a:t>
                      </a:r>
                    </a:p>
                  </a:txBody>
                  <a:tcPr anchor="ctr"/>
                </a:tc>
                <a:tc>
                  <a:txBody>
                    <a:bodyPr/>
                    <a:lstStyle/>
                    <a:p>
                      <a:pPr>
                        <a:buNone/>
                      </a:pPr>
                      <a:r>
                        <a:rPr lang="en-SG" sz="1200" dirty="0"/>
                        <a:t>73%</a:t>
                      </a:r>
                    </a:p>
                  </a:txBody>
                  <a:tcPr anchor="ctr"/>
                </a:tc>
                <a:extLst>
                  <a:ext uri="{0D108BD9-81ED-4DB2-BD59-A6C34878D82A}">
                    <a16:rowId xmlns:a16="http://schemas.microsoft.com/office/drawing/2014/main" val="578215008"/>
                  </a:ext>
                </a:extLst>
              </a:tr>
            </a:tbl>
          </a:graphicData>
        </a:graphic>
      </p:graphicFrame>
    </p:spTree>
    <p:extLst>
      <p:ext uri="{BB962C8B-B14F-4D97-AF65-F5344CB8AC3E}">
        <p14:creationId xmlns:p14="http://schemas.microsoft.com/office/powerpoint/2010/main" val="2301710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3B5049BC-557F-1948-0AF6-07E71EF3ED7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302968-466C-2C5C-F7EE-BA56C4679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EEE8EC1-A69A-5075-1D8B-F294740AFE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5970065-D335-2D5E-4AF4-4C39E6EBCD4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EEF3CE60-097E-B69C-3D63-5C683A0C59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0E60DD72-35A3-B00F-D0AE-D004CDB1A1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E46BFF04-874B-1078-5491-45B30B238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BB7C355-C76A-7467-E9E5-00E07C7D3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25AB9B44-3148-4A19-5B56-2524DF0894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271BDE50-53E9-F959-5FB7-B162010B8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43C4BA15-533A-B7E4-D732-5AC91D1EAE61}"/>
              </a:ext>
            </a:extLst>
          </p:cNvPr>
          <p:cNvGraphicFramePr>
            <a:graphicFrameLocks noGrp="1"/>
          </p:cNvGraphicFramePr>
          <p:nvPr>
            <p:extLst>
              <p:ext uri="{D42A27DB-BD31-4B8C-83A1-F6EECF244321}">
                <p14:modId xmlns:p14="http://schemas.microsoft.com/office/powerpoint/2010/main" val="2358593843"/>
              </p:ext>
            </p:extLst>
          </p:nvPr>
        </p:nvGraphicFramePr>
        <p:xfrm>
          <a:off x="1155791" y="872121"/>
          <a:ext cx="4453472" cy="3989680"/>
        </p:xfrm>
        <a:graphic>
          <a:graphicData uri="http://schemas.openxmlformats.org/drawingml/2006/table">
            <a:tbl>
              <a:tblPr firstRow="1" bandRow="1">
                <a:noFill/>
              </a:tblPr>
              <a:tblGrid>
                <a:gridCol w="1307195">
                  <a:extLst>
                    <a:ext uri="{9D8B030D-6E8A-4147-A177-3AD203B41FA5}">
                      <a16:colId xmlns:a16="http://schemas.microsoft.com/office/drawing/2014/main" val="3411198682"/>
                    </a:ext>
                  </a:extLst>
                </a:gridCol>
                <a:gridCol w="1579691">
                  <a:extLst>
                    <a:ext uri="{9D8B030D-6E8A-4147-A177-3AD203B41FA5}">
                      <a16:colId xmlns:a16="http://schemas.microsoft.com/office/drawing/2014/main" val="1049074995"/>
                    </a:ext>
                  </a:extLst>
                </a:gridCol>
                <a:gridCol w="1566586">
                  <a:extLst>
                    <a:ext uri="{9D8B030D-6E8A-4147-A177-3AD203B41FA5}">
                      <a16:colId xmlns:a16="http://schemas.microsoft.com/office/drawing/2014/main" val="1797853615"/>
                    </a:ext>
                  </a:extLst>
                </a:gridCol>
              </a:tblGrid>
              <a:tr h="350934">
                <a:tc>
                  <a:txBody>
                    <a:bodyPr/>
                    <a:lstStyle/>
                    <a:p>
                      <a:pPr algn="ctr" fontAlgn="b">
                        <a:buNone/>
                      </a:pPr>
                      <a:r>
                        <a:rPr lang="en-SG" sz="1200" b="1" i="0" u="none" strike="noStrike">
                          <a:solidFill>
                            <a:schemeClr val="tx1">
                              <a:lumMod val="75000"/>
                              <a:lumOff val="25000"/>
                            </a:schemeClr>
                          </a:solidFill>
                          <a:effectLst/>
                          <a:latin typeface="Aptos Narrow" panose="020B0004020202020204" pitchFamily="34" charset="0"/>
                        </a:rPr>
                        <a:t>Adr Value</a:t>
                      </a:r>
                    </a:p>
                  </a:txBody>
                  <a:tcPr marL="216089" marR="11255" marT="108044" marB="108044" anchor="b">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ctr" fontAlgn="b">
                        <a:buNone/>
                      </a:pPr>
                      <a:r>
                        <a:rPr lang="en-SG" sz="1200" b="1" i="0" u="none" strike="noStrike">
                          <a:solidFill>
                            <a:schemeClr val="tx1">
                              <a:lumMod val="75000"/>
                              <a:lumOff val="25000"/>
                            </a:schemeClr>
                          </a:solidFill>
                          <a:effectLst/>
                          <a:latin typeface="Aptos Narrow" panose="020B0004020202020204" pitchFamily="34" charset="0"/>
                        </a:rPr>
                        <a:t>Canceled</a:t>
                      </a:r>
                    </a:p>
                  </a:txBody>
                  <a:tcPr marL="216089" marR="11255" marT="108044" marB="108044" anchor="b">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ctr" fontAlgn="b">
                        <a:buNone/>
                      </a:pPr>
                      <a:r>
                        <a:rPr lang="en-SG" sz="1200" b="1" i="0" u="none" strike="noStrike">
                          <a:solidFill>
                            <a:schemeClr val="tx1">
                              <a:lumMod val="75000"/>
                              <a:lumOff val="25000"/>
                            </a:schemeClr>
                          </a:solidFill>
                          <a:effectLst/>
                          <a:latin typeface="Aptos Narrow" panose="020B0004020202020204" pitchFamily="34" charset="0"/>
                        </a:rPr>
                        <a:t>Non Canceled</a:t>
                      </a:r>
                    </a:p>
                  </a:txBody>
                  <a:tcPr marL="216089" marR="11255" marT="108044" marB="108044" anchor="b">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1976496325"/>
                  </a:ext>
                </a:extLst>
              </a:tr>
              <a:tr h="350934">
                <a:tc>
                  <a:txBody>
                    <a:bodyPr/>
                    <a:lstStyle/>
                    <a:p>
                      <a:pPr algn="l" fontAlgn="b">
                        <a:buNone/>
                      </a:pPr>
                      <a:r>
                        <a:rPr lang="en-SG" sz="1200" b="0" i="0" u="none" strike="noStrike">
                          <a:solidFill>
                            <a:schemeClr val="tx1">
                              <a:lumMod val="75000"/>
                              <a:lumOff val="25000"/>
                            </a:schemeClr>
                          </a:solidFill>
                          <a:effectLst/>
                          <a:latin typeface="Aptos Narrow" panose="020B0004020202020204" pitchFamily="34" charset="0"/>
                        </a:rPr>
                        <a:t>Mean</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102.61</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r" fontAlgn="b">
                        <a:buNone/>
                      </a:pPr>
                      <a:r>
                        <a:rPr lang="en-SG" sz="1200" b="0" i="0" u="none" strike="noStrike" dirty="0">
                          <a:solidFill>
                            <a:schemeClr val="tx1">
                              <a:lumMod val="75000"/>
                              <a:lumOff val="25000"/>
                            </a:schemeClr>
                          </a:solidFill>
                          <a:effectLst/>
                          <a:latin typeface="Aptos Narrow" panose="020B0004020202020204" pitchFamily="34" charset="0"/>
                        </a:rPr>
                        <a:t>103.27</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031261104"/>
                  </a:ext>
                </a:extLst>
              </a:tr>
              <a:tr h="350934">
                <a:tc>
                  <a:txBody>
                    <a:bodyPr/>
                    <a:lstStyle/>
                    <a:p>
                      <a:pPr algn="l" fontAlgn="b">
                        <a:buNone/>
                      </a:pPr>
                      <a:r>
                        <a:rPr lang="en-SG" sz="1200" b="0" i="0" u="none" strike="noStrike">
                          <a:solidFill>
                            <a:schemeClr val="tx1">
                              <a:lumMod val="75000"/>
                              <a:lumOff val="25000"/>
                            </a:schemeClr>
                          </a:solidFill>
                          <a:effectLst/>
                          <a:latin typeface="Aptos Narrow" panose="020B0004020202020204" pitchFamily="34" charset="0"/>
                        </a:rPr>
                        <a:t>Max</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r" fontAlgn="b">
                        <a:buNone/>
                      </a:pPr>
                      <a:r>
                        <a:rPr lang="en-SG" sz="1200" b="0" i="0" u="none" strike="noStrike" dirty="0">
                          <a:solidFill>
                            <a:schemeClr val="tx1">
                              <a:lumMod val="75000"/>
                              <a:lumOff val="25000"/>
                            </a:schemeClr>
                          </a:solidFill>
                          <a:effectLst/>
                          <a:latin typeface="Aptos Narrow" panose="020B0004020202020204" pitchFamily="34" charset="0"/>
                        </a:rPr>
                        <a:t>211.00</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211.00</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169252282"/>
                  </a:ext>
                </a:extLst>
              </a:tr>
              <a:tr h="350934">
                <a:tc>
                  <a:txBody>
                    <a:bodyPr/>
                    <a:lstStyle/>
                    <a:p>
                      <a:pPr algn="l" fontAlgn="b">
                        <a:buNone/>
                      </a:pPr>
                      <a:r>
                        <a:rPr lang="en-SG" sz="1200" b="0" i="0" u="none" strike="noStrike">
                          <a:solidFill>
                            <a:schemeClr val="tx1">
                              <a:lumMod val="75000"/>
                              <a:lumOff val="25000"/>
                            </a:schemeClr>
                          </a:solidFill>
                          <a:effectLst/>
                          <a:latin typeface="Aptos Narrow" panose="020B0004020202020204" pitchFamily="34" charset="0"/>
                        </a:rPr>
                        <a:t>Min</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0.00</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r" fontAlgn="b">
                        <a:buNone/>
                      </a:pPr>
                      <a:r>
                        <a:rPr lang="en-SG" sz="1200" b="0" i="0" u="none" strike="noStrike" dirty="0">
                          <a:solidFill>
                            <a:schemeClr val="tx1">
                              <a:lumMod val="75000"/>
                              <a:lumOff val="25000"/>
                            </a:schemeClr>
                          </a:solidFill>
                          <a:effectLst/>
                          <a:latin typeface="Aptos Narrow" panose="020B0004020202020204" pitchFamily="34" charset="0"/>
                        </a:rPr>
                        <a:t>0.00</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681326358"/>
                  </a:ext>
                </a:extLst>
              </a:tr>
              <a:tr h="350934">
                <a:tc>
                  <a:txBody>
                    <a:bodyPr/>
                    <a:lstStyle/>
                    <a:p>
                      <a:pPr algn="l" fontAlgn="b">
                        <a:buNone/>
                      </a:pPr>
                      <a:r>
                        <a:rPr lang="en-SG" sz="1200" b="0" i="0" u="none" strike="noStrike">
                          <a:solidFill>
                            <a:schemeClr val="tx1">
                              <a:lumMod val="75000"/>
                              <a:lumOff val="25000"/>
                            </a:schemeClr>
                          </a:solidFill>
                          <a:effectLst/>
                          <a:latin typeface="Aptos Narrow" panose="020B0004020202020204" pitchFamily="34" charset="0"/>
                        </a:rPr>
                        <a:t>Range</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211.00</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211.00</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188932695"/>
                  </a:ext>
                </a:extLst>
              </a:tr>
              <a:tr h="350934">
                <a:tc>
                  <a:txBody>
                    <a:bodyPr/>
                    <a:lstStyle/>
                    <a:p>
                      <a:pPr algn="l" fontAlgn="b">
                        <a:buNone/>
                      </a:pPr>
                      <a:r>
                        <a:rPr lang="en-SG" sz="1200" b="0" i="0" u="none" strike="noStrike">
                          <a:solidFill>
                            <a:schemeClr val="tx1">
                              <a:lumMod val="75000"/>
                              <a:lumOff val="25000"/>
                            </a:schemeClr>
                          </a:solidFill>
                          <a:effectLst/>
                          <a:latin typeface="Aptos Narrow" panose="020B0004020202020204" pitchFamily="34" charset="0"/>
                        </a:rPr>
                        <a:t>Mode</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62.00</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65.00</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637933143"/>
                  </a:ext>
                </a:extLst>
              </a:tr>
              <a:tr h="350934">
                <a:tc>
                  <a:txBody>
                    <a:bodyPr/>
                    <a:lstStyle/>
                    <a:p>
                      <a:pPr algn="l" fontAlgn="b">
                        <a:buNone/>
                      </a:pPr>
                      <a:r>
                        <a:rPr lang="en-SG" sz="1200" b="0" i="0" u="none" strike="noStrike">
                          <a:solidFill>
                            <a:schemeClr val="tx1">
                              <a:lumMod val="75000"/>
                              <a:lumOff val="25000"/>
                            </a:schemeClr>
                          </a:solidFill>
                          <a:effectLst/>
                          <a:latin typeface="Aptos Narrow" panose="020B0004020202020204" pitchFamily="34" charset="0"/>
                        </a:rPr>
                        <a:t>Median</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99.00</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r" fontAlgn="b">
                        <a:buNone/>
                      </a:pPr>
                      <a:r>
                        <a:rPr lang="en-SG" sz="1200" b="0" i="0" u="none" strike="noStrike" dirty="0">
                          <a:solidFill>
                            <a:schemeClr val="tx1">
                              <a:lumMod val="75000"/>
                              <a:lumOff val="25000"/>
                            </a:schemeClr>
                          </a:solidFill>
                          <a:effectLst/>
                          <a:latin typeface="Aptos Narrow" panose="020B0004020202020204" pitchFamily="34" charset="0"/>
                        </a:rPr>
                        <a:t>99.00</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468438235"/>
                  </a:ext>
                </a:extLst>
              </a:tr>
              <a:tr h="350934">
                <a:tc>
                  <a:txBody>
                    <a:bodyPr/>
                    <a:lstStyle/>
                    <a:p>
                      <a:pPr algn="l" fontAlgn="b">
                        <a:buNone/>
                      </a:pPr>
                      <a:r>
                        <a:rPr lang="en-SG" sz="1200" b="0" i="0" u="none" strike="noStrike">
                          <a:solidFill>
                            <a:schemeClr val="tx1">
                              <a:lumMod val="75000"/>
                              <a:lumOff val="25000"/>
                            </a:schemeClr>
                          </a:solidFill>
                          <a:effectLst/>
                          <a:latin typeface="Aptos Narrow" panose="020B0004020202020204" pitchFamily="34" charset="0"/>
                        </a:rPr>
                        <a:t>Var</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1,141.49</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1,329.92</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847452718"/>
                  </a:ext>
                </a:extLst>
              </a:tr>
              <a:tr h="350934">
                <a:tc>
                  <a:txBody>
                    <a:bodyPr/>
                    <a:lstStyle/>
                    <a:p>
                      <a:pPr algn="l" fontAlgn="b">
                        <a:buNone/>
                      </a:pPr>
                      <a:r>
                        <a:rPr lang="en-SG" sz="1200" b="0" i="0" u="none" strike="noStrike">
                          <a:solidFill>
                            <a:schemeClr val="tx1">
                              <a:lumMod val="75000"/>
                              <a:lumOff val="25000"/>
                            </a:schemeClr>
                          </a:solidFill>
                          <a:effectLst/>
                          <a:latin typeface="Aptos Narrow" panose="020B0004020202020204" pitchFamily="34" charset="0"/>
                        </a:rPr>
                        <a:t>STD</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33.79</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36.47</a:t>
                      </a:r>
                    </a:p>
                  </a:txBody>
                  <a:tcPr marL="216089" marR="11255" marT="108044" marB="108044" anchor="b">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578081580"/>
                  </a:ext>
                </a:extLst>
              </a:tr>
              <a:tr h="350934">
                <a:tc>
                  <a:txBody>
                    <a:bodyPr/>
                    <a:lstStyle/>
                    <a:p>
                      <a:pPr algn="l" fontAlgn="b">
                        <a:buNone/>
                      </a:pPr>
                      <a:r>
                        <a:rPr lang="en-SG" sz="1200" b="0" i="0" u="none" strike="noStrike">
                          <a:solidFill>
                            <a:schemeClr val="tx1">
                              <a:lumMod val="75000"/>
                              <a:lumOff val="25000"/>
                            </a:schemeClr>
                          </a:solidFill>
                          <a:effectLst/>
                          <a:latin typeface="Aptos Narrow" panose="020B0004020202020204" pitchFamily="34" charset="0"/>
                        </a:rPr>
                        <a:t>CV</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r" fontAlgn="b">
                        <a:buNone/>
                      </a:pPr>
                      <a:r>
                        <a:rPr lang="en-SG" sz="1200" b="0" i="0" u="none" strike="noStrike">
                          <a:solidFill>
                            <a:schemeClr val="tx1">
                              <a:lumMod val="75000"/>
                              <a:lumOff val="25000"/>
                            </a:schemeClr>
                          </a:solidFill>
                          <a:effectLst/>
                          <a:latin typeface="Aptos Narrow" panose="020B0004020202020204" pitchFamily="34" charset="0"/>
                        </a:rPr>
                        <a:t>0.33</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r" fontAlgn="b">
                        <a:buNone/>
                      </a:pPr>
                      <a:r>
                        <a:rPr lang="en-SG" sz="1200" b="0" i="0" u="none" strike="noStrike" dirty="0">
                          <a:solidFill>
                            <a:schemeClr val="tx1">
                              <a:lumMod val="75000"/>
                              <a:lumOff val="25000"/>
                            </a:schemeClr>
                          </a:solidFill>
                          <a:effectLst/>
                          <a:latin typeface="Aptos Narrow" panose="020B0004020202020204" pitchFamily="34" charset="0"/>
                        </a:rPr>
                        <a:t>0.35</a:t>
                      </a:r>
                    </a:p>
                  </a:txBody>
                  <a:tcPr marL="216089" marR="11255" marT="108044" marB="108044" anchor="b">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064902247"/>
                  </a:ext>
                </a:extLst>
              </a:tr>
            </a:tbl>
          </a:graphicData>
        </a:graphic>
      </p:graphicFrame>
      <p:sp>
        <p:nvSpPr>
          <p:cNvPr id="3" name="Title 1">
            <a:extLst>
              <a:ext uri="{FF2B5EF4-FFF2-40B4-BE49-F238E27FC236}">
                <a16:creationId xmlns:a16="http://schemas.microsoft.com/office/drawing/2014/main" id="{50FC4A0C-70F0-33FE-CD20-589CBD8A3471}"/>
              </a:ext>
            </a:extLst>
          </p:cNvPr>
          <p:cNvSpPr txBox="1">
            <a:spLocks/>
          </p:cNvSpPr>
          <p:nvPr/>
        </p:nvSpPr>
        <p:spPr>
          <a:xfrm>
            <a:off x="994279" y="223754"/>
            <a:ext cx="9396630"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ADR (Average Daily Range) Analysis</a:t>
            </a:r>
          </a:p>
        </p:txBody>
      </p:sp>
      <p:sp>
        <p:nvSpPr>
          <p:cNvPr id="7" name="TextBox 6">
            <a:extLst>
              <a:ext uri="{FF2B5EF4-FFF2-40B4-BE49-F238E27FC236}">
                <a16:creationId xmlns:a16="http://schemas.microsoft.com/office/drawing/2014/main" id="{9DD62704-5911-C18D-8D9B-CE615ADFB014}"/>
              </a:ext>
            </a:extLst>
          </p:cNvPr>
          <p:cNvSpPr txBox="1"/>
          <p:nvPr/>
        </p:nvSpPr>
        <p:spPr>
          <a:xfrm>
            <a:off x="1269211" y="5171750"/>
            <a:ext cx="9703589" cy="1333507"/>
          </a:xfrm>
          <a:prstGeom prst="rect">
            <a:avLst/>
          </a:prstGeom>
          <a:noFill/>
        </p:spPr>
        <p:txBody>
          <a:bodyPr wrap="square">
            <a:spAutoFit/>
          </a:bodyPr>
          <a:lstStyle/>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Means are almost identical.</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High and low priced customers cancel similarly. </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ADR itself does not explain cancellation.</a:t>
            </a:r>
          </a:p>
          <a:p>
            <a:pPr marL="285750" indent="-285750" defTabSz="914400">
              <a:lnSpc>
                <a:spcPct val="120000"/>
              </a:lnSpc>
              <a:spcAft>
                <a:spcPts val="600"/>
              </a:spcAft>
              <a:buClr>
                <a:schemeClr val="accent6"/>
              </a:buClr>
              <a:buSzPct val="90000"/>
              <a:buFont typeface="Arial" panose="020B0604020202020204" pitchFamily="34" charset="0"/>
              <a:buChar char="•"/>
            </a:pPr>
            <a:r>
              <a:rPr lang="en-US" sz="1400" dirty="0">
                <a:latin typeface="Arial" panose="020B0604020202020204" pitchFamily="34" charset="0"/>
                <a:cs typeface="Arial" panose="020B0604020202020204" pitchFamily="34" charset="0"/>
              </a:rPr>
              <a:t>Based on calculation of the monthly ADR, ADR range are going up on Q2 and Q3 and lower on Q1 and Q4.</a:t>
            </a:r>
          </a:p>
        </p:txBody>
      </p:sp>
      <p:graphicFrame>
        <p:nvGraphicFramePr>
          <p:cNvPr id="13" name="Chart 12">
            <a:extLst>
              <a:ext uri="{FF2B5EF4-FFF2-40B4-BE49-F238E27FC236}">
                <a16:creationId xmlns:a16="http://schemas.microsoft.com/office/drawing/2014/main" id="{919F0F24-24F6-F381-18EA-7E4D8CC960AF}"/>
              </a:ext>
            </a:extLst>
          </p:cNvPr>
          <p:cNvGraphicFramePr>
            <a:graphicFrameLocks/>
          </p:cNvGraphicFramePr>
          <p:nvPr>
            <p:extLst>
              <p:ext uri="{D42A27DB-BD31-4B8C-83A1-F6EECF244321}">
                <p14:modId xmlns:p14="http://schemas.microsoft.com/office/powerpoint/2010/main" val="285144694"/>
              </p:ext>
            </p:extLst>
          </p:nvPr>
        </p:nvGraphicFramePr>
        <p:xfrm>
          <a:off x="6162551" y="1055629"/>
          <a:ext cx="5369382" cy="355734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852673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B1341ECD-43C9-FD94-542A-5B0EDD2925C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9EAC6A7-F44E-F8C5-FE01-391FC773A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A25EA9A-2D86-912B-0E62-62586BA454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086A7FE-DE36-54AC-6320-15E9613449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8DDB9E26-E8BA-C1E2-F5DC-C868B1C7F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88AF2FD5-F719-4A34-5536-73B589807C9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7FF39774-3632-FA73-7B81-8A090159F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1C13301-0214-11B4-D838-D5D4A84F8D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42023E8E-075E-3D77-1192-988B8BF24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A74AD588-98C5-F048-7A53-3B413FE3D6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cx1="http://schemas.microsoft.com/office/drawing/2015/9/8/chartex">
        <mc:Choice Requires="cx1">
          <p:graphicFrame>
            <p:nvGraphicFramePr>
              <p:cNvPr id="2" name="Chart 1">
                <a:extLst>
                  <a:ext uri="{FF2B5EF4-FFF2-40B4-BE49-F238E27FC236}">
                    <a16:creationId xmlns:a16="http://schemas.microsoft.com/office/drawing/2014/main" id="{700D9CD8-AE02-BEF4-A680-5DC806004719}"/>
                  </a:ext>
                </a:extLst>
              </p:cNvPr>
              <p:cNvGraphicFramePr/>
              <p:nvPr>
                <p:extLst>
                  <p:ext uri="{D42A27DB-BD31-4B8C-83A1-F6EECF244321}">
                    <p14:modId xmlns:p14="http://schemas.microsoft.com/office/powerpoint/2010/main" val="2568446579"/>
                  </p:ext>
                </p:extLst>
              </p:nvPr>
            </p:nvGraphicFramePr>
            <p:xfrm>
              <a:off x="969042" y="805729"/>
              <a:ext cx="4947847" cy="3000957"/>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2" name="Chart 1">
                <a:extLst>
                  <a:ext uri="{FF2B5EF4-FFF2-40B4-BE49-F238E27FC236}">
                    <a16:creationId xmlns:a16="http://schemas.microsoft.com/office/drawing/2014/main" id="{700D9CD8-AE02-BEF4-A680-5DC806004719}"/>
                  </a:ext>
                </a:extLst>
              </p:cNvPr>
              <p:cNvPicPr>
                <a:picLocks noGrp="1" noRot="1" noChangeAspect="1" noMove="1" noResize="1" noEditPoints="1" noAdjustHandles="1" noChangeArrowheads="1" noChangeShapeType="1"/>
              </p:cNvPicPr>
              <p:nvPr/>
            </p:nvPicPr>
            <p:blipFill>
              <a:blip r:embed="rId6"/>
              <a:stretch>
                <a:fillRect/>
              </a:stretch>
            </p:blipFill>
            <p:spPr>
              <a:xfrm>
                <a:off x="969042" y="805729"/>
                <a:ext cx="4947847" cy="3000957"/>
              </a:xfrm>
              <a:prstGeom prst="rect">
                <a:avLst/>
              </a:prstGeom>
            </p:spPr>
          </p:pic>
        </mc:Fallback>
      </mc:AlternateContent>
      <p:sp>
        <p:nvSpPr>
          <p:cNvPr id="3" name="TextBox 2">
            <a:extLst>
              <a:ext uri="{FF2B5EF4-FFF2-40B4-BE49-F238E27FC236}">
                <a16:creationId xmlns:a16="http://schemas.microsoft.com/office/drawing/2014/main" id="{124A10C7-E724-A480-A4E7-9A84B725AAB4}"/>
              </a:ext>
            </a:extLst>
          </p:cNvPr>
          <p:cNvSpPr txBox="1"/>
          <p:nvPr/>
        </p:nvSpPr>
        <p:spPr>
          <a:xfrm>
            <a:off x="1224556" y="4852727"/>
            <a:ext cx="6298462" cy="1256562"/>
          </a:xfrm>
          <a:prstGeom prst="rect">
            <a:avLst/>
          </a:prstGeom>
          <a:noFill/>
        </p:spPr>
        <p:txBody>
          <a:bodyPr wrap="square" rtlCol="0">
            <a:spAutoFit/>
          </a:bodyPr>
          <a:lstStyle/>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Q2 and Q3 generate the most revenue. But Q2 also has very high cancellations.</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Q4 is worst in cancellation.</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Apply stricter booking rules in Q4 and Q2.</a:t>
            </a:r>
          </a:p>
        </p:txBody>
      </p:sp>
      <p:sp>
        <p:nvSpPr>
          <p:cNvPr id="5" name="Title 1">
            <a:extLst>
              <a:ext uri="{FF2B5EF4-FFF2-40B4-BE49-F238E27FC236}">
                <a16:creationId xmlns:a16="http://schemas.microsoft.com/office/drawing/2014/main" id="{2A4C393F-A295-102E-A36F-C2D8330D8D2D}"/>
              </a:ext>
            </a:extLst>
          </p:cNvPr>
          <p:cNvSpPr txBox="1">
            <a:spLocks/>
          </p:cNvSpPr>
          <p:nvPr/>
        </p:nvSpPr>
        <p:spPr>
          <a:xfrm>
            <a:off x="994279" y="223754"/>
            <a:ext cx="9396630"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Quarterly Trend Analysis</a:t>
            </a:r>
          </a:p>
        </p:txBody>
      </p:sp>
      <p:graphicFrame>
        <p:nvGraphicFramePr>
          <p:cNvPr id="6" name="Table 5">
            <a:extLst>
              <a:ext uri="{FF2B5EF4-FFF2-40B4-BE49-F238E27FC236}">
                <a16:creationId xmlns:a16="http://schemas.microsoft.com/office/drawing/2014/main" id="{3387B2AE-54A1-2737-30E9-9FE9A38CED59}"/>
              </a:ext>
            </a:extLst>
          </p:cNvPr>
          <p:cNvGraphicFramePr>
            <a:graphicFrameLocks noGrp="1"/>
          </p:cNvGraphicFramePr>
          <p:nvPr>
            <p:extLst>
              <p:ext uri="{D42A27DB-BD31-4B8C-83A1-F6EECF244321}">
                <p14:modId xmlns:p14="http://schemas.microsoft.com/office/powerpoint/2010/main" val="3085001548"/>
              </p:ext>
            </p:extLst>
          </p:nvPr>
        </p:nvGraphicFramePr>
        <p:xfrm>
          <a:off x="7697883" y="4099318"/>
          <a:ext cx="4074691" cy="2415684"/>
        </p:xfrm>
        <a:graphic>
          <a:graphicData uri="http://schemas.openxmlformats.org/drawingml/2006/table">
            <a:tbl>
              <a:tblPr firstRow="1" bandRow="1">
                <a:tableStyleId>{9D7B26C5-4107-4FEC-AEDC-1716B250A1EF}</a:tableStyleId>
              </a:tblPr>
              <a:tblGrid>
                <a:gridCol w="1119762">
                  <a:extLst>
                    <a:ext uri="{9D8B030D-6E8A-4147-A177-3AD203B41FA5}">
                      <a16:colId xmlns:a16="http://schemas.microsoft.com/office/drawing/2014/main" val="272359299"/>
                    </a:ext>
                  </a:extLst>
                </a:gridCol>
                <a:gridCol w="943504">
                  <a:extLst>
                    <a:ext uri="{9D8B030D-6E8A-4147-A177-3AD203B41FA5}">
                      <a16:colId xmlns:a16="http://schemas.microsoft.com/office/drawing/2014/main" val="1857597619"/>
                    </a:ext>
                  </a:extLst>
                </a:gridCol>
                <a:gridCol w="1192340">
                  <a:extLst>
                    <a:ext uri="{9D8B030D-6E8A-4147-A177-3AD203B41FA5}">
                      <a16:colId xmlns:a16="http://schemas.microsoft.com/office/drawing/2014/main" val="1154046738"/>
                    </a:ext>
                  </a:extLst>
                </a:gridCol>
                <a:gridCol w="819085">
                  <a:extLst>
                    <a:ext uri="{9D8B030D-6E8A-4147-A177-3AD203B41FA5}">
                      <a16:colId xmlns:a16="http://schemas.microsoft.com/office/drawing/2014/main" val="2244127158"/>
                    </a:ext>
                  </a:extLst>
                </a:gridCol>
              </a:tblGrid>
              <a:tr h="763052">
                <a:tc>
                  <a:txBody>
                    <a:bodyPr/>
                    <a:lstStyle/>
                    <a:p>
                      <a:pPr algn="ctr" fontAlgn="b">
                        <a:buNone/>
                      </a:pPr>
                      <a:r>
                        <a:rPr lang="en-SG" sz="1200" b="0" u="none" strike="noStrike">
                          <a:solidFill>
                            <a:schemeClr val="tx1"/>
                          </a:solidFill>
                          <a:effectLst/>
                        </a:rPr>
                        <a:t>Cancelled Transaction %</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2015</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dirty="0">
                          <a:solidFill>
                            <a:schemeClr val="tx1"/>
                          </a:solidFill>
                          <a:effectLst/>
                        </a:rPr>
                        <a:t>2016</a:t>
                      </a:r>
                      <a:endParaRPr lang="en-SG" sz="1200" b="0" i="0" u="none" strike="noStrike" dirty="0">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dirty="0">
                          <a:solidFill>
                            <a:schemeClr val="tx1"/>
                          </a:solidFill>
                          <a:effectLst/>
                        </a:rPr>
                        <a:t>2017</a:t>
                      </a:r>
                      <a:endParaRPr lang="en-SG" sz="1200" b="0" i="0" u="none" strike="noStrike" dirty="0">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301189973"/>
                  </a:ext>
                </a:extLst>
              </a:tr>
              <a:tr h="413158">
                <a:tc>
                  <a:txBody>
                    <a:bodyPr/>
                    <a:lstStyle/>
                    <a:p>
                      <a:pPr algn="ctr" fontAlgn="b">
                        <a:buNone/>
                      </a:pPr>
                      <a:r>
                        <a:rPr lang="en-SG" sz="1200" b="0" u="none" strike="noStrike">
                          <a:solidFill>
                            <a:schemeClr val="tx1"/>
                          </a:solidFill>
                          <a:effectLst/>
                        </a:rPr>
                        <a:t>Qtr1</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37%</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dirty="0">
                          <a:solidFill>
                            <a:schemeClr val="tx1"/>
                          </a:solidFill>
                          <a:effectLst/>
                        </a:rPr>
                        <a:t>39%</a:t>
                      </a:r>
                      <a:endParaRPr lang="en-SG" sz="1200" b="0" i="0" u="none" strike="noStrike" dirty="0">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400653037"/>
                  </a:ext>
                </a:extLst>
              </a:tr>
              <a:tr h="413158">
                <a:tc>
                  <a:txBody>
                    <a:bodyPr/>
                    <a:lstStyle/>
                    <a:p>
                      <a:pPr algn="ctr" fontAlgn="b">
                        <a:buNone/>
                      </a:pPr>
                      <a:r>
                        <a:rPr lang="en-SG" sz="1200" b="0" u="none" strike="noStrike">
                          <a:solidFill>
                            <a:schemeClr val="tx1"/>
                          </a:solidFill>
                          <a:effectLst/>
                        </a:rPr>
                        <a:t>Qtr2</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endParaRPr lang="en-SG" sz="1200" b="0" i="0" u="none" strike="noStrike" dirty="0">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42%</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48%</a:t>
                      </a:r>
                      <a:endParaRPr lang="en-SG" sz="1200" b="0" i="0" u="none" strike="noStrike">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974357518"/>
                  </a:ext>
                </a:extLst>
              </a:tr>
              <a:tr h="413158">
                <a:tc>
                  <a:txBody>
                    <a:bodyPr/>
                    <a:lstStyle/>
                    <a:p>
                      <a:pPr algn="ctr" fontAlgn="b">
                        <a:buNone/>
                      </a:pPr>
                      <a:r>
                        <a:rPr lang="en-SG" sz="1200" b="0" u="none" strike="noStrike">
                          <a:solidFill>
                            <a:schemeClr val="tx1"/>
                          </a:solidFill>
                          <a:effectLst/>
                        </a:rPr>
                        <a:t>Qtr3</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50%</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37%</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endParaRPr lang="en-SG" sz="1200" b="0" i="0" u="none" strike="noStrike">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983956132"/>
                  </a:ext>
                </a:extLst>
              </a:tr>
              <a:tr h="413158">
                <a:tc>
                  <a:txBody>
                    <a:bodyPr/>
                    <a:lstStyle/>
                    <a:p>
                      <a:pPr algn="ctr" fontAlgn="b">
                        <a:buNone/>
                      </a:pPr>
                      <a:r>
                        <a:rPr lang="en-SG" sz="1200" b="0" u="none" strike="noStrike">
                          <a:solidFill>
                            <a:schemeClr val="tx1"/>
                          </a:solidFill>
                          <a:effectLst/>
                        </a:rPr>
                        <a:t>Qtr4</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37%</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45%</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endParaRPr lang="en-SG" sz="1200" b="0" i="0" u="none" strike="noStrike" dirty="0">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2202455157"/>
                  </a:ext>
                </a:extLst>
              </a:tr>
            </a:tbl>
          </a:graphicData>
        </a:graphic>
      </p:graphicFrame>
      <p:graphicFrame>
        <p:nvGraphicFramePr>
          <p:cNvPr id="7" name="Table 6">
            <a:extLst>
              <a:ext uri="{FF2B5EF4-FFF2-40B4-BE49-F238E27FC236}">
                <a16:creationId xmlns:a16="http://schemas.microsoft.com/office/drawing/2014/main" id="{890DE54A-59FB-EFFE-FF66-E623837C3B6A}"/>
              </a:ext>
            </a:extLst>
          </p:cNvPr>
          <p:cNvGraphicFramePr>
            <a:graphicFrameLocks noGrp="1"/>
          </p:cNvGraphicFramePr>
          <p:nvPr>
            <p:extLst>
              <p:ext uri="{D42A27DB-BD31-4B8C-83A1-F6EECF244321}">
                <p14:modId xmlns:p14="http://schemas.microsoft.com/office/powerpoint/2010/main" val="2708912237"/>
              </p:ext>
            </p:extLst>
          </p:nvPr>
        </p:nvGraphicFramePr>
        <p:xfrm>
          <a:off x="6597633" y="1311264"/>
          <a:ext cx="5174941" cy="2450544"/>
        </p:xfrm>
        <a:graphic>
          <a:graphicData uri="http://schemas.openxmlformats.org/drawingml/2006/table">
            <a:tbl>
              <a:tblPr firstRow="1" bandRow="1">
                <a:tableStyleId>{9D7B26C5-4107-4FEC-AEDC-1716B250A1EF}</a:tableStyleId>
              </a:tblPr>
              <a:tblGrid>
                <a:gridCol w="2297204">
                  <a:extLst>
                    <a:ext uri="{9D8B030D-6E8A-4147-A177-3AD203B41FA5}">
                      <a16:colId xmlns:a16="http://schemas.microsoft.com/office/drawing/2014/main" val="2639448245"/>
                    </a:ext>
                  </a:extLst>
                </a:gridCol>
                <a:gridCol w="1752286">
                  <a:extLst>
                    <a:ext uri="{9D8B030D-6E8A-4147-A177-3AD203B41FA5}">
                      <a16:colId xmlns:a16="http://schemas.microsoft.com/office/drawing/2014/main" val="3981628605"/>
                    </a:ext>
                  </a:extLst>
                </a:gridCol>
                <a:gridCol w="1125451">
                  <a:extLst>
                    <a:ext uri="{9D8B030D-6E8A-4147-A177-3AD203B41FA5}">
                      <a16:colId xmlns:a16="http://schemas.microsoft.com/office/drawing/2014/main" val="2611872832"/>
                    </a:ext>
                  </a:extLst>
                </a:gridCol>
              </a:tblGrid>
              <a:tr h="408424">
                <a:tc>
                  <a:txBody>
                    <a:bodyPr/>
                    <a:lstStyle/>
                    <a:p>
                      <a:pPr algn="ctr" fontAlgn="b">
                        <a:buNone/>
                      </a:pPr>
                      <a:r>
                        <a:rPr lang="en-SG" sz="1200" b="0" u="none" strike="noStrike">
                          <a:solidFill>
                            <a:schemeClr val="tx1"/>
                          </a:solidFill>
                          <a:effectLst/>
                        </a:rPr>
                        <a:t>All Revenue</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dirty="0">
                          <a:solidFill>
                            <a:schemeClr val="tx1"/>
                          </a:solidFill>
                          <a:effectLst/>
                        </a:rPr>
                        <a:t>2016</a:t>
                      </a:r>
                      <a:endParaRPr lang="en-SG" sz="1200" b="0" i="0" u="none" strike="noStrike" dirty="0">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Cancelled %</a:t>
                      </a:r>
                      <a:endParaRPr lang="en-SG" sz="1200" b="0" i="0" u="none" strike="noStrike">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134486178"/>
                  </a:ext>
                </a:extLst>
              </a:tr>
              <a:tr h="408424">
                <a:tc>
                  <a:txBody>
                    <a:bodyPr/>
                    <a:lstStyle/>
                    <a:p>
                      <a:pPr algn="ctr" fontAlgn="b">
                        <a:buNone/>
                      </a:pPr>
                      <a:r>
                        <a:rPr lang="en-SG" sz="1200" b="0" u="none" strike="noStrike">
                          <a:solidFill>
                            <a:schemeClr val="tx1"/>
                          </a:solidFill>
                          <a:effectLst/>
                        </a:rPr>
                        <a:t>Qtr1</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dirty="0">
                          <a:solidFill>
                            <a:schemeClr val="tx1"/>
                          </a:solidFill>
                          <a:effectLst/>
                        </a:rPr>
                        <a:t>1,665,590.45</a:t>
                      </a:r>
                      <a:endParaRPr lang="en-SG" sz="1200" b="0" i="0" u="none" strike="noStrike" dirty="0">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40%</a:t>
                      </a:r>
                      <a:endParaRPr lang="en-SG" sz="1200" b="0" i="0" u="none" strike="noStrike">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789173653"/>
                  </a:ext>
                </a:extLst>
              </a:tr>
              <a:tr h="408424">
                <a:tc>
                  <a:txBody>
                    <a:bodyPr/>
                    <a:lstStyle/>
                    <a:p>
                      <a:pPr algn="ctr" fontAlgn="b">
                        <a:buNone/>
                      </a:pPr>
                      <a:r>
                        <a:rPr lang="en-SG" sz="1200" b="0" u="none" strike="noStrike">
                          <a:solidFill>
                            <a:schemeClr val="tx1"/>
                          </a:solidFill>
                          <a:effectLst/>
                        </a:rPr>
                        <a:t>Qtr2</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3,302,019.58</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43%</a:t>
                      </a:r>
                      <a:endParaRPr lang="en-SG" sz="1200" b="0" i="0" u="none" strike="noStrike">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384662956"/>
                  </a:ext>
                </a:extLst>
              </a:tr>
              <a:tr h="408424">
                <a:tc>
                  <a:txBody>
                    <a:bodyPr/>
                    <a:lstStyle/>
                    <a:p>
                      <a:pPr algn="ctr" fontAlgn="b">
                        <a:buNone/>
                      </a:pPr>
                      <a:r>
                        <a:rPr lang="en-SG" sz="1200" b="0" u="none" strike="noStrike">
                          <a:solidFill>
                            <a:schemeClr val="tx1"/>
                          </a:solidFill>
                          <a:effectLst/>
                        </a:rPr>
                        <a:t>Qtr3</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3,589,785.59</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38%</a:t>
                      </a:r>
                      <a:endParaRPr lang="en-SG" sz="1200" b="0" i="0" u="none" strike="noStrike">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4209928551"/>
                  </a:ext>
                </a:extLst>
              </a:tr>
              <a:tr h="408424">
                <a:tc>
                  <a:txBody>
                    <a:bodyPr/>
                    <a:lstStyle/>
                    <a:p>
                      <a:pPr algn="ctr" fontAlgn="b">
                        <a:buNone/>
                      </a:pPr>
                      <a:r>
                        <a:rPr lang="en-SG" sz="1200" b="0" u="none" strike="noStrike">
                          <a:solidFill>
                            <a:schemeClr val="tx1"/>
                          </a:solidFill>
                          <a:effectLst/>
                        </a:rPr>
                        <a:t>Qtr4</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2,944,676.95</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46%</a:t>
                      </a:r>
                      <a:endParaRPr lang="en-SG" sz="1200" b="0" i="0" u="none" strike="noStrike">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665222426"/>
                  </a:ext>
                </a:extLst>
              </a:tr>
              <a:tr h="408424">
                <a:tc>
                  <a:txBody>
                    <a:bodyPr/>
                    <a:lstStyle/>
                    <a:p>
                      <a:pPr algn="ctr" fontAlgn="b">
                        <a:buNone/>
                      </a:pPr>
                      <a:r>
                        <a:rPr lang="en-SG" sz="1200" b="0" u="none" strike="noStrike">
                          <a:solidFill>
                            <a:schemeClr val="tx1"/>
                          </a:solidFill>
                          <a:effectLst/>
                        </a:rPr>
                        <a:t>Grand Total</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a:solidFill>
                            <a:schemeClr val="tx1"/>
                          </a:solidFill>
                          <a:effectLst/>
                        </a:rPr>
                        <a:t>11,502,072.57</a:t>
                      </a:r>
                      <a:endParaRPr lang="en-SG" sz="1200" b="0" i="0" u="none" strike="noStrike">
                        <a:solidFill>
                          <a:schemeClr val="tx1"/>
                        </a:solidFill>
                        <a:effectLst/>
                        <a:latin typeface="Times New Roman" panose="02020603050405020304" pitchFamily="18" charset="0"/>
                      </a:endParaRPr>
                    </a:p>
                  </a:txBody>
                  <a:tcPr marL="9525" marR="9525" marT="9525" marB="0" anchor="ctr"/>
                </a:tc>
                <a:tc>
                  <a:txBody>
                    <a:bodyPr/>
                    <a:lstStyle/>
                    <a:p>
                      <a:pPr algn="ctr" fontAlgn="b">
                        <a:buNone/>
                      </a:pPr>
                      <a:r>
                        <a:rPr lang="en-SG" sz="1200" b="0" u="none" strike="noStrike" dirty="0">
                          <a:solidFill>
                            <a:schemeClr val="tx1"/>
                          </a:solidFill>
                          <a:effectLst/>
                        </a:rPr>
                        <a:t>42%</a:t>
                      </a:r>
                      <a:endParaRPr lang="en-SG" sz="1200" b="0" i="0" u="none" strike="noStrike" dirty="0">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258633216"/>
                  </a:ext>
                </a:extLst>
              </a:tr>
            </a:tbl>
          </a:graphicData>
        </a:graphic>
      </p:graphicFrame>
    </p:spTree>
    <p:extLst>
      <p:ext uri="{BB962C8B-B14F-4D97-AF65-F5344CB8AC3E}">
        <p14:creationId xmlns:p14="http://schemas.microsoft.com/office/powerpoint/2010/main" val="2969223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1926AFD3-5895-0F58-3046-1AA719588D3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BDD4265-0134-180E-97E7-89F9277DF0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99A17E-1F57-69F4-9F17-DB0796FDA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C8B22BC-F20A-D115-5A3F-59D55DDE07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14678320-1EC5-F80B-A264-070100928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330BA589-EE01-3A02-D61C-75AAA1898A7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3B25C8BA-BA3D-116C-8E96-0245C064C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5EEDC8D-2131-4E2A-D4D5-66EC55D17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6BC6FEA5-270E-3FCA-FE6E-1B366963A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C48C1E29-1D5A-4B71-515B-1BCF817FD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DB47D1-19B7-5DB2-C98F-FB6FB53A8ACB}"/>
              </a:ext>
            </a:extLst>
          </p:cNvPr>
          <p:cNvSpPr txBox="1">
            <a:spLocks/>
          </p:cNvSpPr>
          <p:nvPr/>
        </p:nvSpPr>
        <p:spPr>
          <a:xfrm>
            <a:off x="994279" y="223754"/>
            <a:ext cx="4947847"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Waiting List Analysis</a:t>
            </a:r>
          </a:p>
        </p:txBody>
      </p:sp>
      <p:sp>
        <p:nvSpPr>
          <p:cNvPr id="3" name="TextBox 2">
            <a:extLst>
              <a:ext uri="{FF2B5EF4-FFF2-40B4-BE49-F238E27FC236}">
                <a16:creationId xmlns:a16="http://schemas.microsoft.com/office/drawing/2014/main" id="{ECD9D006-961E-5990-2D2D-371286B6C52B}"/>
              </a:ext>
            </a:extLst>
          </p:cNvPr>
          <p:cNvSpPr txBox="1"/>
          <p:nvPr/>
        </p:nvSpPr>
        <p:spPr>
          <a:xfrm>
            <a:off x="1046853" y="4613618"/>
            <a:ext cx="10362463" cy="1668983"/>
          </a:xfrm>
          <a:prstGeom prst="rect">
            <a:avLst/>
          </a:prstGeom>
          <a:noFill/>
        </p:spPr>
        <p:txBody>
          <a:bodyPr wrap="square" rtlCol="0">
            <a:spAutoFit/>
          </a:bodyPr>
          <a:lstStyle/>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Waiting list is highest in Q2.</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Non-cancelled guests waited longer.</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ADR vs Waiting = -0.07, Cancellation vs Waiting = -0.07 -&gt; Very weak relationships.</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b="1" dirty="0">
                <a:latin typeface="Arial" panose="020B0604020202020204" pitchFamily="34" charset="0"/>
                <a:cs typeface="Arial" panose="020B0604020202020204" pitchFamily="34" charset="0"/>
              </a:rPr>
              <a:t>Waiting list is not a major cancellation driver.</a:t>
            </a:r>
          </a:p>
          <a:p>
            <a:pPr marL="285750" indent="-285750" defTabSz="914400">
              <a:lnSpc>
                <a:spcPct val="120000"/>
              </a:lnSpc>
              <a:spcAft>
                <a:spcPts val="600"/>
              </a:spcAft>
              <a:buClr>
                <a:schemeClr val="accent6"/>
              </a:buClr>
              <a:buSzPct val="90000"/>
              <a:buFont typeface="Arial" panose="020B0604020202020204" pitchFamily="34" charset="0"/>
              <a:buChar char="•"/>
            </a:pPr>
            <a:endParaRPr lang="en-SG" sz="1400" dirty="0">
              <a:latin typeface="Arial" panose="020B0604020202020204" pitchFamily="34" charset="0"/>
              <a:cs typeface="Arial" panose="020B0604020202020204" pitchFamily="34" charset="0"/>
            </a:endParaRPr>
          </a:p>
        </p:txBody>
      </p:sp>
      <p:graphicFrame>
        <p:nvGraphicFramePr>
          <p:cNvPr id="4" name="Chart 3">
            <a:extLst>
              <a:ext uri="{FF2B5EF4-FFF2-40B4-BE49-F238E27FC236}">
                <a16:creationId xmlns:a16="http://schemas.microsoft.com/office/drawing/2014/main" id="{CD0DD056-2D62-6901-F4A6-879FDAAF0AA7}"/>
              </a:ext>
            </a:extLst>
          </p:cNvPr>
          <p:cNvGraphicFramePr>
            <a:graphicFrameLocks/>
          </p:cNvGraphicFramePr>
          <p:nvPr>
            <p:extLst>
              <p:ext uri="{D42A27DB-BD31-4B8C-83A1-F6EECF244321}">
                <p14:modId xmlns:p14="http://schemas.microsoft.com/office/powerpoint/2010/main" val="4213684336"/>
              </p:ext>
            </p:extLst>
          </p:nvPr>
        </p:nvGraphicFramePr>
        <p:xfrm>
          <a:off x="359931" y="998769"/>
          <a:ext cx="5736069" cy="335593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Table 4">
            <a:extLst>
              <a:ext uri="{FF2B5EF4-FFF2-40B4-BE49-F238E27FC236}">
                <a16:creationId xmlns:a16="http://schemas.microsoft.com/office/drawing/2014/main" id="{8692764D-D430-8DBF-AD15-034D4B9187A9}"/>
              </a:ext>
            </a:extLst>
          </p:cNvPr>
          <p:cNvGraphicFramePr>
            <a:graphicFrameLocks noGrp="1"/>
          </p:cNvGraphicFramePr>
          <p:nvPr>
            <p:extLst>
              <p:ext uri="{D42A27DB-BD31-4B8C-83A1-F6EECF244321}">
                <p14:modId xmlns:p14="http://schemas.microsoft.com/office/powerpoint/2010/main" val="3907062102"/>
              </p:ext>
            </p:extLst>
          </p:nvPr>
        </p:nvGraphicFramePr>
        <p:xfrm>
          <a:off x="6416204" y="358989"/>
          <a:ext cx="5366307" cy="2407285"/>
        </p:xfrm>
        <a:graphic>
          <a:graphicData uri="http://schemas.openxmlformats.org/drawingml/2006/table">
            <a:tbl>
              <a:tblPr firstRow="1" bandRow="1">
                <a:tableStyleId>{9D7B26C5-4107-4FEC-AEDC-1716B250A1EF}</a:tableStyleId>
              </a:tblPr>
              <a:tblGrid>
                <a:gridCol w="1863903">
                  <a:extLst>
                    <a:ext uri="{9D8B030D-6E8A-4147-A177-3AD203B41FA5}">
                      <a16:colId xmlns:a16="http://schemas.microsoft.com/office/drawing/2014/main" val="2276162741"/>
                    </a:ext>
                  </a:extLst>
                </a:gridCol>
                <a:gridCol w="1421768">
                  <a:extLst>
                    <a:ext uri="{9D8B030D-6E8A-4147-A177-3AD203B41FA5}">
                      <a16:colId xmlns:a16="http://schemas.microsoft.com/office/drawing/2014/main" val="2095211931"/>
                    </a:ext>
                  </a:extLst>
                </a:gridCol>
                <a:gridCol w="1074995">
                  <a:extLst>
                    <a:ext uri="{9D8B030D-6E8A-4147-A177-3AD203B41FA5}">
                      <a16:colId xmlns:a16="http://schemas.microsoft.com/office/drawing/2014/main" val="2594187793"/>
                    </a:ext>
                  </a:extLst>
                </a:gridCol>
                <a:gridCol w="1005641">
                  <a:extLst>
                    <a:ext uri="{9D8B030D-6E8A-4147-A177-3AD203B41FA5}">
                      <a16:colId xmlns:a16="http://schemas.microsoft.com/office/drawing/2014/main" val="2283276189"/>
                    </a:ext>
                  </a:extLst>
                </a:gridCol>
              </a:tblGrid>
              <a:tr h="203200">
                <a:tc>
                  <a:txBody>
                    <a:bodyPr/>
                    <a:lstStyle/>
                    <a:p>
                      <a:pPr algn="ctr" fontAlgn="b">
                        <a:buNone/>
                      </a:pPr>
                      <a:r>
                        <a:rPr lang="en-SG" sz="1200" b="0" u="none" strike="noStrike">
                          <a:solidFill>
                            <a:schemeClr val="tx1"/>
                          </a:solidFill>
                          <a:effectLst/>
                        </a:rPr>
                        <a:t>days_in_waiting_list</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ctr" fontAlgn="b">
                        <a:buNone/>
                      </a:pPr>
                      <a:r>
                        <a:rPr lang="en-SG" sz="1200" b="0" u="none" strike="noStrike">
                          <a:solidFill>
                            <a:schemeClr val="tx1"/>
                          </a:solidFill>
                          <a:effectLst/>
                        </a:rPr>
                        <a:t>Total</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ctr" fontAlgn="b">
                        <a:buNone/>
                      </a:pPr>
                      <a:r>
                        <a:rPr lang="en-SG" sz="1200" b="0" u="none" strike="noStrike">
                          <a:solidFill>
                            <a:schemeClr val="tx1"/>
                          </a:solidFill>
                          <a:effectLst/>
                        </a:rPr>
                        <a:t>Cancelled</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ctr" fontAlgn="b">
                        <a:buNone/>
                      </a:pPr>
                      <a:r>
                        <a:rPr lang="en-SG" sz="1200" b="0" u="none" strike="noStrike">
                          <a:solidFill>
                            <a:schemeClr val="tx1"/>
                          </a:solidFill>
                          <a:effectLst/>
                        </a:rPr>
                        <a:t>Non Cancelled</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901941959"/>
                  </a:ext>
                </a:extLst>
              </a:tr>
              <a:tr h="203200">
                <a:tc>
                  <a:txBody>
                    <a:bodyPr/>
                    <a:lstStyle/>
                    <a:p>
                      <a:pPr algn="l" fontAlgn="b">
                        <a:buNone/>
                      </a:pPr>
                      <a:r>
                        <a:rPr lang="en-SG" sz="1200" b="0" u="none" strike="noStrike">
                          <a:solidFill>
                            <a:schemeClr val="tx1"/>
                          </a:solidFill>
                          <a:effectLst/>
                        </a:rPr>
                        <a:t>Mean</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74.65</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66.86</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91.61</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246121747"/>
                  </a:ext>
                </a:extLst>
              </a:tr>
              <a:tr h="203200">
                <a:tc>
                  <a:txBody>
                    <a:bodyPr/>
                    <a:lstStyle/>
                    <a:p>
                      <a:pPr algn="l" fontAlgn="b">
                        <a:buNone/>
                      </a:pPr>
                      <a:r>
                        <a:rPr lang="en-SG" sz="1200" b="0" u="none" strike="noStrike">
                          <a:solidFill>
                            <a:schemeClr val="tx1"/>
                          </a:solidFill>
                          <a:effectLst/>
                        </a:rPr>
                        <a:t>Max</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391.00</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391.00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379.00</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148935291"/>
                  </a:ext>
                </a:extLst>
              </a:tr>
              <a:tr h="203200">
                <a:tc>
                  <a:txBody>
                    <a:bodyPr/>
                    <a:lstStyle/>
                    <a:p>
                      <a:pPr algn="l" fontAlgn="b">
                        <a:buNone/>
                      </a:pPr>
                      <a:r>
                        <a:rPr lang="en-SG" sz="1200" b="0" u="none" strike="noStrike">
                          <a:solidFill>
                            <a:schemeClr val="tx1"/>
                          </a:solidFill>
                          <a:effectLst/>
                        </a:rPr>
                        <a:t>Min</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1.00</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64925475"/>
                  </a:ext>
                </a:extLst>
              </a:tr>
              <a:tr h="203200">
                <a:tc>
                  <a:txBody>
                    <a:bodyPr/>
                    <a:lstStyle/>
                    <a:p>
                      <a:pPr algn="l" fontAlgn="b">
                        <a:buNone/>
                      </a:pPr>
                      <a:r>
                        <a:rPr lang="en-SG" sz="1200" b="0" u="none" strike="noStrike" dirty="0">
                          <a:solidFill>
                            <a:schemeClr val="tx1"/>
                          </a:solidFill>
                          <a:effectLst/>
                        </a:rPr>
                        <a:t>Range</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390.00</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390.00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378.00</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98380894"/>
                  </a:ext>
                </a:extLst>
              </a:tr>
              <a:tr h="203200">
                <a:tc>
                  <a:txBody>
                    <a:bodyPr/>
                    <a:lstStyle/>
                    <a:p>
                      <a:pPr algn="l" fontAlgn="b">
                        <a:buNone/>
                      </a:pPr>
                      <a:r>
                        <a:rPr lang="en-SG" sz="1200" b="0" u="none" strike="noStrike">
                          <a:solidFill>
                            <a:schemeClr val="tx1"/>
                          </a:solidFill>
                          <a:effectLst/>
                        </a:rPr>
                        <a:t>Mode</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39.00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39.00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58.00</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993924763"/>
                  </a:ext>
                </a:extLst>
              </a:tr>
              <a:tr h="203200">
                <a:tc>
                  <a:txBody>
                    <a:bodyPr/>
                    <a:lstStyle/>
                    <a:p>
                      <a:pPr algn="l" fontAlgn="b">
                        <a:buNone/>
                      </a:pPr>
                      <a:r>
                        <a:rPr lang="en-SG" sz="1200" b="0" u="none" strike="noStrike">
                          <a:solidFill>
                            <a:schemeClr val="tx1"/>
                          </a:solidFill>
                          <a:effectLst/>
                        </a:rPr>
                        <a:t>Median</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50.00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44.00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63.00</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284542996"/>
                  </a:ext>
                </a:extLst>
              </a:tr>
              <a:tr h="203200">
                <a:tc>
                  <a:txBody>
                    <a:bodyPr/>
                    <a:lstStyle/>
                    <a:p>
                      <a:pPr algn="l" fontAlgn="b">
                        <a:buNone/>
                      </a:pPr>
                      <a:r>
                        <a:rPr lang="en-SG" sz="1200" b="0" u="none" strike="noStrike">
                          <a:solidFill>
                            <a:schemeClr val="tx1"/>
                          </a:solidFill>
                          <a:effectLst/>
                        </a:rPr>
                        <a:t>Var</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4,772.19</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4,449.89</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5,058.49</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522440161"/>
                  </a:ext>
                </a:extLst>
              </a:tr>
              <a:tr h="203200">
                <a:tc>
                  <a:txBody>
                    <a:bodyPr/>
                    <a:lstStyle/>
                    <a:p>
                      <a:pPr algn="l" fontAlgn="b">
                        <a:buNone/>
                      </a:pPr>
                      <a:r>
                        <a:rPr lang="en-SG" sz="1200" b="0" u="none" strike="noStrike">
                          <a:solidFill>
                            <a:schemeClr val="tx1"/>
                          </a:solidFill>
                          <a:effectLst/>
                        </a:rPr>
                        <a:t>STD</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69.08</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66.71</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71.12</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346357534"/>
                  </a:ext>
                </a:extLst>
              </a:tr>
              <a:tr h="203200">
                <a:tc>
                  <a:txBody>
                    <a:bodyPr/>
                    <a:lstStyle/>
                    <a:p>
                      <a:pPr algn="l" fontAlgn="b">
                        <a:buNone/>
                      </a:pPr>
                      <a:r>
                        <a:rPr lang="en-SG" sz="1200" b="0" u="none" strike="noStrike">
                          <a:solidFill>
                            <a:schemeClr val="tx1"/>
                          </a:solidFill>
                          <a:effectLst/>
                        </a:rPr>
                        <a:t>CV</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0.93</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0.78</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881778109"/>
                  </a:ext>
                </a:extLst>
              </a:tr>
              <a:tr h="203200">
                <a:tc>
                  <a:txBody>
                    <a:bodyPr/>
                    <a:lstStyle/>
                    <a:p>
                      <a:pPr algn="l" fontAlgn="b">
                        <a:buNone/>
                      </a:pPr>
                      <a:r>
                        <a:rPr lang="en-SG" sz="1200" b="0" u="none" strike="noStrike">
                          <a:solidFill>
                            <a:schemeClr val="tx1"/>
                          </a:solidFill>
                          <a:effectLst/>
                        </a:rPr>
                        <a:t>Sum</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255,155.00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156,586.00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98,569.00</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588973267"/>
                  </a:ext>
                </a:extLst>
              </a:tr>
            </a:tbl>
          </a:graphicData>
        </a:graphic>
      </p:graphicFrame>
      <p:graphicFrame>
        <p:nvGraphicFramePr>
          <p:cNvPr id="6" name="Table 5">
            <a:extLst>
              <a:ext uri="{FF2B5EF4-FFF2-40B4-BE49-F238E27FC236}">
                <a16:creationId xmlns:a16="http://schemas.microsoft.com/office/drawing/2014/main" id="{BC7275E8-B8DB-87F4-BE65-FDBA347FCA43}"/>
              </a:ext>
            </a:extLst>
          </p:cNvPr>
          <p:cNvGraphicFramePr>
            <a:graphicFrameLocks noGrp="1"/>
          </p:cNvGraphicFramePr>
          <p:nvPr>
            <p:extLst>
              <p:ext uri="{D42A27DB-BD31-4B8C-83A1-F6EECF244321}">
                <p14:modId xmlns:p14="http://schemas.microsoft.com/office/powerpoint/2010/main" val="791320941"/>
              </p:ext>
            </p:extLst>
          </p:nvPr>
        </p:nvGraphicFramePr>
        <p:xfrm>
          <a:off x="6416204" y="2910483"/>
          <a:ext cx="4999315" cy="1391755"/>
        </p:xfrm>
        <a:graphic>
          <a:graphicData uri="http://schemas.openxmlformats.org/drawingml/2006/table">
            <a:tbl>
              <a:tblPr firstRow="1" bandRow="1">
                <a:tableStyleId>{9D7B26C5-4107-4FEC-AEDC-1716B250A1EF}</a:tableStyleId>
              </a:tblPr>
              <a:tblGrid>
                <a:gridCol w="1178637">
                  <a:extLst>
                    <a:ext uri="{9D8B030D-6E8A-4147-A177-3AD203B41FA5}">
                      <a16:colId xmlns:a16="http://schemas.microsoft.com/office/drawing/2014/main" val="954744119"/>
                    </a:ext>
                  </a:extLst>
                </a:gridCol>
                <a:gridCol w="1241437">
                  <a:extLst>
                    <a:ext uri="{9D8B030D-6E8A-4147-A177-3AD203B41FA5}">
                      <a16:colId xmlns:a16="http://schemas.microsoft.com/office/drawing/2014/main" val="3820569528"/>
                    </a:ext>
                  </a:extLst>
                </a:gridCol>
                <a:gridCol w="1428956">
                  <a:extLst>
                    <a:ext uri="{9D8B030D-6E8A-4147-A177-3AD203B41FA5}">
                      <a16:colId xmlns:a16="http://schemas.microsoft.com/office/drawing/2014/main" val="2968881869"/>
                    </a:ext>
                  </a:extLst>
                </a:gridCol>
                <a:gridCol w="1150285">
                  <a:extLst>
                    <a:ext uri="{9D8B030D-6E8A-4147-A177-3AD203B41FA5}">
                      <a16:colId xmlns:a16="http://schemas.microsoft.com/office/drawing/2014/main" val="1740891960"/>
                    </a:ext>
                  </a:extLst>
                </a:gridCol>
              </a:tblGrid>
              <a:tr h="806965">
                <a:tc>
                  <a:txBody>
                    <a:bodyPr/>
                    <a:lstStyle/>
                    <a:p>
                      <a:pPr algn="ctr" fontAlgn="b">
                        <a:buNone/>
                      </a:pPr>
                      <a:endParaRPr lang="en-SG" sz="1200" b="0" i="0" u="none" strike="noStrike" dirty="0">
                        <a:solidFill>
                          <a:schemeClr val="tx1"/>
                        </a:solidFill>
                        <a:effectLst/>
                        <a:latin typeface=""/>
                      </a:endParaRPr>
                    </a:p>
                  </a:txBody>
                  <a:tcPr marL="9525" marR="9525" marT="9525" marB="0" anchor="ctr"/>
                </a:tc>
                <a:tc>
                  <a:txBody>
                    <a:bodyPr/>
                    <a:lstStyle/>
                    <a:p>
                      <a:pPr algn="l" fontAlgn="b">
                        <a:buNone/>
                      </a:pPr>
                      <a:endParaRPr lang="en-SG" sz="1200" b="0" i="0" u="none" strike="noStrike" dirty="0">
                        <a:solidFill>
                          <a:schemeClr val="tx1"/>
                        </a:solidFill>
                        <a:effectLst/>
                        <a:latin typeface=""/>
                      </a:endParaRPr>
                    </a:p>
                  </a:txBody>
                  <a:tcPr marL="9525" marR="9525" marT="9525" marB="0" anchor="ctr"/>
                </a:tc>
                <a:tc>
                  <a:txBody>
                    <a:bodyPr/>
                    <a:lstStyle/>
                    <a:p>
                      <a:pPr algn="ctr" fontAlgn="ctr">
                        <a:buNone/>
                      </a:pPr>
                      <a:r>
                        <a:rPr lang="en-SG" sz="1200" b="0" u="none" strike="noStrike">
                          <a:solidFill>
                            <a:schemeClr val="tx1"/>
                          </a:solidFill>
                          <a:effectLst/>
                        </a:rPr>
                        <a:t>Covariance (COVARIANCE.S)</a:t>
                      </a:r>
                      <a:endParaRPr lang="en-SG" sz="1200" b="0" i="0" u="none" strike="noStrike">
                        <a:solidFill>
                          <a:schemeClr val="tx1"/>
                        </a:solidFill>
                        <a:effectLst/>
                        <a:latin typeface=""/>
                      </a:endParaRPr>
                    </a:p>
                  </a:txBody>
                  <a:tcPr marL="9525" marR="9525" marT="9525" marB="0" anchor="ctr"/>
                </a:tc>
                <a:tc>
                  <a:txBody>
                    <a:bodyPr/>
                    <a:lstStyle/>
                    <a:p>
                      <a:pPr algn="ctr" fontAlgn="ctr">
                        <a:buNone/>
                      </a:pPr>
                      <a:r>
                        <a:rPr lang="en-SG" sz="1200" b="0" u="none" strike="noStrike" dirty="0">
                          <a:solidFill>
                            <a:schemeClr val="tx1"/>
                          </a:solidFill>
                          <a:effectLst/>
                        </a:rPr>
                        <a:t>Correlation (CORREL)</a:t>
                      </a:r>
                      <a:endParaRPr lang="en-SG" sz="1200" b="0" i="0" u="none" strike="noStrike" dirty="0">
                        <a:solidFill>
                          <a:schemeClr val="tx1"/>
                        </a:solidFill>
                        <a:effectLst/>
                        <a:latin typeface=""/>
                      </a:endParaRPr>
                    </a:p>
                  </a:txBody>
                  <a:tcPr marL="9525" marR="9525" marT="9525" marB="0" anchor="ctr"/>
                </a:tc>
                <a:extLst>
                  <a:ext uri="{0D108BD9-81ED-4DB2-BD59-A6C34878D82A}">
                    <a16:rowId xmlns:a16="http://schemas.microsoft.com/office/drawing/2014/main" val="1458271487"/>
                  </a:ext>
                </a:extLst>
              </a:tr>
              <a:tr h="292395">
                <a:tc>
                  <a:txBody>
                    <a:bodyPr/>
                    <a:lstStyle/>
                    <a:p>
                      <a:pPr algn="l" fontAlgn="b">
                        <a:buNone/>
                      </a:pPr>
                      <a:r>
                        <a:rPr lang="en-SG" sz="1200" b="0" u="none" strike="noStrike">
                          <a:solidFill>
                            <a:schemeClr val="tx1"/>
                          </a:solidFill>
                          <a:effectLst/>
                        </a:rPr>
                        <a:t>ADR</a:t>
                      </a:r>
                      <a:endParaRPr lang="en-SG" sz="1200" b="0" i="0" u="none" strike="noStrike">
                        <a:solidFill>
                          <a:schemeClr val="tx1"/>
                        </a:solidFill>
                        <a:effectLst/>
                        <a:latin typeface=""/>
                      </a:endParaRPr>
                    </a:p>
                  </a:txBody>
                  <a:tcPr marL="9525" marR="9525" marT="9525" marB="0" anchor="ctr"/>
                </a:tc>
                <a:tc>
                  <a:txBody>
                    <a:bodyPr/>
                    <a:lstStyle/>
                    <a:p>
                      <a:pPr algn="l" fontAlgn="b">
                        <a:buNone/>
                      </a:pPr>
                      <a:r>
                        <a:rPr lang="en-SG" sz="1200" b="0" u="none" strike="noStrike">
                          <a:solidFill>
                            <a:schemeClr val="tx1"/>
                          </a:solidFill>
                          <a:effectLst/>
                        </a:rPr>
                        <a:t>days_in_waiting</a:t>
                      </a:r>
                      <a:endParaRPr lang="en-SG" sz="1200" b="0" i="0" u="none" strike="noStrike">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-55.38</a:t>
                      </a:r>
                      <a:endParaRPr lang="en-SG" sz="1200" b="0" i="0" u="none" strike="noStrike" dirty="0">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-0.07</a:t>
                      </a:r>
                      <a:endParaRPr lang="en-SG" sz="1200" b="0" i="0" u="none" strike="noStrike" dirty="0">
                        <a:solidFill>
                          <a:schemeClr val="tx1"/>
                        </a:solidFill>
                        <a:effectLst/>
                        <a:latin typeface=""/>
                      </a:endParaRPr>
                    </a:p>
                  </a:txBody>
                  <a:tcPr marL="9525" marR="9525" marT="9525" marB="0" anchor="ctr"/>
                </a:tc>
                <a:extLst>
                  <a:ext uri="{0D108BD9-81ED-4DB2-BD59-A6C34878D82A}">
                    <a16:rowId xmlns:a16="http://schemas.microsoft.com/office/drawing/2014/main" val="3857558586"/>
                  </a:ext>
                </a:extLst>
              </a:tr>
              <a:tr h="292395">
                <a:tc>
                  <a:txBody>
                    <a:bodyPr/>
                    <a:lstStyle/>
                    <a:p>
                      <a:pPr algn="l" fontAlgn="b">
                        <a:buNone/>
                      </a:pPr>
                      <a:r>
                        <a:rPr lang="en-SG" sz="1200" b="0" u="none" strike="noStrike">
                          <a:solidFill>
                            <a:schemeClr val="tx1"/>
                          </a:solidFill>
                          <a:effectLst/>
                        </a:rPr>
                        <a:t>Cancellation</a:t>
                      </a:r>
                      <a:endParaRPr lang="en-SG" sz="1200" b="0" i="0" u="none" strike="noStrike">
                        <a:solidFill>
                          <a:schemeClr val="tx1"/>
                        </a:solidFill>
                        <a:effectLst/>
                        <a:latin typeface=""/>
                      </a:endParaRPr>
                    </a:p>
                  </a:txBody>
                  <a:tcPr marL="9525" marR="9525" marT="9525" marB="0" anchor="ctr"/>
                </a:tc>
                <a:tc>
                  <a:txBody>
                    <a:bodyPr/>
                    <a:lstStyle/>
                    <a:p>
                      <a:pPr algn="l" fontAlgn="b">
                        <a:buNone/>
                      </a:pPr>
                      <a:r>
                        <a:rPr lang="en-SG" sz="1200" b="0" u="none" strike="noStrike">
                          <a:solidFill>
                            <a:schemeClr val="tx1"/>
                          </a:solidFill>
                          <a:effectLst/>
                        </a:rPr>
                        <a:t>days_in_waiting</a:t>
                      </a:r>
                      <a:endParaRPr lang="en-SG" sz="1200" b="0" i="0" u="none" strike="noStrike">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-0.98</a:t>
                      </a:r>
                      <a:endParaRPr lang="en-SG" sz="1200" b="0" i="0" u="none" strike="noStrike" dirty="0">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-0.07</a:t>
                      </a:r>
                      <a:endParaRPr lang="en-SG" sz="1200" b="0" i="0" u="none" strike="noStrike" dirty="0">
                        <a:solidFill>
                          <a:schemeClr val="tx1"/>
                        </a:solidFill>
                        <a:effectLst/>
                        <a:latin typeface=""/>
                      </a:endParaRPr>
                    </a:p>
                  </a:txBody>
                  <a:tcPr marL="9525" marR="9525" marT="9525" marB="0" anchor="ctr"/>
                </a:tc>
                <a:extLst>
                  <a:ext uri="{0D108BD9-81ED-4DB2-BD59-A6C34878D82A}">
                    <a16:rowId xmlns:a16="http://schemas.microsoft.com/office/drawing/2014/main" val="2814368162"/>
                  </a:ext>
                </a:extLst>
              </a:tr>
            </a:tbl>
          </a:graphicData>
        </a:graphic>
      </p:graphicFrame>
    </p:spTree>
    <p:extLst>
      <p:ext uri="{BB962C8B-B14F-4D97-AF65-F5344CB8AC3E}">
        <p14:creationId xmlns:p14="http://schemas.microsoft.com/office/powerpoint/2010/main" val="3828107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B14AC7C2-75F7-DA59-ED22-C9FD31289E6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8E35F5F-2D4C-57C5-1956-9A63FF58F9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6B3BF28-D7DF-1FB0-E4A2-C1C9D4ACA9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F6ABE3D-2FE2-5314-E752-A948B1AC92F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030AC1F7-1D9E-840F-7D80-131A5AE237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B01C4246-5CD4-18BE-8AC4-FFB75B057E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316E00B5-E79E-C4A9-B1A7-E3D3B0101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FAC63A9-3790-46BB-A868-326AF0799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DC65BFBD-173A-E8D1-13D1-388B9D747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C4EA4389-D862-F1CA-38A2-589C7E0298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hart 1">
            <a:extLst>
              <a:ext uri="{FF2B5EF4-FFF2-40B4-BE49-F238E27FC236}">
                <a16:creationId xmlns:a16="http://schemas.microsoft.com/office/drawing/2014/main" id="{67FFFCA6-EF17-E716-123B-F6E687049419}"/>
              </a:ext>
            </a:extLst>
          </p:cNvPr>
          <p:cNvGraphicFramePr>
            <a:graphicFrameLocks/>
          </p:cNvGraphicFramePr>
          <p:nvPr>
            <p:extLst>
              <p:ext uri="{D42A27DB-BD31-4B8C-83A1-F6EECF244321}">
                <p14:modId xmlns:p14="http://schemas.microsoft.com/office/powerpoint/2010/main" val="1861563491"/>
              </p:ext>
            </p:extLst>
          </p:nvPr>
        </p:nvGraphicFramePr>
        <p:xfrm>
          <a:off x="655571" y="741585"/>
          <a:ext cx="5694588" cy="4125588"/>
        </p:xfrm>
        <a:graphic>
          <a:graphicData uri="http://schemas.openxmlformats.org/drawingml/2006/chart">
            <c:chart xmlns:c="http://schemas.openxmlformats.org/drawingml/2006/chart" xmlns:r="http://schemas.openxmlformats.org/officeDocument/2006/relationships" r:id="rId5"/>
          </a:graphicData>
        </a:graphic>
      </p:graphicFrame>
      <p:sp>
        <p:nvSpPr>
          <p:cNvPr id="3" name="Title 1">
            <a:extLst>
              <a:ext uri="{FF2B5EF4-FFF2-40B4-BE49-F238E27FC236}">
                <a16:creationId xmlns:a16="http://schemas.microsoft.com/office/drawing/2014/main" id="{1D2B00E0-1012-36A1-56C2-26223BB372E4}"/>
              </a:ext>
            </a:extLst>
          </p:cNvPr>
          <p:cNvSpPr txBox="1">
            <a:spLocks/>
          </p:cNvSpPr>
          <p:nvPr/>
        </p:nvSpPr>
        <p:spPr>
          <a:xfrm>
            <a:off x="994279" y="223754"/>
            <a:ext cx="10729089" cy="531620"/>
          </a:xfrm>
          <a:prstGeom prst="rect">
            <a:avLst/>
          </a:prstGeom>
        </p:spPr>
        <p:txBody>
          <a:bodyPr vert="horz" lIns="91440" tIns="45720" rIns="91440" bIns="45720" rtlCol="0" anchor="t">
            <a:normAutofit fontScale="925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Lead Time Analysis (</a:t>
            </a:r>
            <a:r>
              <a:rPr lang="en-SG" sz="2800" dirty="0"/>
              <a:t>Lead Time = days between booking and arrival.</a:t>
            </a:r>
            <a:r>
              <a:rPr lang="en-US" sz="2800" dirty="0"/>
              <a:t>)</a:t>
            </a:r>
          </a:p>
        </p:txBody>
      </p:sp>
      <p:sp>
        <p:nvSpPr>
          <p:cNvPr id="4" name="TextBox 3">
            <a:extLst>
              <a:ext uri="{FF2B5EF4-FFF2-40B4-BE49-F238E27FC236}">
                <a16:creationId xmlns:a16="http://schemas.microsoft.com/office/drawing/2014/main" id="{C6D64916-315B-AD36-3694-CD2F1B19676F}"/>
              </a:ext>
            </a:extLst>
          </p:cNvPr>
          <p:cNvSpPr txBox="1"/>
          <p:nvPr/>
        </p:nvSpPr>
        <p:spPr>
          <a:xfrm>
            <a:off x="952476" y="4873182"/>
            <a:ext cx="5694588" cy="1945982"/>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Bookings that cancel are booked twice as far in advance as those that stay -&gt; </a:t>
            </a:r>
            <a:r>
              <a:rPr lang="en-SG" sz="1400" b="1" dirty="0"/>
              <a:t>major revenue threat</a:t>
            </a:r>
            <a:endParaRPr lang="en-US" sz="1400" b="1" dirty="0"/>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err="1"/>
              <a:t>lead_time</a:t>
            </a:r>
            <a:r>
              <a:rPr lang="en-US" sz="1400" dirty="0"/>
              <a:t> and cancellation having 31% strength relationship and raise and fall together.</a:t>
            </a:r>
          </a:p>
          <a:p>
            <a:pPr marL="171450" indent="-171450">
              <a:buFont typeface="Arial" panose="020B0604020202020204" pitchFamily="34" charset="0"/>
              <a:buChar char="•"/>
            </a:pPr>
            <a:r>
              <a:rPr lang="en-SG" sz="1400" dirty="0"/>
              <a:t>Lead Time &gt;150 days =&gt; Cancellation = 61.5%, Lift = 1.54</a:t>
            </a:r>
          </a:p>
          <a:p>
            <a:pPr marL="171450" indent="-171450">
              <a:buFont typeface="Arial" panose="020B0604020202020204" pitchFamily="34" charset="0"/>
              <a:buChar char="•"/>
            </a:pPr>
            <a:r>
              <a:rPr lang="en-SG" sz="1400" dirty="0"/>
              <a:t>Bookings made far in advance are 54% more likely to cancel.</a:t>
            </a:r>
            <a:endParaRPr lang="en-US" sz="1400" dirty="0"/>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Highest </a:t>
            </a:r>
            <a:r>
              <a:rPr lang="en-US" sz="1400" dirty="0" err="1"/>
              <a:t>lead_time</a:t>
            </a:r>
            <a:r>
              <a:rPr lang="en-US" sz="1400" dirty="0"/>
              <a:t> Q2.</a:t>
            </a:r>
          </a:p>
        </p:txBody>
      </p:sp>
      <p:graphicFrame>
        <p:nvGraphicFramePr>
          <p:cNvPr id="5" name="Table 4">
            <a:extLst>
              <a:ext uri="{FF2B5EF4-FFF2-40B4-BE49-F238E27FC236}">
                <a16:creationId xmlns:a16="http://schemas.microsoft.com/office/drawing/2014/main" id="{EF93A4F1-41BB-0A6F-B9DD-91311DD2F51D}"/>
              </a:ext>
            </a:extLst>
          </p:cNvPr>
          <p:cNvGraphicFramePr>
            <a:graphicFrameLocks noGrp="1"/>
          </p:cNvGraphicFramePr>
          <p:nvPr>
            <p:extLst>
              <p:ext uri="{D42A27DB-BD31-4B8C-83A1-F6EECF244321}">
                <p14:modId xmlns:p14="http://schemas.microsoft.com/office/powerpoint/2010/main" val="1636137050"/>
              </p:ext>
            </p:extLst>
          </p:nvPr>
        </p:nvGraphicFramePr>
        <p:xfrm>
          <a:off x="6806310" y="916101"/>
          <a:ext cx="4947846" cy="2715720"/>
        </p:xfrm>
        <a:graphic>
          <a:graphicData uri="http://schemas.openxmlformats.org/drawingml/2006/table">
            <a:tbl>
              <a:tblPr firstRow="1" bandRow="1">
                <a:tableStyleId>{9D7B26C5-4107-4FEC-AEDC-1716B250A1EF}</a:tableStyleId>
              </a:tblPr>
              <a:tblGrid>
                <a:gridCol w="1806435">
                  <a:extLst>
                    <a:ext uri="{9D8B030D-6E8A-4147-A177-3AD203B41FA5}">
                      <a16:colId xmlns:a16="http://schemas.microsoft.com/office/drawing/2014/main" val="4292809573"/>
                    </a:ext>
                  </a:extLst>
                </a:gridCol>
                <a:gridCol w="1652591">
                  <a:extLst>
                    <a:ext uri="{9D8B030D-6E8A-4147-A177-3AD203B41FA5}">
                      <a16:colId xmlns:a16="http://schemas.microsoft.com/office/drawing/2014/main" val="2020753295"/>
                    </a:ext>
                  </a:extLst>
                </a:gridCol>
                <a:gridCol w="1488820">
                  <a:extLst>
                    <a:ext uri="{9D8B030D-6E8A-4147-A177-3AD203B41FA5}">
                      <a16:colId xmlns:a16="http://schemas.microsoft.com/office/drawing/2014/main" val="2161545067"/>
                    </a:ext>
                  </a:extLst>
                </a:gridCol>
              </a:tblGrid>
              <a:tr h="226310">
                <a:tc>
                  <a:txBody>
                    <a:bodyPr/>
                    <a:lstStyle/>
                    <a:p>
                      <a:pPr algn="ctr" fontAlgn="b">
                        <a:buNone/>
                      </a:pPr>
                      <a:r>
                        <a:rPr lang="en-SG" sz="1200" b="0" u="none" strike="noStrike" dirty="0">
                          <a:solidFill>
                            <a:schemeClr val="tx1"/>
                          </a:solidFill>
                          <a:effectLst/>
                        </a:rPr>
                        <a:t>Lead Time </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a:solidFill>
                            <a:schemeClr val="tx1"/>
                          </a:solidFill>
                          <a:effectLst/>
                        </a:rPr>
                        <a:t>Cancelled</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dirty="0" err="1">
                          <a:solidFill>
                            <a:schemeClr val="tx1"/>
                          </a:solidFill>
                          <a:effectLst/>
                        </a:rPr>
                        <a:t>Non_Cancelled</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44137485"/>
                  </a:ext>
                </a:extLst>
              </a:tr>
              <a:tr h="226310">
                <a:tc>
                  <a:txBody>
                    <a:bodyPr/>
                    <a:lstStyle/>
                    <a:p>
                      <a:pPr algn="l" fontAlgn="b">
                        <a:buNone/>
                      </a:pPr>
                      <a:r>
                        <a:rPr lang="en-SG" sz="1200" b="0" u="none" strike="noStrike" dirty="0">
                          <a:solidFill>
                            <a:schemeClr val="tx1"/>
                          </a:solidFill>
                          <a:effectLst/>
                        </a:rPr>
                        <a:t>Mean</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151.51</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81.22</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656545939"/>
                  </a:ext>
                </a:extLst>
              </a:tr>
              <a:tr h="226310">
                <a:tc>
                  <a:txBody>
                    <a:bodyPr/>
                    <a:lstStyle/>
                    <a:p>
                      <a:pPr algn="l" fontAlgn="b">
                        <a:buNone/>
                      </a:pPr>
                      <a:r>
                        <a:rPr lang="en-SG" sz="1200" b="0" u="none" strike="noStrike" dirty="0">
                          <a:solidFill>
                            <a:schemeClr val="tx1"/>
                          </a:solidFill>
                          <a:effectLst/>
                        </a:rPr>
                        <a:t>Max</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629</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518</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30041584"/>
                  </a:ext>
                </a:extLst>
              </a:tr>
              <a:tr h="226310">
                <a:tc>
                  <a:txBody>
                    <a:bodyPr/>
                    <a:lstStyle/>
                    <a:p>
                      <a:pPr algn="l" fontAlgn="b">
                        <a:buNone/>
                      </a:pPr>
                      <a:r>
                        <a:rPr lang="en-SG" sz="1200" b="0" u="none" strike="noStrike">
                          <a:solidFill>
                            <a:schemeClr val="tx1"/>
                          </a:solidFill>
                          <a:effectLst/>
                        </a:rPr>
                        <a:t>Min</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28144643"/>
                  </a:ext>
                </a:extLst>
              </a:tr>
              <a:tr h="226310">
                <a:tc>
                  <a:txBody>
                    <a:bodyPr/>
                    <a:lstStyle/>
                    <a:p>
                      <a:pPr algn="l" fontAlgn="b">
                        <a:buNone/>
                      </a:pPr>
                      <a:r>
                        <a:rPr lang="en-SG" sz="1200" b="0" u="none" strike="noStrike" dirty="0">
                          <a:solidFill>
                            <a:schemeClr val="tx1"/>
                          </a:solidFill>
                          <a:effectLst/>
                        </a:rPr>
                        <a:t>Range</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629</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518</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76050777"/>
                  </a:ext>
                </a:extLst>
              </a:tr>
              <a:tr h="226310">
                <a:tc>
                  <a:txBody>
                    <a:bodyPr/>
                    <a:lstStyle/>
                    <a:p>
                      <a:pPr algn="l" fontAlgn="b">
                        <a:buNone/>
                      </a:pPr>
                      <a:r>
                        <a:rPr lang="en-SG" sz="1200" b="0" u="none" strike="noStrike">
                          <a:solidFill>
                            <a:schemeClr val="tx1"/>
                          </a:solidFill>
                          <a:effectLst/>
                        </a:rPr>
                        <a:t>Mode</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78653686"/>
                  </a:ext>
                </a:extLst>
              </a:tr>
              <a:tr h="226310">
                <a:tc>
                  <a:txBody>
                    <a:bodyPr/>
                    <a:lstStyle/>
                    <a:p>
                      <a:pPr algn="l" fontAlgn="b">
                        <a:buNone/>
                      </a:pPr>
                      <a:r>
                        <a:rPr lang="en-SG" sz="1200" b="0" u="none" strike="noStrike" dirty="0">
                          <a:solidFill>
                            <a:schemeClr val="tx1"/>
                          </a:solidFill>
                          <a:effectLst/>
                        </a:rPr>
                        <a:t>Median</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75</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75</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63391127"/>
                  </a:ext>
                </a:extLst>
              </a:tr>
              <a:tr h="226310">
                <a:tc>
                  <a:txBody>
                    <a:bodyPr/>
                    <a:lstStyle/>
                    <a:p>
                      <a:pPr algn="l" fontAlgn="b">
                        <a:buNone/>
                      </a:pPr>
                      <a:r>
                        <a:rPr lang="en-SG" sz="1200" b="0" u="none" strike="noStrike">
                          <a:solidFill>
                            <a:schemeClr val="tx1"/>
                          </a:solidFill>
                          <a:effectLst/>
                        </a:rPr>
                        <a:t>Var</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12,407.00</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12,407.00</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48628780"/>
                  </a:ext>
                </a:extLst>
              </a:tr>
              <a:tr h="226310">
                <a:tc>
                  <a:txBody>
                    <a:bodyPr/>
                    <a:lstStyle/>
                    <a:p>
                      <a:pPr algn="l" fontAlgn="b">
                        <a:buNone/>
                      </a:pPr>
                      <a:r>
                        <a:rPr lang="en-SG" sz="1200" b="0" u="none" strike="noStrike">
                          <a:solidFill>
                            <a:schemeClr val="tx1"/>
                          </a:solidFill>
                          <a:effectLst/>
                        </a:rPr>
                        <a:t>STD</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111.39</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111.39</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6221823"/>
                  </a:ext>
                </a:extLst>
              </a:tr>
              <a:tr h="226310">
                <a:tc>
                  <a:txBody>
                    <a:bodyPr/>
                    <a:lstStyle/>
                    <a:p>
                      <a:pPr algn="l" fontAlgn="b">
                        <a:buNone/>
                      </a:pPr>
                      <a:r>
                        <a:rPr lang="en-SG" sz="1200" b="0" u="none" strike="noStrike">
                          <a:solidFill>
                            <a:schemeClr val="tx1"/>
                          </a:solidFill>
                          <a:effectLst/>
                        </a:rPr>
                        <a:t>CV</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0.74</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1.37</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94769119"/>
                  </a:ext>
                </a:extLst>
              </a:tr>
              <a:tr h="226310">
                <a:tc>
                  <a:txBody>
                    <a:bodyPr/>
                    <a:lstStyle/>
                    <a:p>
                      <a:pPr algn="l" fontAlgn="b">
                        <a:buNone/>
                      </a:pPr>
                      <a:r>
                        <a:rPr lang="en-SG" sz="1200" b="0" u="none" strike="noStrike">
                          <a:solidFill>
                            <a:schemeClr val="tx1"/>
                          </a:solidFill>
                          <a:effectLst/>
                        </a:rPr>
                        <a:t>Sum</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4,940,732</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3,689,634</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18896391"/>
                  </a:ext>
                </a:extLst>
              </a:tr>
              <a:tr h="226310">
                <a:tc>
                  <a:txBody>
                    <a:bodyPr/>
                    <a:lstStyle/>
                    <a:p>
                      <a:pPr algn="l" fontAlgn="b">
                        <a:buNone/>
                      </a:pPr>
                      <a:r>
                        <a:rPr lang="en-SG" sz="1200" b="0" u="none" strike="noStrike">
                          <a:solidFill>
                            <a:schemeClr val="tx1"/>
                          </a:solidFill>
                          <a:effectLst/>
                        </a:rPr>
                        <a:t>Count Transaction</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32,610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45,430</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13329853"/>
                  </a:ext>
                </a:extLst>
              </a:tr>
            </a:tbl>
          </a:graphicData>
        </a:graphic>
      </p:graphicFrame>
      <p:graphicFrame>
        <p:nvGraphicFramePr>
          <p:cNvPr id="6" name="Table 5">
            <a:extLst>
              <a:ext uri="{FF2B5EF4-FFF2-40B4-BE49-F238E27FC236}">
                <a16:creationId xmlns:a16="http://schemas.microsoft.com/office/drawing/2014/main" id="{4F4C0444-BB2F-DF54-F43A-B20B46EC5B65}"/>
              </a:ext>
            </a:extLst>
          </p:cNvPr>
          <p:cNvGraphicFramePr>
            <a:graphicFrameLocks noGrp="1"/>
          </p:cNvGraphicFramePr>
          <p:nvPr>
            <p:extLst>
              <p:ext uri="{D42A27DB-BD31-4B8C-83A1-F6EECF244321}">
                <p14:modId xmlns:p14="http://schemas.microsoft.com/office/powerpoint/2010/main" val="3829719737"/>
              </p:ext>
            </p:extLst>
          </p:nvPr>
        </p:nvGraphicFramePr>
        <p:xfrm>
          <a:off x="6540372" y="3764304"/>
          <a:ext cx="5182996" cy="1027586"/>
        </p:xfrm>
        <a:graphic>
          <a:graphicData uri="http://schemas.openxmlformats.org/drawingml/2006/table">
            <a:tbl>
              <a:tblPr firstRow="1" bandRow="1">
                <a:tableStyleId>{9D7B26C5-4107-4FEC-AEDC-1716B250A1EF}</a:tableStyleId>
              </a:tblPr>
              <a:tblGrid>
                <a:gridCol w="1455087">
                  <a:extLst>
                    <a:ext uri="{9D8B030D-6E8A-4147-A177-3AD203B41FA5}">
                      <a16:colId xmlns:a16="http://schemas.microsoft.com/office/drawing/2014/main" val="161958125"/>
                    </a:ext>
                  </a:extLst>
                </a:gridCol>
                <a:gridCol w="1334832">
                  <a:extLst>
                    <a:ext uri="{9D8B030D-6E8A-4147-A177-3AD203B41FA5}">
                      <a16:colId xmlns:a16="http://schemas.microsoft.com/office/drawing/2014/main" val="613084906"/>
                    </a:ext>
                  </a:extLst>
                </a:gridCol>
                <a:gridCol w="1298755">
                  <a:extLst>
                    <a:ext uri="{9D8B030D-6E8A-4147-A177-3AD203B41FA5}">
                      <a16:colId xmlns:a16="http://schemas.microsoft.com/office/drawing/2014/main" val="4197963898"/>
                    </a:ext>
                  </a:extLst>
                </a:gridCol>
                <a:gridCol w="1094322">
                  <a:extLst>
                    <a:ext uri="{9D8B030D-6E8A-4147-A177-3AD203B41FA5}">
                      <a16:colId xmlns:a16="http://schemas.microsoft.com/office/drawing/2014/main" val="1912838464"/>
                    </a:ext>
                  </a:extLst>
                </a:gridCol>
              </a:tblGrid>
              <a:tr h="685058">
                <a:tc gridSpan="2">
                  <a:txBody>
                    <a:bodyPr/>
                    <a:lstStyle/>
                    <a:p>
                      <a:pPr algn="ctr" fontAlgn="ctr">
                        <a:buNone/>
                      </a:pPr>
                      <a:r>
                        <a:rPr lang="en-SG" sz="1200" b="0" u="none" strike="noStrike" dirty="0">
                          <a:solidFill>
                            <a:schemeClr val="tx1"/>
                          </a:solidFill>
                          <a:effectLst/>
                        </a:rPr>
                        <a:t>Relationship</a:t>
                      </a:r>
                      <a:endParaRPr lang="en-SG" sz="1200" b="0" i="0" u="none" strike="noStrike" dirty="0">
                        <a:solidFill>
                          <a:schemeClr val="tx1"/>
                        </a:solidFill>
                        <a:effectLst/>
                        <a:latin typeface="+mn-lt"/>
                      </a:endParaRPr>
                    </a:p>
                  </a:txBody>
                  <a:tcPr marL="9525" marR="9525" marT="9525" marB="0" anchor="ctr"/>
                </a:tc>
                <a:tc hMerge="1">
                  <a:txBody>
                    <a:bodyPr/>
                    <a:lstStyle/>
                    <a:p>
                      <a:endParaRPr lang="en-US"/>
                    </a:p>
                  </a:txBody>
                  <a:tcPr/>
                </a:tc>
                <a:tc>
                  <a:txBody>
                    <a:bodyPr/>
                    <a:lstStyle/>
                    <a:p>
                      <a:pPr algn="ctr" fontAlgn="ctr">
                        <a:buNone/>
                      </a:pPr>
                      <a:r>
                        <a:rPr lang="en-SG" sz="1200" b="0" u="none" strike="noStrike" dirty="0">
                          <a:solidFill>
                            <a:schemeClr val="tx1"/>
                          </a:solidFill>
                          <a:effectLst/>
                        </a:rPr>
                        <a:t>Covariance (COVARIANCE.S)</a:t>
                      </a:r>
                      <a:endParaRPr lang="en-SG" sz="1200" b="0" i="0" u="none" strike="noStrike" dirty="0">
                        <a:solidFill>
                          <a:schemeClr val="tx1"/>
                        </a:solidFill>
                        <a:effectLst/>
                        <a:latin typeface="+mn-lt"/>
                      </a:endParaRPr>
                    </a:p>
                  </a:txBody>
                  <a:tcPr marL="9525" marR="9525" marT="9525" marB="0" anchor="ctr"/>
                </a:tc>
                <a:tc>
                  <a:txBody>
                    <a:bodyPr/>
                    <a:lstStyle/>
                    <a:p>
                      <a:pPr algn="ctr" fontAlgn="ctr">
                        <a:buNone/>
                      </a:pPr>
                      <a:r>
                        <a:rPr lang="en-SG" sz="1200" b="0" u="none" strike="noStrike" dirty="0">
                          <a:solidFill>
                            <a:schemeClr val="tx1"/>
                          </a:solidFill>
                          <a:effectLst/>
                        </a:rPr>
                        <a:t>Correlation (CORREL)</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1243123979"/>
                  </a:ext>
                </a:extLst>
              </a:tr>
              <a:tr h="342528">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a:solidFill>
                            <a:schemeClr val="tx1"/>
                          </a:solidFill>
                          <a:effectLst/>
                        </a:rPr>
                        <a:t>Lead Time</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17.10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0.31</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885703639"/>
                  </a:ext>
                </a:extLst>
              </a:tr>
            </a:tbl>
          </a:graphicData>
        </a:graphic>
      </p:graphicFrame>
      <p:graphicFrame>
        <p:nvGraphicFramePr>
          <p:cNvPr id="7" name="Table 6">
            <a:extLst>
              <a:ext uri="{FF2B5EF4-FFF2-40B4-BE49-F238E27FC236}">
                <a16:creationId xmlns:a16="http://schemas.microsoft.com/office/drawing/2014/main" id="{3F3F9906-E1CB-3297-0635-6F8E836DB490}"/>
              </a:ext>
            </a:extLst>
          </p:cNvPr>
          <p:cNvGraphicFramePr>
            <a:graphicFrameLocks noGrp="1"/>
          </p:cNvGraphicFramePr>
          <p:nvPr>
            <p:extLst>
              <p:ext uri="{D42A27DB-BD31-4B8C-83A1-F6EECF244321}">
                <p14:modId xmlns:p14="http://schemas.microsoft.com/office/powerpoint/2010/main" val="1443306427"/>
              </p:ext>
            </p:extLst>
          </p:nvPr>
        </p:nvGraphicFramePr>
        <p:xfrm>
          <a:off x="6966256" y="5132144"/>
          <a:ext cx="4787900" cy="1016000"/>
        </p:xfrm>
        <a:graphic>
          <a:graphicData uri="http://schemas.openxmlformats.org/drawingml/2006/table">
            <a:tbl>
              <a:tblPr firstRow="1" bandRow="1">
                <a:tableStyleId>{9D7B26C5-4107-4FEC-AEDC-1716B250A1EF}</a:tableStyleId>
              </a:tblPr>
              <a:tblGrid>
                <a:gridCol w="2046518">
                  <a:extLst>
                    <a:ext uri="{9D8B030D-6E8A-4147-A177-3AD203B41FA5}">
                      <a16:colId xmlns:a16="http://schemas.microsoft.com/office/drawing/2014/main" val="4173330842"/>
                    </a:ext>
                  </a:extLst>
                </a:gridCol>
                <a:gridCol w="1561065">
                  <a:extLst>
                    <a:ext uri="{9D8B030D-6E8A-4147-A177-3AD203B41FA5}">
                      <a16:colId xmlns:a16="http://schemas.microsoft.com/office/drawing/2014/main" val="1238986247"/>
                    </a:ext>
                  </a:extLst>
                </a:gridCol>
                <a:gridCol w="1180317">
                  <a:extLst>
                    <a:ext uri="{9D8B030D-6E8A-4147-A177-3AD203B41FA5}">
                      <a16:colId xmlns:a16="http://schemas.microsoft.com/office/drawing/2014/main" val="3533257367"/>
                    </a:ext>
                  </a:extLst>
                </a:gridCol>
              </a:tblGrid>
              <a:tr h="203200">
                <a:tc>
                  <a:txBody>
                    <a:bodyPr/>
                    <a:lstStyle/>
                    <a:p>
                      <a:pPr algn="l" fontAlgn="b">
                        <a:buNone/>
                      </a:pPr>
                      <a:r>
                        <a:rPr lang="en-SG" sz="1200" b="0" u="none" strike="noStrike">
                          <a:solidFill>
                            <a:schemeClr val="tx1"/>
                          </a:solidFill>
                          <a:effectLst/>
                        </a:rPr>
                        <a:t>Lead Time</a:t>
                      </a:r>
                      <a:endParaRPr lang="en-SG" sz="1200" b="0" i="0" u="none" strike="noStrike">
                        <a:solidFill>
                          <a:schemeClr val="tx1"/>
                        </a:solidFill>
                        <a:effectLst/>
                        <a:latin typeface=""/>
                        <a:cs typeface="Courier New" panose="02070309020205020404" pitchFamily="49" charset="0"/>
                      </a:endParaRPr>
                    </a:p>
                  </a:txBody>
                  <a:tcPr marL="9525" marR="9525" marT="9525" marB="0" anchor="ctr"/>
                </a:tc>
                <a:tc>
                  <a:txBody>
                    <a:bodyPr/>
                    <a:lstStyle/>
                    <a:p>
                      <a:pPr algn="l" fontAlgn="b">
                        <a:buNone/>
                      </a:pPr>
                      <a:r>
                        <a:rPr lang="en-SG" sz="1200" b="0" u="none" strike="noStrike" dirty="0">
                          <a:solidFill>
                            <a:schemeClr val="tx1"/>
                          </a:solidFill>
                          <a:effectLst/>
                        </a:rPr>
                        <a:t>Cancellation %</a:t>
                      </a:r>
                      <a:endParaRPr lang="en-SG" sz="1200" b="0" i="0" u="none" strike="noStrike" dirty="0">
                        <a:solidFill>
                          <a:schemeClr val="tx1"/>
                        </a:solidFill>
                        <a:effectLst/>
                        <a:latin typeface=""/>
                        <a:cs typeface="Courier New" panose="02070309020205020404" pitchFamily="49" charset="0"/>
                      </a:endParaRPr>
                    </a:p>
                  </a:txBody>
                  <a:tcPr marL="9525" marR="9525" marT="9525" marB="0" anchor="ctr"/>
                </a:tc>
                <a:tc>
                  <a:txBody>
                    <a:bodyPr/>
                    <a:lstStyle/>
                    <a:p>
                      <a:pPr algn="ctr" fontAlgn="b">
                        <a:buNone/>
                      </a:pPr>
                      <a:r>
                        <a:rPr lang="en-SG" sz="1200" b="0" u="none" strike="noStrike">
                          <a:solidFill>
                            <a:schemeClr val="tx1"/>
                          </a:solidFill>
                          <a:effectLst/>
                        </a:rPr>
                        <a:t>Lift</a:t>
                      </a:r>
                      <a:endParaRPr lang="en-SG" sz="1200" b="0" i="0" u="none" strike="noStrike">
                        <a:solidFill>
                          <a:schemeClr val="tx1"/>
                        </a:solidFill>
                        <a:effectLst/>
                        <a:latin typeface=""/>
                        <a:cs typeface="Courier New" panose="02070309020205020404" pitchFamily="49" charset="0"/>
                      </a:endParaRPr>
                    </a:p>
                  </a:txBody>
                  <a:tcPr marL="9525" marR="9525" marT="9525" marB="0" anchor="ctr"/>
                </a:tc>
                <a:extLst>
                  <a:ext uri="{0D108BD9-81ED-4DB2-BD59-A6C34878D82A}">
                    <a16:rowId xmlns:a16="http://schemas.microsoft.com/office/drawing/2014/main" val="235416599"/>
                  </a:ext>
                </a:extLst>
              </a:tr>
              <a:tr h="203200">
                <a:tc>
                  <a:txBody>
                    <a:bodyPr/>
                    <a:lstStyle/>
                    <a:p>
                      <a:pPr algn="l" fontAlgn="b">
                        <a:buNone/>
                      </a:pPr>
                      <a:r>
                        <a:rPr lang="en-SG" sz="1200" b="0" u="none" strike="noStrike">
                          <a:solidFill>
                            <a:schemeClr val="tx1"/>
                          </a:solidFill>
                          <a:effectLst/>
                        </a:rPr>
                        <a:t>0~30</a:t>
                      </a:r>
                      <a:endParaRPr lang="en-SG" sz="1200" b="0" i="0" u="none" strike="noStrike">
                        <a:solidFill>
                          <a:schemeClr val="tx1"/>
                        </a:solidFill>
                        <a:effectLst/>
                        <a:latin typeface=""/>
                        <a:cs typeface="Courier New" panose="02070309020205020404" pitchFamily="49" charset="0"/>
                      </a:endParaRPr>
                    </a:p>
                  </a:txBody>
                  <a:tcPr marL="9525" marR="9525" marT="9525" marB="0" anchor="ctr"/>
                </a:tc>
                <a:tc>
                  <a:txBody>
                    <a:bodyPr/>
                    <a:lstStyle/>
                    <a:p>
                      <a:pPr algn="r" fontAlgn="b">
                        <a:buNone/>
                      </a:pPr>
                      <a:r>
                        <a:rPr lang="en-SG" sz="1200" b="0" u="none" strike="noStrike">
                          <a:solidFill>
                            <a:schemeClr val="tx1"/>
                          </a:solidFill>
                          <a:effectLst/>
                        </a:rPr>
                        <a:t>22%</a:t>
                      </a:r>
                      <a:endParaRPr lang="en-SG" sz="1200" b="0" i="0" u="none" strike="noStrike">
                        <a:solidFill>
                          <a:schemeClr val="tx1"/>
                        </a:solidFill>
                        <a:effectLst/>
                        <a:latin typeface=""/>
                        <a:cs typeface="Courier New" panose="02070309020205020404" pitchFamily="49" charset="0"/>
                      </a:endParaRPr>
                    </a:p>
                  </a:txBody>
                  <a:tcPr marL="9525" marR="9525" marT="9525" marB="0" anchor="ctr"/>
                </a:tc>
                <a:tc>
                  <a:txBody>
                    <a:bodyPr/>
                    <a:lstStyle/>
                    <a:p>
                      <a:pPr algn="r" fontAlgn="b">
                        <a:buNone/>
                      </a:pPr>
                      <a:r>
                        <a:rPr lang="en-SG" sz="1200" b="0" u="none" strike="noStrike">
                          <a:solidFill>
                            <a:schemeClr val="tx1"/>
                          </a:solidFill>
                          <a:effectLst/>
                        </a:rPr>
                        <a:t>0.55</a:t>
                      </a:r>
                      <a:endParaRPr lang="en-SG" sz="1200" b="0" i="0" u="none" strike="noStrike">
                        <a:solidFill>
                          <a:schemeClr val="tx1"/>
                        </a:solidFill>
                        <a:effectLst/>
                        <a:latin typeface=""/>
                        <a:cs typeface="Courier New" panose="02070309020205020404" pitchFamily="49" charset="0"/>
                      </a:endParaRPr>
                    </a:p>
                  </a:txBody>
                  <a:tcPr marL="9525" marR="9525" marT="9525" marB="0" anchor="ctr"/>
                </a:tc>
                <a:extLst>
                  <a:ext uri="{0D108BD9-81ED-4DB2-BD59-A6C34878D82A}">
                    <a16:rowId xmlns:a16="http://schemas.microsoft.com/office/drawing/2014/main" val="4290256675"/>
                  </a:ext>
                </a:extLst>
              </a:tr>
              <a:tr h="203200">
                <a:tc>
                  <a:txBody>
                    <a:bodyPr/>
                    <a:lstStyle/>
                    <a:p>
                      <a:pPr algn="l" fontAlgn="b">
                        <a:buNone/>
                      </a:pPr>
                      <a:r>
                        <a:rPr lang="en-SG" sz="1200" b="0" u="none" strike="noStrike">
                          <a:solidFill>
                            <a:schemeClr val="tx1"/>
                          </a:solidFill>
                          <a:effectLst/>
                        </a:rPr>
                        <a:t>31~90</a:t>
                      </a:r>
                      <a:endParaRPr lang="en-SG" sz="1200" b="0" i="0" u="none" strike="noStrike">
                        <a:solidFill>
                          <a:schemeClr val="tx1"/>
                        </a:solidFill>
                        <a:effectLst/>
                        <a:latin typeface=""/>
                        <a:cs typeface="Courier New" panose="02070309020205020404" pitchFamily="49" charset="0"/>
                      </a:endParaRPr>
                    </a:p>
                  </a:txBody>
                  <a:tcPr marL="9525" marR="9525" marT="9525" marB="0" anchor="ctr"/>
                </a:tc>
                <a:tc>
                  <a:txBody>
                    <a:bodyPr/>
                    <a:lstStyle/>
                    <a:p>
                      <a:pPr algn="r" fontAlgn="b">
                        <a:buNone/>
                      </a:pPr>
                      <a:r>
                        <a:rPr lang="en-SG" sz="1200" b="0" u="none" strike="noStrike">
                          <a:solidFill>
                            <a:schemeClr val="tx1"/>
                          </a:solidFill>
                          <a:effectLst/>
                        </a:rPr>
                        <a:t>40%</a:t>
                      </a:r>
                      <a:endParaRPr lang="en-SG" sz="1200" b="0" i="0" u="none" strike="noStrike">
                        <a:solidFill>
                          <a:schemeClr val="tx1"/>
                        </a:solidFill>
                        <a:effectLst/>
                        <a:latin typeface=""/>
                        <a:cs typeface="Courier New" panose="02070309020205020404" pitchFamily="49" charset="0"/>
                      </a:endParaRPr>
                    </a:p>
                  </a:txBody>
                  <a:tcPr marL="9525" marR="9525" marT="9525" marB="0" anchor="ctr"/>
                </a:tc>
                <a:tc>
                  <a:txBody>
                    <a:bodyPr/>
                    <a:lstStyle/>
                    <a:p>
                      <a:pPr algn="r" fontAlgn="b">
                        <a:buNone/>
                      </a:pPr>
                      <a:r>
                        <a:rPr lang="en-SG" sz="1200" b="0" u="none" strike="noStrike">
                          <a:solidFill>
                            <a:schemeClr val="tx1"/>
                          </a:solidFill>
                          <a:effectLst/>
                        </a:rPr>
                        <a:t>1.00</a:t>
                      </a:r>
                      <a:endParaRPr lang="en-SG" sz="1200" b="0" i="0" u="none" strike="noStrike">
                        <a:solidFill>
                          <a:schemeClr val="tx1"/>
                        </a:solidFill>
                        <a:effectLst/>
                        <a:latin typeface=""/>
                        <a:cs typeface="Courier New" panose="02070309020205020404" pitchFamily="49" charset="0"/>
                      </a:endParaRPr>
                    </a:p>
                  </a:txBody>
                  <a:tcPr marL="9525" marR="9525" marT="9525" marB="0" anchor="ctr"/>
                </a:tc>
                <a:extLst>
                  <a:ext uri="{0D108BD9-81ED-4DB2-BD59-A6C34878D82A}">
                    <a16:rowId xmlns:a16="http://schemas.microsoft.com/office/drawing/2014/main" val="632810803"/>
                  </a:ext>
                </a:extLst>
              </a:tr>
              <a:tr h="203200">
                <a:tc>
                  <a:txBody>
                    <a:bodyPr/>
                    <a:lstStyle/>
                    <a:p>
                      <a:pPr algn="l" fontAlgn="b">
                        <a:buNone/>
                      </a:pPr>
                      <a:r>
                        <a:rPr lang="en-SG" sz="1200" b="0" u="none" strike="noStrike">
                          <a:solidFill>
                            <a:schemeClr val="tx1"/>
                          </a:solidFill>
                          <a:effectLst/>
                        </a:rPr>
                        <a:t>91~150</a:t>
                      </a:r>
                      <a:endParaRPr lang="en-SG" sz="1200" b="0" i="0" u="none" strike="noStrike">
                        <a:solidFill>
                          <a:schemeClr val="tx1"/>
                        </a:solidFill>
                        <a:effectLst/>
                        <a:latin typeface=""/>
                        <a:cs typeface="Courier New" panose="02070309020205020404" pitchFamily="49" charset="0"/>
                      </a:endParaRPr>
                    </a:p>
                  </a:txBody>
                  <a:tcPr marL="9525" marR="9525" marT="9525" marB="0" anchor="ctr"/>
                </a:tc>
                <a:tc>
                  <a:txBody>
                    <a:bodyPr/>
                    <a:lstStyle/>
                    <a:p>
                      <a:pPr algn="r" fontAlgn="b">
                        <a:buNone/>
                      </a:pPr>
                      <a:r>
                        <a:rPr lang="en-SG" sz="1200" b="0" u="none" strike="noStrike">
                          <a:solidFill>
                            <a:schemeClr val="tx1"/>
                          </a:solidFill>
                          <a:effectLst/>
                        </a:rPr>
                        <a:t>46%</a:t>
                      </a:r>
                      <a:endParaRPr lang="en-SG" sz="1200" b="0" i="0" u="none" strike="noStrike">
                        <a:solidFill>
                          <a:schemeClr val="tx1"/>
                        </a:solidFill>
                        <a:effectLst/>
                        <a:latin typeface=""/>
                        <a:cs typeface="Courier New" panose="02070309020205020404" pitchFamily="49" charset="0"/>
                      </a:endParaRPr>
                    </a:p>
                  </a:txBody>
                  <a:tcPr marL="9525" marR="9525" marT="9525" marB="0" anchor="ctr"/>
                </a:tc>
                <a:tc>
                  <a:txBody>
                    <a:bodyPr/>
                    <a:lstStyle/>
                    <a:p>
                      <a:pPr algn="r" fontAlgn="b">
                        <a:buNone/>
                      </a:pPr>
                      <a:r>
                        <a:rPr lang="en-SG" sz="1200" b="0" u="none" strike="noStrike">
                          <a:solidFill>
                            <a:schemeClr val="tx1"/>
                          </a:solidFill>
                          <a:effectLst/>
                        </a:rPr>
                        <a:t>1.16</a:t>
                      </a:r>
                      <a:endParaRPr lang="en-SG" sz="1200" b="0" i="0" u="none" strike="noStrike">
                        <a:solidFill>
                          <a:schemeClr val="tx1"/>
                        </a:solidFill>
                        <a:effectLst/>
                        <a:latin typeface=""/>
                        <a:cs typeface="Courier New" panose="02070309020205020404" pitchFamily="49" charset="0"/>
                      </a:endParaRPr>
                    </a:p>
                  </a:txBody>
                  <a:tcPr marL="9525" marR="9525" marT="9525" marB="0" anchor="ctr"/>
                </a:tc>
                <a:extLst>
                  <a:ext uri="{0D108BD9-81ED-4DB2-BD59-A6C34878D82A}">
                    <a16:rowId xmlns:a16="http://schemas.microsoft.com/office/drawing/2014/main" val="1798902512"/>
                  </a:ext>
                </a:extLst>
              </a:tr>
              <a:tr h="203200">
                <a:tc>
                  <a:txBody>
                    <a:bodyPr/>
                    <a:lstStyle/>
                    <a:p>
                      <a:pPr algn="l" fontAlgn="b">
                        <a:buNone/>
                      </a:pPr>
                      <a:r>
                        <a:rPr lang="en-SG" sz="1200" b="0" u="none" strike="noStrike">
                          <a:solidFill>
                            <a:schemeClr val="tx1"/>
                          </a:solidFill>
                          <a:effectLst/>
                        </a:rPr>
                        <a:t>150+</a:t>
                      </a:r>
                      <a:endParaRPr lang="en-SG" sz="1200" b="0" i="0" u="none" strike="noStrike">
                        <a:solidFill>
                          <a:schemeClr val="tx1"/>
                        </a:solidFill>
                        <a:effectLst/>
                        <a:latin typeface=""/>
                        <a:cs typeface="Courier New" panose="02070309020205020404" pitchFamily="49" charset="0"/>
                      </a:endParaRPr>
                    </a:p>
                  </a:txBody>
                  <a:tcPr marL="9525" marR="9525" marT="9525" marB="0" anchor="ctr"/>
                </a:tc>
                <a:tc>
                  <a:txBody>
                    <a:bodyPr/>
                    <a:lstStyle/>
                    <a:p>
                      <a:pPr algn="r" fontAlgn="b">
                        <a:buNone/>
                      </a:pPr>
                      <a:r>
                        <a:rPr lang="en-SG" sz="1200" b="0" u="none" strike="noStrike">
                          <a:solidFill>
                            <a:schemeClr val="tx1"/>
                          </a:solidFill>
                          <a:effectLst/>
                        </a:rPr>
                        <a:t>61%</a:t>
                      </a:r>
                      <a:endParaRPr lang="en-SG" sz="1200" b="0" i="0" u="none" strike="noStrike">
                        <a:solidFill>
                          <a:schemeClr val="tx1"/>
                        </a:solidFill>
                        <a:effectLst/>
                        <a:latin typeface=""/>
                        <a:cs typeface="Courier New" panose="02070309020205020404" pitchFamily="49" charset="0"/>
                      </a:endParaRPr>
                    </a:p>
                  </a:txBody>
                  <a:tcPr marL="9525" marR="9525" marT="9525" marB="0" anchor="ctr"/>
                </a:tc>
                <a:tc>
                  <a:txBody>
                    <a:bodyPr/>
                    <a:lstStyle/>
                    <a:p>
                      <a:pPr algn="r" fontAlgn="b">
                        <a:buNone/>
                      </a:pPr>
                      <a:r>
                        <a:rPr lang="en-SG" sz="1200" b="0" u="none" strike="noStrike" dirty="0">
                          <a:solidFill>
                            <a:schemeClr val="tx1"/>
                          </a:solidFill>
                          <a:effectLst/>
                        </a:rPr>
                        <a:t>1.54</a:t>
                      </a:r>
                      <a:endParaRPr lang="en-SG" sz="1200" b="0" i="0" u="none" strike="noStrike" dirty="0">
                        <a:solidFill>
                          <a:schemeClr val="tx1"/>
                        </a:solidFill>
                        <a:effectLst/>
                        <a:latin typeface=""/>
                        <a:cs typeface="Courier New" panose="02070309020205020404" pitchFamily="49" charset="0"/>
                      </a:endParaRPr>
                    </a:p>
                  </a:txBody>
                  <a:tcPr marL="9525" marR="9525" marT="9525" marB="0" anchor="ctr"/>
                </a:tc>
                <a:extLst>
                  <a:ext uri="{0D108BD9-81ED-4DB2-BD59-A6C34878D82A}">
                    <a16:rowId xmlns:a16="http://schemas.microsoft.com/office/drawing/2014/main" val="4254280063"/>
                  </a:ext>
                </a:extLst>
              </a:tr>
            </a:tbl>
          </a:graphicData>
        </a:graphic>
      </p:graphicFrame>
    </p:spTree>
    <p:extLst>
      <p:ext uri="{BB962C8B-B14F-4D97-AF65-F5344CB8AC3E}">
        <p14:creationId xmlns:p14="http://schemas.microsoft.com/office/powerpoint/2010/main" val="3760608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0068DF40-A312-0FAA-1D6E-6055AD87B4B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E5EE68A-861B-77A3-1F50-AF461FC868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25B80D-80F1-FFB2-2ABD-498D7D024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CB56A44-E2D1-34AC-75E8-54FCD1BD65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0056F6FD-DA04-5941-9FC7-6BF7AC11B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128FAB1-8DFB-96DE-CAAE-AB1F18FA64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9A00BFE2-568C-862F-100A-1843E61A6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4676AD9C-44CF-2602-FF7E-9294373D1B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9C29AA9E-C834-82E6-EDD7-CBB1EBC3CB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166C0F47-1A8C-E101-F442-9D1B10ABA7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430657-9D69-1BA6-5B1A-1E2EF207E553}"/>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Lead Time &amp; Market Segments Analysis</a:t>
            </a:r>
          </a:p>
        </p:txBody>
      </p:sp>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5CA92739-2754-6F3E-D9FE-6DC701159677}"/>
                  </a:ext>
                </a:extLst>
              </p:cNvPr>
              <p:cNvGraphicFramePr/>
              <p:nvPr/>
            </p:nvGraphicFramePr>
            <p:xfrm>
              <a:off x="1232637" y="1029118"/>
              <a:ext cx="4572000" cy="3250781"/>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3" name="Chart 2">
                <a:extLst>
                  <a:ext uri="{FF2B5EF4-FFF2-40B4-BE49-F238E27FC236}">
                    <a16:creationId xmlns:a16="http://schemas.microsoft.com/office/drawing/2014/main" id="{5CA92739-2754-6F3E-D9FE-6DC701159677}"/>
                  </a:ext>
                </a:extLst>
              </p:cNvPr>
              <p:cNvPicPr>
                <a:picLocks noGrp="1" noRot="1" noChangeAspect="1" noMove="1" noResize="1" noEditPoints="1" noAdjustHandles="1" noChangeArrowheads="1" noChangeShapeType="1"/>
              </p:cNvPicPr>
              <p:nvPr/>
            </p:nvPicPr>
            <p:blipFill>
              <a:blip r:embed="rId6"/>
              <a:stretch>
                <a:fillRect/>
              </a:stretch>
            </p:blipFill>
            <p:spPr>
              <a:xfrm>
                <a:off x="1232637" y="1029118"/>
                <a:ext cx="4572000" cy="3250781"/>
              </a:xfrm>
              <a:prstGeom prst="rect">
                <a:avLst/>
              </a:prstGeom>
            </p:spPr>
          </p:pic>
        </mc:Fallback>
      </mc:AlternateContent>
      <p:graphicFrame>
        <p:nvGraphicFramePr>
          <p:cNvPr id="4" name="Chart 3">
            <a:extLst>
              <a:ext uri="{FF2B5EF4-FFF2-40B4-BE49-F238E27FC236}">
                <a16:creationId xmlns:a16="http://schemas.microsoft.com/office/drawing/2014/main" id="{6EB08928-8C3C-EFE8-66DC-793578E2A61E}"/>
              </a:ext>
            </a:extLst>
          </p:cNvPr>
          <p:cNvGraphicFramePr>
            <a:graphicFrameLocks/>
          </p:cNvGraphicFramePr>
          <p:nvPr/>
        </p:nvGraphicFramePr>
        <p:xfrm>
          <a:off x="6208908" y="1029118"/>
          <a:ext cx="5195692" cy="3428581"/>
        </p:xfrm>
        <a:graphic>
          <a:graphicData uri="http://schemas.openxmlformats.org/drawingml/2006/chart">
            <c:chart xmlns:c="http://schemas.openxmlformats.org/drawingml/2006/chart" xmlns:r="http://schemas.openxmlformats.org/officeDocument/2006/relationships" r:id="rId7"/>
          </a:graphicData>
        </a:graphic>
      </p:graphicFrame>
      <p:sp>
        <p:nvSpPr>
          <p:cNvPr id="5" name="TextBox 4">
            <a:extLst>
              <a:ext uri="{FF2B5EF4-FFF2-40B4-BE49-F238E27FC236}">
                <a16:creationId xmlns:a16="http://schemas.microsoft.com/office/drawing/2014/main" id="{5FBA9A56-D6E1-5611-9E00-452EC1FD0A4B}"/>
              </a:ext>
            </a:extLst>
          </p:cNvPr>
          <p:cNvSpPr txBox="1"/>
          <p:nvPr/>
        </p:nvSpPr>
        <p:spPr>
          <a:xfrm>
            <a:off x="1603110" y="4722934"/>
            <a:ext cx="3745108" cy="1521250"/>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200" dirty="0"/>
              <a:t>Top 3 largest lead time Market Segments</a:t>
            </a:r>
          </a:p>
          <a:p>
            <a:pPr marL="57150" indent="-342900" defTabSz="914400">
              <a:lnSpc>
                <a:spcPct val="120000"/>
              </a:lnSpc>
              <a:spcAft>
                <a:spcPts val="600"/>
              </a:spcAft>
              <a:buClr>
                <a:schemeClr val="accent6"/>
              </a:buClr>
              <a:buSzPct val="90000"/>
              <a:buFont typeface="+mj-lt"/>
              <a:buAutoNum type="arabicPeriod"/>
            </a:pPr>
            <a:r>
              <a:rPr lang="en-US" sz="1200" dirty="0"/>
              <a:t>Online TA (37%)</a:t>
            </a:r>
          </a:p>
          <a:p>
            <a:pPr marL="57150" indent="-342900" defTabSz="914400">
              <a:lnSpc>
                <a:spcPct val="120000"/>
              </a:lnSpc>
              <a:spcAft>
                <a:spcPts val="600"/>
              </a:spcAft>
              <a:buClr>
                <a:schemeClr val="accent6"/>
              </a:buClr>
              <a:buSzPct val="90000"/>
              <a:buFont typeface="+mj-lt"/>
              <a:buAutoNum type="arabicPeriod"/>
            </a:pPr>
            <a:r>
              <a:rPr lang="en-US" sz="1200" dirty="0"/>
              <a:t>Groups (32%)</a:t>
            </a:r>
          </a:p>
          <a:p>
            <a:pPr marL="57150" indent="-342900" defTabSz="914400">
              <a:lnSpc>
                <a:spcPct val="120000"/>
              </a:lnSpc>
              <a:spcAft>
                <a:spcPts val="600"/>
              </a:spcAft>
              <a:buClr>
                <a:schemeClr val="accent6"/>
              </a:buClr>
              <a:buSzPct val="90000"/>
              <a:buFont typeface="+mj-lt"/>
              <a:buAutoNum type="arabicPeriod"/>
            </a:pPr>
            <a:r>
              <a:rPr lang="en-US" sz="1200" dirty="0"/>
              <a:t>Offline TA/TO (27%)</a:t>
            </a:r>
          </a:p>
          <a:p>
            <a:pPr indent="-285750" defTabSz="914400">
              <a:lnSpc>
                <a:spcPct val="120000"/>
              </a:lnSpc>
              <a:spcAft>
                <a:spcPts val="600"/>
              </a:spcAft>
              <a:buClr>
                <a:schemeClr val="accent6"/>
              </a:buClr>
              <a:buSzPct val="90000"/>
              <a:buFont typeface="Wingdings" panose="05000000000000000000" pitchFamily="2" charset="2"/>
              <a:buChar char="§"/>
            </a:pPr>
            <a:endParaRPr lang="en-US" sz="1400" dirty="0"/>
          </a:p>
        </p:txBody>
      </p:sp>
      <p:sp>
        <p:nvSpPr>
          <p:cNvPr id="6" name="TextBox 5">
            <a:extLst>
              <a:ext uri="{FF2B5EF4-FFF2-40B4-BE49-F238E27FC236}">
                <a16:creationId xmlns:a16="http://schemas.microsoft.com/office/drawing/2014/main" id="{2E842702-559A-84FC-9383-4C5E3CCC99E1}"/>
              </a:ext>
            </a:extLst>
          </p:cNvPr>
          <p:cNvSpPr txBox="1"/>
          <p:nvPr/>
        </p:nvSpPr>
        <p:spPr>
          <a:xfrm>
            <a:off x="6572206" y="4691051"/>
            <a:ext cx="3745108" cy="1521250"/>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200" dirty="0"/>
              <a:t>Top 3 most cancellation Market Segments</a:t>
            </a:r>
          </a:p>
          <a:p>
            <a:pPr marL="57150" indent="-342900" defTabSz="914400">
              <a:lnSpc>
                <a:spcPct val="120000"/>
              </a:lnSpc>
              <a:spcAft>
                <a:spcPts val="600"/>
              </a:spcAft>
              <a:buClr>
                <a:schemeClr val="accent6"/>
              </a:buClr>
              <a:buSzPct val="90000"/>
              <a:buFont typeface="+mj-lt"/>
              <a:buAutoNum type="arabicPeriod"/>
            </a:pPr>
            <a:r>
              <a:rPr lang="en-US" sz="1200" dirty="0"/>
              <a:t>Groups (81%)</a:t>
            </a:r>
          </a:p>
          <a:p>
            <a:pPr marL="57150" indent="-342900" defTabSz="914400">
              <a:lnSpc>
                <a:spcPct val="120000"/>
              </a:lnSpc>
              <a:spcAft>
                <a:spcPts val="600"/>
              </a:spcAft>
              <a:buClr>
                <a:schemeClr val="accent6"/>
              </a:buClr>
              <a:buSzPct val="90000"/>
              <a:buFont typeface="+mj-lt"/>
              <a:buAutoNum type="arabicPeriod"/>
            </a:pPr>
            <a:r>
              <a:rPr lang="en-US" sz="1200" dirty="0"/>
              <a:t>Offline TA/TO (51%)</a:t>
            </a:r>
          </a:p>
          <a:p>
            <a:pPr marL="57150" indent="-342900" defTabSz="914400">
              <a:lnSpc>
                <a:spcPct val="120000"/>
              </a:lnSpc>
              <a:spcAft>
                <a:spcPts val="600"/>
              </a:spcAft>
              <a:buClr>
                <a:schemeClr val="accent6"/>
              </a:buClr>
              <a:buSzPct val="90000"/>
              <a:buFont typeface="+mj-lt"/>
              <a:buAutoNum type="arabicPeriod"/>
            </a:pPr>
            <a:r>
              <a:rPr lang="en-US" sz="1200" dirty="0"/>
              <a:t>Online TA (46%)</a:t>
            </a:r>
          </a:p>
          <a:p>
            <a:pPr indent="-285750" defTabSz="914400">
              <a:lnSpc>
                <a:spcPct val="120000"/>
              </a:lnSpc>
              <a:spcAft>
                <a:spcPts val="600"/>
              </a:spcAft>
              <a:buClr>
                <a:schemeClr val="accent6"/>
              </a:buClr>
              <a:buSzPct val="90000"/>
              <a:buFont typeface="Wingdings" panose="05000000000000000000" pitchFamily="2" charset="2"/>
              <a:buChar char="§"/>
            </a:pPr>
            <a:endParaRPr lang="en-US" sz="1400" dirty="0"/>
          </a:p>
        </p:txBody>
      </p:sp>
    </p:spTree>
    <p:extLst>
      <p:ext uri="{BB962C8B-B14F-4D97-AF65-F5344CB8AC3E}">
        <p14:creationId xmlns:p14="http://schemas.microsoft.com/office/powerpoint/2010/main" val="3010927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C615668C-4461-8134-15E0-4FC0D1448C0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E872BDE-804C-AFDF-3568-344DA7932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72BABB-4613-F2A8-7050-7352CBF7A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BB1D6EA9-C52D-2CA0-98BC-9B37EC24EA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3A20B453-7132-7E19-DEEF-D3430DE16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03CF68CB-0AF2-6016-EF2B-1617D02973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51BC4225-820A-FBC7-945F-F3DF896E43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8814397-CEC0-CF90-D7CF-9048312128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9532237D-191A-477D-6BEA-5BC06FC195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528D87E0-43C9-711E-B5F0-70AAB43DAB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F2E8C8-F053-7DD6-38BC-9499D29E9254}"/>
              </a:ext>
            </a:extLst>
          </p:cNvPr>
          <p:cNvSpPr txBox="1">
            <a:spLocks/>
          </p:cNvSpPr>
          <p:nvPr/>
        </p:nvSpPr>
        <p:spPr>
          <a:xfrm>
            <a:off x="994279" y="223754"/>
            <a:ext cx="4947847"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Market Segments Analysis</a:t>
            </a:r>
          </a:p>
        </p:txBody>
      </p:sp>
      <p:graphicFrame>
        <p:nvGraphicFramePr>
          <p:cNvPr id="3" name="Chart 2">
            <a:extLst>
              <a:ext uri="{FF2B5EF4-FFF2-40B4-BE49-F238E27FC236}">
                <a16:creationId xmlns:a16="http://schemas.microsoft.com/office/drawing/2014/main" id="{1F345B0F-D08F-3789-4581-59D4E93367C4}"/>
              </a:ext>
            </a:extLst>
          </p:cNvPr>
          <p:cNvGraphicFramePr>
            <a:graphicFrameLocks/>
          </p:cNvGraphicFramePr>
          <p:nvPr>
            <p:extLst>
              <p:ext uri="{D42A27DB-BD31-4B8C-83A1-F6EECF244321}">
                <p14:modId xmlns:p14="http://schemas.microsoft.com/office/powerpoint/2010/main" val="3319169547"/>
              </p:ext>
            </p:extLst>
          </p:nvPr>
        </p:nvGraphicFramePr>
        <p:xfrm>
          <a:off x="189058" y="725791"/>
          <a:ext cx="6645874" cy="385587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Chart 4">
            <a:extLst>
              <a:ext uri="{FF2B5EF4-FFF2-40B4-BE49-F238E27FC236}">
                <a16:creationId xmlns:a16="http://schemas.microsoft.com/office/drawing/2014/main" id="{376D1AEB-6FD5-AC11-5B5D-0129A67D326F}"/>
              </a:ext>
            </a:extLst>
          </p:cNvPr>
          <p:cNvGraphicFramePr>
            <a:graphicFrameLocks/>
          </p:cNvGraphicFramePr>
          <p:nvPr>
            <p:extLst>
              <p:ext uri="{D42A27DB-BD31-4B8C-83A1-F6EECF244321}">
                <p14:modId xmlns:p14="http://schemas.microsoft.com/office/powerpoint/2010/main" val="2518384940"/>
              </p:ext>
            </p:extLst>
          </p:nvPr>
        </p:nvGraphicFramePr>
        <p:xfrm>
          <a:off x="6835998" y="780721"/>
          <a:ext cx="5094460" cy="3486377"/>
        </p:xfrm>
        <a:graphic>
          <a:graphicData uri="http://schemas.openxmlformats.org/drawingml/2006/chart">
            <c:chart xmlns:c="http://schemas.openxmlformats.org/drawingml/2006/chart" xmlns:r="http://schemas.openxmlformats.org/officeDocument/2006/relationships" r:id="rId6"/>
          </a:graphicData>
        </a:graphic>
      </p:graphicFrame>
      <p:sp>
        <p:nvSpPr>
          <p:cNvPr id="6" name="TextBox 5">
            <a:extLst>
              <a:ext uri="{FF2B5EF4-FFF2-40B4-BE49-F238E27FC236}">
                <a16:creationId xmlns:a16="http://schemas.microsoft.com/office/drawing/2014/main" id="{FCB22D43-1D84-68A4-30ED-D5AF0A2288C8}"/>
              </a:ext>
            </a:extLst>
          </p:cNvPr>
          <p:cNvSpPr txBox="1"/>
          <p:nvPr/>
        </p:nvSpPr>
        <p:spPr>
          <a:xfrm>
            <a:off x="952476" y="4808679"/>
            <a:ext cx="5713089" cy="1256562"/>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Online TA generate most revenue but also most cancellations.</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Direct Market Segments is healthiest</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To reduce highest cancellation Q2, need to revise the contract of Offline TA/TO and groups </a:t>
            </a:r>
          </a:p>
        </p:txBody>
      </p:sp>
      <p:graphicFrame>
        <p:nvGraphicFramePr>
          <p:cNvPr id="7" name="Table 6">
            <a:extLst>
              <a:ext uri="{FF2B5EF4-FFF2-40B4-BE49-F238E27FC236}">
                <a16:creationId xmlns:a16="http://schemas.microsoft.com/office/drawing/2014/main" id="{4E71D2BC-0855-AC05-D5B7-7A81ABDFF4DE}"/>
              </a:ext>
            </a:extLst>
          </p:cNvPr>
          <p:cNvGraphicFramePr>
            <a:graphicFrameLocks noGrp="1"/>
          </p:cNvGraphicFramePr>
          <p:nvPr>
            <p:extLst>
              <p:ext uri="{D42A27DB-BD31-4B8C-83A1-F6EECF244321}">
                <p14:modId xmlns:p14="http://schemas.microsoft.com/office/powerpoint/2010/main" val="1956583181"/>
              </p:ext>
            </p:extLst>
          </p:nvPr>
        </p:nvGraphicFramePr>
        <p:xfrm>
          <a:off x="7090291" y="4595178"/>
          <a:ext cx="4585873" cy="1779104"/>
        </p:xfrm>
        <a:graphic>
          <a:graphicData uri="http://schemas.openxmlformats.org/drawingml/2006/table">
            <a:tbl>
              <a:tblPr firstRow="1" bandRow="1">
                <a:tableStyleId>{9D7B26C5-4107-4FEC-AEDC-1716B250A1EF}</a:tableStyleId>
              </a:tblPr>
              <a:tblGrid>
                <a:gridCol w="2608367">
                  <a:extLst>
                    <a:ext uri="{9D8B030D-6E8A-4147-A177-3AD203B41FA5}">
                      <a16:colId xmlns:a16="http://schemas.microsoft.com/office/drawing/2014/main" val="1765606580"/>
                    </a:ext>
                  </a:extLst>
                </a:gridCol>
                <a:gridCol w="1977506">
                  <a:extLst>
                    <a:ext uri="{9D8B030D-6E8A-4147-A177-3AD203B41FA5}">
                      <a16:colId xmlns:a16="http://schemas.microsoft.com/office/drawing/2014/main" val="2989464369"/>
                    </a:ext>
                  </a:extLst>
                </a:gridCol>
              </a:tblGrid>
              <a:tr h="222388">
                <a:tc>
                  <a:txBody>
                    <a:bodyPr/>
                    <a:lstStyle/>
                    <a:p>
                      <a:pPr algn="l" fontAlgn="b">
                        <a:buNone/>
                      </a:pPr>
                      <a:r>
                        <a:rPr lang="en-SG" sz="1200" b="0" u="none" strike="noStrike">
                          <a:solidFill>
                            <a:schemeClr val="tx1"/>
                          </a:solidFill>
                          <a:effectLst/>
                        </a:rPr>
                        <a:t>Cancellation Count 2016</a:t>
                      </a:r>
                      <a:endParaRPr lang="en-SG" sz="1200" b="0" i="0" u="none" strike="noStrike">
                        <a:solidFill>
                          <a:schemeClr val="tx1"/>
                        </a:solidFill>
                        <a:effectLst/>
                        <a:latin typeface=""/>
                        <a:cs typeface="Courier New" panose="02070309020205020404" pitchFamily="49" charset="0"/>
                      </a:endParaRPr>
                    </a:p>
                  </a:txBody>
                  <a:tcPr marL="9525" marR="9525" marT="9525" marB="0" anchor="b"/>
                </a:tc>
                <a:tc>
                  <a:txBody>
                    <a:bodyPr/>
                    <a:lstStyle/>
                    <a:p>
                      <a:pPr algn="l" fontAlgn="b">
                        <a:buNone/>
                      </a:pPr>
                      <a:r>
                        <a:rPr lang="en-SG" sz="1200" b="0" u="none" strike="noStrike" dirty="0">
                          <a:solidFill>
                            <a:schemeClr val="tx1"/>
                          </a:solidFill>
                          <a:effectLst/>
                        </a:rPr>
                        <a:t>Total Cancellation %</a:t>
                      </a:r>
                      <a:endParaRPr lang="en-SG" sz="1200" b="0" i="0" u="none" strike="noStrike" dirty="0">
                        <a:solidFill>
                          <a:schemeClr val="tx1"/>
                        </a:solidFill>
                        <a:effectLst/>
                        <a:latin typeface=""/>
                        <a:cs typeface="Courier New" panose="02070309020205020404" pitchFamily="49" charset="0"/>
                      </a:endParaRPr>
                    </a:p>
                  </a:txBody>
                  <a:tcPr marL="9525" marR="9525" marT="9525" marB="0" anchor="b"/>
                </a:tc>
                <a:extLst>
                  <a:ext uri="{0D108BD9-81ED-4DB2-BD59-A6C34878D82A}">
                    <a16:rowId xmlns:a16="http://schemas.microsoft.com/office/drawing/2014/main" val="2976133082"/>
                  </a:ext>
                </a:extLst>
              </a:tr>
              <a:tr h="222388">
                <a:tc>
                  <a:txBody>
                    <a:bodyPr/>
                    <a:lstStyle/>
                    <a:p>
                      <a:pPr algn="l" fontAlgn="b">
                        <a:buNone/>
                      </a:pPr>
                      <a:r>
                        <a:rPr lang="en-SG" sz="1200" b="0" u="none" strike="noStrike" dirty="0">
                          <a:solidFill>
                            <a:schemeClr val="tx1"/>
                          </a:solidFill>
                          <a:effectLst/>
                        </a:rPr>
                        <a:t>Aviation</a:t>
                      </a:r>
                      <a:endParaRPr lang="en-SG" sz="1200" b="0" i="0" u="none" strike="noStrike" dirty="0">
                        <a:solidFill>
                          <a:schemeClr val="tx1"/>
                        </a:solidFill>
                        <a:effectLst/>
                        <a:latin typeface=""/>
                        <a:cs typeface="Courier New" panose="02070309020205020404" pitchFamily="49" charset="0"/>
                      </a:endParaRPr>
                    </a:p>
                  </a:txBody>
                  <a:tcPr marL="9525" marR="9525" marT="9525" marB="0" anchor="b"/>
                </a:tc>
                <a:tc>
                  <a:txBody>
                    <a:bodyPr/>
                    <a:lstStyle/>
                    <a:p>
                      <a:pPr algn="r" fontAlgn="b">
                        <a:buNone/>
                      </a:pPr>
                      <a:r>
                        <a:rPr lang="en-SG" sz="1200" b="0" u="none" strike="noStrike">
                          <a:solidFill>
                            <a:schemeClr val="tx1"/>
                          </a:solidFill>
                          <a:effectLst/>
                        </a:rPr>
                        <a:t>1%</a:t>
                      </a:r>
                      <a:endParaRPr lang="en-SG" sz="1200" b="0" i="0" u="none" strike="noStrike">
                        <a:solidFill>
                          <a:schemeClr val="tx1"/>
                        </a:solidFill>
                        <a:effectLst/>
                        <a:latin typeface=""/>
                        <a:cs typeface="Courier New" panose="02070309020205020404" pitchFamily="49" charset="0"/>
                      </a:endParaRPr>
                    </a:p>
                  </a:txBody>
                  <a:tcPr marL="9525" marR="9525" marT="9525" marB="0" anchor="b"/>
                </a:tc>
                <a:extLst>
                  <a:ext uri="{0D108BD9-81ED-4DB2-BD59-A6C34878D82A}">
                    <a16:rowId xmlns:a16="http://schemas.microsoft.com/office/drawing/2014/main" val="3767855347"/>
                  </a:ext>
                </a:extLst>
              </a:tr>
              <a:tr h="222388">
                <a:tc>
                  <a:txBody>
                    <a:bodyPr/>
                    <a:lstStyle/>
                    <a:p>
                      <a:pPr algn="l" fontAlgn="b">
                        <a:buNone/>
                      </a:pPr>
                      <a:r>
                        <a:rPr lang="en-SG" sz="1200" b="0" u="none" strike="noStrike">
                          <a:solidFill>
                            <a:schemeClr val="tx1"/>
                          </a:solidFill>
                          <a:effectLst/>
                        </a:rPr>
                        <a:t>Complementary</a:t>
                      </a:r>
                      <a:endParaRPr lang="en-SG" sz="1200" b="0" i="0" u="none" strike="noStrike">
                        <a:solidFill>
                          <a:schemeClr val="tx1"/>
                        </a:solidFill>
                        <a:effectLst/>
                        <a:latin typeface=""/>
                        <a:cs typeface="Courier New" panose="02070309020205020404" pitchFamily="49" charset="0"/>
                      </a:endParaRPr>
                    </a:p>
                  </a:txBody>
                  <a:tcPr marL="9525" marR="9525" marT="9525" marB="0" anchor="b"/>
                </a:tc>
                <a:tc>
                  <a:txBody>
                    <a:bodyPr/>
                    <a:lstStyle/>
                    <a:p>
                      <a:pPr algn="r" fontAlgn="b">
                        <a:buNone/>
                      </a:pPr>
                      <a:r>
                        <a:rPr lang="en-SG" sz="1200" b="0" u="none" strike="noStrike">
                          <a:solidFill>
                            <a:schemeClr val="tx1"/>
                          </a:solidFill>
                          <a:effectLst/>
                        </a:rPr>
                        <a:t>1%</a:t>
                      </a:r>
                      <a:endParaRPr lang="en-SG" sz="1200" b="0" i="0" u="none" strike="noStrike">
                        <a:solidFill>
                          <a:schemeClr val="tx1"/>
                        </a:solidFill>
                        <a:effectLst/>
                        <a:latin typeface=""/>
                        <a:cs typeface="Courier New" panose="02070309020205020404" pitchFamily="49" charset="0"/>
                      </a:endParaRPr>
                    </a:p>
                  </a:txBody>
                  <a:tcPr marL="9525" marR="9525" marT="9525" marB="0" anchor="b"/>
                </a:tc>
                <a:extLst>
                  <a:ext uri="{0D108BD9-81ED-4DB2-BD59-A6C34878D82A}">
                    <a16:rowId xmlns:a16="http://schemas.microsoft.com/office/drawing/2014/main" val="209497971"/>
                  </a:ext>
                </a:extLst>
              </a:tr>
              <a:tr h="222388">
                <a:tc>
                  <a:txBody>
                    <a:bodyPr/>
                    <a:lstStyle/>
                    <a:p>
                      <a:pPr algn="l" fontAlgn="b">
                        <a:buNone/>
                      </a:pPr>
                      <a:r>
                        <a:rPr lang="en-SG" sz="1200" b="0" u="none" strike="noStrike">
                          <a:solidFill>
                            <a:schemeClr val="tx1"/>
                          </a:solidFill>
                          <a:effectLst/>
                        </a:rPr>
                        <a:t>Corporate</a:t>
                      </a:r>
                      <a:endParaRPr lang="en-SG" sz="1200" b="0" i="0" u="none" strike="noStrike">
                        <a:solidFill>
                          <a:schemeClr val="tx1"/>
                        </a:solidFill>
                        <a:effectLst/>
                        <a:latin typeface=""/>
                        <a:cs typeface="Courier New" panose="02070309020205020404" pitchFamily="49" charset="0"/>
                      </a:endParaRPr>
                    </a:p>
                  </a:txBody>
                  <a:tcPr marL="9525" marR="9525" marT="9525" marB="0" anchor="b"/>
                </a:tc>
                <a:tc>
                  <a:txBody>
                    <a:bodyPr/>
                    <a:lstStyle/>
                    <a:p>
                      <a:pPr algn="r" fontAlgn="b">
                        <a:buNone/>
                      </a:pPr>
                      <a:r>
                        <a:rPr lang="en-SG" sz="1200" b="0" u="none" strike="noStrike">
                          <a:solidFill>
                            <a:schemeClr val="tx1"/>
                          </a:solidFill>
                          <a:effectLst/>
                        </a:rPr>
                        <a:t>4%</a:t>
                      </a:r>
                      <a:endParaRPr lang="en-SG" sz="1200" b="0" i="0" u="none" strike="noStrike">
                        <a:solidFill>
                          <a:schemeClr val="tx1"/>
                        </a:solidFill>
                        <a:effectLst/>
                        <a:latin typeface=""/>
                        <a:cs typeface="Courier New" panose="02070309020205020404" pitchFamily="49" charset="0"/>
                      </a:endParaRPr>
                    </a:p>
                  </a:txBody>
                  <a:tcPr marL="9525" marR="9525" marT="9525" marB="0" anchor="b"/>
                </a:tc>
                <a:extLst>
                  <a:ext uri="{0D108BD9-81ED-4DB2-BD59-A6C34878D82A}">
                    <a16:rowId xmlns:a16="http://schemas.microsoft.com/office/drawing/2014/main" val="104263820"/>
                  </a:ext>
                </a:extLst>
              </a:tr>
              <a:tr h="222388">
                <a:tc>
                  <a:txBody>
                    <a:bodyPr/>
                    <a:lstStyle/>
                    <a:p>
                      <a:pPr algn="l" fontAlgn="b">
                        <a:buNone/>
                      </a:pPr>
                      <a:r>
                        <a:rPr lang="en-SG" sz="1200" b="0" u="none" strike="noStrike">
                          <a:solidFill>
                            <a:schemeClr val="tx1"/>
                          </a:solidFill>
                          <a:effectLst/>
                        </a:rPr>
                        <a:t>Direct</a:t>
                      </a:r>
                      <a:endParaRPr lang="en-SG" sz="1200" b="0" i="0" u="none" strike="noStrike">
                        <a:solidFill>
                          <a:schemeClr val="tx1"/>
                        </a:solidFill>
                        <a:effectLst/>
                        <a:latin typeface=""/>
                        <a:cs typeface="Courier New" panose="02070309020205020404" pitchFamily="49" charset="0"/>
                      </a:endParaRPr>
                    </a:p>
                  </a:txBody>
                  <a:tcPr marL="9525" marR="9525" marT="9525" marB="0" anchor="b"/>
                </a:tc>
                <a:tc>
                  <a:txBody>
                    <a:bodyPr/>
                    <a:lstStyle/>
                    <a:p>
                      <a:pPr algn="r" fontAlgn="b">
                        <a:buNone/>
                      </a:pPr>
                      <a:r>
                        <a:rPr lang="en-SG" sz="1200" b="0" u="none" strike="noStrike">
                          <a:solidFill>
                            <a:schemeClr val="tx1"/>
                          </a:solidFill>
                          <a:effectLst/>
                        </a:rPr>
                        <a:t>9%</a:t>
                      </a:r>
                      <a:endParaRPr lang="en-SG" sz="1200" b="0" i="0" u="none" strike="noStrike">
                        <a:solidFill>
                          <a:schemeClr val="tx1"/>
                        </a:solidFill>
                        <a:effectLst/>
                        <a:latin typeface=""/>
                        <a:cs typeface="Courier New" panose="02070309020205020404" pitchFamily="49" charset="0"/>
                      </a:endParaRPr>
                    </a:p>
                  </a:txBody>
                  <a:tcPr marL="9525" marR="9525" marT="9525" marB="0" anchor="b"/>
                </a:tc>
                <a:extLst>
                  <a:ext uri="{0D108BD9-81ED-4DB2-BD59-A6C34878D82A}">
                    <a16:rowId xmlns:a16="http://schemas.microsoft.com/office/drawing/2014/main" val="113817140"/>
                  </a:ext>
                </a:extLst>
              </a:tr>
              <a:tr h="222388">
                <a:tc>
                  <a:txBody>
                    <a:bodyPr/>
                    <a:lstStyle/>
                    <a:p>
                      <a:pPr algn="l" fontAlgn="b">
                        <a:buNone/>
                      </a:pPr>
                      <a:r>
                        <a:rPr lang="en-SG" sz="1200" b="0" u="none" strike="noStrike">
                          <a:solidFill>
                            <a:schemeClr val="tx1"/>
                          </a:solidFill>
                          <a:effectLst/>
                        </a:rPr>
                        <a:t>Groups</a:t>
                      </a:r>
                      <a:endParaRPr lang="en-SG" sz="1200" b="0" i="0" u="none" strike="noStrike">
                        <a:solidFill>
                          <a:schemeClr val="tx1"/>
                        </a:solidFill>
                        <a:effectLst/>
                        <a:latin typeface=""/>
                        <a:cs typeface="Courier New" panose="02070309020205020404" pitchFamily="49" charset="0"/>
                      </a:endParaRPr>
                    </a:p>
                  </a:txBody>
                  <a:tcPr marL="9525" marR="9525" marT="9525" marB="0" anchor="b"/>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
                        <a:cs typeface="Courier New" panose="02070309020205020404" pitchFamily="49" charset="0"/>
                      </a:endParaRPr>
                    </a:p>
                  </a:txBody>
                  <a:tcPr marL="9525" marR="9525" marT="9525" marB="0" anchor="b"/>
                </a:tc>
                <a:extLst>
                  <a:ext uri="{0D108BD9-81ED-4DB2-BD59-A6C34878D82A}">
                    <a16:rowId xmlns:a16="http://schemas.microsoft.com/office/drawing/2014/main" val="2561750384"/>
                  </a:ext>
                </a:extLst>
              </a:tr>
              <a:tr h="222388">
                <a:tc>
                  <a:txBody>
                    <a:bodyPr/>
                    <a:lstStyle/>
                    <a:p>
                      <a:pPr algn="l" fontAlgn="b">
                        <a:buNone/>
                      </a:pPr>
                      <a:r>
                        <a:rPr lang="en-SG" sz="1200" b="0" u="none" strike="noStrike">
                          <a:solidFill>
                            <a:schemeClr val="tx1"/>
                          </a:solidFill>
                          <a:effectLst/>
                        </a:rPr>
                        <a:t>Offline TA/TO</a:t>
                      </a:r>
                      <a:endParaRPr lang="en-SG" sz="1200" b="0" i="0" u="none" strike="noStrike">
                        <a:solidFill>
                          <a:schemeClr val="tx1"/>
                        </a:solidFill>
                        <a:effectLst/>
                        <a:latin typeface=""/>
                        <a:cs typeface="Courier New" panose="02070309020205020404" pitchFamily="49" charset="0"/>
                      </a:endParaRPr>
                    </a:p>
                  </a:txBody>
                  <a:tcPr marL="9525" marR="9525" marT="9525" marB="0" anchor="b"/>
                </a:tc>
                <a:tc>
                  <a:txBody>
                    <a:bodyPr/>
                    <a:lstStyle/>
                    <a:p>
                      <a:pPr algn="r" fontAlgn="b">
                        <a:buNone/>
                      </a:pPr>
                      <a:r>
                        <a:rPr lang="en-SG" sz="1200" b="0" u="none" strike="noStrike">
                          <a:solidFill>
                            <a:schemeClr val="tx1"/>
                          </a:solidFill>
                          <a:effectLst/>
                        </a:rPr>
                        <a:t>23%</a:t>
                      </a:r>
                      <a:endParaRPr lang="en-SG" sz="1200" b="0" i="0" u="none" strike="noStrike">
                        <a:solidFill>
                          <a:schemeClr val="tx1"/>
                        </a:solidFill>
                        <a:effectLst/>
                        <a:latin typeface=""/>
                        <a:cs typeface="Courier New" panose="02070309020205020404" pitchFamily="49" charset="0"/>
                      </a:endParaRPr>
                    </a:p>
                  </a:txBody>
                  <a:tcPr marL="9525" marR="9525" marT="9525" marB="0" anchor="b"/>
                </a:tc>
                <a:extLst>
                  <a:ext uri="{0D108BD9-81ED-4DB2-BD59-A6C34878D82A}">
                    <a16:rowId xmlns:a16="http://schemas.microsoft.com/office/drawing/2014/main" val="368070112"/>
                  </a:ext>
                </a:extLst>
              </a:tr>
              <a:tr h="222388">
                <a:tc>
                  <a:txBody>
                    <a:bodyPr/>
                    <a:lstStyle/>
                    <a:p>
                      <a:pPr algn="l" fontAlgn="b">
                        <a:buNone/>
                      </a:pPr>
                      <a:r>
                        <a:rPr lang="en-SG" sz="1200" b="0" u="none" strike="noStrike" dirty="0">
                          <a:solidFill>
                            <a:schemeClr val="tx1"/>
                          </a:solidFill>
                          <a:effectLst/>
                        </a:rPr>
                        <a:t>Online TA</a:t>
                      </a:r>
                      <a:endParaRPr lang="en-SG" sz="1200" b="0" i="0" u="none" strike="noStrike" dirty="0">
                        <a:solidFill>
                          <a:schemeClr val="tx1"/>
                        </a:solidFill>
                        <a:effectLst/>
                        <a:latin typeface=""/>
                        <a:cs typeface="Courier New" panose="02070309020205020404" pitchFamily="49" charset="0"/>
                      </a:endParaRPr>
                    </a:p>
                  </a:txBody>
                  <a:tcPr marL="9525" marR="9525" marT="9525" marB="0" anchor="b"/>
                </a:tc>
                <a:tc>
                  <a:txBody>
                    <a:bodyPr/>
                    <a:lstStyle/>
                    <a:p>
                      <a:pPr algn="r" fontAlgn="b">
                        <a:buNone/>
                      </a:pPr>
                      <a:r>
                        <a:rPr lang="en-SG" sz="1200" b="0" u="none" strike="noStrike" dirty="0">
                          <a:solidFill>
                            <a:schemeClr val="tx1"/>
                          </a:solidFill>
                          <a:effectLst/>
                        </a:rPr>
                        <a:t>58%</a:t>
                      </a:r>
                      <a:endParaRPr lang="en-SG" sz="1200" b="0" i="0" u="none" strike="noStrike" dirty="0">
                        <a:solidFill>
                          <a:schemeClr val="tx1"/>
                        </a:solidFill>
                        <a:effectLst/>
                        <a:latin typeface=""/>
                        <a:cs typeface="Courier New" panose="02070309020205020404" pitchFamily="49" charset="0"/>
                      </a:endParaRPr>
                    </a:p>
                  </a:txBody>
                  <a:tcPr marL="9525" marR="9525" marT="9525" marB="0" anchor="b"/>
                </a:tc>
                <a:extLst>
                  <a:ext uri="{0D108BD9-81ED-4DB2-BD59-A6C34878D82A}">
                    <a16:rowId xmlns:a16="http://schemas.microsoft.com/office/drawing/2014/main" val="1800173945"/>
                  </a:ext>
                </a:extLst>
              </a:tr>
            </a:tbl>
          </a:graphicData>
        </a:graphic>
      </p:graphicFrame>
    </p:spTree>
    <p:extLst>
      <p:ext uri="{BB962C8B-B14F-4D97-AF65-F5344CB8AC3E}">
        <p14:creationId xmlns:p14="http://schemas.microsoft.com/office/powerpoint/2010/main" val="762819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5A0CE159-2ED6-03CE-26D2-B2A35C68656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6164D38-8734-CABC-1D21-F5CE09CC7D0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9" name="Picture 8">
            <a:extLst>
              <a:ext uri="{FF2B5EF4-FFF2-40B4-BE49-F238E27FC236}">
                <a16:creationId xmlns:a16="http://schemas.microsoft.com/office/drawing/2014/main" id="{9E1E5061-8BBB-2ECA-C286-8A6B7E16EFA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1" name="Rectangle 10">
            <a:extLst>
              <a:ext uri="{FF2B5EF4-FFF2-40B4-BE49-F238E27FC236}">
                <a16:creationId xmlns:a16="http://schemas.microsoft.com/office/drawing/2014/main" id="{408970F3-2E82-BA6A-5ACE-950323DA80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06D002CA-26D7-187B-B82A-26E84777F1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B2EDB304-5A01-75E0-4699-104738B1B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F5FB1761-9A6A-2922-514A-09004086B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TextBox 18">
            <a:extLst>
              <a:ext uri="{FF2B5EF4-FFF2-40B4-BE49-F238E27FC236}">
                <a16:creationId xmlns:a16="http://schemas.microsoft.com/office/drawing/2014/main" id="{0A2CDC15-7DC2-14D6-2180-9FFEC055241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4943" y="641225"/>
            <a:ext cx="415636"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1" name="Rectangle 20">
            <a:extLst>
              <a:ext uri="{FF2B5EF4-FFF2-40B4-BE49-F238E27FC236}">
                <a16:creationId xmlns:a16="http://schemas.microsoft.com/office/drawing/2014/main" id="{D6C19D4D-1302-64D4-09DD-6F8614D2D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04167F2-AB80-1FB2-289B-8EAAFE33F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DCD1A2DF-CA34-5E1A-3ADC-9732E8C8A0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27" name="Freeform: Shape 26">
            <a:extLst>
              <a:ext uri="{FF2B5EF4-FFF2-40B4-BE49-F238E27FC236}">
                <a16:creationId xmlns:a16="http://schemas.microsoft.com/office/drawing/2014/main" id="{C8B357C6-7128-010C-52BA-A2DF8788D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9" name="Picture 28">
            <a:extLst>
              <a:ext uri="{FF2B5EF4-FFF2-40B4-BE49-F238E27FC236}">
                <a16:creationId xmlns:a16="http://schemas.microsoft.com/office/drawing/2014/main" id="{2C4A9BF2-EC71-2947-3599-866672B662A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31" name="Rectangle 30">
            <a:extLst>
              <a:ext uri="{FF2B5EF4-FFF2-40B4-BE49-F238E27FC236}">
                <a16:creationId xmlns:a16="http://schemas.microsoft.com/office/drawing/2014/main" id="{08AE2C7E-E38E-7784-33A6-6A4C8F078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62D3F88B-2750-498B-59F4-9C8DB78A0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5FAFE9E0-415C-3209-07BF-0C687EEC83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Oval 36">
            <a:extLst>
              <a:ext uri="{FF2B5EF4-FFF2-40B4-BE49-F238E27FC236}">
                <a16:creationId xmlns:a16="http://schemas.microsoft.com/office/drawing/2014/main" id="{6103A7FE-6DFA-5426-8175-636428B19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30BE0A43-C8F9-2280-B1B9-DA9563A133AE}"/>
              </a:ext>
            </a:extLst>
          </p:cNvPr>
          <p:cNvSpPr txBox="1">
            <a:spLocks/>
          </p:cNvSpPr>
          <p:nvPr/>
        </p:nvSpPr>
        <p:spPr>
          <a:xfrm>
            <a:off x="994279" y="223754"/>
            <a:ext cx="7138339" cy="589046"/>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Market Segments &amp; Deposit Type Analysis</a:t>
            </a:r>
          </a:p>
        </p:txBody>
      </p:sp>
      <p:graphicFrame>
        <p:nvGraphicFramePr>
          <p:cNvPr id="10" name="Table 9">
            <a:extLst>
              <a:ext uri="{FF2B5EF4-FFF2-40B4-BE49-F238E27FC236}">
                <a16:creationId xmlns:a16="http://schemas.microsoft.com/office/drawing/2014/main" id="{19FDA5E8-D457-C417-4749-A18A281E9C4C}"/>
              </a:ext>
            </a:extLst>
          </p:cNvPr>
          <p:cNvGraphicFramePr>
            <a:graphicFrameLocks noGrp="1"/>
          </p:cNvGraphicFramePr>
          <p:nvPr>
            <p:extLst>
              <p:ext uri="{D42A27DB-BD31-4B8C-83A1-F6EECF244321}">
                <p14:modId xmlns:p14="http://schemas.microsoft.com/office/powerpoint/2010/main" val="1638045475"/>
              </p:ext>
            </p:extLst>
          </p:nvPr>
        </p:nvGraphicFramePr>
        <p:xfrm>
          <a:off x="2357043" y="1293220"/>
          <a:ext cx="7927420" cy="2356326"/>
        </p:xfrm>
        <a:graphic>
          <a:graphicData uri="http://schemas.openxmlformats.org/drawingml/2006/table">
            <a:tbl>
              <a:tblPr firstRow="1" bandRow="1">
                <a:tableStyleId>{9D7B26C5-4107-4FEC-AEDC-1716B250A1EF}</a:tableStyleId>
              </a:tblPr>
              <a:tblGrid>
                <a:gridCol w="2576610">
                  <a:extLst>
                    <a:ext uri="{9D8B030D-6E8A-4147-A177-3AD203B41FA5}">
                      <a16:colId xmlns:a16="http://schemas.microsoft.com/office/drawing/2014/main" val="2506422252"/>
                    </a:ext>
                  </a:extLst>
                </a:gridCol>
                <a:gridCol w="1517511">
                  <a:extLst>
                    <a:ext uri="{9D8B030D-6E8A-4147-A177-3AD203B41FA5}">
                      <a16:colId xmlns:a16="http://schemas.microsoft.com/office/drawing/2014/main" val="4096254238"/>
                    </a:ext>
                  </a:extLst>
                </a:gridCol>
                <a:gridCol w="1248787">
                  <a:extLst>
                    <a:ext uri="{9D8B030D-6E8A-4147-A177-3AD203B41FA5}">
                      <a16:colId xmlns:a16="http://schemas.microsoft.com/office/drawing/2014/main" val="1914829682"/>
                    </a:ext>
                  </a:extLst>
                </a:gridCol>
                <a:gridCol w="1126279">
                  <a:extLst>
                    <a:ext uri="{9D8B030D-6E8A-4147-A177-3AD203B41FA5}">
                      <a16:colId xmlns:a16="http://schemas.microsoft.com/office/drawing/2014/main" val="1478314864"/>
                    </a:ext>
                  </a:extLst>
                </a:gridCol>
                <a:gridCol w="1458233">
                  <a:extLst>
                    <a:ext uri="{9D8B030D-6E8A-4147-A177-3AD203B41FA5}">
                      <a16:colId xmlns:a16="http://schemas.microsoft.com/office/drawing/2014/main" val="719538555"/>
                    </a:ext>
                  </a:extLst>
                </a:gridCol>
              </a:tblGrid>
              <a:tr h="261814">
                <a:tc>
                  <a:txBody>
                    <a:bodyPr/>
                    <a:lstStyle/>
                    <a:p>
                      <a:pPr algn="ctr" fontAlgn="b">
                        <a:buNone/>
                      </a:pPr>
                      <a:r>
                        <a:rPr lang="en-SG" sz="1200" b="1" u="none" strike="noStrike" dirty="0">
                          <a:solidFill>
                            <a:schemeClr val="tx1"/>
                          </a:solidFill>
                          <a:effectLst/>
                        </a:rPr>
                        <a:t>Marget Segments</a:t>
                      </a:r>
                      <a:endParaRPr lang="en-SG" sz="1200" b="1" i="0" u="none" strike="noStrike" dirty="0">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1" u="none" strike="noStrike">
                          <a:solidFill>
                            <a:schemeClr val="tx1"/>
                          </a:solidFill>
                          <a:effectLst/>
                        </a:rPr>
                        <a:t>No Deposit</a:t>
                      </a:r>
                      <a:endParaRPr lang="en-SG" sz="1200" b="1" i="0" u="none" strike="noStrike">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1" u="none" strike="noStrike">
                          <a:solidFill>
                            <a:schemeClr val="tx1"/>
                          </a:solidFill>
                          <a:effectLst/>
                        </a:rPr>
                        <a:t>Non Refund</a:t>
                      </a:r>
                      <a:endParaRPr lang="en-SG" sz="1200" b="1" i="0" u="none" strike="noStrike">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1" u="none" strike="noStrike">
                          <a:solidFill>
                            <a:schemeClr val="tx1"/>
                          </a:solidFill>
                          <a:effectLst/>
                        </a:rPr>
                        <a:t>Refundable</a:t>
                      </a:r>
                      <a:endParaRPr lang="en-SG" sz="1200" b="1" i="0" u="none" strike="noStrike">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1" u="none" strike="noStrike" dirty="0">
                          <a:solidFill>
                            <a:schemeClr val="tx1"/>
                          </a:solidFill>
                          <a:effectLst/>
                        </a:rPr>
                        <a:t>All Types Cancel %</a:t>
                      </a:r>
                      <a:endParaRPr lang="en-SG" sz="1200" b="1"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8847655"/>
                  </a:ext>
                </a:extLst>
              </a:tr>
              <a:tr h="261814">
                <a:tc>
                  <a:txBody>
                    <a:bodyPr/>
                    <a:lstStyle/>
                    <a:p>
                      <a:pPr algn="l" fontAlgn="b">
                        <a:buNone/>
                      </a:pPr>
                      <a:r>
                        <a:rPr lang="en-SG" sz="1200" b="0" u="none" strike="noStrike" dirty="0">
                          <a:solidFill>
                            <a:schemeClr val="tx1"/>
                          </a:solidFill>
                          <a:effectLst/>
                        </a:rPr>
                        <a:t>Aviation</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23%</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23%</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10819616"/>
                  </a:ext>
                </a:extLst>
              </a:tr>
              <a:tr h="261814">
                <a:tc>
                  <a:txBody>
                    <a:bodyPr/>
                    <a:lstStyle/>
                    <a:p>
                      <a:pPr algn="l" fontAlgn="b">
                        <a:buNone/>
                      </a:pPr>
                      <a:r>
                        <a:rPr lang="en-SG" sz="1200" b="0" u="none" strike="noStrike">
                          <a:solidFill>
                            <a:schemeClr val="tx1"/>
                          </a:solidFill>
                          <a:effectLst/>
                        </a:rPr>
                        <a:t>Complementary</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11%</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11%</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55772130"/>
                  </a:ext>
                </a:extLst>
              </a:tr>
              <a:tr h="261814">
                <a:tc>
                  <a:txBody>
                    <a:bodyPr/>
                    <a:lstStyle/>
                    <a:p>
                      <a:pPr algn="l" fontAlgn="b">
                        <a:buNone/>
                      </a:pPr>
                      <a:r>
                        <a:rPr lang="en-SG" sz="1200" b="0" u="none" strike="noStrike" dirty="0">
                          <a:solidFill>
                            <a:schemeClr val="tx1"/>
                          </a:solidFill>
                          <a:effectLst/>
                        </a:rPr>
                        <a:t>Corporate</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13%</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4%</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18%</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61676199"/>
                  </a:ext>
                </a:extLst>
              </a:tr>
              <a:tr h="261814">
                <a:tc>
                  <a:txBody>
                    <a:bodyPr/>
                    <a:lstStyle/>
                    <a:p>
                      <a:pPr algn="l" fontAlgn="b">
                        <a:buNone/>
                      </a:pPr>
                      <a:r>
                        <a:rPr lang="en-SG" sz="1200" b="0" u="none" strike="noStrike">
                          <a:solidFill>
                            <a:schemeClr val="tx1"/>
                          </a:solidFill>
                          <a:effectLst/>
                        </a:rPr>
                        <a:t>Direct</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18%</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19%</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51918160"/>
                  </a:ext>
                </a:extLst>
              </a:tr>
              <a:tr h="261814">
                <a:tc>
                  <a:txBody>
                    <a:bodyPr/>
                    <a:lstStyle/>
                    <a:p>
                      <a:pPr algn="l" fontAlgn="b">
                        <a:buNone/>
                      </a:pPr>
                      <a:r>
                        <a:rPr lang="en-SG" sz="1200" b="0" u="none" strike="noStrike">
                          <a:solidFill>
                            <a:schemeClr val="tx1"/>
                          </a:solidFill>
                          <a:effectLst/>
                        </a:rPr>
                        <a:t>Groups</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9%</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66%</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75%</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49848980"/>
                  </a:ext>
                </a:extLst>
              </a:tr>
              <a:tr h="261814">
                <a:tc>
                  <a:txBody>
                    <a:bodyPr/>
                    <a:lstStyle/>
                    <a:p>
                      <a:pPr algn="l" fontAlgn="b">
                        <a:buNone/>
                      </a:pPr>
                      <a:r>
                        <a:rPr lang="en-SG" sz="1200" b="0" u="none" strike="noStrike">
                          <a:solidFill>
                            <a:schemeClr val="tx1"/>
                          </a:solidFill>
                          <a:effectLst/>
                        </a:rPr>
                        <a:t>Offline TA/TO</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13%</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43%</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38929536"/>
                  </a:ext>
                </a:extLst>
              </a:tr>
              <a:tr h="261814">
                <a:tc>
                  <a:txBody>
                    <a:bodyPr/>
                    <a:lstStyle/>
                    <a:p>
                      <a:pPr algn="l" fontAlgn="b">
                        <a:buNone/>
                      </a:pPr>
                      <a:r>
                        <a:rPr lang="en-SG" sz="1200" b="0" u="none" strike="noStrike">
                          <a:solidFill>
                            <a:schemeClr val="tx1"/>
                          </a:solidFill>
                          <a:effectLst/>
                        </a:rPr>
                        <a:t>Online TA</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36%</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36%</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19348549"/>
                  </a:ext>
                </a:extLst>
              </a:tr>
              <a:tr h="261814">
                <a:tc>
                  <a:txBody>
                    <a:bodyPr/>
                    <a:lstStyle/>
                    <a:p>
                      <a:pPr algn="l" fontAlgn="b">
                        <a:buNone/>
                      </a:pPr>
                      <a:r>
                        <a:rPr lang="en-SG" sz="1200" b="0" u="none" strike="noStrike">
                          <a:solidFill>
                            <a:schemeClr val="tx1"/>
                          </a:solidFill>
                          <a:effectLst/>
                        </a:rPr>
                        <a:t>Total</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25%</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16%</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40%</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54819813"/>
                  </a:ext>
                </a:extLst>
              </a:tr>
            </a:tbl>
          </a:graphicData>
        </a:graphic>
      </p:graphicFrame>
      <p:sp>
        <p:nvSpPr>
          <p:cNvPr id="12" name="TextBox 11">
            <a:extLst>
              <a:ext uri="{FF2B5EF4-FFF2-40B4-BE49-F238E27FC236}">
                <a16:creationId xmlns:a16="http://schemas.microsoft.com/office/drawing/2014/main" id="{00540ECF-2640-1305-FDF4-716EB3E5A5CE}"/>
              </a:ext>
            </a:extLst>
          </p:cNvPr>
          <p:cNvSpPr txBox="1"/>
          <p:nvPr/>
        </p:nvSpPr>
        <p:spPr>
          <a:xfrm>
            <a:off x="1434660" y="5064838"/>
            <a:ext cx="10277595" cy="1333507"/>
          </a:xfrm>
          <a:prstGeom prst="rect">
            <a:avLst/>
          </a:prstGeom>
          <a:noFill/>
        </p:spPr>
        <p:txBody>
          <a:bodyPr wrap="square" rtlCol="0">
            <a:spAutoFit/>
          </a:bodyPr>
          <a:lstStyle/>
          <a:p>
            <a:pPr marL="57150" indent="-342900" defTabSz="914400">
              <a:lnSpc>
                <a:spcPct val="120000"/>
              </a:lnSpc>
              <a:spcAft>
                <a:spcPts val="600"/>
              </a:spcAft>
              <a:buClr>
                <a:schemeClr val="accent6"/>
              </a:buClr>
              <a:buSzPct val="90000"/>
              <a:buFont typeface="+mj-lt"/>
              <a:buAutoNum type="arabicPeriod"/>
            </a:pPr>
            <a:r>
              <a:rPr lang="en-US" sz="1400" dirty="0"/>
              <a:t>Online TA -&gt; 36% No Deposit (High Cancel in Q4, Q3) -&gt; Need Deposit</a:t>
            </a:r>
          </a:p>
          <a:p>
            <a:pPr marL="57150" indent="-342900" defTabSz="914400">
              <a:lnSpc>
                <a:spcPct val="120000"/>
              </a:lnSpc>
              <a:spcAft>
                <a:spcPts val="600"/>
              </a:spcAft>
              <a:buClr>
                <a:schemeClr val="accent6"/>
              </a:buClr>
              <a:buSzPct val="90000"/>
              <a:buFont typeface="+mj-lt"/>
              <a:buAutoNum type="arabicPeriod"/>
            </a:pPr>
            <a:r>
              <a:rPr lang="en-US" sz="1400" dirty="0"/>
              <a:t>Offline TA/TO -&gt; 30% Not Refund (Cancellation high in Q2) -&gt; Need Higher/ Full Deposit and revise reservation release date</a:t>
            </a:r>
          </a:p>
          <a:p>
            <a:pPr marL="57150" indent="-342900" defTabSz="914400">
              <a:lnSpc>
                <a:spcPct val="120000"/>
              </a:lnSpc>
              <a:spcAft>
                <a:spcPts val="600"/>
              </a:spcAft>
              <a:buClr>
                <a:schemeClr val="accent6"/>
              </a:buClr>
              <a:buSzPct val="90000"/>
              <a:buFont typeface="+mj-lt"/>
              <a:buAutoNum type="arabicPeriod"/>
            </a:pPr>
            <a:r>
              <a:rPr lang="en-US" sz="1400" dirty="0"/>
              <a:t>Direct -&gt; 18% No Deposit (Cancellation high in Q4) -&gt; Need Deposit</a:t>
            </a:r>
          </a:p>
          <a:p>
            <a:pPr marL="57150" indent="-342900" defTabSz="914400">
              <a:lnSpc>
                <a:spcPct val="120000"/>
              </a:lnSpc>
              <a:spcAft>
                <a:spcPts val="600"/>
              </a:spcAft>
              <a:buClr>
                <a:schemeClr val="accent6"/>
              </a:buClr>
              <a:buSzPct val="90000"/>
              <a:buFont typeface="+mj-lt"/>
              <a:buAutoNum type="arabicPeriod"/>
            </a:pPr>
            <a:r>
              <a:rPr lang="en-US" sz="1400" dirty="0"/>
              <a:t>Groups -&gt; 66% No Deposit (Cancellation high in Q2) -&gt; Need Higher/ Full Deposit and revise reservation release date</a:t>
            </a:r>
          </a:p>
        </p:txBody>
      </p:sp>
      <p:sp>
        <p:nvSpPr>
          <p:cNvPr id="2" name="TextBox 1">
            <a:extLst>
              <a:ext uri="{FF2B5EF4-FFF2-40B4-BE49-F238E27FC236}">
                <a16:creationId xmlns:a16="http://schemas.microsoft.com/office/drawing/2014/main" id="{F9F672D1-1881-C86C-A669-3420C8F31C1A}"/>
              </a:ext>
            </a:extLst>
          </p:cNvPr>
          <p:cNvSpPr txBox="1"/>
          <p:nvPr/>
        </p:nvSpPr>
        <p:spPr>
          <a:xfrm>
            <a:off x="1482512" y="4481601"/>
            <a:ext cx="5417052" cy="327077"/>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Most 25% bookings are No Deposit</a:t>
            </a:r>
          </a:p>
        </p:txBody>
      </p:sp>
    </p:spTree>
    <p:extLst>
      <p:ext uri="{BB962C8B-B14F-4D97-AF65-F5344CB8AC3E}">
        <p14:creationId xmlns:p14="http://schemas.microsoft.com/office/powerpoint/2010/main" val="3925179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081092F2-BCDA-98C1-D9D7-195CFA56E66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07025F-E044-16D5-5B0F-1802F573E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2F836AF-55C3-34CE-AE1A-5D209D7AC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196A8AA-5476-62C2-1007-74FF969AB4F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0E50DD59-1A42-6532-A534-4DB4A7B88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F48C477A-233B-2871-60B1-340828373B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52F11F7E-7F03-1C60-840B-DCE458E3D7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5EB5D18-BDAE-4EE8-381B-70E7574322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89EE7514-22EA-F3DE-B6C2-10D31FB2C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5FC3ED15-4317-4C45-7C28-55B0EC109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4060E9A2-2525-D6FD-94BD-3A8F95BA4A44}"/>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Geographic Analysis</a:t>
            </a:r>
          </a:p>
        </p:txBody>
      </p:sp>
      <p:graphicFrame>
        <p:nvGraphicFramePr>
          <p:cNvPr id="15" name="Chart 14">
            <a:extLst>
              <a:ext uri="{FF2B5EF4-FFF2-40B4-BE49-F238E27FC236}">
                <a16:creationId xmlns:a16="http://schemas.microsoft.com/office/drawing/2014/main" id="{D708F81F-24B8-78BC-E179-0122FE181989}"/>
              </a:ext>
            </a:extLst>
          </p:cNvPr>
          <p:cNvGraphicFramePr>
            <a:graphicFrameLocks/>
          </p:cNvGraphicFramePr>
          <p:nvPr/>
        </p:nvGraphicFramePr>
        <p:xfrm>
          <a:off x="7241322" y="576865"/>
          <a:ext cx="4041359" cy="374113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7" name="Chart 16">
            <a:extLst>
              <a:ext uri="{FF2B5EF4-FFF2-40B4-BE49-F238E27FC236}">
                <a16:creationId xmlns:a16="http://schemas.microsoft.com/office/drawing/2014/main" id="{CD8B3B6F-3539-49A5-02D3-1118B99DC111}"/>
              </a:ext>
            </a:extLst>
          </p:cNvPr>
          <p:cNvGraphicFramePr>
            <a:graphicFrameLocks/>
          </p:cNvGraphicFramePr>
          <p:nvPr/>
        </p:nvGraphicFramePr>
        <p:xfrm>
          <a:off x="994279" y="909174"/>
          <a:ext cx="5823125" cy="3526492"/>
        </p:xfrm>
        <a:graphic>
          <a:graphicData uri="http://schemas.openxmlformats.org/drawingml/2006/chart">
            <c:chart xmlns:c="http://schemas.openxmlformats.org/drawingml/2006/chart" xmlns:r="http://schemas.openxmlformats.org/officeDocument/2006/relationships" r:id="rId6"/>
          </a:graphicData>
        </a:graphic>
      </p:graphicFrame>
      <p:sp>
        <p:nvSpPr>
          <p:cNvPr id="19" name="TextBox 18">
            <a:extLst>
              <a:ext uri="{FF2B5EF4-FFF2-40B4-BE49-F238E27FC236}">
                <a16:creationId xmlns:a16="http://schemas.microsoft.com/office/drawing/2014/main" id="{67864507-8B48-D117-26A9-EBA4B92EAEFC}"/>
              </a:ext>
            </a:extLst>
          </p:cNvPr>
          <p:cNvSpPr txBox="1"/>
          <p:nvPr/>
        </p:nvSpPr>
        <p:spPr>
          <a:xfrm>
            <a:off x="1120147" y="4941763"/>
            <a:ext cx="5823125" cy="1592039"/>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88% of the guest are coming from Europe.</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93% of all cancellation from Europe guest.</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Most of guest are from Portugal (High Cancellation and High Revenue), France (second Highest Revenue), Germany (stable)</a:t>
            </a:r>
            <a:r>
              <a:rPr lang="en-SG" sz="1400" b="1" dirty="0"/>
              <a:t>.</a:t>
            </a:r>
          </a:p>
          <a:p>
            <a:pPr indent="-285750" defTabSz="914400">
              <a:lnSpc>
                <a:spcPct val="120000"/>
              </a:lnSpc>
              <a:spcAft>
                <a:spcPts val="600"/>
              </a:spcAft>
              <a:buClr>
                <a:schemeClr val="accent6"/>
              </a:buClr>
              <a:buSzPct val="90000"/>
              <a:buFont typeface="Wingdings" panose="05000000000000000000" pitchFamily="2" charset="2"/>
              <a:buChar char="§"/>
            </a:pPr>
            <a:endParaRPr lang="en-US" sz="1400" dirty="0"/>
          </a:p>
        </p:txBody>
      </p:sp>
      <p:graphicFrame>
        <p:nvGraphicFramePr>
          <p:cNvPr id="21" name="Table 20">
            <a:extLst>
              <a:ext uri="{FF2B5EF4-FFF2-40B4-BE49-F238E27FC236}">
                <a16:creationId xmlns:a16="http://schemas.microsoft.com/office/drawing/2014/main" id="{AC6B96E7-CDEE-34AB-9241-E2001FFEDF7A}"/>
              </a:ext>
            </a:extLst>
          </p:cNvPr>
          <p:cNvGraphicFramePr>
            <a:graphicFrameLocks noGrp="1"/>
          </p:cNvGraphicFramePr>
          <p:nvPr/>
        </p:nvGraphicFramePr>
        <p:xfrm>
          <a:off x="6801514" y="4924982"/>
          <a:ext cx="4866596" cy="812800"/>
        </p:xfrm>
        <a:graphic>
          <a:graphicData uri="http://schemas.openxmlformats.org/drawingml/2006/table">
            <a:tbl>
              <a:tblPr firstRow="1" bandRow="1">
                <a:tableStyleId>{2D5ABB26-0587-4C30-8999-92F81FD0307C}</a:tableStyleId>
              </a:tblPr>
              <a:tblGrid>
                <a:gridCol w="1271040">
                  <a:extLst>
                    <a:ext uri="{9D8B030D-6E8A-4147-A177-3AD203B41FA5}">
                      <a16:colId xmlns:a16="http://schemas.microsoft.com/office/drawing/2014/main" val="1697015087"/>
                    </a:ext>
                  </a:extLst>
                </a:gridCol>
                <a:gridCol w="1236688">
                  <a:extLst>
                    <a:ext uri="{9D8B030D-6E8A-4147-A177-3AD203B41FA5}">
                      <a16:colId xmlns:a16="http://schemas.microsoft.com/office/drawing/2014/main" val="468197169"/>
                    </a:ext>
                  </a:extLst>
                </a:gridCol>
                <a:gridCol w="1042024">
                  <a:extLst>
                    <a:ext uri="{9D8B030D-6E8A-4147-A177-3AD203B41FA5}">
                      <a16:colId xmlns:a16="http://schemas.microsoft.com/office/drawing/2014/main" val="2216694701"/>
                    </a:ext>
                  </a:extLst>
                </a:gridCol>
                <a:gridCol w="1316844">
                  <a:extLst>
                    <a:ext uri="{9D8B030D-6E8A-4147-A177-3AD203B41FA5}">
                      <a16:colId xmlns:a16="http://schemas.microsoft.com/office/drawing/2014/main" val="1754246038"/>
                    </a:ext>
                  </a:extLst>
                </a:gridCol>
              </a:tblGrid>
              <a:tr h="203200">
                <a:tc>
                  <a:txBody>
                    <a:bodyPr/>
                    <a:lstStyle/>
                    <a:p>
                      <a:pPr algn="l" fontAlgn="b">
                        <a:buNone/>
                      </a:pP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dirty="0" err="1">
                          <a:solidFill>
                            <a:schemeClr val="tx1"/>
                          </a:solidFill>
                          <a:effectLst/>
                        </a:rPr>
                        <a:t>Non_Cancelled</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a:solidFill>
                            <a:schemeClr val="tx1"/>
                          </a:solidFill>
                          <a:effectLst/>
                        </a:rPr>
                        <a:t>Cancelled</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ctr" fontAlgn="b">
                        <a:buNone/>
                      </a:pPr>
                      <a:r>
                        <a:rPr lang="en-SG" sz="1200" b="0" u="none" strike="noStrike" dirty="0">
                          <a:solidFill>
                            <a:schemeClr val="tx1"/>
                          </a:solidFill>
                          <a:effectLst/>
                        </a:rPr>
                        <a:t>Total</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51090963"/>
                  </a:ext>
                </a:extLst>
              </a:tr>
              <a:tr h="203200">
                <a:tc>
                  <a:txBody>
                    <a:bodyPr/>
                    <a:lstStyle/>
                    <a:p>
                      <a:pPr algn="l" fontAlgn="b">
                        <a:buNone/>
                      </a:pPr>
                      <a:r>
                        <a:rPr lang="en-SG" sz="1200" b="0" u="none" strike="noStrike">
                          <a:solidFill>
                            <a:schemeClr val="tx1"/>
                          </a:solidFill>
                          <a:effectLst/>
                        </a:rPr>
                        <a:t>Portugal</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20%</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62%</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38%</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85952833"/>
                  </a:ext>
                </a:extLst>
              </a:tr>
              <a:tr h="203200">
                <a:tc>
                  <a:txBody>
                    <a:bodyPr/>
                    <a:lstStyle/>
                    <a:p>
                      <a:pPr algn="l" fontAlgn="b">
                        <a:buNone/>
                      </a:pPr>
                      <a:r>
                        <a:rPr lang="en-SG" sz="1200" b="0" u="none" strike="noStrike">
                          <a:solidFill>
                            <a:schemeClr val="tx1"/>
                          </a:solidFill>
                          <a:effectLst/>
                        </a:rPr>
                        <a:t>France</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19%</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7%</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14%</a:t>
                      </a:r>
                      <a:endParaRPr lang="en-SG" sz="1200" b="0" i="0" u="none" strike="noStrike">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80123019"/>
                  </a:ext>
                </a:extLst>
              </a:tr>
              <a:tr h="203200">
                <a:tc>
                  <a:txBody>
                    <a:bodyPr/>
                    <a:lstStyle/>
                    <a:p>
                      <a:pPr algn="l" fontAlgn="b">
                        <a:buNone/>
                      </a:pPr>
                      <a:r>
                        <a:rPr lang="en-SG" sz="1200" b="0" u="none" strike="noStrike">
                          <a:solidFill>
                            <a:schemeClr val="tx1"/>
                          </a:solidFill>
                          <a:effectLst/>
                        </a:rPr>
                        <a:t>Germany</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a:solidFill>
                            <a:schemeClr val="tx1"/>
                          </a:solidFill>
                          <a:effectLst/>
                        </a:rPr>
                        <a:t>14%</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4%</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10%</a:t>
                      </a:r>
                      <a:endParaRPr lang="en-SG" sz="12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61899318"/>
                  </a:ext>
                </a:extLst>
              </a:tr>
            </a:tbl>
          </a:graphicData>
        </a:graphic>
      </p:graphicFrame>
    </p:spTree>
    <p:extLst>
      <p:ext uri="{BB962C8B-B14F-4D97-AF65-F5344CB8AC3E}">
        <p14:creationId xmlns:p14="http://schemas.microsoft.com/office/powerpoint/2010/main" val="3327557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76748F63-7717-D2E0-0A83-E47952E599E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8340CA-691F-D7C0-E015-5F4D7934ED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78F45EB-0875-7576-87B3-B4EDA8D3B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4770360-6974-F633-12C2-82688A261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E16781FA-48B7-58F3-A332-C1A652247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BF0198BD-EA2C-56B5-6E08-CFE8BAC7C9E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2EED2A25-7E2A-376D-FBCA-AD2A29050B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5EC9A45F-F660-6C83-4D87-A7C2E1691B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31515B2E-884F-E9BE-8B26-916450C01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CD5B6807-C667-16A9-E406-13CF474C8C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5139E0-A190-2880-3214-A3CB1242BFF4}"/>
              </a:ext>
            </a:extLst>
          </p:cNvPr>
          <p:cNvSpPr txBox="1">
            <a:spLocks/>
          </p:cNvSpPr>
          <p:nvPr/>
        </p:nvSpPr>
        <p:spPr>
          <a:xfrm>
            <a:off x="994278" y="223754"/>
            <a:ext cx="10244179"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Market Segments &amp; Geographic Relationship Analysis</a:t>
            </a:r>
          </a:p>
          <a:p>
            <a:pPr algn="l"/>
            <a:endParaRPr lang="en-US" sz="2800" dirty="0"/>
          </a:p>
        </p:txBody>
      </p:sp>
      <p:sp>
        <p:nvSpPr>
          <p:cNvPr id="3" name="TextBox 2">
            <a:extLst>
              <a:ext uri="{FF2B5EF4-FFF2-40B4-BE49-F238E27FC236}">
                <a16:creationId xmlns:a16="http://schemas.microsoft.com/office/drawing/2014/main" id="{51D5B62C-0EE2-5069-C58B-B4ABA5616B59}"/>
              </a:ext>
            </a:extLst>
          </p:cNvPr>
          <p:cNvSpPr txBox="1"/>
          <p:nvPr/>
        </p:nvSpPr>
        <p:spPr>
          <a:xfrm>
            <a:off x="1119114" y="5733409"/>
            <a:ext cx="10957038" cy="998030"/>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P value is smaller than 0.05, means the 2 variables are depend on each others.</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On a scale of 0 to 1, CV 0.14 indicates the strength of relationship is weak effect on the relationship.</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European travellers more on Offline OTA and Asia travellers more on Online OTA.</a:t>
            </a:r>
          </a:p>
        </p:txBody>
      </p:sp>
      <p:graphicFrame>
        <p:nvGraphicFramePr>
          <p:cNvPr id="4" name="Table 3">
            <a:extLst>
              <a:ext uri="{FF2B5EF4-FFF2-40B4-BE49-F238E27FC236}">
                <a16:creationId xmlns:a16="http://schemas.microsoft.com/office/drawing/2014/main" id="{D22AF8E6-C9E0-1C0F-5FAC-0F36FB9092EC}"/>
              </a:ext>
            </a:extLst>
          </p:cNvPr>
          <p:cNvGraphicFramePr>
            <a:graphicFrameLocks noGrp="1"/>
          </p:cNvGraphicFramePr>
          <p:nvPr>
            <p:extLst>
              <p:ext uri="{D42A27DB-BD31-4B8C-83A1-F6EECF244321}">
                <p14:modId xmlns:p14="http://schemas.microsoft.com/office/powerpoint/2010/main" val="4050867974"/>
              </p:ext>
            </p:extLst>
          </p:nvPr>
        </p:nvGraphicFramePr>
        <p:xfrm>
          <a:off x="1869700" y="905272"/>
          <a:ext cx="9319034" cy="401190"/>
        </p:xfrm>
        <a:graphic>
          <a:graphicData uri="http://schemas.openxmlformats.org/drawingml/2006/table">
            <a:tbl>
              <a:tblPr firstRow="1" bandRow="1">
                <a:tableStyleId>{3B4B98B0-60AC-42C2-AFA5-B58CD77FA1E5}</a:tableStyleId>
              </a:tblPr>
              <a:tblGrid>
                <a:gridCol w="2220304">
                  <a:extLst>
                    <a:ext uri="{9D8B030D-6E8A-4147-A177-3AD203B41FA5}">
                      <a16:colId xmlns:a16="http://schemas.microsoft.com/office/drawing/2014/main" val="1867694239"/>
                    </a:ext>
                  </a:extLst>
                </a:gridCol>
                <a:gridCol w="2017147">
                  <a:extLst>
                    <a:ext uri="{9D8B030D-6E8A-4147-A177-3AD203B41FA5}">
                      <a16:colId xmlns:a16="http://schemas.microsoft.com/office/drawing/2014/main" val="1794206286"/>
                    </a:ext>
                  </a:extLst>
                </a:gridCol>
                <a:gridCol w="1721172">
                  <a:extLst>
                    <a:ext uri="{9D8B030D-6E8A-4147-A177-3AD203B41FA5}">
                      <a16:colId xmlns:a16="http://schemas.microsoft.com/office/drawing/2014/main" val="3837562831"/>
                    </a:ext>
                  </a:extLst>
                </a:gridCol>
                <a:gridCol w="802821">
                  <a:extLst>
                    <a:ext uri="{9D8B030D-6E8A-4147-A177-3AD203B41FA5}">
                      <a16:colId xmlns:a16="http://schemas.microsoft.com/office/drawing/2014/main" val="3830513860"/>
                    </a:ext>
                  </a:extLst>
                </a:gridCol>
                <a:gridCol w="968901">
                  <a:extLst>
                    <a:ext uri="{9D8B030D-6E8A-4147-A177-3AD203B41FA5}">
                      <a16:colId xmlns:a16="http://schemas.microsoft.com/office/drawing/2014/main" val="3951830290"/>
                    </a:ext>
                  </a:extLst>
                </a:gridCol>
                <a:gridCol w="1588689">
                  <a:extLst>
                    <a:ext uri="{9D8B030D-6E8A-4147-A177-3AD203B41FA5}">
                      <a16:colId xmlns:a16="http://schemas.microsoft.com/office/drawing/2014/main" val="3868368905"/>
                    </a:ext>
                  </a:extLst>
                </a:gridCol>
              </a:tblGrid>
              <a:tr h="197990">
                <a:tc>
                  <a:txBody>
                    <a:bodyPr/>
                    <a:lstStyle/>
                    <a:p>
                      <a:pPr algn="ctr" fontAlgn="t">
                        <a:buNone/>
                      </a:pPr>
                      <a:r>
                        <a:rPr lang="en-SG" sz="1200" b="1" u="none" strike="noStrike" dirty="0">
                          <a:solidFill>
                            <a:schemeClr val="tx1"/>
                          </a:solidFill>
                          <a:effectLst/>
                        </a:rPr>
                        <a:t>Var1</a:t>
                      </a:r>
                      <a:endParaRPr lang="en-SG" sz="1200" b="1" i="0" u="none" strike="noStrike" dirty="0">
                        <a:solidFill>
                          <a:schemeClr val="tx1"/>
                        </a:solidFill>
                        <a:effectLst/>
                        <a:latin typeface="Calibri" panose="020F0502020204030204" pitchFamily="34" charset="0"/>
                      </a:endParaRPr>
                    </a:p>
                  </a:txBody>
                  <a:tcPr marL="9525" marR="9525" marT="9525" marB="0"/>
                </a:tc>
                <a:tc>
                  <a:txBody>
                    <a:bodyPr/>
                    <a:lstStyle/>
                    <a:p>
                      <a:pPr algn="ctr" fontAlgn="t">
                        <a:buNone/>
                      </a:pPr>
                      <a:r>
                        <a:rPr lang="en-SG" sz="1200" b="1" u="none" strike="noStrike" dirty="0">
                          <a:solidFill>
                            <a:schemeClr val="tx1"/>
                          </a:solidFill>
                          <a:effectLst/>
                        </a:rPr>
                        <a:t>Var2</a:t>
                      </a:r>
                      <a:endParaRPr lang="en-SG" sz="1200" b="1" i="0" u="none" strike="noStrike" dirty="0">
                        <a:solidFill>
                          <a:schemeClr val="tx1"/>
                        </a:solidFill>
                        <a:effectLst/>
                        <a:latin typeface="Calibri" panose="020F0502020204030204" pitchFamily="34" charset="0"/>
                      </a:endParaRPr>
                    </a:p>
                  </a:txBody>
                  <a:tcPr marL="9525" marR="9525" marT="9525" marB="0"/>
                </a:tc>
                <a:tc>
                  <a:txBody>
                    <a:bodyPr/>
                    <a:lstStyle/>
                    <a:p>
                      <a:pPr algn="ctr" fontAlgn="t">
                        <a:buNone/>
                      </a:pPr>
                      <a:r>
                        <a:rPr lang="en-SG" sz="1200" b="1" u="none" strike="noStrike" dirty="0">
                          <a:solidFill>
                            <a:schemeClr val="tx1"/>
                          </a:solidFill>
                          <a:effectLst/>
                        </a:rPr>
                        <a:t>Chi2</a:t>
                      </a:r>
                      <a:endParaRPr lang="en-SG" sz="1200" b="1" i="0" u="none" strike="noStrike" dirty="0">
                        <a:solidFill>
                          <a:schemeClr val="tx1"/>
                        </a:solidFill>
                        <a:effectLst/>
                        <a:latin typeface="Calibri" panose="020F0502020204030204" pitchFamily="34" charset="0"/>
                      </a:endParaRPr>
                    </a:p>
                  </a:txBody>
                  <a:tcPr marL="9525" marR="9525" marT="9525" marB="0"/>
                </a:tc>
                <a:tc>
                  <a:txBody>
                    <a:bodyPr/>
                    <a:lstStyle/>
                    <a:p>
                      <a:pPr algn="ctr" fontAlgn="t">
                        <a:buNone/>
                      </a:pPr>
                      <a:r>
                        <a:rPr lang="en-SG" sz="1200" b="1" u="none" strike="noStrike">
                          <a:solidFill>
                            <a:schemeClr val="tx1"/>
                          </a:solidFill>
                          <a:effectLst/>
                        </a:rPr>
                        <a:t>p-value</a:t>
                      </a:r>
                      <a:endParaRPr lang="en-SG" sz="1200" b="1" i="0" u="none" strike="noStrike">
                        <a:solidFill>
                          <a:schemeClr val="tx1"/>
                        </a:solidFill>
                        <a:effectLst/>
                        <a:latin typeface="Calibri" panose="020F0502020204030204" pitchFamily="34" charset="0"/>
                      </a:endParaRPr>
                    </a:p>
                  </a:txBody>
                  <a:tcPr marL="9525" marR="9525" marT="9525" marB="0"/>
                </a:tc>
                <a:tc>
                  <a:txBody>
                    <a:bodyPr/>
                    <a:lstStyle/>
                    <a:p>
                      <a:pPr algn="ctr" fontAlgn="t">
                        <a:buNone/>
                      </a:pPr>
                      <a:r>
                        <a:rPr lang="en-SG" sz="1200" b="1" u="none" strike="noStrike" dirty="0" err="1">
                          <a:solidFill>
                            <a:schemeClr val="tx1"/>
                          </a:solidFill>
                          <a:effectLst/>
                        </a:rPr>
                        <a:t>dof</a:t>
                      </a:r>
                      <a:endParaRPr lang="en-SG" sz="1200" b="1" i="0" u="none" strike="noStrike" dirty="0">
                        <a:solidFill>
                          <a:schemeClr val="tx1"/>
                        </a:solidFill>
                        <a:effectLst/>
                        <a:latin typeface="Calibri" panose="020F0502020204030204" pitchFamily="34" charset="0"/>
                      </a:endParaRPr>
                    </a:p>
                  </a:txBody>
                  <a:tcPr marL="9525" marR="9525" marT="9525" marB="0"/>
                </a:tc>
                <a:tc>
                  <a:txBody>
                    <a:bodyPr/>
                    <a:lstStyle/>
                    <a:p>
                      <a:pPr algn="ctr" fontAlgn="t">
                        <a:buNone/>
                      </a:pPr>
                      <a:r>
                        <a:rPr lang="en-SG" sz="1200" b="1" u="none" strike="noStrike">
                          <a:solidFill>
                            <a:schemeClr val="tx1"/>
                          </a:solidFill>
                          <a:effectLst/>
                        </a:rPr>
                        <a:t>Cramers_V</a:t>
                      </a:r>
                      <a:endParaRPr lang="en-SG" sz="1200" b="1" i="0" u="none" strike="noStrike">
                        <a:solidFill>
                          <a:schemeClr val="tx1"/>
                        </a:solidFill>
                        <a:effectLst/>
                        <a:latin typeface="Calibri" panose="020F0502020204030204" pitchFamily="34" charset="0"/>
                      </a:endParaRPr>
                    </a:p>
                  </a:txBody>
                  <a:tcPr marL="9525" marR="9525" marT="9525" marB="0"/>
                </a:tc>
                <a:extLst>
                  <a:ext uri="{0D108BD9-81ED-4DB2-BD59-A6C34878D82A}">
                    <a16:rowId xmlns:a16="http://schemas.microsoft.com/office/drawing/2014/main" val="317853003"/>
                  </a:ext>
                </a:extLst>
              </a:tr>
              <a:tr h="203200">
                <a:tc>
                  <a:txBody>
                    <a:bodyPr/>
                    <a:lstStyle/>
                    <a:p>
                      <a:pPr algn="l" fontAlgn="b">
                        <a:buNone/>
                      </a:pPr>
                      <a:r>
                        <a:rPr lang="en-SG" sz="1200" b="0" u="none" strike="noStrike">
                          <a:solidFill>
                            <a:schemeClr val="tx1"/>
                          </a:solidFill>
                          <a:effectLst/>
                        </a:rPr>
                        <a:t>Market Segments</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l" fontAlgn="b">
                        <a:buNone/>
                      </a:pPr>
                      <a:r>
                        <a:rPr lang="en-SG" sz="1200" b="0" u="none" strike="noStrike" dirty="0">
                          <a:solidFill>
                            <a:schemeClr val="tx1"/>
                          </a:solidFill>
                          <a:effectLst/>
                        </a:rPr>
                        <a:t>Country Zone</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i="0" u="none" strike="noStrike" dirty="0">
                          <a:solidFill>
                            <a:schemeClr val="tx1"/>
                          </a:solidFill>
                          <a:effectLst/>
                          <a:latin typeface="+mn-lt"/>
                        </a:rPr>
                        <a:t>10674.91264</a:t>
                      </a: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42</a:t>
                      </a:r>
                      <a:endParaRPr lang="en-SG" sz="12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r" fontAlgn="b">
                        <a:buNone/>
                      </a:pPr>
                      <a:r>
                        <a:rPr lang="en-SG" sz="1200" b="0" u="none" strike="noStrike" dirty="0">
                          <a:solidFill>
                            <a:schemeClr val="tx1"/>
                          </a:solidFill>
                          <a:effectLst/>
                        </a:rPr>
                        <a:t>0.14</a:t>
                      </a:r>
                    </a:p>
                  </a:txBody>
                  <a:tcPr marL="9525" marR="9525" marT="9525" marB="0" anchor="b"/>
                </a:tc>
                <a:extLst>
                  <a:ext uri="{0D108BD9-81ED-4DB2-BD59-A6C34878D82A}">
                    <a16:rowId xmlns:a16="http://schemas.microsoft.com/office/drawing/2014/main" val="2081213543"/>
                  </a:ext>
                </a:extLst>
              </a:tr>
            </a:tbl>
          </a:graphicData>
        </a:graphic>
      </p:graphicFrame>
      <p:graphicFrame>
        <p:nvGraphicFramePr>
          <p:cNvPr id="5" name="Table 4">
            <a:extLst>
              <a:ext uri="{FF2B5EF4-FFF2-40B4-BE49-F238E27FC236}">
                <a16:creationId xmlns:a16="http://schemas.microsoft.com/office/drawing/2014/main" id="{B07B13A9-5F9E-8CC5-3C53-68D896EF9B85}"/>
              </a:ext>
            </a:extLst>
          </p:cNvPr>
          <p:cNvGraphicFramePr>
            <a:graphicFrameLocks noGrp="1"/>
          </p:cNvGraphicFramePr>
          <p:nvPr>
            <p:extLst>
              <p:ext uri="{D42A27DB-BD31-4B8C-83A1-F6EECF244321}">
                <p14:modId xmlns:p14="http://schemas.microsoft.com/office/powerpoint/2010/main" val="11613976"/>
              </p:ext>
            </p:extLst>
          </p:nvPr>
        </p:nvGraphicFramePr>
        <p:xfrm>
          <a:off x="1869700" y="1506737"/>
          <a:ext cx="9319033" cy="1969347"/>
        </p:xfrm>
        <a:graphic>
          <a:graphicData uri="http://schemas.openxmlformats.org/drawingml/2006/table">
            <a:tbl>
              <a:tblPr/>
              <a:tblGrid>
                <a:gridCol w="1206009">
                  <a:extLst>
                    <a:ext uri="{9D8B030D-6E8A-4147-A177-3AD203B41FA5}">
                      <a16:colId xmlns:a16="http://schemas.microsoft.com/office/drawing/2014/main" val="2298978466"/>
                    </a:ext>
                  </a:extLst>
                </a:gridCol>
                <a:gridCol w="803564">
                  <a:extLst>
                    <a:ext uri="{9D8B030D-6E8A-4147-A177-3AD203B41FA5}">
                      <a16:colId xmlns:a16="http://schemas.microsoft.com/office/drawing/2014/main" val="287944058"/>
                    </a:ext>
                  </a:extLst>
                </a:gridCol>
                <a:gridCol w="789709">
                  <a:extLst>
                    <a:ext uri="{9D8B030D-6E8A-4147-A177-3AD203B41FA5}">
                      <a16:colId xmlns:a16="http://schemas.microsoft.com/office/drawing/2014/main" val="3485730817"/>
                    </a:ext>
                  </a:extLst>
                </a:gridCol>
                <a:gridCol w="775854">
                  <a:extLst>
                    <a:ext uri="{9D8B030D-6E8A-4147-A177-3AD203B41FA5}">
                      <a16:colId xmlns:a16="http://schemas.microsoft.com/office/drawing/2014/main" val="1514867477"/>
                    </a:ext>
                  </a:extLst>
                </a:gridCol>
                <a:gridCol w="928255">
                  <a:extLst>
                    <a:ext uri="{9D8B030D-6E8A-4147-A177-3AD203B41FA5}">
                      <a16:colId xmlns:a16="http://schemas.microsoft.com/office/drawing/2014/main" val="1303915747"/>
                    </a:ext>
                  </a:extLst>
                </a:gridCol>
                <a:gridCol w="1094509">
                  <a:extLst>
                    <a:ext uri="{9D8B030D-6E8A-4147-A177-3AD203B41FA5}">
                      <a16:colId xmlns:a16="http://schemas.microsoft.com/office/drawing/2014/main" val="3544613920"/>
                    </a:ext>
                  </a:extLst>
                </a:gridCol>
                <a:gridCol w="914400">
                  <a:extLst>
                    <a:ext uri="{9D8B030D-6E8A-4147-A177-3AD203B41FA5}">
                      <a16:colId xmlns:a16="http://schemas.microsoft.com/office/drawing/2014/main" val="4276437814"/>
                    </a:ext>
                  </a:extLst>
                </a:gridCol>
                <a:gridCol w="953563">
                  <a:extLst>
                    <a:ext uri="{9D8B030D-6E8A-4147-A177-3AD203B41FA5}">
                      <a16:colId xmlns:a16="http://schemas.microsoft.com/office/drawing/2014/main" val="3429490841"/>
                    </a:ext>
                  </a:extLst>
                </a:gridCol>
                <a:gridCol w="967796">
                  <a:extLst>
                    <a:ext uri="{9D8B030D-6E8A-4147-A177-3AD203B41FA5}">
                      <a16:colId xmlns:a16="http://schemas.microsoft.com/office/drawing/2014/main" val="1416563454"/>
                    </a:ext>
                  </a:extLst>
                </a:gridCol>
                <a:gridCol w="885374">
                  <a:extLst>
                    <a:ext uri="{9D8B030D-6E8A-4147-A177-3AD203B41FA5}">
                      <a16:colId xmlns:a16="http://schemas.microsoft.com/office/drawing/2014/main" val="3817543789"/>
                    </a:ext>
                  </a:extLst>
                </a:gridCol>
              </a:tblGrid>
              <a:tr h="263289">
                <a:tc>
                  <a:txBody>
                    <a:bodyPr/>
                    <a:lstStyle/>
                    <a:p>
                      <a:pPr algn="ctr" fontAlgn="b">
                        <a:buNone/>
                      </a:pPr>
                      <a:endParaRPr lang="en-SG" sz="1200" b="0" i="0" u="none" strike="noStrike" dirty="0">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Africa</a:t>
                      </a:r>
                    </a:p>
                  </a:txBody>
                  <a:tcPr marL="6682" marR="6682" marT="6682"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Antarctica</a:t>
                      </a:r>
                    </a:p>
                  </a:txBody>
                  <a:tcPr marL="6682" marR="6682" marT="6682"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Asia</a:t>
                      </a:r>
                    </a:p>
                  </a:txBody>
                  <a:tcPr marL="6682" marR="6682" marT="6682"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Europe</a:t>
                      </a:r>
                    </a:p>
                  </a:txBody>
                  <a:tcPr marL="6682" marR="6682" marT="6682"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North America</a:t>
                      </a:r>
                    </a:p>
                  </a:txBody>
                  <a:tcPr marL="6682" marR="6682" marT="6682"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Oceania</a:t>
                      </a:r>
                    </a:p>
                  </a:txBody>
                  <a:tcPr marL="6682" marR="6682" marT="6682" marB="0" anchor="b">
                    <a:lnL>
                      <a:noFill/>
                    </a:lnL>
                    <a:lnR>
                      <a:noFill/>
                    </a:lnR>
                    <a:lnT>
                      <a:noFill/>
                    </a:lnT>
                    <a:lnB>
                      <a:noFill/>
                    </a:lnB>
                    <a:noFill/>
                  </a:tcPr>
                </a:tc>
                <a:tc>
                  <a:txBody>
                    <a:bodyPr/>
                    <a:lstStyle/>
                    <a:p>
                      <a:pPr algn="ctr" fontAlgn="b">
                        <a:buNone/>
                      </a:pPr>
                      <a:r>
                        <a:rPr lang="en-SG" sz="1200" b="0" i="0" u="none" strike="noStrike" dirty="0">
                          <a:solidFill>
                            <a:schemeClr val="tx1"/>
                          </a:solidFill>
                          <a:effectLst/>
                          <a:latin typeface="Aptos Narrow" panose="020B0004020202020204" pitchFamily="34" charset="0"/>
                        </a:rPr>
                        <a:t>South America</a:t>
                      </a:r>
                    </a:p>
                  </a:txBody>
                  <a:tcPr marL="6682" marR="6682" marT="6682" marB="0" anchor="b">
                    <a:lnL>
                      <a:noFill/>
                    </a:lnL>
                    <a:lnR>
                      <a:noFill/>
                    </a:lnR>
                    <a:lnT>
                      <a:noFill/>
                    </a:lnT>
                    <a:lnB>
                      <a:noFill/>
                    </a:lnB>
                    <a:noFill/>
                  </a:tcPr>
                </a:tc>
                <a:tc>
                  <a:txBody>
                    <a:bodyPr/>
                    <a:lstStyle/>
                    <a:p>
                      <a:pPr algn="ctr" fontAlgn="b">
                        <a:buNone/>
                      </a:pPr>
                      <a:r>
                        <a:rPr lang="en-SG" sz="1200" b="0" i="0" u="none" strike="noStrike" dirty="0">
                          <a:solidFill>
                            <a:schemeClr val="tx1"/>
                          </a:solidFill>
                          <a:effectLst/>
                          <a:latin typeface="Aptos Narrow" panose="020B0004020202020204" pitchFamily="34" charset="0"/>
                        </a:rPr>
                        <a:t>Undefined</a:t>
                      </a:r>
                    </a:p>
                  </a:txBody>
                  <a:tcPr marL="6682" marR="6682" marT="6682"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Grand Total</a:t>
                      </a:r>
                    </a:p>
                  </a:txBody>
                  <a:tcPr marL="6682" marR="6682" marT="6682" marB="0" anchor="b">
                    <a:lnL>
                      <a:noFill/>
                    </a:lnL>
                    <a:lnR>
                      <a:noFill/>
                    </a:lnR>
                    <a:lnT>
                      <a:noFill/>
                    </a:lnT>
                    <a:lnB>
                      <a:noFill/>
                    </a:lnB>
                    <a:noFill/>
                  </a:tcPr>
                </a:tc>
                <a:extLst>
                  <a:ext uri="{0D108BD9-81ED-4DB2-BD59-A6C34878D82A}">
                    <a16:rowId xmlns:a16="http://schemas.microsoft.com/office/drawing/2014/main" val="449337964"/>
                  </a:ext>
                </a:extLst>
              </a:tr>
              <a:tr h="142559">
                <a:tc>
                  <a:txBody>
                    <a:bodyPr/>
                    <a:lstStyle/>
                    <a:p>
                      <a:pPr algn="l" fontAlgn="b">
                        <a:buNone/>
                      </a:pPr>
                      <a:r>
                        <a:rPr lang="en-SG" sz="1200" b="0" i="0" u="none" strike="noStrike" dirty="0">
                          <a:solidFill>
                            <a:schemeClr val="tx1"/>
                          </a:solidFill>
                          <a:effectLst/>
                          <a:latin typeface="Aptos Narrow" panose="020B0004020202020204" pitchFamily="34" charset="0"/>
                        </a:rPr>
                        <a:t>Aviation</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a:t>
                      </a: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229</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a:t>
                      </a:r>
                    </a:p>
                  </a:txBody>
                  <a:tcPr marL="6682" marR="6682" marT="6682" marB="0" anchor="b">
                    <a:lnL>
                      <a:noFill/>
                    </a:lnL>
                    <a:lnR>
                      <a:noFill/>
                    </a:lnR>
                    <a:lnT>
                      <a:noFill/>
                    </a:lnT>
                    <a:lnB>
                      <a:noFill/>
                    </a:lnB>
                    <a:noFill/>
                  </a:tcPr>
                </a:tc>
                <a:tc>
                  <a:txBody>
                    <a:bodyPr/>
                    <a:lstStyle/>
                    <a:p>
                      <a:pPr algn="l" fontAlgn="b">
                        <a:buNone/>
                      </a:pPr>
                      <a:endParaRPr lang="en-SG" sz="1200" b="0" i="0" u="none" strike="noStrike" dirty="0">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l" fontAlgn="b">
                        <a:buNone/>
                      </a:pPr>
                      <a:endParaRPr lang="en-SG" sz="1200" b="0" i="0" u="none" strike="noStrike" dirty="0">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237</a:t>
                      </a:r>
                    </a:p>
                  </a:txBody>
                  <a:tcPr marL="6682" marR="6682" marT="6682" marB="0" anchor="b">
                    <a:lnL>
                      <a:noFill/>
                    </a:lnL>
                    <a:lnR>
                      <a:noFill/>
                    </a:lnR>
                    <a:lnT>
                      <a:noFill/>
                    </a:lnT>
                    <a:lnB>
                      <a:noFill/>
                    </a:lnB>
                    <a:noFill/>
                  </a:tcPr>
                </a:tc>
                <a:extLst>
                  <a:ext uri="{0D108BD9-81ED-4DB2-BD59-A6C34878D82A}">
                    <a16:rowId xmlns:a16="http://schemas.microsoft.com/office/drawing/2014/main" val="4163689950"/>
                  </a:ext>
                </a:extLst>
              </a:tr>
              <a:tr h="142559">
                <a:tc>
                  <a:txBody>
                    <a:bodyPr/>
                    <a:lstStyle/>
                    <a:p>
                      <a:pPr algn="l" fontAlgn="b">
                        <a:buNone/>
                      </a:pPr>
                      <a:r>
                        <a:rPr lang="en-SG" sz="1200" b="0" i="0" u="none" strike="noStrike">
                          <a:solidFill>
                            <a:schemeClr val="tx1"/>
                          </a:solidFill>
                          <a:effectLst/>
                          <a:latin typeface="Aptos Narrow" panose="020B0004020202020204" pitchFamily="34" charset="0"/>
                        </a:rPr>
                        <a:t>Complementary</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a:t>
                      </a: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528</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a:t>
                      </a: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7</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542</a:t>
                      </a:r>
                    </a:p>
                  </a:txBody>
                  <a:tcPr marL="6682" marR="6682" marT="6682" marB="0" anchor="b">
                    <a:lnL>
                      <a:noFill/>
                    </a:lnL>
                    <a:lnR>
                      <a:noFill/>
                    </a:lnR>
                    <a:lnT>
                      <a:noFill/>
                    </a:lnT>
                    <a:lnB>
                      <a:noFill/>
                    </a:lnB>
                    <a:noFill/>
                  </a:tcPr>
                </a:tc>
                <a:extLst>
                  <a:ext uri="{0D108BD9-81ED-4DB2-BD59-A6C34878D82A}">
                    <a16:rowId xmlns:a16="http://schemas.microsoft.com/office/drawing/2014/main" val="2192173537"/>
                  </a:ext>
                </a:extLst>
              </a:tr>
              <a:tr h="142559">
                <a:tc>
                  <a:txBody>
                    <a:bodyPr/>
                    <a:lstStyle/>
                    <a:p>
                      <a:pPr algn="l" fontAlgn="b">
                        <a:buNone/>
                      </a:pPr>
                      <a:r>
                        <a:rPr lang="en-SG" sz="1200" b="0" i="0" u="none" strike="noStrike">
                          <a:solidFill>
                            <a:schemeClr val="tx1"/>
                          </a:solidFill>
                          <a:effectLst/>
                          <a:latin typeface="Aptos Narrow" panose="020B0004020202020204" pitchFamily="34" charset="0"/>
                        </a:rPr>
                        <a:t>Corporate</a:t>
                      </a:r>
                    </a:p>
                  </a:txBody>
                  <a:tcPr marL="6682" marR="6682" marT="6682"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15</a:t>
                      </a: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31</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2,856</a:t>
                      </a:r>
                    </a:p>
                  </a:txBody>
                  <a:tcPr marL="6682" marR="6682" marT="6682"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28</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48</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2,983</a:t>
                      </a:r>
                    </a:p>
                  </a:txBody>
                  <a:tcPr marL="6682" marR="6682" marT="6682" marB="0" anchor="b">
                    <a:lnL>
                      <a:noFill/>
                    </a:lnL>
                    <a:lnR>
                      <a:noFill/>
                    </a:lnR>
                    <a:lnT>
                      <a:noFill/>
                    </a:lnT>
                    <a:lnB>
                      <a:noFill/>
                    </a:lnB>
                    <a:noFill/>
                  </a:tcPr>
                </a:tc>
                <a:extLst>
                  <a:ext uri="{0D108BD9-81ED-4DB2-BD59-A6C34878D82A}">
                    <a16:rowId xmlns:a16="http://schemas.microsoft.com/office/drawing/2014/main" val="2301619205"/>
                  </a:ext>
                </a:extLst>
              </a:tr>
              <a:tr h="142559">
                <a:tc>
                  <a:txBody>
                    <a:bodyPr/>
                    <a:lstStyle/>
                    <a:p>
                      <a:pPr algn="l" fontAlgn="b">
                        <a:buNone/>
                      </a:pPr>
                      <a:r>
                        <a:rPr lang="en-SG" sz="1200" b="0" i="0" u="none" strike="noStrike" dirty="0">
                          <a:solidFill>
                            <a:schemeClr val="tx1"/>
                          </a:solidFill>
                          <a:effectLst/>
                          <a:latin typeface="Aptos Narrow" panose="020B0004020202020204" pitchFamily="34" charset="0"/>
                        </a:rPr>
                        <a:t>Direct</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190</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211</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4,982</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229</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34</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177</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5,825</a:t>
                      </a:r>
                    </a:p>
                  </a:txBody>
                  <a:tcPr marL="6682" marR="6682" marT="6682" marB="0" anchor="b">
                    <a:lnL>
                      <a:noFill/>
                    </a:lnL>
                    <a:lnR>
                      <a:noFill/>
                    </a:lnR>
                    <a:lnT>
                      <a:noFill/>
                    </a:lnT>
                    <a:lnB>
                      <a:noFill/>
                    </a:lnB>
                    <a:noFill/>
                  </a:tcPr>
                </a:tc>
                <a:extLst>
                  <a:ext uri="{0D108BD9-81ED-4DB2-BD59-A6C34878D82A}">
                    <a16:rowId xmlns:a16="http://schemas.microsoft.com/office/drawing/2014/main" val="875385754"/>
                  </a:ext>
                </a:extLst>
              </a:tr>
              <a:tr h="142559">
                <a:tc>
                  <a:txBody>
                    <a:bodyPr/>
                    <a:lstStyle/>
                    <a:p>
                      <a:pPr algn="l" fontAlgn="b">
                        <a:buNone/>
                      </a:pPr>
                      <a:r>
                        <a:rPr lang="en-SG" sz="1200" b="0" i="0" u="none" strike="noStrike" dirty="0">
                          <a:solidFill>
                            <a:schemeClr val="tx1"/>
                          </a:solidFill>
                          <a:effectLst/>
                          <a:latin typeface="Aptos Narrow" panose="020B0004020202020204" pitchFamily="34" charset="0"/>
                        </a:rPr>
                        <a:t>Groups</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37</a:t>
                      </a: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412</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13,250</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145</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41</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46</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13,932</a:t>
                      </a:r>
                    </a:p>
                  </a:txBody>
                  <a:tcPr marL="6682" marR="6682" marT="6682" marB="0" anchor="b">
                    <a:lnL>
                      <a:noFill/>
                    </a:lnL>
                    <a:lnR>
                      <a:noFill/>
                    </a:lnR>
                    <a:lnT>
                      <a:noFill/>
                    </a:lnT>
                    <a:lnB>
                      <a:noFill/>
                    </a:lnB>
                    <a:noFill/>
                  </a:tcPr>
                </a:tc>
                <a:extLst>
                  <a:ext uri="{0D108BD9-81ED-4DB2-BD59-A6C34878D82A}">
                    <a16:rowId xmlns:a16="http://schemas.microsoft.com/office/drawing/2014/main" val="3186168070"/>
                  </a:ext>
                </a:extLst>
              </a:tr>
              <a:tr h="142559">
                <a:tc>
                  <a:txBody>
                    <a:bodyPr/>
                    <a:lstStyle/>
                    <a:p>
                      <a:pPr algn="l" fontAlgn="b">
                        <a:buNone/>
                      </a:pPr>
                      <a:r>
                        <a:rPr lang="en-SG" sz="1200" b="0" i="0" u="none" strike="noStrike">
                          <a:solidFill>
                            <a:schemeClr val="tx1"/>
                          </a:solidFill>
                          <a:effectLst/>
                          <a:latin typeface="Aptos Narrow" panose="020B0004020202020204" pitchFamily="34" charset="0"/>
                        </a:rPr>
                        <a:t>Offline TA/TO</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106</a:t>
                      </a: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229</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16,005</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122</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36</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179</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14</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16,691</a:t>
                      </a:r>
                    </a:p>
                  </a:txBody>
                  <a:tcPr marL="6682" marR="6682" marT="6682" marB="0" anchor="b">
                    <a:lnL>
                      <a:noFill/>
                    </a:lnL>
                    <a:lnR>
                      <a:noFill/>
                    </a:lnR>
                    <a:lnT>
                      <a:noFill/>
                    </a:lnT>
                    <a:lnB>
                      <a:noFill/>
                    </a:lnB>
                    <a:noFill/>
                  </a:tcPr>
                </a:tc>
                <a:extLst>
                  <a:ext uri="{0D108BD9-81ED-4DB2-BD59-A6C34878D82A}">
                    <a16:rowId xmlns:a16="http://schemas.microsoft.com/office/drawing/2014/main" val="169779734"/>
                  </a:ext>
                </a:extLst>
              </a:tr>
              <a:tr h="142559">
                <a:tc>
                  <a:txBody>
                    <a:bodyPr/>
                    <a:lstStyle/>
                    <a:p>
                      <a:pPr algn="l" fontAlgn="b">
                        <a:buNone/>
                      </a:pPr>
                      <a:r>
                        <a:rPr lang="en-SG" sz="1200" b="0" i="0" u="none" strike="noStrike">
                          <a:solidFill>
                            <a:schemeClr val="tx1"/>
                          </a:solidFill>
                          <a:effectLst/>
                          <a:latin typeface="Aptos Narrow" panose="020B0004020202020204" pitchFamily="34" charset="0"/>
                        </a:rPr>
                        <a:t>Online TA</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547</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2,402</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31,749</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1,162</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279</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1,687</a:t>
                      </a: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37,828</a:t>
                      </a:r>
                    </a:p>
                  </a:txBody>
                  <a:tcPr marL="6682" marR="6682" marT="6682" marB="0" anchor="b">
                    <a:lnL>
                      <a:noFill/>
                    </a:lnL>
                    <a:lnR>
                      <a:noFill/>
                    </a:lnR>
                    <a:lnT>
                      <a:noFill/>
                    </a:lnT>
                    <a:lnB>
                      <a:noFill/>
                    </a:lnB>
                    <a:noFill/>
                  </a:tcPr>
                </a:tc>
                <a:extLst>
                  <a:ext uri="{0D108BD9-81ED-4DB2-BD59-A6C34878D82A}">
                    <a16:rowId xmlns:a16="http://schemas.microsoft.com/office/drawing/2014/main" val="999088802"/>
                  </a:ext>
                </a:extLst>
              </a:tr>
              <a:tr h="142559">
                <a:tc>
                  <a:txBody>
                    <a:bodyPr/>
                    <a:lstStyle/>
                    <a:p>
                      <a:pPr algn="l" fontAlgn="b">
                        <a:buNone/>
                      </a:pPr>
                      <a:r>
                        <a:rPr lang="en-SG" sz="1200" b="0" i="0" u="none" strike="noStrike">
                          <a:solidFill>
                            <a:schemeClr val="tx1"/>
                          </a:solidFill>
                          <a:effectLst/>
                          <a:latin typeface="Aptos Narrow" panose="020B0004020202020204" pitchFamily="34" charset="0"/>
                        </a:rPr>
                        <a:t>Undefined</a:t>
                      </a: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a:t>
                      </a: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Aptos Narrow" panose="020B0004020202020204" pitchFamily="34" charset="0"/>
                      </a:endParaRP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a:t>
                      </a:r>
                    </a:p>
                  </a:txBody>
                  <a:tcPr marL="6682" marR="6682" marT="6682" marB="0" anchor="b">
                    <a:lnL>
                      <a:noFill/>
                    </a:lnL>
                    <a:lnR>
                      <a:noFill/>
                    </a:lnR>
                    <a:lnT>
                      <a:noFill/>
                    </a:lnT>
                    <a:lnB>
                      <a:noFill/>
                    </a:lnB>
                    <a:noFill/>
                  </a:tcPr>
                </a:tc>
                <a:extLst>
                  <a:ext uri="{0D108BD9-81ED-4DB2-BD59-A6C34878D82A}">
                    <a16:rowId xmlns:a16="http://schemas.microsoft.com/office/drawing/2014/main" val="867008373"/>
                  </a:ext>
                </a:extLst>
              </a:tr>
              <a:tr h="142559">
                <a:tc>
                  <a:txBody>
                    <a:bodyPr/>
                    <a:lstStyle/>
                    <a:p>
                      <a:pPr algn="l" fontAlgn="b">
                        <a:buNone/>
                      </a:pPr>
                      <a:r>
                        <a:rPr lang="en-SG" sz="1200" b="0" i="0" u="none" strike="noStrike" dirty="0">
                          <a:solidFill>
                            <a:schemeClr val="tx1"/>
                          </a:solidFill>
                          <a:effectLst/>
                          <a:latin typeface="Aptos Narrow" panose="020B0004020202020204" pitchFamily="34" charset="0"/>
                        </a:rPr>
                        <a:t>Grand Total</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903</a:t>
                      </a:r>
                    </a:p>
                  </a:txBody>
                  <a:tcPr marL="6682" marR="6682" marT="6682"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3</a:t>
                      </a:r>
                    </a:p>
                  </a:txBody>
                  <a:tcPr marL="6682" marR="6682" marT="6682"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3,287</a:t>
                      </a:r>
                    </a:p>
                  </a:txBody>
                  <a:tcPr marL="6682" marR="6682" marT="6682"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69,601</a:t>
                      </a:r>
                    </a:p>
                  </a:txBody>
                  <a:tcPr marL="6682" marR="6682" marT="6682"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1,688</a:t>
                      </a:r>
                    </a:p>
                  </a:txBody>
                  <a:tcPr marL="6682" marR="6682" marT="6682"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395</a:t>
                      </a:r>
                    </a:p>
                  </a:txBody>
                  <a:tcPr marL="6682" marR="6682" marT="6682"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2,139</a:t>
                      </a:r>
                    </a:p>
                  </a:txBody>
                  <a:tcPr marL="6682" marR="6682" marT="6682"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24</a:t>
                      </a:r>
                    </a:p>
                  </a:txBody>
                  <a:tcPr marL="6682" marR="6682" marT="6682"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78,040</a:t>
                      </a:r>
                    </a:p>
                  </a:txBody>
                  <a:tcPr marL="6682" marR="6682" marT="6682" marB="0" anchor="b">
                    <a:lnL>
                      <a:noFill/>
                    </a:lnL>
                    <a:lnR>
                      <a:noFill/>
                    </a:lnR>
                    <a:lnT>
                      <a:noFill/>
                    </a:lnT>
                    <a:lnB>
                      <a:noFill/>
                    </a:lnB>
                    <a:noFill/>
                  </a:tcPr>
                </a:tc>
                <a:extLst>
                  <a:ext uri="{0D108BD9-81ED-4DB2-BD59-A6C34878D82A}">
                    <a16:rowId xmlns:a16="http://schemas.microsoft.com/office/drawing/2014/main" val="3549047131"/>
                  </a:ext>
                </a:extLst>
              </a:tr>
            </a:tbl>
          </a:graphicData>
        </a:graphic>
      </p:graphicFrame>
      <p:graphicFrame>
        <p:nvGraphicFramePr>
          <p:cNvPr id="6" name="Table 5">
            <a:extLst>
              <a:ext uri="{FF2B5EF4-FFF2-40B4-BE49-F238E27FC236}">
                <a16:creationId xmlns:a16="http://schemas.microsoft.com/office/drawing/2014/main" id="{AC16373E-6664-494E-9FD5-45F26694628D}"/>
              </a:ext>
            </a:extLst>
          </p:cNvPr>
          <p:cNvGraphicFramePr>
            <a:graphicFrameLocks noGrp="1"/>
          </p:cNvGraphicFramePr>
          <p:nvPr>
            <p:extLst>
              <p:ext uri="{D42A27DB-BD31-4B8C-83A1-F6EECF244321}">
                <p14:modId xmlns:p14="http://schemas.microsoft.com/office/powerpoint/2010/main" val="3509130446"/>
              </p:ext>
            </p:extLst>
          </p:nvPr>
        </p:nvGraphicFramePr>
        <p:xfrm>
          <a:off x="1869700" y="3593975"/>
          <a:ext cx="9368758" cy="2003248"/>
        </p:xfrm>
        <a:graphic>
          <a:graphicData uri="http://schemas.openxmlformats.org/drawingml/2006/table">
            <a:tbl>
              <a:tblPr/>
              <a:tblGrid>
                <a:gridCol w="1289136">
                  <a:extLst>
                    <a:ext uri="{9D8B030D-6E8A-4147-A177-3AD203B41FA5}">
                      <a16:colId xmlns:a16="http://schemas.microsoft.com/office/drawing/2014/main" val="2775830375"/>
                    </a:ext>
                  </a:extLst>
                </a:gridCol>
                <a:gridCol w="748146">
                  <a:extLst>
                    <a:ext uri="{9D8B030D-6E8A-4147-A177-3AD203B41FA5}">
                      <a16:colId xmlns:a16="http://schemas.microsoft.com/office/drawing/2014/main" val="4173382191"/>
                    </a:ext>
                  </a:extLst>
                </a:gridCol>
                <a:gridCol w="900545">
                  <a:extLst>
                    <a:ext uri="{9D8B030D-6E8A-4147-A177-3AD203B41FA5}">
                      <a16:colId xmlns:a16="http://schemas.microsoft.com/office/drawing/2014/main" val="4015236836"/>
                    </a:ext>
                  </a:extLst>
                </a:gridCol>
                <a:gridCol w="803564">
                  <a:extLst>
                    <a:ext uri="{9D8B030D-6E8A-4147-A177-3AD203B41FA5}">
                      <a16:colId xmlns:a16="http://schemas.microsoft.com/office/drawing/2014/main" val="1408076966"/>
                    </a:ext>
                  </a:extLst>
                </a:gridCol>
                <a:gridCol w="831273">
                  <a:extLst>
                    <a:ext uri="{9D8B030D-6E8A-4147-A177-3AD203B41FA5}">
                      <a16:colId xmlns:a16="http://schemas.microsoft.com/office/drawing/2014/main" val="2565395274"/>
                    </a:ext>
                  </a:extLst>
                </a:gridCol>
                <a:gridCol w="1011381">
                  <a:extLst>
                    <a:ext uri="{9D8B030D-6E8A-4147-A177-3AD203B41FA5}">
                      <a16:colId xmlns:a16="http://schemas.microsoft.com/office/drawing/2014/main" val="2368997816"/>
                    </a:ext>
                  </a:extLst>
                </a:gridCol>
                <a:gridCol w="983673">
                  <a:extLst>
                    <a:ext uri="{9D8B030D-6E8A-4147-A177-3AD203B41FA5}">
                      <a16:colId xmlns:a16="http://schemas.microsoft.com/office/drawing/2014/main" val="4145642679"/>
                    </a:ext>
                  </a:extLst>
                </a:gridCol>
                <a:gridCol w="1233055">
                  <a:extLst>
                    <a:ext uri="{9D8B030D-6E8A-4147-A177-3AD203B41FA5}">
                      <a16:colId xmlns:a16="http://schemas.microsoft.com/office/drawing/2014/main" val="463256348"/>
                    </a:ext>
                  </a:extLst>
                </a:gridCol>
                <a:gridCol w="1567985">
                  <a:extLst>
                    <a:ext uri="{9D8B030D-6E8A-4147-A177-3AD203B41FA5}">
                      <a16:colId xmlns:a16="http://schemas.microsoft.com/office/drawing/2014/main" val="3837187207"/>
                    </a:ext>
                  </a:extLst>
                </a:gridCol>
              </a:tblGrid>
              <a:tr h="290881">
                <a:tc>
                  <a:txBody>
                    <a:bodyPr/>
                    <a:lstStyle/>
                    <a:p>
                      <a:pPr algn="l" fontAlgn="b">
                        <a:buNone/>
                      </a:pPr>
                      <a:endParaRPr lang="en-SG" sz="1200" b="0" i="0" u="none" strike="noStrike" dirty="0">
                        <a:solidFill>
                          <a:schemeClr val="tx1"/>
                        </a:solidFill>
                        <a:effectLst/>
                        <a:latin typeface="Aptos Narrow" panose="020B0004020202020204" pitchFamily="34" charset="0"/>
                      </a:endParaRPr>
                    </a:p>
                  </a:txBody>
                  <a:tcPr marL="7383" marR="7383" marT="7383" marB="0" anchor="b">
                    <a:lnL>
                      <a:noFill/>
                    </a:lnL>
                    <a:lnR>
                      <a:noFill/>
                    </a:lnR>
                    <a:lnT>
                      <a:noFill/>
                    </a:lnT>
                    <a:lnB>
                      <a:noFill/>
                    </a:lnB>
                    <a:noFill/>
                  </a:tcPr>
                </a:tc>
                <a:tc>
                  <a:txBody>
                    <a:bodyPr/>
                    <a:lstStyle/>
                    <a:p>
                      <a:pPr algn="ctr" fontAlgn="b">
                        <a:buNone/>
                      </a:pPr>
                      <a:r>
                        <a:rPr lang="en-SG" sz="1200" b="0" i="0" u="none" strike="noStrike" dirty="0">
                          <a:solidFill>
                            <a:schemeClr val="tx1"/>
                          </a:solidFill>
                          <a:effectLst/>
                          <a:latin typeface="Aptos Narrow" panose="020B0004020202020204" pitchFamily="34" charset="0"/>
                        </a:rPr>
                        <a:t>Africa</a:t>
                      </a:r>
                    </a:p>
                  </a:txBody>
                  <a:tcPr marL="7383" marR="7383" marT="7383"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Antarctica</a:t>
                      </a:r>
                    </a:p>
                  </a:txBody>
                  <a:tcPr marL="7383" marR="7383" marT="7383"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Asia</a:t>
                      </a:r>
                    </a:p>
                  </a:txBody>
                  <a:tcPr marL="7383" marR="7383" marT="7383"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Europe</a:t>
                      </a:r>
                    </a:p>
                  </a:txBody>
                  <a:tcPr marL="7383" marR="7383" marT="7383"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North America</a:t>
                      </a:r>
                    </a:p>
                  </a:txBody>
                  <a:tcPr marL="7383" marR="7383" marT="7383"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Oceania</a:t>
                      </a:r>
                    </a:p>
                  </a:txBody>
                  <a:tcPr marL="7383" marR="7383" marT="7383"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South America</a:t>
                      </a:r>
                    </a:p>
                  </a:txBody>
                  <a:tcPr marL="7383" marR="7383" marT="7383"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Aptos Narrow" panose="020B0004020202020204" pitchFamily="34" charset="0"/>
                        </a:rPr>
                        <a:t>Undefined</a:t>
                      </a:r>
                    </a:p>
                  </a:txBody>
                  <a:tcPr marL="7383" marR="7383" marT="7383" marB="0" anchor="b">
                    <a:lnL>
                      <a:noFill/>
                    </a:lnL>
                    <a:lnR>
                      <a:noFill/>
                    </a:lnR>
                    <a:lnT>
                      <a:noFill/>
                    </a:lnT>
                    <a:lnB>
                      <a:noFill/>
                    </a:lnB>
                    <a:noFill/>
                  </a:tcPr>
                </a:tc>
                <a:extLst>
                  <a:ext uri="{0D108BD9-81ED-4DB2-BD59-A6C34878D82A}">
                    <a16:rowId xmlns:a16="http://schemas.microsoft.com/office/drawing/2014/main" val="139886720"/>
                  </a:ext>
                </a:extLst>
              </a:tr>
              <a:tr h="157499">
                <a:tc>
                  <a:txBody>
                    <a:bodyPr/>
                    <a:lstStyle/>
                    <a:p>
                      <a:pPr algn="l" fontAlgn="b">
                        <a:buNone/>
                      </a:pPr>
                      <a:r>
                        <a:rPr lang="en-SG" sz="1200" b="0" i="0" u="none" strike="noStrike">
                          <a:solidFill>
                            <a:schemeClr val="tx1"/>
                          </a:solidFill>
                          <a:effectLst/>
                          <a:latin typeface="Aptos Narrow" panose="020B0004020202020204" pitchFamily="34" charset="0"/>
                        </a:rPr>
                        <a:t>Aviation</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extLst>
                  <a:ext uri="{0D108BD9-81ED-4DB2-BD59-A6C34878D82A}">
                    <a16:rowId xmlns:a16="http://schemas.microsoft.com/office/drawing/2014/main" val="3835869442"/>
                  </a:ext>
                </a:extLst>
              </a:tr>
              <a:tr h="157499">
                <a:tc>
                  <a:txBody>
                    <a:bodyPr/>
                    <a:lstStyle/>
                    <a:p>
                      <a:pPr algn="l" fontAlgn="b">
                        <a:buNone/>
                      </a:pPr>
                      <a:r>
                        <a:rPr lang="en-SG" sz="1200" b="0" i="0" u="none" strike="noStrike">
                          <a:solidFill>
                            <a:schemeClr val="tx1"/>
                          </a:solidFill>
                          <a:effectLst/>
                          <a:latin typeface="Aptos Narrow" panose="020B0004020202020204" pitchFamily="34" charset="0"/>
                        </a:rPr>
                        <a:t>Complementary</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1%</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29%</a:t>
                      </a:r>
                    </a:p>
                  </a:txBody>
                  <a:tcPr marL="7383" marR="7383" marT="7383" marB="0" anchor="b">
                    <a:lnL>
                      <a:noFill/>
                    </a:lnL>
                    <a:lnR>
                      <a:noFill/>
                    </a:lnR>
                    <a:lnT>
                      <a:noFill/>
                    </a:lnT>
                    <a:lnB>
                      <a:noFill/>
                    </a:lnB>
                    <a:noFill/>
                  </a:tcPr>
                </a:tc>
                <a:extLst>
                  <a:ext uri="{0D108BD9-81ED-4DB2-BD59-A6C34878D82A}">
                    <a16:rowId xmlns:a16="http://schemas.microsoft.com/office/drawing/2014/main" val="3816279726"/>
                  </a:ext>
                </a:extLst>
              </a:tr>
              <a:tr h="157499">
                <a:tc>
                  <a:txBody>
                    <a:bodyPr/>
                    <a:lstStyle/>
                    <a:p>
                      <a:pPr algn="l" fontAlgn="b">
                        <a:buNone/>
                      </a:pPr>
                      <a:r>
                        <a:rPr lang="en-SG" sz="1200" b="0" i="0" u="none" strike="noStrike">
                          <a:solidFill>
                            <a:schemeClr val="tx1"/>
                          </a:solidFill>
                          <a:effectLst/>
                          <a:latin typeface="Aptos Narrow" panose="020B0004020202020204" pitchFamily="34" charset="0"/>
                        </a:rPr>
                        <a:t>Corporate</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2%</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2%</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a:t>
                      </a:r>
                    </a:p>
                  </a:txBody>
                  <a:tcPr marL="7383" marR="7383" marT="7383" marB="0" anchor="b">
                    <a:lnL>
                      <a:noFill/>
                    </a:lnL>
                    <a:lnR>
                      <a:noFill/>
                    </a:lnR>
                    <a:lnT>
                      <a:noFill/>
                    </a:lnT>
                    <a:lnB>
                      <a:noFill/>
                    </a:lnB>
                    <a:noFill/>
                  </a:tcPr>
                </a:tc>
                <a:extLst>
                  <a:ext uri="{0D108BD9-81ED-4DB2-BD59-A6C34878D82A}">
                    <a16:rowId xmlns:a16="http://schemas.microsoft.com/office/drawing/2014/main" val="1162088829"/>
                  </a:ext>
                </a:extLst>
              </a:tr>
              <a:tr h="157499">
                <a:tc>
                  <a:txBody>
                    <a:bodyPr/>
                    <a:lstStyle/>
                    <a:p>
                      <a:pPr algn="l" fontAlgn="b">
                        <a:buNone/>
                      </a:pPr>
                      <a:r>
                        <a:rPr lang="en-SG" sz="1200" b="0" i="0" u="none" strike="noStrike">
                          <a:solidFill>
                            <a:schemeClr val="tx1"/>
                          </a:solidFill>
                          <a:effectLst/>
                          <a:latin typeface="Aptos Narrow" panose="020B0004020202020204" pitchFamily="34" charset="0"/>
                        </a:rPr>
                        <a:t>Direct</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21%</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33%</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6%</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7%</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14%</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9%</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8%</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a:t>
                      </a:r>
                    </a:p>
                  </a:txBody>
                  <a:tcPr marL="7383" marR="7383" marT="7383" marB="0" anchor="b">
                    <a:lnL>
                      <a:noFill/>
                    </a:lnL>
                    <a:lnR>
                      <a:noFill/>
                    </a:lnR>
                    <a:lnT>
                      <a:noFill/>
                    </a:lnT>
                    <a:lnB>
                      <a:noFill/>
                    </a:lnB>
                    <a:noFill/>
                  </a:tcPr>
                </a:tc>
                <a:extLst>
                  <a:ext uri="{0D108BD9-81ED-4DB2-BD59-A6C34878D82A}">
                    <a16:rowId xmlns:a16="http://schemas.microsoft.com/office/drawing/2014/main" val="3323464510"/>
                  </a:ext>
                </a:extLst>
              </a:tr>
              <a:tr h="157499">
                <a:tc>
                  <a:txBody>
                    <a:bodyPr/>
                    <a:lstStyle/>
                    <a:p>
                      <a:pPr algn="l" fontAlgn="b">
                        <a:buNone/>
                      </a:pPr>
                      <a:r>
                        <a:rPr lang="en-SG" sz="1200" b="0" i="0" u="none" strike="noStrike">
                          <a:solidFill>
                            <a:schemeClr val="tx1"/>
                          </a:solidFill>
                          <a:effectLst/>
                          <a:latin typeface="Aptos Narrow" panose="020B0004020202020204" pitchFamily="34" charset="0"/>
                        </a:rPr>
                        <a:t>Groups</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13%</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19%</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9%</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4%</a:t>
                      </a:r>
                    </a:p>
                  </a:txBody>
                  <a:tcPr marL="7383" marR="7383" marT="7383" marB="0" anchor="b">
                    <a:lnL>
                      <a:noFill/>
                    </a:lnL>
                    <a:lnR>
                      <a:noFill/>
                    </a:lnR>
                    <a:lnT>
                      <a:noFill/>
                    </a:lnT>
                    <a:lnB>
                      <a:noFill/>
                    </a:lnB>
                    <a:noFill/>
                  </a:tcPr>
                </a:tc>
                <a:extLst>
                  <a:ext uri="{0D108BD9-81ED-4DB2-BD59-A6C34878D82A}">
                    <a16:rowId xmlns:a16="http://schemas.microsoft.com/office/drawing/2014/main" val="3317445223"/>
                  </a:ext>
                </a:extLst>
              </a:tr>
              <a:tr h="157499">
                <a:tc>
                  <a:txBody>
                    <a:bodyPr/>
                    <a:lstStyle/>
                    <a:p>
                      <a:pPr algn="l" fontAlgn="b">
                        <a:buNone/>
                      </a:pPr>
                      <a:r>
                        <a:rPr lang="en-SG" sz="1200" b="0" i="0" u="none" strike="noStrike">
                          <a:solidFill>
                            <a:schemeClr val="tx1"/>
                          </a:solidFill>
                          <a:effectLst/>
                          <a:latin typeface="Aptos Narrow" panose="020B0004020202020204" pitchFamily="34" charset="0"/>
                        </a:rPr>
                        <a:t>Offline TA/TO</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12%</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7%</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23%</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7%</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9%</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8%</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58%</a:t>
                      </a:r>
                    </a:p>
                  </a:txBody>
                  <a:tcPr marL="7383" marR="7383" marT="7383" marB="0" anchor="b">
                    <a:lnL>
                      <a:noFill/>
                    </a:lnL>
                    <a:lnR>
                      <a:noFill/>
                    </a:lnR>
                    <a:lnT>
                      <a:noFill/>
                    </a:lnT>
                    <a:lnB>
                      <a:noFill/>
                    </a:lnB>
                    <a:noFill/>
                  </a:tcPr>
                </a:tc>
                <a:extLst>
                  <a:ext uri="{0D108BD9-81ED-4DB2-BD59-A6C34878D82A}">
                    <a16:rowId xmlns:a16="http://schemas.microsoft.com/office/drawing/2014/main" val="3128567171"/>
                  </a:ext>
                </a:extLst>
              </a:tr>
              <a:tr h="157499">
                <a:tc>
                  <a:txBody>
                    <a:bodyPr/>
                    <a:lstStyle/>
                    <a:p>
                      <a:pPr algn="l" fontAlgn="b">
                        <a:buNone/>
                      </a:pPr>
                      <a:r>
                        <a:rPr lang="en-SG" sz="1200" b="0" i="0" u="none" strike="noStrike">
                          <a:solidFill>
                            <a:schemeClr val="tx1"/>
                          </a:solidFill>
                          <a:effectLst/>
                          <a:latin typeface="Aptos Narrow" panose="020B0004020202020204" pitchFamily="34" charset="0"/>
                        </a:rPr>
                        <a:t>Online TA</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61%</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67%</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73%</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46%</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69%</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71%</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79%</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extLst>
                  <a:ext uri="{0D108BD9-81ED-4DB2-BD59-A6C34878D82A}">
                    <a16:rowId xmlns:a16="http://schemas.microsoft.com/office/drawing/2014/main" val="2857262184"/>
                  </a:ext>
                </a:extLst>
              </a:tr>
              <a:tr h="157499">
                <a:tc>
                  <a:txBody>
                    <a:bodyPr/>
                    <a:lstStyle/>
                    <a:p>
                      <a:pPr algn="l" fontAlgn="b">
                        <a:buNone/>
                      </a:pPr>
                      <a:r>
                        <a:rPr lang="en-SG" sz="1200" b="0" i="0" u="none" strike="noStrike">
                          <a:solidFill>
                            <a:schemeClr val="tx1"/>
                          </a:solidFill>
                          <a:effectLst/>
                          <a:latin typeface="Aptos Narrow" panose="020B0004020202020204" pitchFamily="34" charset="0"/>
                        </a:rPr>
                        <a:t>Undefined</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0%</a:t>
                      </a:r>
                    </a:p>
                  </a:txBody>
                  <a:tcPr marL="7383" marR="7383" marT="7383" marB="0" anchor="b">
                    <a:lnL>
                      <a:noFill/>
                    </a:lnL>
                    <a:lnR>
                      <a:noFill/>
                    </a:lnR>
                    <a:lnT>
                      <a:noFill/>
                    </a:lnT>
                    <a:lnB>
                      <a:noFill/>
                    </a:lnB>
                    <a:noFill/>
                  </a:tcPr>
                </a:tc>
                <a:extLst>
                  <a:ext uri="{0D108BD9-81ED-4DB2-BD59-A6C34878D82A}">
                    <a16:rowId xmlns:a16="http://schemas.microsoft.com/office/drawing/2014/main" val="2359128661"/>
                  </a:ext>
                </a:extLst>
              </a:tr>
              <a:tr h="157499">
                <a:tc>
                  <a:txBody>
                    <a:bodyPr/>
                    <a:lstStyle/>
                    <a:p>
                      <a:pPr algn="l" fontAlgn="b">
                        <a:buNone/>
                      </a:pPr>
                      <a:r>
                        <a:rPr lang="en-SG" sz="1200" b="0" i="0" u="none" strike="noStrike" dirty="0">
                          <a:solidFill>
                            <a:schemeClr val="tx1"/>
                          </a:solidFill>
                          <a:effectLst/>
                          <a:latin typeface="Aptos Narrow" panose="020B0004020202020204" pitchFamily="34" charset="0"/>
                        </a:rPr>
                        <a:t>Grand Total</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100%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100%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100%</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100%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100%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100%</a:t>
                      </a:r>
                    </a:p>
                  </a:txBody>
                  <a:tcPr marL="7383" marR="7383" marT="7383"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Aptos Narrow" panose="020B0004020202020204" pitchFamily="34" charset="0"/>
                        </a:rPr>
                        <a:t>100%</a:t>
                      </a:r>
                    </a:p>
                  </a:txBody>
                  <a:tcPr marL="7383" marR="7383" marT="7383"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Aptos Narrow" panose="020B0004020202020204" pitchFamily="34" charset="0"/>
                        </a:rPr>
                        <a:t>100%</a:t>
                      </a:r>
                    </a:p>
                  </a:txBody>
                  <a:tcPr marL="7383" marR="7383" marT="7383" marB="0" anchor="b">
                    <a:lnL>
                      <a:noFill/>
                    </a:lnL>
                    <a:lnR>
                      <a:noFill/>
                    </a:lnR>
                    <a:lnT>
                      <a:noFill/>
                    </a:lnT>
                    <a:lnB>
                      <a:noFill/>
                    </a:lnB>
                    <a:noFill/>
                  </a:tcPr>
                </a:tc>
                <a:extLst>
                  <a:ext uri="{0D108BD9-81ED-4DB2-BD59-A6C34878D82A}">
                    <a16:rowId xmlns:a16="http://schemas.microsoft.com/office/drawing/2014/main" val="1765378892"/>
                  </a:ext>
                </a:extLst>
              </a:tr>
            </a:tbl>
          </a:graphicData>
        </a:graphic>
      </p:graphicFrame>
    </p:spTree>
    <p:extLst>
      <p:ext uri="{BB962C8B-B14F-4D97-AF65-F5344CB8AC3E}">
        <p14:creationId xmlns:p14="http://schemas.microsoft.com/office/powerpoint/2010/main" val="3846213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38661058-5EC4-A5A6-CE4E-7C781CCECC2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CB6B89-F35F-DABD-7D16-1F5D6B6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82A6FC-39A9-C615-D4C3-757F41A50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DD700EE-3369-02D2-813E-641D9320C3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452B54D4-09F8-1D85-B2D9-2C1714B8C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2D527D15-FCEB-7F8B-13B7-AE87B0C79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AB83BCF8-3853-DB20-FE42-3A0F87037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DE1F601-A760-314F-692A-1B712D66E6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01B4064D-156E-AA2C-CFD6-76B3E1575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DE613679-C0E4-E72C-D82E-1F310AB14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F2E331-A963-7061-2A59-AD9F7E82D39E}"/>
              </a:ext>
            </a:extLst>
          </p:cNvPr>
          <p:cNvSpPr txBox="1">
            <a:spLocks/>
          </p:cNvSpPr>
          <p:nvPr/>
        </p:nvSpPr>
        <p:spPr>
          <a:xfrm>
            <a:off x="994278" y="223754"/>
            <a:ext cx="7746537"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Geographic &amp; Distribution Channel Analysis</a:t>
            </a:r>
          </a:p>
        </p:txBody>
      </p:sp>
      <p:sp>
        <p:nvSpPr>
          <p:cNvPr id="3" name="TextBox 2">
            <a:extLst>
              <a:ext uri="{FF2B5EF4-FFF2-40B4-BE49-F238E27FC236}">
                <a16:creationId xmlns:a16="http://schemas.microsoft.com/office/drawing/2014/main" id="{787B8436-F229-BBD5-7CCA-550A788F6E8A}"/>
              </a:ext>
            </a:extLst>
          </p:cNvPr>
          <p:cNvSpPr txBox="1"/>
          <p:nvPr/>
        </p:nvSpPr>
        <p:spPr>
          <a:xfrm>
            <a:off x="1003266" y="4741131"/>
            <a:ext cx="10262818" cy="1333507"/>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In Europe, most guest are using TA/TO channel to make bookings. But 46% of the TA/TO channel are cancelled at the end.</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Need to revise booking policy of TA/TO, with bookings Quarter.</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Direct channel is more healthier. Make discount for non-refundable deposit.</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Engage to Direct Channel with more offer and can reduce distribution channel commission.</a:t>
            </a:r>
          </a:p>
        </p:txBody>
      </p:sp>
      <p:graphicFrame>
        <p:nvGraphicFramePr>
          <p:cNvPr id="4" name="Table 3">
            <a:extLst>
              <a:ext uri="{FF2B5EF4-FFF2-40B4-BE49-F238E27FC236}">
                <a16:creationId xmlns:a16="http://schemas.microsoft.com/office/drawing/2014/main" id="{9F92A207-55D7-CEEB-6F8B-C3F2B66057E7}"/>
              </a:ext>
            </a:extLst>
          </p:cNvPr>
          <p:cNvGraphicFramePr>
            <a:graphicFrameLocks noGrp="1"/>
          </p:cNvGraphicFramePr>
          <p:nvPr>
            <p:extLst>
              <p:ext uri="{D42A27DB-BD31-4B8C-83A1-F6EECF244321}">
                <p14:modId xmlns:p14="http://schemas.microsoft.com/office/powerpoint/2010/main" val="2054099602"/>
              </p:ext>
            </p:extLst>
          </p:nvPr>
        </p:nvGraphicFramePr>
        <p:xfrm>
          <a:off x="1003266" y="1488192"/>
          <a:ext cx="5928800" cy="2145700"/>
        </p:xfrm>
        <a:graphic>
          <a:graphicData uri="http://schemas.openxmlformats.org/drawingml/2006/table">
            <a:tbl>
              <a:tblPr firstRow="1" bandRow="1">
                <a:tableStyleId>{9D7B26C5-4107-4FEC-AEDC-1716B250A1EF}</a:tableStyleId>
              </a:tblPr>
              <a:tblGrid>
                <a:gridCol w="1673533">
                  <a:extLst>
                    <a:ext uri="{9D8B030D-6E8A-4147-A177-3AD203B41FA5}">
                      <a16:colId xmlns:a16="http://schemas.microsoft.com/office/drawing/2014/main" val="3644250000"/>
                    </a:ext>
                  </a:extLst>
                </a:gridCol>
                <a:gridCol w="806154">
                  <a:extLst>
                    <a:ext uri="{9D8B030D-6E8A-4147-A177-3AD203B41FA5}">
                      <a16:colId xmlns:a16="http://schemas.microsoft.com/office/drawing/2014/main" val="39753519"/>
                    </a:ext>
                  </a:extLst>
                </a:gridCol>
                <a:gridCol w="857176">
                  <a:extLst>
                    <a:ext uri="{9D8B030D-6E8A-4147-A177-3AD203B41FA5}">
                      <a16:colId xmlns:a16="http://schemas.microsoft.com/office/drawing/2014/main" val="2560897299"/>
                    </a:ext>
                  </a:extLst>
                </a:gridCol>
                <a:gridCol w="979629">
                  <a:extLst>
                    <a:ext uri="{9D8B030D-6E8A-4147-A177-3AD203B41FA5}">
                      <a16:colId xmlns:a16="http://schemas.microsoft.com/office/drawing/2014/main" val="4040826789"/>
                    </a:ext>
                  </a:extLst>
                </a:gridCol>
                <a:gridCol w="806154">
                  <a:extLst>
                    <a:ext uri="{9D8B030D-6E8A-4147-A177-3AD203B41FA5}">
                      <a16:colId xmlns:a16="http://schemas.microsoft.com/office/drawing/2014/main" val="3995244456"/>
                    </a:ext>
                  </a:extLst>
                </a:gridCol>
                <a:gridCol w="806154">
                  <a:extLst>
                    <a:ext uri="{9D8B030D-6E8A-4147-A177-3AD203B41FA5}">
                      <a16:colId xmlns:a16="http://schemas.microsoft.com/office/drawing/2014/main" val="2225265500"/>
                    </a:ext>
                  </a:extLst>
                </a:gridCol>
              </a:tblGrid>
              <a:tr h="214570">
                <a:tc>
                  <a:txBody>
                    <a:bodyPr/>
                    <a:lstStyle/>
                    <a:p>
                      <a:pPr algn="ctr" fontAlgn="b">
                        <a:buNone/>
                      </a:pPr>
                      <a:r>
                        <a:rPr lang="en-SG" sz="1200" b="0" u="none" strike="noStrike" dirty="0">
                          <a:solidFill>
                            <a:schemeClr val="tx1"/>
                          </a:solidFill>
                          <a:effectLst/>
                        </a:rPr>
                        <a:t>Cancelled</a:t>
                      </a: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Corporate</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Direct</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GDS</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dirty="0">
                          <a:solidFill>
                            <a:schemeClr val="tx1"/>
                          </a:solidFill>
                          <a:effectLst/>
                        </a:rPr>
                        <a:t>TA/TO</a:t>
                      </a: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dirty="0">
                          <a:solidFill>
                            <a:schemeClr val="tx1"/>
                          </a:solidFill>
                          <a:effectLst/>
                        </a:rPr>
                        <a:t>Undefined</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172805794"/>
                  </a:ext>
                </a:extLst>
              </a:tr>
              <a:tr h="214570">
                <a:tc>
                  <a:txBody>
                    <a:bodyPr/>
                    <a:lstStyle/>
                    <a:p>
                      <a:pPr algn="l" fontAlgn="b">
                        <a:buNone/>
                      </a:pPr>
                      <a:r>
                        <a:rPr lang="en-SG" sz="1200" b="0" u="none" strike="noStrike" dirty="0">
                          <a:solidFill>
                            <a:schemeClr val="tx1"/>
                          </a:solidFill>
                          <a:effectLst/>
                        </a:rPr>
                        <a:t>Africa</a:t>
                      </a:r>
                      <a:endParaRPr lang="en-SG" sz="1200" b="0" i="0" u="none" strike="noStrike" dirty="0">
                        <a:solidFill>
                          <a:schemeClr val="tx1"/>
                        </a:solidFill>
                        <a:effectLst/>
                        <a:latin typeface="+mn-lt"/>
                      </a:endParaRPr>
                    </a:p>
                  </a:txBody>
                  <a:tcPr marL="57150" marR="9525" marT="9525" marB="0" anchor="b"/>
                </a:tc>
                <a:tc>
                  <a:txBody>
                    <a:bodyPr/>
                    <a:lstStyle/>
                    <a:p>
                      <a:pPr algn="r" fontAlgn="b">
                        <a:buNone/>
                      </a:pPr>
                      <a:r>
                        <a:rPr lang="en-SG" sz="1200" b="0" u="none" strike="noStrike">
                          <a:solidFill>
                            <a:schemeClr val="tx1"/>
                          </a:solidFill>
                          <a:effectLst/>
                        </a:rPr>
                        <a:t>8%</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34%</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47%</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66464604"/>
                  </a:ext>
                </a:extLst>
              </a:tr>
              <a:tr h="214570">
                <a:tc>
                  <a:txBody>
                    <a:bodyPr/>
                    <a:lstStyle/>
                    <a:p>
                      <a:pPr algn="l" fontAlgn="b">
                        <a:buNone/>
                      </a:pPr>
                      <a:r>
                        <a:rPr lang="en-SG" sz="1200" b="0" u="none" strike="noStrike" dirty="0">
                          <a:solidFill>
                            <a:schemeClr val="tx1"/>
                          </a:solidFill>
                          <a:effectLst/>
                        </a:rPr>
                        <a:t>Antarctica</a:t>
                      </a:r>
                      <a:endParaRPr lang="en-SG" sz="1200" b="0" i="0" u="none" strike="noStrike" dirty="0">
                        <a:solidFill>
                          <a:schemeClr val="tx1"/>
                        </a:solidFill>
                        <a:effectLst/>
                        <a:latin typeface="+mn-lt"/>
                      </a:endParaRPr>
                    </a:p>
                  </a:txBody>
                  <a:tcPr marL="57150"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907874287"/>
                  </a:ext>
                </a:extLst>
              </a:tr>
              <a:tr h="214570">
                <a:tc>
                  <a:txBody>
                    <a:bodyPr/>
                    <a:lstStyle/>
                    <a:p>
                      <a:pPr algn="l" fontAlgn="b">
                        <a:buNone/>
                      </a:pPr>
                      <a:r>
                        <a:rPr lang="en-SG" sz="1200" b="0" u="none" strike="noStrike">
                          <a:solidFill>
                            <a:schemeClr val="tx1"/>
                          </a:solidFill>
                          <a:effectLst/>
                        </a:rPr>
                        <a:t>Asia</a:t>
                      </a:r>
                      <a:endParaRPr lang="en-SG" sz="1200" b="0" i="0" u="none" strike="noStrike">
                        <a:solidFill>
                          <a:schemeClr val="tx1"/>
                        </a:solidFill>
                        <a:effectLst/>
                        <a:latin typeface="+mn-lt"/>
                      </a:endParaRPr>
                    </a:p>
                  </a:txBody>
                  <a:tcPr marL="57150"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17%</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40%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626473570"/>
                  </a:ext>
                </a:extLst>
              </a:tr>
              <a:tr h="214570">
                <a:tc>
                  <a:txBody>
                    <a:bodyPr/>
                    <a:lstStyle/>
                    <a:p>
                      <a:pPr algn="l" fontAlgn="b">
                        <a:buNone/>
                      </a:pPr>
                      <a:r>
                        <a:rPr lang="en-SG" sz="1200" b="0" u="none" strike="noStrike">
                          <a:solidFill>
                            <a:schemeClr val="tx1"/>
                          </a:solidFill>
                          <a:effectLst/>
                        </a:rPr>
                        <a:t>Europe</a:t>
                      </a:r>
                      <a:endParaRPr lang="en-SG" sz="1200" b="0" i="0" u="none" strike="noStrike">
                        <a:solidFill>
                          <a:schemeClr val="tx1"/>
                        </a:solidFill>
                        <a:effectLst/>
                        <a:latin typeface="+mn-lt"/>
                      </a:endParaRPr>
                    </a:p>
                  </a:txBody>
                  <a:tcPr marL="57150" marR="9525" marT="9525" marB="0" anchor="b"/>
                </a:tc>
                <a:tc>
                  <a:txBody>
                    <a:bodyPr/>
                    <a:lstStyle/>
                    <a:p>
                      <a:pPr algn="r" fontAlgn="b">
                        <a:buNone/>
                      </a:pPr>
                      <a:r>
                        <a:rPr lang="en-SG" sz="1200" b="0" u="none" strike="noStrike" dirty="0">
                          <a:solidFill>
                            <a:schemeClr val="tx1"/>
                          </a:solidFill>
                          <a:effectLst/>
                        </a:rPr>
                        <a:t>24%</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18%</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14%</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46%</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100%</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989074377"/>
                  </a:ext>
                </a:extLst>
              </a:tr>
              <a:tr h="214570">
                <a:tc>
                  <a:txBody>
                    <a:bodyPr/>
                    <a:lstStyle/>
                    <a:p>
                      <a:pPr algn="l" fontAlgn="b">
                        <a:buNone/>
                      </a:pPr>
                      <a:r>
                        <a:rPr lang="en-SG" sz="1200" b="0" u="none" strike="noStrike">
                          <a:solidFill>
                            <a:schemeClr val="tx1"/>
                          </a:solidFill>
                          <a:effectLst/>
                        </a:rPr>
                        <a:t>North America</a:t>
                      </a:r>
                      <a:endParaRPr lang="en-SG" sz="1200" b="0" i="0" u="none" strike="noStrike">
                        <a:solidFill>
                          <a:schemeClr val="tx1"/>
                        </a:solidFill>
                        <a:effectLst/>
                        <a:latin typeface="+mn-lt"/>
                      </a:endParaRPr>
                    </a:p>
                  </a:txBody>
                  <a:tcPr marL="57150"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14%</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55%</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28%</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348362042"/>
                  </a:ext>
                </a:extLst>
              </a:tr>
              <a:tr h="214570">
                <a:tc>
                  <a:txBody>
                    <a:bodyPr/>
                    <a:lstStyle/>
                    <a:p>
                      <a:pPr algn="l" fontAlgn="b">
                        <a:buNone/>
                      </a:pPr>
                      <a:r>
                        <a:rPr lang="en-SG" sz="1200" b="0" u="none" strike="noStrike">
                          <a:solidFill>
                            <a:schemeClr val="tx1"/>
                          </a:solidFill>
                          <a:effectLst/>
                        </a:rPr>
                        <a:t>Oceania</a:t>
                      </a:r>
                      <a:endParaRPr lang="en-SG" sz="1200" b="0" i="0" u="none" strike="noStrike">
                        <a:solidFill>
                          <a:schemeClr val="tx1"/>
                        </a:solidFill>
                        <a:effectLst/>
                        <a:latin typeface="+mn-lt"/>
                      </a:endParaRPr>
                    </a:p>
                  </a:txBody>
                  <a:tcPr marL="57150"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15%</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26%</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586541345"/>
                  </a:ext>
                </a:extLst>
              </a:tr>
              <a:tr h="214570">
                <a:tc>
                  <a:txBody>
                    <a:bodyPr/>
                    <a:lstStyle/>
                    <a:p>
                      <a:pPr algn="l" fontAlgn="b">
                        <a:buNone/>
                      </a:pPr>
                      <a:r>
                        <a:rPr lang="en-SG" sz="1200" b="0" u="none" strike="noStrike">
                          <a:solidFill>
                            <a:schemeClr val="tx1"/>
                          </a:solidFill>
                          <a:effectLst/>
                        </a:rPr>
                        <a:t>South America</a:t>
                      </a:r>
                      <a:endParaRPr lang="en-SG" sz="1200" b="0" i="0" u="none" strike="noStrike">
                        <a:solidFill>
                          <a:schemeClr val="tx1"/>
                        </a:solidFill>
                        <a:effectLst/>
                        <a:latin typeface="+mn-lt"/>
                      </a:endParaRPr>
                    </a:p>
                  </a:txBody>
                  <a:tcPr marL="57150"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14%</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42%</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828133686"/>
                  </a:ext>
                </a:extLst>
              </a:tr>
              <a:tr h="214570">
                <a:tc>
                  <a:txBody>
                    <a:bodyPr/>
                    <a:lstStyle/>
                    <a:p>
                      <a:pPr algn="l" fontAlgn="b">
                        <a:buNone/>
                      </a:pPr>
                      <a:r>
                        <a:rPr lang="en-SG" sz="1200" b="0" u="none" strike="noStrike">
                          <a:solidFill>
                            <a:schemeClr val="tx1"/>
                          </a:solidFill>
                          <a:effectLst/>
                        </a:rPr>
                        <a:t>Undefined</a:t>
                      </a:r>
                      <a:endParaRPr lang="en-SG" sz="1200" b="0" i="0" u="none" strike="noStrike">
                        <a:solidFill>
                          <a:schemeClr val="tx1"/>
                        </a:solidFill>
                        <a:effectLst/>
                        <a:latin typeface="+mn-lt"/>
                      </a:endParaRPr>
                    </a:p>
                  </a:txBody>
                  <a:tcPr marL="57150" marR="9525" marT="9525" marB="0" anchor="b"/>
                </a:tc>
                <a:tc>
                  <a:txBody>
                    <a:bodyPr/>
                    <a:lstStyle/>
                    <a:p>
                      <a:pPr algn="r" fontAlgn="b">
                        <a:buNone/>
                      </a:pPr>
                      <a:r>
                        <a:rPr lang="en-SG" sz="1200" b="0" u="none" strike="noStrike">
                          <a:solidFill>
                            <a:schemeClr val="tx1"/>
                          </a:solidFill>
                          <a:effectLst/>
                        </a:rPr>
                        <a:t>100%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50%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93%</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307301327"/>
                  </a:ext>
                </a:extLst>
              </a:tr>
              <a:tr h="214570">
                <a:tc>
                  <a:txBody>
                    <a:bodyPr/>
                    <a:lstStyle/>
                    <a:p>
                      <a:pPr algn="l" fontAlgn="b">
                        <a:buNone/>
                      </a:pPr>
                      <a:r>
                        <a:rPr lang="en-SG" sz="1200" b="0" u="none" strike="noStrike">
                          <a:solidFill>
                            <a:schemeClr val="tx1"/>
                          </a:solidFill>
                          <a:effectLst/>
                        </a:rPr>
                        <a:t>Total Cancelled</a:t>
                      </a:r>
                      <a:endParaRPr lang="en-SG" sz="1200" b="0" i="0" u="none" strike="noStrike">
                        <a:solidFill>
                          <a:schemeClr val="tx1"/>
                        </a:solidFill>
                        <a:effectLst/>
                        <a:latin typeface="+mn-lt"/>
                      </a:endParaRPr>
                    </a:p>
                  </a:txBody>
                  <a:tcPr marL="57150" marR="9525" marT="9525" marB="0" anchor="b"/>
                </a:tc>
                <a:tc>
                  <a:txBody>
                    <a:bodyPr/>
                    <a:lstStyle/>
                    <a:p>
                      <a:pPr algn="r" fontAlgn="b">
                        <a:buNone/>
                      </a:pPr>
                      <a:r>
                        <a:rPr lang="en-SG" sz="1200" b="0" u="none" strike="noStrike">
                          <a:solidFill>
                            <a:schemeClr val="tx1"/>
                          </a:solidFill>
                          <a:effectLst/>
                        </a:rPr>
                        <a:t>23%</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18%</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18%</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45%</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100%</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4285879553"/>
                  </a:ext>
                </a:extLst>
              </a:tr>
            </a:tbl>
          </a:graphicData>
        </a:graphic>
      </p:graphicFrame>
      <p:graphicFrame>
        <p:nvGraphicFramePr>
          <p:cNvPr id="9" name="Chart 8">
            <a:extLst>
              <a:ext uri="{FF2B5EF4-FFF2-40B4-BE49-F238E27FC236}">
                <a16:creationId xmlns:a16="http://schemas.microsoft.com/office/drawing/2014/main" id="{440EFB58-3F24-464D-8CC8-B9155C94588D}"/>
              </a:ext>
            </a:extLst>
          </p:cNvPr>
          <p:cNvGraphicFramePr>
            <a:graphicFrameLocks/>
          </p:cNvGraphicFramePr>
          <p:nvPr>
            <p:extLst>
              <p:ext uri="{D42A27DB-BD31-4B8C-83A1-F6EECF244321}">
                <p14:modId xmlns:p14="http://schemas.microsoft.com/office/powerpoint/2010/main" val="3717386030"/>
              </p:ext>
            </p:extLst>
          </p:nvPr>
        </p:nvGraphicFramePr>
        <p:xfrm>
          <a:off x="6793492" y="1163782"/>
          <a:ext cx="6573912" cy="284453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258617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5F711893-D38A-E942-FC51-68F34CA43D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FB9C874-1528-5A6B-298C-EFA032365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D4E8C92-BD89-5D27-AE72-FD70C3A4BE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D1ABA9C-B901-F5D6-1CF6-7BC8AD5A433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11FB84F7-8A72-86D5-84D8-0893DAE2D8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5F561204-89E2-DCFF-2FAE-F07A73E8F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6CA95055-38F9-1220-1D25-0C1DEEE251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4E8226BC-897D-8108-2689-BDC00E4E69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7C748536-CEF3-B48E-5E04-3D02F3B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CDBBC003-C8F3-32B7-38DE-32B2A8B64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11CDE1-4BBB-F143-0579-7B1156EDE699}"/>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Distribution Type &amp; Customer Type Analysis</a:t>
            </a:r>
          </a:p>
        </p:txBody>
      </p:sp>
      <p:sp>
        <p:nvSpPr>
          <p:cNvPr id="3" name="TextBox 2">
            <a:extLst>
              <a:ext uri="{FF2B5EF4-FFF2-40B4-BE49-F238E27FC236}">
                <a16:creationId xmlns:a16="http://schemas.microsoft.com/office/drawing/2014/main" id="{F448CF7B-2170-31A4-E9B6-B3722078B9FA}"/>
              </a:ext>
            </a:extLst>
          </p:cNvPr>
          <p:cNvSpPr txBox="1"/>
          <p:nvPr/>
        </p:nvSpPr>
        <p:spPr>
          <a:xfrm>
            <a:off x="7244257" y="2259448"/>
            <a:ext cx="4527217" cy="1384995"/>
          </a:xfrm>
          <a:prstGeom prst="rect">
            <a:avLst/>
          </a:prstGeom>
          <a:noFill/>
        </p:spPr>
        <p:txBody>
          <a:bodyPr wrap="square" rtlCol="0">
            <a:spAutoFit/>
          </a:bodyPr>
          <a:lstStyle/>
          <a:p>
            <a:pPr marL="285750" indent="-285750">
              <a:buFont typeface="Wingdings" pitchFamily="2" charset="2"/>
              <a:buChar char="§"/>
            </a:pPr>
            <a:r>
              <a:rPr lang="en-US" sz="1400" dirty="0"/>
              <a:t>77 % of </a:t>
            </a:r>
            <a:r>
              <a:rPr lang="en-SG" sz="1400" dirty="0"/>
              <a:t>Transient customers create most cancellation risk because of their huge volume.</a:t>
            </a:r>
          </a:p>
          <a:p>
            <a:endParaRPr lang="en-SG" sz="1400" dirty="0"/>
          </a:p>
          <a:p>
            <a:pPr marL="285750" indent="-285750">
              <a:buFont typeface="Wingdings" pitchFamily="2" charset="2"/>
              <a:buChar char="§"/>
            </a:pPr>
            <a:r>
              <a:rPr lang="en-US" sz="1400" dirty="0"/>
              <a:t>The guest type who are using most to TA/TO is Transient customer type. Second most using TA/TO is Transient-Party customer type.</a:t>
            </a:r>
          </a:p>
        </p:txBody>
      </p:sp>
      <p:graphicFrame>
        <p:nvGraphicFramePr>
          <p:cNvPr id="4" name="Chart 3">
            <a:extLst>
              <a:ext uri="{FF2B5EF4-FFF2-40B4-BE49-F238E27FC236}">
                <a16:creationId xmlns:a16="http://schemas.microsoft.com/office/drawing/2014/main" id="{5DF18D68-C15A-5C3C-0D44-BB843BD8065B}"/>
              </a:ext>
            </a:extLst>
          </p:cNvPr>
          <p:cNvGraphicFramePr>
            <a:graphicFrameLocks/>
          </p:cNvGraphicFramePr>
          <p:nvPr>
            <p:extLst>
              <p:ext uri="{D42A27DB-BD31-4B8C-83A1-F6EECF244321}">
                <p14:modId xmlns:p14="http://schemas.microsoft.com/office/powerpoint/2010/main" val="2365372312"/>
              </p:ext>
            </p:extLst>
          </p:nvPr>
        </p:nvGraphicFramePr>
        <p:xfrm>
          <a:off x="11031" y="685420"/>
          <a:ext cx="7189869" cy="366274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Table 4">
            <a:extLst>
              <a:ext uri="{FF2B5EF4-FFF2-40B4-BE49-F238E27FC236}">
                <a16:creationId xmlns:a16="http://schemas.microsoft.com/office/drawing/2014/main" id="{655B7C7F-4495-B499-DD03-B5AC97DBA938}"/>
              </a:ext>
            </a:extLst>
          </p:cNvPr>
          <p:cNvGraphicFramePr>
            <a:graphicFrameLocks noGrp="1"/>
          </p:cNvGraphicFramePr>
          <p:nvPr>
            <p:extLst>
              <p:ext uri="{D42A27DB-BD31-4B8C-83A1-F6EECF244321}">
                <p14:modId xmlns:p14="http://schemas.microsoft.com/office/powerpoint/2010/main" val="3358897461"/>
              </p:ext>
            </p:extLst>
          </p:nvPr>
        </p:nvGraphicFramePr>
        <p:xfrm>
          <a:off x="663605" y="4545604"/>
          <a:ext cx="6531699" cy="1510104"/>
        </p:xfrm>
        <a:graphic>
          <a:graphicData uri="http://schemas.openxmlformats.org/drawingml/2006/table">
            <a:tbl>
              <a:tblPr firstRow="1" bandRow="1">
                <a:tableStyleId>{9D7B26C5-4107-4FEC-AEDC-1716B250A1EF}</a:tableStyleId>
              </a:tblPr>
              <a:tblGrid>
                <a:gridCol w="1931215">
                  <a:extLst>
                    <a:ext uri="{9D8B030D-6E8A-4147-A177-3AD203B41FA5}">
                      <a16:colId xmlns:a16="http://schemas.microsoft.com/office/drawing/2014/main" val="3337681842"/>
                    </a:ext>
                  </a:extLst>
                </a:gridCol>
                <a:gridCol w="977947">
                  <a:extLst>
                    <a:ext uri="{9D8B030D-6E8A-4147-A177-3AD203B41FA5}">
                      <a16:colId xmlns:a16="http://schemas.microsoft.com/office/drawing/2014/main" val="912627334"/>
                    </a:ext>
                  </a:extLst>
                </a:gridCol>
                <a:gridCol w="867756">
                  <a:extLst>
                    <a:ext uri="{9D8B030D-6E8A-4147-A177-3AD203B41FA5}">
                      <a16:colId xmlns:a16="http://schemas.microsoft.com/office/drawing/2014/main" val="4203519505"/>
                    </a:ext>
                  </a:extLst>
                </a:gridCol>
                <a:gridCol w="895303">
                  <a:extLst>
                    <a:ext uri="{9D8B030D-6E8A-4147-A177-3AD203B41FA5}">
                      <a16:colId xmlns:a16="http://schemas.microsoft.com/office/drawing/2014/main" val="3238754904"/>
                    </a:ext>
                  </a:extLst>
                </a:gridCol>
                <a:gridCol w="1859478">
                  <a:extLst>
                    <a:ext uri="{9D8B030D-6E8A-4147-A177-3AD203B41FA5}">
                      <a16:colId xmlns:a16="http://schemas.microsoft.com/office/drawing/2014/main" val="973749442"/>
                    </a:ext>
                  </a:extLst>
                </a:gridCol>
              </a:tblGrid>
              <a:tr h="251684">
                <a:tc>
                  <a:txBody>
                    <a:bodyPr/>
                    <a:lstStyle/>
                    <a:p>
                      <a:pPr algn="ctr" fontAlgn="b">
                        <a:buNone/>
                      </a:pPr>
                      <a:r>
                        <a:rPr lang="en-SG" sz="1200" b="0" u="none" strike="noStrike" dirty="0">
                          <a:solidFill>
                            <a:schemeClr val="tx1"/>
                          </a:solidFill>
                          <a:effectLst/>
                        </a:rPr>
                        <a:t>Total </a:t>
                      </a:r>
                      <a:r>
                        <a:rPr lang="en-SG" sz="1200" b="0" u="none" strike="noStrike" dirty="0" err="1">
                          <a:solidFill>
                            <a:schemeClr val="tx1"/>
                          </a:solidFill>
                          <a:effectLst/>
                        </a:rPr>
                        <a:t>Nights_Cancelled</a:t>
                      </a: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Contract</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dirty="0">
                          <a:solidFill>
                            <a:schemeClr val="tx1"/>
                          </a:solidFill>
                          <a:effectLst/>
                        </a:rPr>
                        <a:t>Group</a:t>
                      </a: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Transient</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dirty="0">
                          <a:solidFill>
                            <a:schemeClr val="tx1"/>
                          </a:solidFill>
                          <a:effectLst/>
                        </a:rPr>
                        <a:t>Transient-Party</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840942658"/>
                  </a:ext>
                </a:extLst>
              </a:tr>
              <a:tr h="251684">
                <a:tc>
                  <a:txBody>
                    <a:bodyPr/>
                    <a:lstStyle/>
                    <a:p>
                      <a:pPr algn="l" fontAlgn="b">
                        <a:buNone/>
                      </a:pPr>
                      <a:r>
                        <a:rPr lang="en-SG" sz="1200" b="0" u="none" strike="noStrike" dirty="0">
                          <a:solidFill>
                            <a:schemeClr val="tx1"/>
                          </a:solidFill>
                          <a:effectLst/>
                        </a:rPr>
                        <a:t>Corporate</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9%</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19%</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671022073"/>
                  </a:ext>
                </a:extLst>
              </a:tr>
              <a:tr h="251684">
                <a:tc>
                  <a:txBody>
                    <a:bodyPr/>
                    <a:lstStyle/>
                    <a:p>
                      <a:pPr algn="l" fontAlgn="b">
                        <a:buNone/>
                      </a:pPr>
                      <a:r>
                        <a:rPr lang="en-SG" sz="1200" b="0" u="none" strike="noStrike">
                          <a:solidFill>
                            <a:schemeClr val="tx1"/>
                          </a:solidFill>
                          <a:effectLst/>
                        </a:rPr>
                        <a:t>Direct</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22%</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436216486"/>
                  </a:ext>
                </a:extLst>
              </a:tr>
              <a:tr h="251684">
                <a:tc>
                  <a:txBody>
                    <a:bodyPr/>
                    <a:lstStyle/>
                    <a:p>
                      <a:pPr algn="l" fontAlgn="b">
                        <a:buNone/>
                      </a:pPr>
                      <a:r>
                        <a:rPr lang="en-SG" sz="1200" b="0" u="none" strike="noStrike">
                          <a:solidFill>
                            <a:schemeClr val="tx1"/>
                          </a:solidFill>
                          <a:effectLst/>
                        </a:rPr>
                        <a:t>GDS</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29%</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305012695"/>
                  </a:ext>
                </a:extLst>
              </a:tr>
              <a:tr h="251684">
                <a:tc>
                  <a:txBody>
                    <a:bodyPr/>
                    <a:lstStyle/>
                    <a:p>
                      <a:pPr algn="l" fontAlgn="b">
                        <a:buNone/>
                      </a:pPr>
                      <a:r>
                        <a:rPr lang="en-SG" sz="1200" b="0" u="none" strike="noStrike">
                          <a:solidFill>
                            <a:schemeClr val="tx1"/>
                          </a:solidFill>
                          <a:effectLst/>
                        </a:rPr>
                        <a:t>TA/TO</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44%</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6%</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50%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28%</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626063040"/>
                  </a:ext>
                </a:extLst>
              </a:tr>
              <a:tr h="251684">
                <a:tc>
                  <a:txBody>
                    <a:bodyPr/>
                    <a:lstStyle/>
                    <a:p>
                      <a:pPr algn="l" fontAlgn="b">
                        <a:buNone/>
                      </a:pPr>
                      <a:r>
                        <a:rPr lang="en-SG" sz="1200" b="0" u="none" strike="noStrike">
                          <a:solidFill>
                            <a:schemeClr val="tx1"/>
                          </a:solidFill>
                          <a:effectLst/>
                        </a:rPr>
                        <a:t>Undefined</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100%</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364177644"/>
                  </a:ext>
                </a:extLst>
              </a:tr>
            </a:tbl>
          </a:graphicData>
        </a:graphic>
      </p:graphicFrame>
    </p:spTree>
    <p:extLst>
      <p:ext uri="{BB962C8B-B14F-4D97-AF65-F5344CB8AC3E}">
        <p14:creationId xmlns:p14="http://schemas.microsoft.com/office/powerpoint/2010/main" val="2377075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B20FBC74-7073-9EA9-A783-9DE10F393EE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83F761-81C1-4AC0-5F0E-7531C0BF4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83F038-91F4-F1D0-6F9F-937DCF45D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103D381-18D4-7C3A-FE0E-FCECC2A716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DAE4DCE0-CF01-1960-B11C-1CF8FF5AB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2A977C3-0AE6-1773-1762-3EED717580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83180F50-5B48-C44F-8E51-F3928F5DF3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2522EED-06D2-9CD2-7E8F-47E324B10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1F962FC4-2F66-A571-34A2-AB273FE39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D2D87797-72BD-31D7-861E-4ED95F8B93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A9CF47-79AC-0B9D-C90B-34694B50C1ED}"/>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Customer Type &amp; </a:t>
            </a:r>
            <a:r>
              <a:rPr lang="en-US" sz="2800" dirty="0" err="1"/>
              <a:t>Lead_time</a:t>
            </a:r>
            <a:r>
              <a:rPr lang="en-US" sz="2800" dirty="0"/>
              <a:t> Analysis</a:t>
            </a:r>
          </a:p>
        </p:txBody>
      </p:sp>
      <p:sp>
        <p:nvSpPr>
          <p:cNvPr id="3" name="TextBox 2">
            <a:extLst>
              <a:ext uri="{FF2B5EF4-FFF2-40B4-BE49-F238E27FC236}">
                <a16:creationId xmlns:a16="http://schemas.microsoft.com/office/drawing/2014/main" id="{7D10ABE3-8EEB-DF7D-36FA-4F2C63AC1B30}"/>
              </a:ext>
            </a:extLst>
          </p:cNvPr>
          <p:cNvSpPr txBox="1"/>
          <p:nvPr/>
        </p:nvSpPr>
        <p:spPr>
          <a:xfrm>
            <a:off x="994279" y="3428999"/>
            <a:ext cx="11188735" cy="2703112"/>
          </a:xfrm>
          <a:prstGeom prst="rect">
            <a:avLst/>
          </a:prstGeom>
          <a:noFill/>
        </p:spPr>
        <p:txBody>
          <a:bodyPr wrap="square">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Transient Customers' booking habits, actively reserving rooms at the last minute. This is driven by a negative correlation (-0.15), meaning that as the booking window shortens.</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Transient-Party Customers prefer booking far in advance to secure group blocks or event spaces. Their positive correlation (0.15) proves that longer planning cycles directly align with this segment's behaviour.</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Group Customers display highly unpredictable behaviour that cannot be anticipated using time metrics. Their correlation (-0.03) and low covariance (-0.24) reveal that lead time has zero statistical impact on when these groups decide to book.</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Contract Customers lean toward planned bookings but with a much narrower, steady window. A weak positive correlation (0.03) shows they book slightly ahead of time, likely tied to fixed corporate agreements or predictable institutional schedules.</a:t>
            </a:r>
          </a:p>
          <a:p>
            <a:pPr indent="-285750" defTabSz="914400">
              <a:lnSpc>
                <a:spcPct val="120000"/>
              </a:lnSpc>
              <a:spcAft>
                <a:spcPts val="600"/>
              </a:spcAft>
              <a:buClr>
                <a:schemeClr val="accent6"/>
              </a:buClr>
              <a:buSzPct val="90000"/>
              <a:buFont typeface="Wingdings" panose="05000000000000000000" pitchFamily="2" charset="2"/>
              <a:buChar char="§"/>
            </a:pPr>
            <a:endParaRPr lang="en-SG" sz="1400" dirty="0"/>
          </a:p>
        </p:txBody>
      </p:sp>
      <p:graphicFrame>
        <p:nvGraphicFramePr>
          <p:cNvPr id="4" name="Table 3">
            <a:extLst>
              <a:ext uri="{FF2B5EF4-FFF2-40B4-BE49-F238E27FC236}">
                <a16:creationId xmlns:a16="http://schemas.microsoft.com/office/drawing/2014/main" id="{E38A651E-131D-E731-47C8-FBD2C8BE775E}"/>
              </a:ext>
            </a:extLst>
          </p:cNvPr>
          <p:cNvGraphicFramePr>
            <a:graphicFrameLocks noGrp="1"/>
          </p:cNvGraphicFramePr>
          <p:nvPr>
            <p:extLst>
              <p:ext uri="{D42A27DB-BD31-4B8C-83A1-F6EECF244321}">
                <p14:modId xmlns:p14="http://schemas.microsoft.com/office/powerpoint/2010/main" val="2857988213"/>
              </p:ext>
            </p:extLst>
          </p:nvPr>
        </p:nvGraphicFramePr>
        <p:xfrm>
          <a:off x="3088830" y="1326934"/>
          <a:ext cx="5537200" cy="1219200"/>
        </p:xfrm>
        <a:graphic>
          <a:graphicData uri="http://schemas.openxmlformats.org/drawingml/2006/table">
            <a:tbl>
              <a:tblPr firstRow="1" bandRow="1">
                <a:tableStyleId>{9D7B26C5-4107-4FEC-AEDC-1716B250A1EF}</a:tableStyleId>
              </a:tblPr>
              <a:tblGrid>
                <a:gridCol w="1483170">
                  <a:extLst>
                    <a:ext uri="{9D8B030D-6E8A-4147-A177-3AD203B41FA5}">
                      <a16:colId xmlns:a16="http://schemas.microsoft.com/office/drawing/2014/main" val="1572273228"/>
                    </a:ext>
                  </a:extLst>
                </a:gridCol>
                <a:gridCol w="1795346">
                  <a:extLst>
                    <a:ext uri="{9D8B030D-6E8A-4147-A177-3AD203B41FA5}">
                      <a16:colId xmlns:a16="http://schemas.microsoft.com/office/drawing/2014/main" val="2121949045"/>
                    </a:ext>
                  </a:extLst>
                </a:gridCol>
                <a:gridCol w="1353809">
                  <a:extLst>
                    <a:ext uri="{9D8B030D-6E8A-4147-A177-3AD203B41FA5}">
                      <a16:colId xmlns:a16="http://schemas.microsoft.com/office/drawing/2014/main" val="2941777845"/>
                    </a:ext>
                  </a:extLst>
                </a:gridCol>
                <a:gridCol w="904875">
                  <a:extLst>
                    <a:ext uri="{9D8B030D-6E8A-4147-A177-3AD203B41FA5}">
                      <a16:colId xmlns:a16="http://schemas.microsoft.com/office/drawing/2014/main" val="341931202"/>
                    </a:ext>
                  </a:extLst>
                </a:gridCol>
              </a:tblGrid>
              <a:tr h="406400">
                <a:tc gridSpan="2">
                  <a:txBody>
                    <a:bodyPr/>
                    <a:lstStyle/>
                    <a:p>
                      <a:pPr algn="ctr" fontAlgn="ctr">
                        <a:buNone/>
                      </a:pPr>
                      <a:r>
                        <a:rPr lang="en-SG" sz="1200" b="0" u="none" strike="noStrike" dirty="0">
                          <a:solidFill>
                            <a:schemeClr val="tx1"/>
                          </a:solidFill>
                          <a:effectLst/>
                        </a:rPr>
                        <a:t>Relationship</a:t>
                      </a:r>
                      <a:endParaRPr lang="en-SG" sz="1200" b="0" i="0" u="none" strike="noStrike" dirty="0">
                        <a:solidFill>
                          <a:schemeClr val="tx1"/>
                        </a:solidFill>
                        <a:effectLst/>
                        <a:latin typeface="+mn-lt"/>
                      </a:endParaRPr>
                    </a:p>
                  </a:txBody>
                  <a:tcPr marL="9525" marR="9525" marT="9525" marB="0" anchor="ctr"/>
                </a:tc>
                <a:tc hMerge="1">
                  <a:txBody>
                    <a:bodyPr/>
                    <a:lstStyle/>
                    <a:p>
                      <a:endParaRPr lang="en-US"/>
                    </a:p>
                  </a:txBody>
                  <a:tcPr/>
                </a:tc>
                <a:tc>
                  <a:txBody>
                    <a:bodyPr/>
                    <a:lstStyle/>
                    <a:p>
                      <a:pPr algn="ctr" fontAlgn="ctr">
                        <a:buNone/>
                      </a:pPr>
                      <a:r>
                        <a:rPr lang="en-SG" sz="1200" b="0" u="none" strike="noStrike">
                          <a:solidFill>
                            <a:schemeClr val="tx1"/>
                          </a:solidFill>
                          <a:effectLst/>
                        </a:rPr>
                        <a:t>Covariance (COVARIANCE.S)</a:t>
                      </a:r>
                      <a:endParaRPr lang="en-SG" sz="1200" b="0" i="0" u="none" strike="noStrike">
                        <a:solidFill>
                          <a:schemeClr val="tx1"/>
                        </a:solidFill>
                        <a:effectLst/>
                        <a:latin typeface="+mn-lt"/>
                      </a:endParaRPr>
                    </a:p>
                  </a:txBody>
                  <a:tcPr marL="9525" marR="9525" marT="9525" marB="0" anchor="ctr"/>
                </a:tc>
                <a:tc>
                  <a:txBody>
                    <a:bodyPr/>
                    <a:lstStyle/>
                    <a:p>
                      <a:pPr algn="ctr" fontAlgn="ctr">
                        <a:buNone/>
                      </a:pPr>
                      <a:r>
                        <a:rPr lang="en-SG" sz="1200" b="0" u="none" strike="noStrike">
                          <a:solidFill>
                            <a:schemeClr val="tx1"/>
                          </a:solidFill>
                          <a:effectLst/>
                        </a:rPr>
                        <a:t>Correlation (CORREL)</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697052344"/>
                  </a:ext>
                </a:extLst>
              </a:tr>
              <a:tr h="203200">
                <a:tc>
                  <a:txBody>
                    <a:bodyPr/>
                    <a:lstStyle/>
                    <a:p>
                      <a:pPr algn="l" fontAlgn="b">
                        <a:buNone/>
                      </a:pPr>
                      <a:r>
                        <a:rPr lang="en-SG" sz="1200" b="0" u="none" strike="noStrike">
                          <a:solidFill>
                            <a:schemeClr val="tx1"/>
                          </a:solidFill>
                          <a:effectLst/>
                        </a:rPr>
                        <a:t>Lead_Time</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is_Transient</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-7.32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-0.15</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772332118"/>
                  </a:ext>
                </a:extLst>
              </a:tr>
              <a:tr h="203200">
                <a:tc>
                  <a:txBody>
                    <a:bodyPr/>
                    <a:lstStyle/>
                    <a:p>
                      <a:pPr algn="l" fontAlgn="b">
                        <a:buNone/>
                      </a:pPr>
                      <a:r>
                        <a:rPr lang="en-SG" sz="1200" b="0" u="none" strike="noStrike" dirty="0" err="1">
                          <a:solidFill>
                            <a:schemeClr val="tx1"/>
                          </a:solidFill>
                          <a:effectLst/>
                        </a:rPr>
                        <a:t>Lead_Time</a:t>
                      </a:r>
                      <a:endParaRPr lang="en-SG" sz="1200" b="0" i="0" u="none" strike="noStrike" dirty="0">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is_Transient</a:t>
                      </a:r>
                      <a:r>
                        <a:rPr lang="en-SG" sz="1200" b="0" u="none" strike="noStrike" dirty="0">
                          <a:solidFill>
                            <a:schemeClr val="tx1"/>
                          </a:solidFill>
                          <a:effectLst/>
                        </a:rPr>
                        <a:t>-Party</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7.04</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0.15</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363836431"/>
                  </a:ext>
                </a:extLst>
              </a:tr>
              <a:tr h="203200">
                <a:tc>
                  <a:txBody>
                    <a:bodyPr/>
                    <a:lstStyle/>
                    <a:p>
                      <a:pPr algn="l" fontAlgn="b">
                        <a:buNone/>
                      </a:pPr>
                      <a:r>
                        <a:rPr lang="en-SG" sz="1200" b="0" u="none" strike="noStrike">
                          <a:solidFill>
                            <a:schemeClr val="tx1"/>
                          </a:solidFill>
                          <a:effectLst/>
                        </a:rPr>
                        <a:t>Lead_Time</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is_Transient</a:t>
                      </a:r>
                      <a:r>
                        <a:rPr lang="en-SG" sz="1200" b="0" u="none" strike="noStrike" dirty="0">
                          <a:solidFill>
                            <a:schemeClr val="tx1"/>
                          </a:solidFill>
                          <a:effectLst/>
                        </a:rPr>
                        <a:t>-Group</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-0.19</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-0.03</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914119166"/>
                  </a:ext>
                </a:extLst>
              </a:tr>
              <a:tr h="203200">
                <a:tc>
                  <a:txBody>
                    <a:bodyPr/>
                    <a:lstStyle/>
                    <a:p>
                      <a:pPr algn="l" fontAlgn="b">
                        <a:buNone/>
                      </a:pPr>
                      <a:r>
                        <a:rPr lang="en-SG" sz="1200" b="0" u="none" strike="noStrike">
                          <a:solidFill>
                            <a:schemeClr val="tx1"/>
                          </a:solidFill>
                          <a:effectLst/>
                        </a:rPr>
                        <a:t>Lead_Time</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is_Transient-Contract</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0.48</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0.03</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781301370"/>
                  </a:ext>
                </a:extLst>
              </a:tr>
            </a:tbl>
          </a:graphicData>
        </a:graphic>
      </p:graphicFrame>
    </p:spTree>
    <p:extLst>
      <p:ext uri="{BB962C8B-B14F-4D97-AF65-F5344CB8AC3E}">
        <p14:creationId xmlns:p14="http://schemas.microsoft.com/office/powerpoint/2010/main" val="2677451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1E6E7556-B3C6-B76E-841E-D8835AFFBFA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6A99F30-75AC-9B04-8FAD-2FC69B4F2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10EC84A-C949-2E9F-11DE-B74818A128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F53EB5D4-01FE-3005-580E-AC46C3DEA3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A612462A-A2B7-7FFD-04CE-2A4D8D94D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6CE00715-0F71-3227-5262-7CE036292B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5304E24E-15F1-AF0D-B504-762021E4D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0608BD2-BCD7-F089-B101-7759DE55F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C2901AF1-AF95-8C55-DBAF-DCCD3BAAD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0B58CEB8-927E-23CD-D533-7BD18E5A1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A5517D-2AF0-6A3D-D314-A731DBE96236}"/>
              </a:ext>
            </a:extLst>
          </p:cNvPr>
          <p:cNvSpPr txBox="1">
            <a:spLocks/>
          </p:cNvSpPr>
          <p:nvPr/>
        </p:nvSpPr>
        <p:spPr>
          <a:xfrm>
            <a:off x="994279" y="223754"/>
            <a:ext cx="6130421" cy="589046"/>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Customer Preferences Analysis</a:t>
            </a:r>
          </a:p>
        </p:txBody>
      </p:sp>
      <p:graphicFrame>
        <p:nvGraphicFramePr>
          <p:cNvPr id="3" name="Table 2">
            <a:extLst>
              <a:ext uri="{FF2B5EF4-FFF2-40B4-BE49-F238E27FC236}">
                <a16:creationId xmlns:a16="http://schemas.microsoft.com/office/drawing/2014/main" id="{8E7CC689-FE53-68AE-9F44-988328A11FC7}"/>
              </a:ext>
            </a:extLst>
          </p:cNvPr>
          <p:cNvGraphicFramePr>
            <a:graphicFrameLocks noGrp="1"/>
          </p:cNvGraphicFramePr>
          <p:nvPr>
            <p:extLst>
              <p:ext uri="{D42A27DB-BD31-4B8C-83A1-F6EECF244321}">
                <p14:modId xmlns:p14="http://schemas.microsoft.com/office/powerpoint/2010/main" val="474984144"/>
              </p:ext>
            </p:extLst>
          </p:nvPr>
        </p:nvGraphicFramePr>
        <p:xfrm>
          <a:off x="1017961" y="834922"/>
          <a:ext cx="10372316" cy="1143514"/>
        </p:xfrm>
        <a:graphic>
          <a:graphicData uri="http://schemas.openxmlformats.org/drawingml/2006/table">
            <a:tbl>
              <a:tblPr firstRow="1" bandRow="1">
                <a:tableStyleId>{9D7B26C5-4107-4FEC-AEDC-1716B250A1EF}</a:tableStyleId>
              </a:tblPr>
              <a:tblGrid>
                <a:gridCol w="1257771">
                  <a:extLst>
                    <a:ext uri="{9D8B030D-6E8A-4147-A177-3AD203B41FA5}">
                      <a16:colId xmlns:a16="http://schemas.microsoft.com/office/drawing/2014/main" val="844367593"/>
                    </a:ext>
                  </a:extLst>
                </a:gridCol>
                <a:gridCol w="952500">
                  <a:extLst>
                    <a:ext uri="{9D8B030D-6E8A-4147-A177-3AD203B41FA5}">
                      <a16:colId xmlns:a16="http://schemas.microsoft.com/office/drawing/2014/main" val="2568592894"/>
                    </a:ext>
                  </a:extLst>
                </a:gridCol>
                <a:gridCol w="2222500">
                  <a:extLst>
                    <a:ext uri="{9D8B030D-6E8A-4147-A177-3AD203B41FA5}">
                      <a16:colId xmlns:a16="http://schemas.microsoft.com/office/drawing/2014/main" val="4260495748"/>
                    </a:ext>
                  </a:extLst>
                </a:gridCol>
                <a:gridCol w="1955800">
                  <a:extLst>
                    <a:ext uri="{9D8B030D-6E8A-4147-A177-3AD203B41FA5}">
                      <a16:colId xmlns:a16="http://schemas.microsoft.com/office/drawing/2014/main" val="3595259357"/>
                    </a:ext>
                  </a:extLst>
                </a:gridCol>
                <a:gridCol w="2509501">
                  <a:extLst>
                    <a:ext uri="{9D8B030D-6E8A-4147-A177-3AD203B41FA5}">
                      <a16:colId xmlns:a16="http://schemas.microsoft.com/office/drawing/2014/main" val="2268319397"/>
                    </a:ext>
                  </a:extLst>
                </a:gridCol>
                <a:gridCol w="1474244">
                  <a:extLst>
                    <a:ext uri="{9D8B030D-6E8A-4147-A177-3AD203B41FA5}">
                      <a16:colId xmlns:a16="http://schemas.microsoft.com/office/drawing/2014/main" val="380246752"/>
                    </a:ext>
                  </a:extLst>
                </a:gridCol>
              </a:tblGrid>
              <a:tr h="374690">
                <a:tc>
                  <a:txBody>
                    <a:bodyPr/>
                    <a:lstStyle/>
                    <a:p>
                      <a:pPr algn="ctr" fontAlgn="b">
                        <a:buNone/>
                      </a:pPr>
                      <a:endParaRPr lang="en-SG" sz="1200" b="0" i="0" u="none" strike="noStrike" dirty="0">
                        <a:solidFill>
                          <a:schemeClr val="tx1"/>
                        </a:solidFill>
                        <a:effectLst/>
                        <a:latin typeface="Aptos Narrow" panose="020B0004020202020204" pitchFamily="34" charset="0"/>
                      </a:endParaRPr>
                    </a:p>
                  </a:txBody>
                  <a:tcPr marL="9326" marR="9326" marT="9326" marB="0" anchor="ctr"/>
                </a:tc>
                <a:tc>
                  <a:txBody>
                    <a:bodyPr/>
                    <a:lstStyle/>
                    <a:p>
                      <a:pPr algn="ctr" fontAlgn="b">
                        <a:buNone/>
                      </a:pPr>
                      <a:r>
                        <a:rPr lang="en-SG" sz="1200" b="0" u="none" strike="noStrike" dirty="0">
                          <a:solidFill>
                            <a:schemeClr val="tx1"/>
                          </a:solidFill>
                          <a:effectLst/>
                        </a:rPr>
                        <a:t> </a:t>
                      </a:r>
                      <a:r>
                        <a:rPr lang="en-SG" sz="1200" b="0" u="none" strike="noStrike" dirty="0" err="1">
                          <a:solidFill>
                            <a:schemeClr val="tx1"/>
                          </a:solidFill>
                          <a:effectLst/>
                        </a:rPr>
                        <a:t>is_family</a:t>
                      </a:r>
                      <a:endParaRPr lang="en-SG" sz="1200" b="0" i="0" u="none" strike="noStrike" dirty="0">
                        <a:solidFill>
                          <a:schemeClr val="tx1"/>
                        </a:solidFill>
                        <a:effectLst/>
                        <a:latin typeface="Aptos Narrow" panose="020B0004020202020204" pitchFamily="34" charset="0"/>
                      </a:endParaRPr>
                    </a:p>
                  </a:txBody>
                  <a:tcPr marL="9326" marR="9326" marT="9326" marB="0" anchor="ctr"/>
                </a:tc>
                <a:tc>
                  <a:txBody>
                    <a:bodyPr/>
                    <a:lstStyle/>
                    <a:p>
                      <a:pPr algn="ctr" fontAlgn="b">
                        <a:buNone/>
                      </a:pPr>
                      <a:r>
                        <a:rPr lang="en-SG" sz="1200" b="0" u="none" strike="noStrike" dirty="0">
                          <a:solidFill>
                            <a:schemeClr val="tx1"/>
                          </a:solidFill>
                          <a:effectLst/>
                        </a:rPr>
                        <a:t> </a:t>
                      </a:r>
                      <a:r>
                        <a:rPr lang="en-SG" sz="1200" b="0" u="none" strike="noStrike" dirty="0" err="1">
                          <a:solidFill>
                            <a:schemeClr val="tx1"/>
                          </a:solidFill>
                          <a:effectLst/>
                        </a:rPr>
                        <a:t>required_car_parking_spaces</a:t>
                      </a:r>
                      <a:endParaRPr lang="en-SG" sz="1200" b="0" i="0" u="none" strike="noStrike" dirty="0">
                        <a:solidFill>
                          <a:schemeClr val="tx1"/>
                        </a:solidFill>
                        <a:effectLst/>
                        <a:latin typeface="Aptos Narrow" panose="020B0004020202020204" pitchFamily="34" charset="0"/>
                      </a:endParaRPr>
                    </a:p>
                  </a:txBody>
                  <a:tcPr marL="9326" marR="9326" marT="9326" marB="0" anchor="ctr"/>
                </a:tc>
                <a:tc>
                  <a:txBody>
                    <a:bodyPr/>
                    <a:lstStyle/>
                    <a:p>
                      <a:pPr algn="ctr" fontAlgn="b">
                        <a:buNone/>
                      </a:pPr>
                      <a:r>
                        <a:rPr lang="en-SG" sz="1200" b="0" u="none" strike="noStrike" dirty="0">
                          <a:solidFill>
                            <a:schemeClr val="tx1"/>
                          </a:solidFill>
                          <a:effectLst/>
                        </a:rPr>
                        <a:t> </a:t>
                      </a:r>
                      <a:r>
                        <a:rPr lang="en-SG" sz="1200" b="0" u="none" strike="noStrike" dirty="0" err="1">
                          <a:solidFill>
                            <a:schemeClr val="tx1"/>
                          </a:solidFill>
                          <a:effectLst/>
                        </a:rPr>
                        <a:t>previous_cancellations</a:t>
                      </a:r>
                      <a:endParaRPr lang="en-SG" sz="1200" b="0" i="0" u="none" strike="noStrike" dirty="0">
                        <a:solidFill>
                          <a:schemeClr val="tx1"/>
                        </a:solidFill>
                        <a:effectLst/>
                        <a:latin typeface="Aptos Narrow" panose="020B0004020202020204" pitchFamily="34" charset="0"/>
                      </a:endParaRPr>
                    </a:p>
                  </a:txBody>
                  <a:tcPr marL="9326" marR="9326" marT="9326" marB="0" anchor="ctr"/>
                </a:tc>
                <a:tc>
                  <a:txBody>
                    <a:bodyPr/>
                    <a:lstStyle/>
                    <a:p>
                      <a:pPr algn="ctr" fontAlgn="b">
                        <a:buNone/>
                      </a:pPr>
                      <a:r>
                        <a:rPr lang="en-SG" sz="1200" b="0" u="none" strike="noStrike" dirty="0">
                          <a:solidFill>
                            <a:schemeClr val="tx1"/>
                          </a:solidFill>
                          <a:effectLst/>
                        </a:rPr>
                        <a:t> </a:t>
                      </a:r>
                      <a:r>
                        <a:rPr lang="en-SG" sz="1200" b="0" u="none" strike="noStrike" dirty="0" err="1">
                          <a:solidFill>
                            <a:schemeClr val="tx1"/>
                          </a:solidFill>
                          <a:effectLst/>
                        </a:rPr>
                        <a:t>previous_bookings_not_canceled</a:t>
                      </a:r>
                      <a:endParaRPr lang="en-SG" sz="1200" b="0" i="0" u="none" strike="noStrike" dirty="0">
                        <a:solidFill>
                          <a:schemeClr val="tx1"/>
                        </a:solidFill>
                        <a:effectLst/>
                        <a:latin typeface="Aptos Narrow" panose="020B0004020202020204" pitchFamily="34" charset="0"/>
                      </a:endParaRPr>
                    </a:p>
                  </a:txBody>
                  <a:tcPr marL="9326" marR="9326" marT="9326" marB="0" anchor="ctr"/>
                </a:tc>
                <a:tc>
                  <a:txBody>
                    <a:bodyPr/>
                    <a:lstStyle/>
                    <a:p>
                      <a:pPr algn="ctr" fontAlgn="b">
                        <a:buNone/>
                      </a:pPr>
                      <a:r>
                        <a:rPr lang="en-SG" sz="1200" b="0" u="none" strike="noStrike" dirty="0">
                          <a:solidFill>
                            <a:schemeClr val="tx1"/>
                          </a:solidFill>
                          <a:effectLst/>
                        </a:rPr>
                        <a:t> </a:t>
                      </a:r>
                      <a:r>
                        <a:rPr lang="en-SG" sz="1200" b="0" u="none" strike="noStrike" dirty="0" err="1">
                          <a:solidFill>
                            <a:schemeClr val="tx1"/>
                          </a:solidFill>
                          <a:effectLst/>
                        </a:rPr>
                        <a:t>is_repeated_guest</a:t>
                      </a:r>
                      <a:endParaRPr lang="en-SG" sz="1200" b="0" i="0" u="none" strike="noStrike" dirty="0">
                        <a:solidFill>
                          <a:schemeClr val="tx1"/>
                        </a:solidFill>
                        <a:effectLst/>
                        <a:latin typeface="Aptos Narrow" panose="020B0004020202020204" pitchFamily="34" charset="0"/>
                      </a:endParaRPr>
                    </a:p>
                  </a:txBody>
                  <a:tcPr marL="9326" marR="9326" marT="9326" marB="0" anchor="ctr"/>
                </a:tc>
                <a:extLst>
                  <a:ext uri="{0D108BD9-81ED-4DB2-BD59-A6C34878D82A}">
                    <a16:rowId xmlns:a16="http://schemas.microsoft.com/office/drawing/2014/main" val="792094840"/>
                  </a:ext>
                </a:extLst>
              </a:tr>
              <a:tr h="180184">
                <a:tc>
                  <a:txBody>
                    <a:bodyPr/>
                    <a:lstStyle/>
                    <a:p>
                      <a:pPr algn="l" fontAlgn="b">
                        <a:buNone/>
                      </a:pPr>
                      <a:r>
                        <a:rPr lang="en-SG" sz="1200" b="0" u="none" strike="noStrike">
                          <a:solidFill>
                            <a:schemeClr val="tx1"/>
                          </a:solidFill>
                          <a:effectLst/>
                        </a:rPr>
                        <a:t>Contract</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4%</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39%</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1%</a:t>
                      </a:r>
                      <a:endParaRPr lang="en-SG" sz="1200" b="0" i="0" u="none" strike="noStrike">
                        <a:solidFill>
                          <a:schemeClr val="tx1"/>
                        </a:solidFill>
                        <a:effectLst/>
                        <a:latin typeface="Aptos Narrow" panose="020B0004020202020204" pitchFamily="34" charset="0"/>
                      </a:endParaRPr>
                    </a:p>
                  </a:txBody>
                  <a:tcPr marL="9326" marR="9326" marT="9326" marB="0" anchor="b"/>
                </a:tc>
                <a:extLst>
                  <a:ext uri="{0D108BD9-81ED-4DB2-BD59-A6C34878D82A}">
                    <a16:rowId xmlns:a16="http://schemas.microsoft.com/office/drawing/2014/main" val="3764501084"/>
                  </a:ext>
                </a:extLst>
              </a:tr>
              <a:tr h="180184">
                <a:tc>
                  <a:txBody>
                    <a:bodyPr/>
                    <a:lstStyle/>
                    <a:p>
                      <a:pPr algn="l" fontAlgn="b">
                        <a:buNone/>
                      </a:pPr>
                      <a:r>
                        <a:rPr lang="en-SG" sz="1200" b="0" u="none" strike="noStrike" dirty="0">
                          <a:solidFill>
                            <a:schemeClr val="tx1"/>
                          </a:solidFill>
                          <a:effectLst/>
                        </a:rPr>
                        <a:t>Group</a:t>
                      </a:r>
                      <a:endParaRPr lang="en-SG" sz="1200" b="0" i="0" u="none" strike="noStrike" dirty="0">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2%</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6%</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42%</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16%</a:t>
                      </a:r>
                      <a:endParaRPr lang="en-SG" sz="1200" b="0" i="0" u="none" strike="noStrike">
                        <a:solidFill>
                          <a:schemeClr val="tx1"/>
                        </a:solidFill>
                        <a:effectLst/>
                        <a:latin typeface="Aptos Narrow" panose="020B0004020202020204" pitchFamily="34" charset="0"/>
                      </a:endParaRPr>
                    </a:p>
                  </a:txBody>
                  <a:tcPr marL="9326" marR="9326" marT="9326" marB="0" anchor="b"/>
                </a:tc>
                <a:extLst>
                  <a:ext uri="{0D108BD9-81ED-4DB2-BD59-A6C34878D82A}">
                    <a16:rowId xmlns:a16="http://schemas.microsoft.com/office/drawing/2014/main" val="2193694394"/>
                  </a:ext>
                </a:extLst>
              </a:tr>
              <a:tr h="180184">
                <a:tc>
                  <a:txBody>
                    <a:bodyPr/>
                    <a:lstStyle/>
                    <a:p>
                      <a:pPr algn="l" fontAlgn="b">
                        <a:buNone/>
                      </a:pPr>
                      <a:r>
                        <a:rPr lang="en-SG" sz="1200" b="0" u="none" strike="noStrike">
                          <a:solidFill>
                            <a:schemeClr val="tx1"/>
                          </a:solidFill>
                          <a:effectLst/>
                        </a:rPr>
                        <a:t>Transient</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7%</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3%</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6%</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16%</a:t>
                      </a:r>
                      <a:endParaRPr lang="en-SG" sz="1200" b="0" i="0" u="none" strike="noStrike">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a:solidFill>
                            <a:schemeClr val="tx1"/>
                          </a:solidFill>
                          <a:effectLst/>
                        </a:rPr>
                        <a:t>3%</a:t>
                      </a:r>
                      <a:endParaRPr lang="en-SG" sz="1200" b="0" i="0" u="none" strike="noStrike">
                        <a:solidFill>
                          <a:schemeClr val="tx1"/>
                        </a:solidFill>
                        <a:effectLst/>
                        <a:latin typeface="Aptos Narrow" panose="020B0004020202020204" pitchFamily="34" charset="0"/>
                      </a:endParaRPr>
                    </a:p>
                  </a:txBody>
                  <a:tcPr marL="9326" marR="9326" marT="9326" marB="0" anchor="b"/>
                </a:tc>
                <a:extLst>
                  <a:ext uri="{0D108BD9-81ED-4DB2-BD59-A6C34878D82A}">
                    <a16:rowId xmlns:a16="http://schemas.microsoft.com/office/drawing/2014/main" val="1443098040"/>
                  </a:ext>
                </a:extLst>
              </a:tr>
              <a:tr h="180184">
                <a:tc>
                  <a:txBody>
                    <a:bodyPr/>
                    <a:lstStyle/>
                    <a:p>
                      <a:pPr algn="l" fontAlgn="b">
                        <a:buNone/>
                      </a:pPr>
                      <a:r>
                        <a:rPr lang="en-SG" sz="1200" b="0" u="none" strike="noStrike" dirty="0">
                          <a:solidFill>
                            <a:schemeClr val="tx1"/>
                          </a:solidFill>
                          <a:effectLst/>
                        </a:rPr>
                        <a:t>Transient-Party</a:t>
                      </a:r>
                      <a:endParaRPr lang="en-SG" sz="1200" b="0" i="0" u="none" strike="noStrike" dirty="0">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dirty="0">
                          <a:solidFill>
                            <a:schemeClr val="tx1"/>
                          </a:solidFill>
                          <a:effectLst/>
                        </a:rPr>
                        <a:t>2%</a:t>
                      </a:r>
                      <a:endParaRPr lang="en-SG" sz="1200" b="0" i="0" u="none" strike="noStrike" dirty="0">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dirty="0">
                          <a:solidFill>
                            <a:schemeClr val="tx1"/>
                          </a:solidFill>
                          <a:effectLst/>
                        </a:rPr>
                        <a:t>1%</a:t>
                      </a:r>
                      <a:endParaRPr lang="en-SG" sz="1200" b="0" i="0" u="none" strike="noStrike" dirty="0">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dirty="0">
                          <a:solidFill>
                            <a:schemeClr val="tx1"/>
                          </a:solidFill>
                          <a:effectLst/>
                        </a:rPr>
                        <a:t>12%</a:t>
                      </a:r>
                      <a:endParaRPr lang="en-SG" sz="1200" b="0" i="0" u="none" strike="noStrike" dirty="0">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dirty="0">
                          <a:solidFill>
                            <a:schemeClr val="tx1"/>
                          </a:solidFill>
                          <a:effectLst/>
                        </a:rPr>
                        <a:t>6%</a:t>
                      </a:r>
                      <a:endParaRPr lang="en-SG" sz="1200" b="0" i="0" u="none" strike="noStrike" dirty="0">
                        <a:solidFill>
                          <a:schemeClr val="tx1"/>
                        </a:solidFill>
                        <a:effectLst/>
                        <a:latin typeface="Aptos Narrow" panose="020B0004020202020204" pitchFamily="34" charset="0"/>
                      </a:endParaRPr>
                    </a:p>
                  </a:txBody>
                  <a:tcPr marL="9326" marR="9326" marT="9326" marB="0" anchor="b"/>
                </a:tc>
                <a:tc>
                  <a:txBody>
                    <a:bodyPr/>
                    <a:lstStyle/>
                    <a:p>
                      <a:pPr algn="r" fontAlgn="b">
                        <a:buNone/>
                      </a:pPr>
                      <a:r>
                        <a:rPr lang="en-SG" sz="1200" b="0" u="none" strike="noStrike" dirty="0">
                          <a:solidFill>
                            <a:schemeClr val="tx1"/>
                          </a:solidFill>
                          <a:effectLst/>
                        </a:rPr>
                        <a:t>2%</a:t>
                      </a:r>
                      <a:endParaRPr lang="en-SG" sz="1200" b="0" i="0" u="none" strike="noStrike" dirty="0">
                        <a:solidFill>
                          <a:schemeClr val="tx1"/>
                        </a:solidFill>
                        <a:effectLst/>
                        <a:latin typeface="Aptos Narrow" panose="020B0004020202020204" pitchFamily="34" charset="0"/>
                      </a:endParaRPr>
                    </a:p>
                  </a:txBody>
                  <a:tcPr marL="9326" marR="9326" marT="9326" marB="0" anchor="b"/>
                </a:tc>
                <a:extLst>
                  <a:ext uri="{0D108BD9-81ED-4DB2-BD59-A6C34878D82A}">
                    <a16:rowId xmlns:a16="http://schemas.microsoft.com/office/drawing/2014/main" val="1886003562"/>
                  </a:ext>
                </a:extLst>
              </a:tr>
            </a:tbl>
          </a:graphicData>
        </a:graphic>
      </p:graphicFrame>
      <p:sp>
        <p:nvSpPr>
          <p:cNvPr id="5" name="TextBox 4">
            <a:extLst>
              <a:ext uri="{FF2B5EF4-FFF2-40B4-BE49-F238E27FC236}">
                <a16:creationId xmlns:a16="http://schemas.microsoft.com/office/drawing/2014/main" id="{00CEFC06-7D87-0FCD-5076-BFA5EE838265}"/>
              </a:ext>
            </a:extLst>
          </p:cNvPr>
          <p:cNvSpPr txBox="1"/>
          <p:nvPr/>
        </p:nvSpPr>
        <p:spPr>
          <a:xfrm>
            <a:off x="994279" y="5496664"/>
            <a:ext cx="11391684" cy="1572738"/>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Transient guests are the primary source of occupancy loss, accounting for 44% of all cancelled room nights.</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Although Full Board has the highest cancellation rate (88%), its volume is very small.</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The largest operational concern is Bed &amp; Breakfast bookings from Transient guests, which generate over 79,000 cancelled room nights and represent roughly 43% of all cancelled nights.</a:t>
            </a:r>
          </a:p>
          <a:p>
            <a:pPr marL="285750" indent="-285750">
              <a:buFont typeface="Arial" panose="020B0604020202020204" pitchFamily="34" charset="0"/>
              <a:buChar char="•"/>
            </a:pPr>
            <a:endParaRPr lang="en-SG" sz="1400" dirty="0"/>
          </a:p>
        </p:txBody>
      </p:sp>
      <p:graphicFrame>
        <p:nvGraphicFramePr>
          <p:cNvPr id="6" name="Table 5">
            <a:extLst>
              <a:ext uri="{FF2B5EF4-FFF2-40B4-BE49-F238E27FC236}">
                <a16:creationId xmlns:a16="http://schemas.microsoft.com/office/drawing/2014/main" id="{46E50EBB-992A-3C20-046E-9832C963D6B0}"/>
              </a:ext>
            </a:extLst>
          </p:cNvPr>
          <p:cNvGraphicFramePr>
            <a:graphicFrameLocks noGrp="1"/>
          </p:cNvGraphicFramePr>
          <p:nvPr>
            <p:extLst>
              <p:ext uri="{D42A27DB-BD31-4B8C-83A1-F6EECF244321}">
                <p14:modId xmlns:p14="http://schemas.microsoft.com/office/powerpoint/2010/main" val="2158293326"/>
              </p:ext>
            </p:extLst>
          </p:nvPr>
        </p:nvGraphicFramePr>
        <p:xfrm>
          <a:off x="994279" y="2122710"/>
          <a:ext cx="5109177" cy="1397455"/>
        </p:xfrm>
        <a:graphic>
          <a:graphicData uri="http://schemas.openxmlformats.org/drawingml/2006/table">
            <a:tbl>
              <a:tblPr firstRow="1" bandRow="1">
                <a:tableStyleId>{9D7B26C5-4107-4FEC-AEDC-1716B250A1EF}</a:tableStyleId>
              </a:tblPr>
              <a:tblGrid>
                <a:gridCol w="1703059">
                  <a:extLst>
                    <a:ext uri="{9D8B030D-6E8A-4147-A177-3AD203B41FA5}">
                      <a16:colId xmlns:a16="http://schemas.microsoft.com/office/drawing/2014/main" val="284288465"/>
                    </a:ext>
                  </a:extLst>
                </a:gridCol>
                <a:gridCol w="1703059">
                  <a:extLst>
                    <a:ext uri="{9D8B030D-6E8A-4147-A177-3AD203B41FA5}">
                      <a16:colId xmlns:a16="http://schemas.microsoft.com/office/drawing/2014/main" val="1677052884"/>
                    </a:ext>
                  </a:extLst>
                </a:gridCol>
                <a:gridCol w="1703059">
                  <a:extLst>
                    <a:ext uri="{9D8B030D-6E8A-4147-A177-3AD203B41FA5}">
                      <a16:colId xmlns:a16="http://schemas.microsoft.com/office/drawing/2014/main" val="3549636726"/>
                    </a:ext>
                  </a:extLst>
                </a:gridCol>
              </a:tblGrid>
              <a:tr h="279491">
                <a:tc>
                  <a:txBody>
                    <a:bodyPr/>
                    <a:lstStyle/>
                    <a:p>
                      <a:pPr>
                        <a:buNone/>
                      </a:pPr>
                      <a:r>
                        <a:rPr lang="en-SG" sz="1200"/>
                        <a:t>Meal Plan</a:t>
                      </a:r>
                    </a:p>
                  </a:txBody>
                  <a:tcPr anchor="ctr"/>
                </a:tc>
                <a:tc>
                  <a:txBody>
                    <a:bodyPr/>
                    <a:lstStyle/>
                    <a:p>
                      <a:pPr algn="r">
                        <a:buNone/>
                      </a:pPr>
                      <a:r>
                        <a:rPr lang="en-SG" sz="1200"/>
                        <a:t>Cancelled Nights</a:t>
                      </a:r>
                    </a:p>
                  </a:txBody>
                  <a:tcPr anchor="ctr"/>
                </a:tc>
                <a:tc>
                  <a:txBody>
                    <a:bodyPr/>
                    <a:lstStyle/>
                    <a:p>
                      <a:pPr algn="r">
                        <a:buNone/>
                      </a:pPr>
                      <a:r>
                        <a:rPr lang="en-SG" sz="1200"/>
                        <a:t>Cancellation %</a:t>
                      </a:r>
                    </a:p>
                  </a:txBody>
                  <a:tcPr anchor="ctr"/>
                </a:tc>
                <a:extLst>
                  <a:ext uri="{0D108BD9-81ED-4DB2-BD59-A6C34878D82A}">
                    <a16:rowId xmlns:a16="http://schemas.microsoft.com/office/drawing/2014/main" val="1528351720"/>
                  </a:ext>
                </a:extLst>
              </a:tr>
              <a:tr h="279491">
                <a:tc>
                  <a:txBody>
                    <a:bodyPr/>
                    <a:lstStyle/>
                    <a:p>
                      <a:pPr>
                        <a:buNone/>
                      </a:pPr>
                      <a:r>
                        <a:rPr lang="en-SG" sz="1200"/>
                        <a:t>Bed &amp; Breakfast</a:t>
                      </a:r>
                    </a:p>
                  </a:txBody>
                  <a:tcPr anchor="ctr"/>
                </a:tc>
                <a:tc>
                  <a:txBody>
                    <a:bodyPr/>
                    <a:lstStyle/>
                    <a:p>
                      <a:pPr algn="r">
                        <a:buNone/>
                      </a:pPr>
                      <a:r>
                        <a:rPr lang="en-SG" sz="1200"/>
                        <a:t>79,683</a:t>
                      </a:r>
                    </a:p>
                  </a:txBody>
                  <a:tcPr anchor="ctr"/>
                </a:tc>
                <a:tc>
                  <a:txBody>
                    <a:bodyPr/>
                    <a:lstStyle/>
                    <a:p>
                      <a:pPr algn="r">
                        <a:buNone/>
                      </a:pPr>
                      <a:r>
                        <a:rPr lang="en-SG" sz="1200"/>
                        <a:t>43%</a:t>
                      </a:r>
                    </a:p>
                  </a:txBody>
                  <a:tcPr anchor="ctr"/>
                </a:tc>
                <a:extLst>
                  <a:ext uri="{0D108BD9-81ED-4DB2-BD59-A6C34878D82A}">
                    <a16:rowId xmlns:a16="http://schemas.microsoft.com/office/drawing/2014/main" val="3216395416"/>
                  </a:ext>
                </a:extLst>
              </a:tr>
              <a:tr h="279491">
                <a:tc>
                  <a:txBody>
                    <a:bodyPr/>
                    <a:lstStyle/>
                    <a:p>
                      <a:pPr>
                        <a:buNone/>
                      </a:pPr>
                      <a:r>
                        <a:rPr lang="en-SG" sz="1200"/>
                        <a:t>Full Board</a:t>
                      </a:r>
                    </a:p>
                  </a:txBody>
                  <a:tcPr anchor="ctr"/>
                </a:tc>
                <a:tc>
                  <a:txBody>
                    <a:bodyPr/>
                    <a:lstStyle/>
                    <a:p>
                      <a:pPr algn="r">
                        <a:buNone/>
                      </a:pPr>
                      <a:r>
                        <a:rPr lang="en-SG" sz="1200"/>
                        <a:t>105</a:t>
                      </a:r>
                    </a:p>
                  </a:txBody>
                  <a:tcPr anchor="ctr"/>
                </a:tc>
                <a:tc>
                  <a:txBody>
                    <a:bodyPr/>
                    <a:lstStyle/>
                    <a:p>
                      <a:pPr algn="r">
                        <a:buNone/>
                      </a:pPr>
                      <a:r>
                        <a:rPr lang="en-SG" sz="1200"/>
                        <a:t>88%</a:t>
                      </a:r>
                    </a:p>
                  </a:txBody>
                  <a:tcPr anchor="ctr"/>
                </a:tc>
                <a:extLst>
                  <a:ext uri="{0D108BD9-81ED-4DB2-BD59-A6C34878D82A}">
                    <a16:rowId xmlns:a16="http://schemas.microsoft.com/office/drawing/2014/main" val="748727962"/>
                  </a:ext>
                </a:extLst>
              </a:tr>
              <a:tr h="279491">
                <a:tc>
                  <a:txBody>
                    <a:bodyPr/>
                    <a:lstStyle/>
                    <a:p>
                      <a:pPr>
                        <a:buNone/>
                      </a:pPr>
                      <a:r>
                        <a:rPr lang="en-SG" sz="1200"/>
                        <a:t>Half Board</a:t>
                      </a:r>
                    </a:p>
                  </a:txBody>
                  <a:tcPr anchor="ctr"/>
                </a:tc>
                <a:tc>
                  <a:txBody>
                    <a:bodyPr/>
                    <a:lstStyle/>
                    <a:p>
                      <a:pPr algn="r">
                        <a:buNone/>
                      </a:pPr>
                      <a:r>
                        <a:rPr lang="en-SG" sz="1200"/>
                        <a:t>6,468</a:t>
                      </a:r>
                    </a:p>
                  </a:txBody>
                  <a:tcPr anchor="ctr"/>
                </a:tc>
                <a:tc>
                  <a:txBody>
                    <a:bodyPr/>
                    <a:lstStyle/>
                    <a:p>
                      <a:pPr algn="r">
                        <a:buNone/>
                      </a:pPr>
                      <a:r>
                        <a:rPr lang="en-SG" sz="1200"/>
                        <a:t>38%</a:t>
                      </a:r>
                    </a:p>
                  </a:txBody>
                  <a:tcPr anchor="ctr"/>
                </a:tc>
                <a:extLst>
                  <a:ext uri="{0D108BD9-81ED-4DB2-BD59-A6C34878D82A}">
                    <a16:rowId xmlns:a16="http://schemas.microsoft.com/office/drawing/2014/main" val="665007523"/>
                  </a:ext>
                </a:extLst>
              </a:tr>
              <a:tr h="279491">
                <a:tc>
                  <a:txBody>
                    <a:bodyPr/>
                    <a:lstStyle/>
                    <a:p>
                      <a:pPr>
                        <a:buNone/>
                      </a:pPr>
                      <a:r>
                        <a:rPr lang="en-SG" sz="1200"/>
                        <a:t>Self-Catering</a:t>
                      </a:r>
                    </a:p>
                  </a:txBody>
                  <a:tcPr anchor="ctr"/>
                </a:tc>
                <a:tc>
                  <a:txBody>
                    <a:bodyPr/>
                    <a:lstStyle/>
                    <a:p>
                      <a:pPr algn="r">
                        <a:buNone/>
                      </a:pPr>
                      <a:r>
                        <a:rPr lang="en-SG" sz="1200" dirty="0"/>
                        <a:t>13,072</a:t>
                      </a:r>
                    </a:p>
                  </a:txBody>
                  <a:tcPr anchor="ctr"/>
                </a:tc>
                <a:tc>
                  <a:txBody>
                    <a:bodyPr/>
                    <a:lstStyle/>
                    <a:p>
                      <a:pPr algn="r">
                        <a:buNone/>
                      </a:pPr>
                      <a:r>
                        <a:rPr lang="en-SG" sz="1200" dirty="0"/>
                        <a:t>43%</a:t>
                      </a:r>
                    </a:p>
                  </a:txBody>
                  <a:tcPr anchor="ctr"/>
                </a:tc>
                <a:extLst>
                  <a:ext uri="{0D108BD9-81ED-4DB2-BD59-A6C34878D82A}">
                    <a16:rowId xmlns:a16="http://schemas.microsoft.com/office/drawing/2014/main" val="3101592037"/>
                  </a:ext>
                </a:extLst>
              </a:tr>
            </a:tbl>
          </a:graphicData>
        </a:graphic>
      </p:graphicFrame>
      <p:graphicFrame>
        <p:nvGraphicFramePr>
          <p:cNvPr id="7" name="Table 6">
            <a:extLst>
              <a:ext uri="{FF2B5EF4-FFF2-40B4-BE49-F238E27FC236}">
                <a16:creationId xmlns:a16="http://schemas.microsoft.com/office/drawing/2014/main" id="{7DD4E1A7-B957-3E63-A22A-1AC100075742}"/>
              </a:ext>
            </a:extLst>
          </p:cNvPr>
          <p:cNvGraphicFramePr>
            <a:graphicFrameLocks noGrp="1"/>
          </p:cNvGraphicFramePr>
          <p:nvPr>
            <p:extLst>
              <p:ext uri="{D42A27DB-BD31-4B8C-83A1-F6EECF244321}">
                <p14:modId xmlns:p14="http://schemas.microsoft.com/office/powerpoint/2010/main" val="3915677996"/>
              </p:ext>
            </p:extLst>
          </p:nvPr>
        </p:nvGraphicFramePr>
        <p:xfrm>
          <a:off x="994279" y="3623109"/>
          <a:ext cx="5109177" cy="1645920"/>
        </p:xfrm>
        <a:graphic>
          <a:graphicData uri="http://schemas.openxmlformats.org/drawingml/2006/table">
            <a:tbl>
              <a:tblPr firstRow="1" bandRow="1">
                <a:tableStyleId>{9D7B26C5-4107-4FEC-AEDC-1716B250A1EF}</a:tableStyleId>
              </a:tblPr>
              <a:tblGrid>
                <a:gridCol w="1703059">
                  <a:extLst>
                    <a:ext uri="{9D8B030D-6E8A-4147-A177-3AD203B41FA5}">
                      <a16:colId xmlns:a16="http://schemas.microsoft.com/office/drawing/2014/main" val="306981709"/>
                    </a:ext>
                  </a:extLst>
                </a:gridCol>
                <a:gridCol w="1703059">
                  <a:extLst>
                    <a:ext uri="{9D8B030D-6E8A-4147-A177-3AD203B41FA5}">
                      <a16:colId xmlns:a16="http://schemas.microsoft.com/office/drawing/2014/main" val="3610625953"/>
                    </a:ext>
                  </a:extLst>
                </a:gridCol>
                <a:gridCol w="1703059">
                  <a:extLst>
                    <a:ext uri="{9D8B030D-6E8A-4147-A177-3AD203B41FA5}">
                      <a16:colId xmlns:a16="http://schemas.microsoft.com/office/drawing/2014/main" val="2323396673"/>
                    </a:ext>
                  </a:extLst>
                </a:gridCol>
              </a:tblGrid>
              <a:tr h="231180">
                <a:tc>
                  <a:txBody>
                    <a:bodyPr/>
                    <a:lstStyle/>
                    <a:p>
                      <a:pPr>
                        <a:buNone/>
                      </a:pPr>
                      <a:r>
                        <a:rPr lang="en-SG" sz="1200"/>
                        <a:t>Customer Type</a:t>
                      </a:r>
                    </a:p>
                  </a:txBody>
                  <a:tcPr anchor="ctr"/>
                </a:tc>
                <a:tc>
                  <a:txBody>
                    <a:bodyPr/>
                    <a:lstStyle/>
                    <a:p>
                      <a:pPr algn="r">
                        <a:buNone/>
                      </a:pPr>
                      <a:r>
                        <a:rPr lang="en-SG" sz="1200"/>
                        <a:t>Cancelled Nights</a:t>
                      </a:r>
                    </a:p>
                  </a:txBody>
                  <a:tcPr anchor="ctr"/>
                </a:tc>
                <a:tc>
                  <a:txBody>
                    <a:bodyPr/>
                    <a:lstStyle/>
                    <a:p>
                      <a:pPr algn="r">
                        <a:buNone/>
                      </a:pPr>
                      <a:r>
                        <a:rPr lang="en-SG" sz="1200"/>
                        <a:t>Cancellation %</a:t>
                      </a:r>
                    </a:p>
                  </a:txBody>
                  <a:tcPr anchor="ctr"/>
                </a:tc>
                <a:extLst>
                  <a:ext uri="{0D108BD9-81ED-4DB2-BD59-A6C34878D82A}">
                    <a16:rowId xmlns:a16="http://schemas.microsoft.com/office/drawing/2014/main" val="513742276"/>
                  </a:ext>
                </a:extLst>
              </a:tr>
              <a:tr h="231180">
                <a:tc>
                  <a:txBody>
                    <a:bodyPr/>
                    <a:lstStyle/>
                    <a:p>
                      <a:pPr>
                        <a:buNone/>
                      </a:pPr>
                      <a:r>
                        <a:rPr lang="en-SG" sz="1200"/>
                        <a:t>Contract</a:t>
                      </a:r>
                    </a:p>
                  </a:txBody>
                  <a:tcPr anchor="ctr"/>
                </a:tc>
                <a:tc>
                  <a:txBody>
                    <a:bodyPr/>
                    <a:lstStyle/>
                    <a:p>
                      <a:pPr algn="r">
                        <a:buNone/>
                      </a:pPr>
                      <a:r>
                        <a:rPr lang="en-SG" sz="1200"/>
                        <a:t>2,814</a:t>
                      </a:r>
                    </a:p>
                  </a:txBody>
                  <a:tcPr anchor="ctr"/>
                </a:tc>
                <a:tc>
                  <a:txBody>
                    <a:bodyPr/>
                    <a:lstStyle/>
                    <a:p>
                      <a:pPr algn="r">
                        <a:buNone/>
                      </a:pPr>
                      <a:r>
                        <a:rPr lang="en-SG" sz="1200"/>
                        <a:t>44%</a:t>
                      </a:r>
                    </a:p>
                  </a:txBody>
                  <a:tcPr anchor="ctr"/>
                </a:tc>
                <a:extLst>
                  <a:ext uri="{0D108BD9-81ED-4DB2-BD59-A6C34878D82A}">
                    <a16:rowId xmlns:a16="http://schemas.microsoft.com/office/drawing/2014/main" val="1014888324"/>
                  </a:ext>
                </a:extLst>
              </a:tr>
              <a:tr h="231180">
                <a:tc>
                  <a:txBody>
                    <a:bodyPr/>
                    <a:lstStyle/>
                    <a:p>
                      <a:pPr>
                        <a:buNone/>
                      </a:pPr>
                      <a:r>
                        <a:rPr lang="en-SG" sz="1200"/>
                        <a:t>Group</a:t>
                      </a:r>
                    </a:p>
                  </a:txBody>
                  <a:tcPr anchor="ctr"/>
                </a:tc>
                <a:tc>
                  <a:txBody>
                    <a:bodyPr/>
                    <a:lstStyle/>
                    <a:p>
                      <a:pPr algn="r">
                        <a:buNone/>
                      </a:pPr>
                      <a:r>
                        <a:rPr lang="en-SG" sz="1200"/>
                        <a:t>52</a:t>
                      </a:r>
                    </a:p>
                  </a:txBody>
                  <a:tcPr anchor="ctr"/>
                </a:tc>
                <a:tc>
                  <a:txBody>
                    <a:bodyPr/>
                    <a:lstStyle/>
                    <a:p>
                      <a:pPr algn="r">
                        <a:buNone/>
                      </a:pPr>
                      <a:r>
                        <a:rPr lang="en-SG" sz="1200"/>
                        <a:t>7%</a:t>
                      </a:r>
                    </a:p>
                  </a:txBody>
                  <a:tcPr anchor="ctr"/>
                </a:tc>
                <a:extLst>
                  <a:ext uri="{0D108BD9-81ED-4DB2-BD59-A6C34878D82A}">
                    <a16:rowId xmlns:a16="http://schemas.microsoft.com/office/drawing/2014/main" val="855541439"/>
                  </a:ext>
                </a:extLst>
              </a:tr>
              <a:tr h="231180">
                <a:tc>
                  <a:txBody>
                    <a:bodyPr/>
                    <a:lstStyle/>
                    <a:p>
                      <a:pPr>
                        <a:buNone/>
                      </a:pPr>
                      <a:r>
                        <a:rPr lang="en-SG" sz="1200"/>
                        <a:t>Transient</a:t>
                      </a:r>
                    </a:p>
                  </a:txBody>
                  <a:tcPr anchor="ctr"/>
                </a:tc>
                <a:tc>
                  <a:txBody>
                    <a:bodyPr/>
                    <a:lstStyle/>
                    <a:p>
                      <a:pPr algn="r">
                        <a:buNone/>
                      </a:pPr>
                      <a:r>
                        <a:rPr lang="en-SG" sz="1200"/>
                        <a:t>83,876</a:t>
                      </a:r>
                    </a:p>
                  </a:txBody>
                  <a:tcPr anchor="ctr"/>
                </a:tc>
                <a:tc>
                  <a:txBody>
                    <a:bodyPr/>
                    <a:lstStyle/>
                    <a:p>
                      <a:pPr algn="r">
                        <a:buNone/>
                      </a:pPr>
                      <a:r>
                        <a:rPr lang="en-SG" sz="1200"/>
                        <a:t>47%</a:t>
                      </a:r>
                    </a:p>
                  </a:txBody>
                  <a:tcPr anchor="ctr"/>
                </a:tc>
                <a:extLst>
                  <a:ext uri="{0D108BD9-81ED-4DB2-BD59-A6C34878D82A}">
                    <a16:rowId xmlns:a16="http://schemas.microsoft.com/office/drawing/2014/main" val="3509111192"/>
                  </a:ext>
                </a:extLst>
              </a:tr>
              <a:tr h="231180">
                <a:tc>
                  <a:txBody>
                    <a:bodyPr/>
                    <a:lstStyle/>
                    <a:p>
                      <a:pPr>
                        <a:buNone/>
                      </a:pPr>
                      <a:r>
                        <a:rPr lang="en-SG" sz="1200"/>
                        <a:t>Transient-Party</a:t>
                      </a:r>
                    </a:p>
                  </a:txBody>
                  <a:tcPr anchor="ctr"/>
                </a:tc>
                <a:tc>
                  <a:txBody>
                    <a:bodyPr/>
                    <a:lstStyle/>
                    <a:p>
                      <a:pPr algn="r">
                        <a:buNone/>
                      </a:pPr>
                      <a:r>
                        <a:rPr lang="en-SG" sz="1200"/>
                        <a:t>12,586</a:t>
                      </a:r>
                    </a:p>
                  </a:txBody>
                  <a:tcPr anchor="ctr"/>
                </a:tc>
                <a:tc>
                  <a:txBody>
                    <a:bodyPr/>
                    <a:lstStyle/>
                    <a:p>
                      <a:pPr algn="r">
                        <a:buNone/>
                      </a:pPr>
                      <a:r>
                        <a:rPr lang="en-SG" sz="1200"/>
                        <a:t>27%</a:t>
                      </a:r>
                    </a:p>
                  </a:txBody>
                  <a:tcPr anchor="ctr"/>
                </a:tc>
                <a:extLst>
                  <a:ext uri="{0D108BD9-81ED-4DB2-BD59-A6C34878D82A}">
                    <a16:rowId xmlns:a16="http://schemas.microsoft.com/office/drawing/2014/main" val="3467540811"/>
                  </a:ext>
                </a:extLst>
              </a:tr>
              <a:tr h="231180">
                <a:tc>
                  <a:txBody>
                    <a:bodyPr/>
                    <a:lstStyle/>
                    <a:p>
                      <a:pPr>
                        <a:buNone/>
                      </a:pPr>
                      <a:r>
                        <a:rPr lang="en-SG" sz="1200" b="1"/>
                        <a:t>Total</a:t>
                      </a:r>
                      <a:endParaRPr lang="en-SG" sz="1200"/>
                    </a:p>
                  </a:txBody>
                  <a:tcPr anchor="ctr"/>
                </a:tc>
                <a:tc>
                  <a:txBody>
                    <a:bodyPr/>
                    <a:lstStyle/>
                    <a:p>
                      <a:pPr algn="r">
                        <a:buNone/>
                      </a:pPr>
                      <a:r>
                        <a:rPr lang="en-SG" sz="1200" b="1" dirty="0"/>
                        <a:t>99,328</a:t>
                      </a:r>
                      <a:endParaRPr lang="en-SG" sz="1200" dirty="0"/>
                    </a:p>
                  </a:txBody>
                  <a:tcPr anchor="ctr"/>
                </a:tc>
                <a:tc>
                  <a:txBody>
                    <a:bodyPr/>
                    <a:lstStyle/>
                    <a:p>
                      <a:pPr algn="r">
                        <a:buNone/>
                      </a:pPr>
                      <a:r>
                        <a:rPr lang="en-SG" sz="1200" b="1" dirty="0"/>
                        <a:t>43%</a:t>
                      </a:r>
                      <a:endParaRPr lang="en-SG" sz="1200" dirty="0"/>
                    </a:p>
                  </a:txBody>
                  <a:tcPr anchor="ctr"/>
                </a:tc>
                <a:extLst>
                  <a:ext uri="{0D108BD9-81ED-4DB2-BD59-A6C34878D82A}">
                    <a16:rowId xmlns:a16="http://schemas.microsoft.com/office/drawing/2014/main" val="1134673091"/>
                  </a:ext>
                </a:extLst>
              </a:tr>
            </a:tbl>
          </a:graphicData>
        </a:graphic>
      </p:graphicFrame>
      <p:graphicFrame>
        <p:nvGraphicFramePr>
          <p:cNvPr id="13" name="Chart 12">
            <a:extLst>
              <a:ext uri="{FF2B5EF4-FFF2-40B4-BE49-F238E27FC236}">
                <a16:creationId xmlns:a16="http://schemas.microsoft.com/office/drawing/2014/main" id="{88E2577F-77A0-7945-925D-4C82C9F93979}"/>
              </a:ext>
            </a:extLst>
          </p:cNvPr>
          <p:cNvGraphicFramePr>
            <a:graphicFrameLocks/>
          </p:cNvGraphicFramePr>
          <p:nvPr>
            <p:extLst>
              <p:ext uri="{D42A27DB-BD31-4B8C-83A1-F6EECF244321}">
                <p14:modId xmlns:p14="http://schemas.microsoft.com/office/powerpoint/2010/main" val="2733906068"/>
              </p:ext>
            </p:extLst>
          </p:nvPr>
        </p:nvGraphicFramePr>
        <p:xfrm>
          <a:off x="6204119" y="2033165"/>
          <a:ext cx="5572245" cy="323586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62968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12739B6B-5596-DBBF-E4CF-E5A69D80907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5F93E12-5168-2F3E-2715-4CA81E34C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17746B2-4A15-1BA0-09B1-9B421DBAD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C053D4D-3F0B-7953-1596-0AAD1B9CEF4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93AB96FB-23AD-CAD2-32C4-9266F3E1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800A6BA-7E33-8CE9-189A-681DBA4F76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4CAF81B1-1D6C-5AD9-719A-B10EEAE66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EAD49C5-E0D7-F747-67A2-FEE22721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15FEC776-1F54-A07B-2E09-553B83AC5F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1AFA720D-B7AD-8B13-0992-F2F76C2A99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40F1B07-AF69-F5B2-C438-B7432ED95BAF}"/>
              </a:ext>
            </a:extLst>
          </p:cNvPr>
          <p:cNvSpPr txBox="1"/>
          <p:nvPr/>
        </p:nvSpPr>
        <p:spPr>
          <a:xfrm>
            <a:off x="1206736" y="4259658"/>
            <a:ext cx="10803059" cy="1840697"/>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Guests who make more special requests are actually more likely to cancel their stay. If they find a better deal elsewhere or their vacation plans change, they cancel.</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err="1"/>
              <a:t>Is_same_room</a:t>
            </a:r>
            <a:r>
              <a:rPr lang="en-SG" sz="1400" dirty="0"/>
              <a:t> 0.11 correlation indicates that when guests get assigned the exact room type they reserved, there is a slight upward trend in cancellations, which could be tied to rigid bookings that lack flexibility.</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The negative sign means an inverse relationship. Surprisingly, guests who have a history of a previous cancellation are less likely to cancel this specific booking. They appear highly committed to making the trip happen this time around</a:t>
            </a:r>
            <a:r>
              <a:rPr lang="en-SG" dirty="0"/>
              <a:t>.</a:t>
            </a:r>
          </a:p>
        </p:txBody>
      </p:sp>
      <p:sp>
        <p:nvSpPr>
          <p:cNvPr id="3" name="Title 1">
            <a:extLst>
              <a:ext uri="{FF2B5EF4-FFF2-40B4-BE49-F238E27FC236}">
                <a16:creationId xmlns:a16="http://schemas.microsoft.com/office/drawing/2014/main" id="{8CA5FB8A-E71E-E7A2-CB82-DC5F4007CB74}"/>
              </a:ext>
            </a:extLst>
          </p:cNvPr>
          <p:cNvSpPr txBox="1">
            <a:spLocks/>
          </p:cNvSpPr>
          <p:nvPr/>
        </p:nvSpPr>
        <p:spPr>
          <a:xfrm>
            <a:off x="994279" y="223754"/>
            <a:ext cx="7166048"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Cancellation &amp; Others Relationship Analysis</a:t>
            </a:r>
          </a:p>
          <a:p>
            <a:pPr algn="l"/>
            <a:endParaRPr lang="en-US" sz="2800" dirty="0"/>
          </a:p>
        </p:txBody>
      </p:sp>
      <p:graphicFrame>
        <p:nvGraphicFramePr>
          <p:cNvPr id="4" name="Table 3">
            <a:extLst>
              <a:ext uri="{FF2B5EF4-FFF2-40B4-BE49-F238E27FC236}">
                <a16:creationId xmlns:a16="http://schemas.microsoft.com/office/drawing/2014/main" id="{1516129E-4BD3-455F-380B-D6A47703BD38}"/>
              </a:ext>
            </a:extLst>
          </p:cNvPr>
          <p:cNvGraphicFramePr>
            <a:graphicFrameLocks noGrp="1"/>
          </p:cNvGraphicFramePr>
          <p:nvPr>
            <p:extLst>
              <p:ext uri="{D42A27DB-BD31-4B8C-83A1-F6EECF244321}">
                <p14:modId xmlns:p14="http://schemas.microsoft.com/office/powerpoint/2010/main" val="2938427817"/>
              </p:ext>
            </p:extLst>
          </p:nvPr>
        </p:nvGraphicFramePr>
        <p:xfrm>
          <a:off x="2492665" y="918513"/>
          <a:ext cx="6257930" cy="3016885"/>
        </p:xfrm>
        <a:graphic>
          <a:graphicData uri="http://schemas.openxmlformats.org/drawingml/2006/table">
            <a:tbl>
              <a:tblPr firstRow="1" bandRow="1">
                <a:tableStyleId>{3B4B98B0-60AC-42C2-AFA5-B58CD77FA1E5}</a:tableStyleId>
              </a:tblPr>
              <a:tblGrid>
                <a:gridCol w="1782864">
                  <a:extLst>
                    <a:ext uri="{9D8B030D-6E8A-4147-A177-3AD203B41FA5}">
                      <a16:colId xmlns:a16="http://schemas.microsoft.com/office/drawing/2014/main" val="126115073"/>
                    </a:ext>
                  </a:extLst>
                </a:gridCol>
                <a:gridCol w="1997680">
                  <a:extLst>
                    <a:ext uri="{9D8B030D-6E8A-4147-A177-3AD203B41FA5}">
                      <a16:colId xmlns:a16="http://schemas.microsoft.com/office/drawing/2014/main" val="4272779223"/>
                    </a:ext>
                  </a:extLst>
                </a:gridCol>
                <a:gridCol w="1455318">
                  <a:extLst>
                    <a:ext uri="{9D8B030D-6E8A-4147-A177-3AD203B41FA5}">
                      <a16:colId xmlns:a16="http://schemas.microsoft.com/office/drawing/2014/main" val="237016963"/>
                    </a:ext>
                  </a:extLst>
                </a:gridCol>
                <a:gridCol w="1022068">
                  <a:extLst>
                    <a:ext uri="{9D8B030D-6E8A-4147-A177-3AD203B41FA5}">
                      <a16:colId xmlns:a16="http://schemas.microsoft.com/office/drawing/2014/main" val="1469399392"/>
                    </a:ext>
                  </a:extLst>
                </a:gridCol>
              </a:tblGrid>
              <a:tr h="87489">
                <a:tc>
                  <a:txBody>
                    <a:bodyPr/>
                    <a:lstStyle/>
                    <a:p>
                      <a:pPr algn="l" fontAlgn="b">
                        <a:buNone/>
                      </a:pPr>
                      <a:endParaRPr lang="en-SG" sz="1200" b="0" i="0" u="none" strike="noStrike" dirty="0">
                        <a:solidFill>
                          <a:schemeClr val="tx1"/>
                        </a:solidFill>
                        <a:effectLst/>
                        <a:latin typeface="+mn-lt"/>
                      </a:endParaRPr>
                    </a:p>
                  </a:txBody>
                  <a:tcPr marL="9525" marR="9525" marT="9525" marB="0" anchor="ctr"/>
                </a:tc>
                <a:tc>
                  <a:txBody>
                    <a:bodyPr/>
                    <a:lstStyle/>
                    <a:p>
                      <a:pPr algn="l" fontAlgn="b">
                        <a:buNone/>
                      </a:pPr>
                      <a:endParaRPr lang="en-SG" sz="1200" b="0" i="0" u="none" strike="noStrike" dirty="0">
                        <a:solidFill>
                          <a:schemeClr val="tx1"/>
                        </a:solidFill>
                        <a:effectLst/>
                        <a:latin typeface="+mn-lt"/>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SG" sz="1200" b="0" u="none" strike="noStrike" dirty="0">
                          <a:solidFill>
                            <a:schemeClr val="tx1"/>
                          </a:solidFill>
                          <a:effectLst/>
                        </a:rPr>
                        <a:t>Covariance (COVARIANCE.S)</a:t>
                      </a:r>
                      <a:endParaRPr lang="en-SG" sz="1200" b="0" i="0" u="none" strike="noStrike" dirty="0">
                        <a:solidFill>
                          <a:schemeClr val="tx1"/>
                        </a:solidFill>
                        <a:effectLst/>
                        <a:latin typeface="+mn-lt"/>
                      </a:endParaRPr>
                    </a:p>
                  </a:txBody>
                  <a:tcPr marL="9525" marR="9525" marT="9525" marB="0" anchor="ctr"/>
                </a:tc>
                <a:tc>
                  <a:txBody>
                    <a:bodyPr/>
                    <a:lstStyle/>
                    <a:p>
                      <a:pPr algn="ctr" fontAlgn="b">
                        <a:buNone/>
                      </a:pPr>
                      <a:r>
                        <a:rPr lang="en-SG" sz="1200" b="0" i="0" u="none" strike="noStrike" dirty="0">
                          <a:solidFill>
                            <a:schemeClr val="tx1"/>
                          </a:solidFill>
                          <a:effectLst/>
                          <a:latin typeface="+mn-lt"/>
                        </a:rPr>
                        <a:t>Correlation</a:t>
                      </a:r>
                    </a:p>
                    <a:p>
                      <a:pPr algn="ctr" fontAlgn="b">
                        <a:buNone/>
                      </a:pPr>
                      <a:r>
                        <a:rPr lang="en-SG" sz="1200" b="0" i="0" u="none" strike="noStrike" dirty="0">
                          <a:solidFill>
                            <a:schemeClr val="tx1"/>
                          </a:solidFill>
                          <a:effectLst/>
                          <a:latin typeface="+mn-lt"/>
                        </a:rPr>
                        <a:t>(CORREL)</a:t>
                      </a:r>
                    </a:p>
                  </a:txBody>
                  <a:tcPr marL="9525" marR="9525" marT="9525" marB="0" anchor="ctr"/>
                </a:tc>
                <a:extLst>
                  <a:ext uri="{0D108BD9-81ED-4DB2-BD59-A6C34878D82A}">
                    <a16:rowId xmlns:a16="http://schemas.microsoft.com/office/drawing/2014/main" val="1036094617"/>
                  </a:ext>
                </a:extLst>
              </a:tr>
              <a:tr h="203200">
                <a:tc>
                  <a:txBody>
                    <a:bodyPr/>
                    <a:lstStyle/>
                    <a:p>
                      <a:pPr algn="l" fontAlgn="b">
                        <a:buNone/>
                      </a:pPr>
                      <a:r>
                        <a:rPr lang="en-SG" sz="1200" b="0" u="none" strike="noStrike" dirty="0">
                          <a:solidFill>
                            <a:schemeClr val="tx1"/>
                          </a:solidFill>
                          <a:effectLst/>
                        </a:rPr>
                        <a:t>Is Cancelled</a:t>
                      </a:r>
                      <a:endParaRPr lang="en-SG" sz="1200" b="0" i="0" u="none" strike="noStrike" dirty="0">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total_nights</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0.09</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0.07</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987566880"/>
                  </a:ext>
                </a:extLst>
              </a:tr>
              <a:tr h="203200">
                <a:tc>
                  <a:txBody>
                    <a:bodyPr/>
                    <a:lstStyle/>
                    <a:p>
                      <a:pPr algn="l" fontAlgn="b">
                        <a:buNone/>
                      </a:pPr>
                      <a:r>
                        <a:rPr lang="en-SG" sz="1200" b="0" u="none" strike="noStrike" dirty="0">
                          <a:solidFill>
                            <a:schemeClr val="tx1"/>
                          </a:solidFill>
                          <a:effectLst/>
                        </a:rPr>
                        <a:t>Is Cancelled</a:t>
                      </a:r>
                      <a:endParaRPr lang="en-SG" sz="1200" b="0" i="0" u="none" strike="noStrike" dirty="0">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total_booking_changes</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0.01</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0.03</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836875354"/>
                  </a:ext>
                </a:extLst>
              </a:tr>
              <a:tr h="203200">
                <a:tc>
                  <a:txBody>
                    <a:bodyPr/>
                    <a:lstStyle/>
                    <a:p>
                      <a:pPr algn="l" fontAlgn="b">
                        <a:buNone/>
                      </a:pPr>
                      <a:r>
                        <a:rPr lang="en-SG" sz="1200" b="0" u="none" strike="noStrike" dirty="0">
                          <a:solidFill>
                            <a:schemeClr val="tx1"/>
                          </a:solidFill>
                          <a:effectLst/>
                        </a:rPr>
                        <a:t>Is Cancelled</a:t>
                      </a:r>
                      <a:endParaRPr lang="en-SG" sz="1200" b="0" i="0" u="none" strike="noStrike" dirty="0">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total_special_requests</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0.07</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0.14</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369693064"/>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total_adults</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0.06</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446000136"/>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total_childs</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0.01</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0.04</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076562215"/>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total_babies</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-0.01</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336603670"/>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is_family</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0.01</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0.04</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876511182"/>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is_repeated_guest</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-0.03</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960823791"/>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previouous_cancellation</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-0.06</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-0.19</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441709775"/>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previouous_non_cancellation</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0.03</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0.02</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54887681"/>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required car parking</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0.00</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886049953"/>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is_same_room</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0.11</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985047712"/>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days_in_waiting</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-0.98</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-0.07</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028808897"/>
                  </a:ext>
                </a:extLst>
              </a:tr>
            </a:tbl>
          </a:graphicData>
        </a:graphic>
      </p:graphicFrame>
    </p:spTree>
    <p:extLst>
      <p:ext uri="{BB962C8B-B14F-4D97-AF65-F5344CB8AC3E}">
        <p14:creationId xmlns:p14="http://schemas.microsoft.com/office/powerpoint/2010/main" val="1464226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CF31E57B-8552-47DB-D8AF-B649AF04B3B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91C9F4-F625-9717-A13B-31DD0996C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DB58A6-9CB3-BDBB-8CA4-AA6DB12FB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5AFFFE4-2446-17E7-7032-7B2747FA98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62A71D69-3B8F-041B-DD7B-16D89B0F78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329653CE-6D31-4988-26A7-AB9E506CFA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5A2A9522-9E19-E3D7-DEDE-EB03F42BC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757F354-0859-350F-E5E5-5CAF907CD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AD343C95-40B7-BEF9-8985-E682F83B9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1ABD74C1-5DD6-3472-F261-84D90B896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AF0EA0-D711-DC8A-F851-78F779C621BD}"/>
              </a:ext>
            </a:extLst>
          </p:cNvPr>
          <p:cNvSpPr txBox="1">
            <a:spLocks/>
          </p:cNvSpPr>
          <p:nvPr/>
        </p:nvSpPr>
        <p:spPr>
          <a:xfrm>
            <a:off x="994279" y="223754"/>
            <a:ext cx="6130421" cy="589046"/>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Cancellation Risks Weight</a:t>
            </a:r>
          </a:p>
        </p:txBody>
      </p:sp>
      <p:sp>
        <p:nvSpPr>
          <p:cNvPr id="3" name="TextBox 2">
            <a:extLst>
              <a:ext uri="{FF2B5EF4-FFF2-40B4-BE49-F238E27FC236}">
                <a16:creationId xmlns:a16="http://schemas.microsoft.com/office/drawing/2014/main" id="{B2144836-9052-0416-E557-DC81542CC6C8}"/>
              </a:ext>
            </a:extLst>
          </p:cNvPr>
          <p:cNvSpPr txBox="1"/>
          <p:nvPr/>
        </p:nvSpPr>
        <p:spPr>
          <a:xfrm>
            <a:off x="959909" y="3455835"/>
            <a:ext cx="10169013" cy="3010889"/>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Low Risk (0 – 4 Points)</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Moderate Risk (5 – 11 Points) → Monitor: Bookings driven by timing (Long Lead Time + Peak Quarters) </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High Risk (12– 20 Points) → Action Required: These bookings have an incredibly high probability of cancelling.</a:t>
            </a:r>
          </a:p>
          <a:p>
            <a:pPr defTabSz="914400">
              <a:lnSpc>
                <a:spcPct val="120000"/>
              </a:lnSpc>
              <a:spcAft>
                <a:spcPts val="600"/>
              </a:spcAft>
              <a:buClr>
                <a:schemeClr val="accent6"/>
              </a:buClr>
              <a:buSzPct val="90000"/>
            </a:pPr>
            <a:endParaRPr lang="en-SG" sz="1400" dirty="0"/>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Based on the risk points, calculate the expected cancellation rooms and allow over booking.</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Expected cancellation rate = Hotel Cancellation Rate × Lift  -&gt; </a:t>
            </a:r>
            <a:r>
              <a:rPr lang="en-SG" sz="1400" dirty="0" err="1"/>
              <a:t>Eg.</a:t>
            </a:r>
            <a:r>
              <a:rPr lang="en-SG" sz="1400" dirty="0"/>
              <a:t> 40% x 1.03 x 100 = 41.2% -&gt; Safety Factor = 59%</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Expected cancellations rooms = (number of booked rooms x Expected cancellation rate)</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Safe overbooking rooms  = Expected cancellations rooms  x  Safety Factor</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Overbooking percentage = (Safe overbooking rooms / total available rooms ) x 100</a:t>
            </a:r>
          </a:p>
        </p:txBody>
      </p:sp>
      <p:sp>
        <p:nvSpPr>
          <p:cNvPr id="4" name="TextBox 3">
            <a:extLst>
              <a:ext uri="{FF2B5EF4-FFF2-40B4-BE49-F238E27FC236}">
                <a16:creationId xmlns:a16="http://schemas.microsoft.com/office/drawing/2014/main" id="{C1146722-F968-2EA9-CC88-DDCECED717F6}"/>
              </a:ext>
            </a:extLst>
          </p:cNvPr>
          <p:cNvSpPr txBox="1"/>
          <p:nvPr/>
        </p:nvSpPr>
        <p:spPr>
          <a:xfrm>
            <a:off x="8407233" y="1076522"/>
            <a:ext cx="3197096" cy="1896545"/>
          </a:xfrm>
          <a:prstGeom prst="rect">
            <a:avLst/>
          </a:prstGeom>
          <a:noFill/>
        </p:spPr>
        <p:txBody>
          <a:bodyPr wrap="square" rtlCol="0">
            <a:spAutoFit/>
          </a:bodyPr>
          <a:lstStyle/>
          <a:p>
            <a:pPr defTabSz="914400">
              <a:lnSpc>
                <a:spcPct val="120000"/>
              </a:lnSpc>
              <a:spcAft>
                <a:spcPts val="600"/>
              </a:spcAft>
              <a:buClr>
                <a:schemeClr val="accent6"/>
              </a:buClr>
              <a:buSzPct val="90000"/>
            </a:pPr>
            <a:r>
              <a:rPr lang="en-SG" sz="1050" dirty="0"/>
              <a:t>* Lift was calculated by dividing the cancellation rate of each factor by the hotel's overall cancellation rate of 40%.</a:t>
            </a:r>
          </a:p>
          <a:p>
            <a:pPr defTabSz="914400">
              <a:lnSpc>
                <a:spcPct val="120000"/>
              </a:lnSpc>
              <a:spcAft>
                <a:spcPts val="600"/>
              </a:spcAft>
              <a:buClr>
                <a:schemeClr val="accent6"/>
              </a:buClr>
              <a:buSzPct val="90000"/>
            </a:pPr>
            <a:r>
              <a:rPr lang="en-SG" sz="1050" dirty="0"/>
              <a:t>* Risk points were derived from lift values using a linear transformation. The baseline lift of 1.0 represents average cancellation risk and was multiplied by a scaling constant of 40 to convert relative risk into an interpretable 0–20 scoring framework.</a:t>
            </a:r>
          </a:p>
        </p:txBody>
      </p:sp>
      <p:graphicFrame>
        <p:nvGraphicFramePr>
          <p:cNvPr id="5" name="Table 4">
            <a:extLst>
              <a:ext uri="{FF2B5EF4-FFF2-40B4-BE49-F238E27FC236}">
                <a16:creationId xmlns:a16="http://schemas.microsoft.com/office/drawing/2014/main" id="{3106BC7B-28F0-B219-CBB9-1E618DF34C92}"/>
              </a:ext>
            </a:extLst>
          </p:cNvPr>
          <p:cNvGraphicFramePr>
            <a:graphicFrameLocks noGrp="1"/>
          </p:cNvGraphicFramePr>
          <p:nvPr>
            <p:extLst>
              <p:ext uri="{D42A27DB-BD31-4B8C-83A1-F6EECF244321}">
                <p14:modId xmlns:p14="http://schemas.microsoft.com/office/powerpoint/2010/main" val="3010125473"/>
              </p:ext>
            </p:extLst>
          </p:nvPr>
        </p:nvGraphicFramePr>
        <p:xfrm>
          <a:off x="1003266" y="1008795"/>
          <a:ext cx="7061199" cy="2032000"/>
        </p:xfrm>
        <a:graphic>
          <a:graphicData uri="http://schemas.openxmlformats.org/drawingml/2006/table">
            <a:tbl>
              <a:tblPr firstRow="1" bandRow="1">
                <a:tableStyleId>{9D7B26C5-4107-4FEC-AEDC-1716B250A1EF}</a:tableStyleId>
              </a:tblPr>
              <a:tblGrid>
                <a:gridCol w="2046035">
                  <a:extLst>
                    <a:ext uri="{9D8B030D-6E8A-4147-A177-3AD203B41FA5}">
                      <a16:colId xmlns:a16="http://schemas.microsoft.com/office/drawing/2014/main" val="3282721709"/>
                    </a:ext>
                  </a:extLst>
                </a:gridCol>
                <a:gridCol w="1560696">
                  <a:extLst>
                    <a:ext uri="{9D8B030D-6E8A-4147-A177-3AD203B41FA5}">
                      <a16:colId xmlns:a16="http://schemas.microsoft.com/office/drawing/2014/main" val="2952680070"/>
                    </a:ext>
                  </a:extLst>
                </a:gridCol>
                <a:gridCol w="1180039">
                  <a:extLst>
                    <a:ext uri="{9D8B030D-6E8A-4147-A177-3AD203B41FA5}">
                      <a16:colId xmlns:a16="http://schemas.microsoft.com/office/drawing/2014/main" val="981451139"/>
                    </a:ext>
                  </a:extLst>
                </a:gridCol>
                <a:gridCol w="1103907">
                  <a:extLst>
                    <a:ext uri="{9D8B030D-6E8A-4147-A177-3AD203B41FA5}">
                      <a16:colId xmlns:a16="http://schemas.microsoft.com/office/drawing/2014/main" val="1474605889"/>
                    </a:ext>
                  </a:extLst>
                </a:gridCol>
                <a:gridCol w="1170522">
                  <a:extLst>
                    <a:ext uri="{9D8B030D-6E8A-4147-A177-3AD203B41FA5}">
                      <a16:colId xmlns:a16="http://schemas.microsoft.com/office/drawing/2014/main" val="689345875"/>
                    </a:ext>
                  </a:extLst>
                </a:gridCol>
              </a:tblGrid>
              <a:tr h="203200">
                <a:tc>
                  <a:txBody>
                    <a:bodyPr/>
                    <a:lstStyle/>
                    <a:p>
                      <a:pPr algn="ctr" fontAlgn="b">
                        <a:buNone/>
                      </a:pPr>
                      <a:r>
                        <a:rPr lang="en-SG" sz="1200" b="0" u="none" strike="noStrike">
                          <a:solidFill>
                            <a:schemeClr val="tx1"/>
                          </a:solidFill>
                          <a:effectLst/>
                        </a:rPr>
                        <a:t>Total Cancellation %</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40%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ctr" fontAlgn="b">
                        <a:buNone/>
                      </a:pPr>
                      <a:r>
                        <a:rPr lang="en-SG" sz="1200" b="0" u="none" strike="noStrike">
                          <a:solidFill>
                            <a:schemeClr val="tx1"/>
                          </a:solidFill>
                          <a:effectLst/>
                        </a:rPr>
                        <a:t>Cancellation %</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ctr" fontAlgn="b">
                        <a:buNone/>
                      </a:pPr>
                      <a:r>
                        <a:rPr lang="en-SG" sz="1200" b="0" u="none" strike="noStrike">
                          <a:solidFill>
                            <a:schemeClr val="tx1"/>
                          </a:solidFill>
                          <a:effectLst/>
                        </a:rPr>
                        <a:t>Lift</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ctr" fontAlgn="b">
                        <a:buNone/>
                      </a:pPr>
                      <a:r>
                        <a:rPr lang="en-SG" sz="1200" b="0" u="none" strike="noStrike">
                          <a:solidFill>
                            <a:schemeClr val="tx1"/>
                          </a:solidFill>
                          <a:effectLst/>
                        </a:rPr>
                        <a:t>Risks Points</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546503507"/>
                  </a:ext>
                </a:extLst>
              </a:tr>
              <a:tr h="203200">
                <a:tc>
                  <a:txBody>
                    <a:bodyPr/>
                    <a:lstStyle/>
                    <a:p>
                      <a:pPr algn="l" fontAlgn="b">
                        <a:buNone/>
                      </a:pPr>
                      <a:r>
                        <a:rPr lang="en-SG" sz="1200" b="0" u="none" strike="noStrike" dirty="0">
                          <a:solidFill>
                            <a:schemeClr val="tx1"/>
                          </a:solidFill>
                          <a:effectLst/>
                        </a:rPr>
                        <a:t>Lead Time</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dirty="0">
                          <a:solidFill>
                            <a:schemeClr val="tx1"/>
                          </a:solidFill>
                          <a:effectLst/>
                        </a:rPr>
                        <a:t>Above </a:t>
                      </a:r>
                      <a:r>
                        <a:rPr lang="en-SG" sz="1200" b="0" u="none" strike="noStrike" dirty="0" err="1">
                          <a:solidFill>
                            <a:schemeClr val="tx1"/>
                          </a:solidFill>
                          <a:effectLst/>
                        </a:rPr>
                        <a:t>Avg</a:t>
                      </a:r>
                      <a:r>
                        <a:rPr lang="en-SG" sz="1200" b="0" u="none" strike="noStrike" dirty="0">
                          <a:solidFill>
                            <a:schemeClr val="tx1"/>
                          </a:solidFill>
                          <a:effectLst/>
                        </a:rPr>
                        <a:t> 150</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61.5%</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1.54</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21</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430915069"/>
                  </a:ext>
                </a:extLst>
              </a:tr>
              <a:tr h="203200">
                <a:tc>
                  <a:txBody>
                    <a:bodyPr/>
                    <a:lstStyle/>
                    <a:p>
                      <a:pPr algn="l" fontAlgn="b">
                        <a:buNone/>
                      </a:pPr>
                      <a:r>
                        <a:rPr lang="en-SG" sz="1200" b="0" u="none" strike="noStrike">
                          <a:solidFill>
                            <a:schemeClr val="tx1"/>
                          </a:solidFill>
                          <a:effectLst/>
                        </a:rPr>
                        <a:t>Customer Type</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dirty="0">
                          <a:solidFill>
                            <a:schemeClr val="tx1"/>
                          </a:solidFill>
                          <a:effectLst/>
                        </a:rPr>
                        <a:t>Transient</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45.7%</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1.14</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6</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671819524"/>
                  </a:ext>
                </a:extLst>
              </a:tr>
              <a:tr h="203200">
                <a:tc>
                  <a:txBody>
                    <a:bodyPr/>
                    <a:lstStyle/>
                    <a:p>
                      <a:pPr algn="l" fontAlgn="b">
                        <a:buNone/>
                      </a:pPr>
                      <a:r>
                        <a:rPr lang="en-SG" sz="1200" b="0" u="none" strike="noStrike">
                          <a:solidFill>
                            <a:schemeClr val="tx1"/>
                          </a:solidFill>
                          <a:effectLst/>
                        </a:rPr>
                        <a:t>Distribution Channel</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TA/TO </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45.1%</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1.13</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4040662317"/>
                  </a:ext>
                </a:extLst>
              </a:tr>
              <a:tr h="203200">
                <a:tc>
                  <a:txBody>
                    <a:bodyPr/>
                    <a:lstStyle/>
                    <a:p>
                      <a:pPr algn="l" fontAlgn="b">
                        <a:buNone/>
                      </a:pPr>
                      <a:r>
                        <a:rPr lang="en-SG" sz="1200" b="0" u="none" strike="noStrike" dirty="0">
                          <a:solidFill>
                            <a:schemeClr val="tx1"/>
                          </a:solidFill>
                          <a:effectLst/>
                        </a:rPr>
                        <a:t>Deposit Type</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dirty="0">
                          <a:solidFill>
                            <a:schemeClr val="tx1"/>
                          </a:solidFill>
                          <a:effectLst/>
                        </a:rPr>
                        <a:t>No Deposit</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30.4%</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0.76</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01738908"/>
                  </a:ext>
                </a:extLst>
              </a:tr>
              <a:tr h="203200">
                <a:tc>
                  <a:txBody>
                    <a:bodyPr/>
                    <a:lstStyle/>
                    <a:p>
                      <a:pPr algn="l" fontAlgn="b">
                        <a:buNone/>
                      </a:pPr>
                      <a:r>
                        <a:rPr lang="en-SG" sz="1200" b="0" u="none" strike="noStrike">
                          <a:solidFill>
                            <a:schemeClr val="tx1"/>
                          </a:solidFill>
                          <a:effectLst/>
                        </a:rPr>
                        <a:t>Peak Season Quarter</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Q3 (Peak Season)</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41.2%</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1.03</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919607061"/>
                  </a:ext>
                </a:extLst>
              </a:tr>
              <a:tr h="203200">
                <a:tc>
                  <a:txBody>
                    <a:bodyPr/>
                    <a:lstStyle/>
                    <a:p>
                      <a:pPr algn="l" fontAlgn="b">
                        <a:buNone/>
                      </a:pPr>
                      <a:r>
                        <a:rPr lang="en-SG" sz="1200" b="0" u="none" strike="noStrike">
                          <a:solidFill>
                            <a:schemeClr val="tx1"/>
                          </a:solidFill>
                          <a:effectLst/>
                        </a:rPr>
                        <a:t>Second Cancellation Quarter</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Q2</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45.1%</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1.13</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582014028"/>
                  </a:ext>
                </a:extLst>
              </a:tr>
              <a:tr h="203200">
                <a:tc>
                  <a:txBody>
                    <a:bodyPr/>
                    <a:lstStyle/>
                    <a:p>
                      <a:pPr algn="l" fontAlgn="b">
                        <a:buNone/>
                      </a:pPr>
                      <a:r>
                        <a:rPr lang="en-SG" sz="1200" b="0" u="none" strike="noStrike">
                          <a:solidFill>
                            <a:schemeClr val="tx1"/>
                          </a:solidFill>
                          <a:effectLst/>
                        </a:rPr>
                        <a:t>Stay Length</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&gt; 3 nights</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39.3%</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0.98</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533748263"/>
                  </a:ext>
                </a:extLst>
              </a:tr>
              <a:tr h="203200">
                <a:tc>
                  <a:txBody>
                    <a:bodyPr/>
                    <a:lstStyle/>
                    <a:p>
                      <a:pPr algn="l" fontAlgn="b">
                        <a:buNone/>
                      </a:pPr>
                      <a:r>
                        <a:rPr lang="en-SG" sz="1200" b="0" u="none" strike="noStrike">
                          <a:solidFill>
                            <a:schemeClr val="tx1"/>
                          </a:solidFill>
                          <a:effectLst/>
                        </a:rPr>
                        <a:t>Contry Zone</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Europe</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42.5%</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1.06</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627256649"/>
                  </a:ext>
                </a:extLst>
              </a:tr>
              <a:tr h="203200">
                <a:tc>
                  <a:txBody>
                    <a:bodyPr/>
                    <a:lstStyle/>
                    <a:p>
                      <a:pPr algn="l" fontAlgn="b">
                        <a:buNone/>
                      </a:pPr>
                      <a:r>
                        <a:rPr lang="en-SG" sz="1200" b="0" u="none" strike="noStrike">
                          <a:solidFill>
                            <a:schemeClr val="tx1"/>
                          </a:solidFill>
                          <a:effectLst/>
                        </a:rPr>
                        <a:t>Others</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High special requests</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21.5%</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0.54</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336180981"/>
                  </a:ext>
                </a:extLst>
              </a:tr>
            </a:tbl>
          </a:graphicData>
        </a:graphic>
      </p:graphicFrame>
    </p:spTree>
    <p:extLst>
      <p:ext uri="{BB962C8B-B14F-4D97-AF65-F5344CB8AC3E}">
        <p14:creationId xmlns:p14="http://schemas.microsoft.com/office/powerpoint/2010/main" val="652388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3E072402-A313-AD7E-61FC-0245A0E7EB4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713055-B6E9-8470-9577-3EF8B654F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534BCDF-9DEB-2BB0-F9F0-B7AB0E349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3772A45-10F7-2790-1874-F54EFB2383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9A60F0CB-2B87-0B14-CFB6-E21410ABC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3BFD0ACB-FE3A-4FB7-574B-3E003773DE5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99467A6B-5BC2-F186-C0AF-6CE7418B9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A730972-E517-BF4B-07CC-D75995F08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ADE71EC0-7866-ACE7-61DE-0A3B7753D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1275ACE2-1A44-985E-8BCA-6EDD20D6B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D750CB-5B89-C14D-14A0-715AB4EF67E2}"/>
              </a:ext>
            </a:extLst>
          </p:cNvPr>
          <p:cNvSpPr txBox="1">
            <a:spLocks/>
          </p:cNvSpPr>
          <p:nvPr/>
        </p:nvSpPr>
        <p:spPr>
          <a:xfrm>
            <a:off x="994279" y="223754"/>
            <a:ext cx="6130421" cy="589046"/>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Interaction Analysis</a:t>
            </a:r>
          </a:p>
        </p:txBody>
      </p:sp>
      <p:sp>
        <p:nvSpPr>
          <p:cNvPr id="3" name="Title 1">
            <a:extLst>
              <a:ext uri="{FF2B5EF4-FFF2-40B4-BE49-F238E27FC236}">
                <a16:creationId xmlns:a16="http://schemas.microsoft.com/office/drawing/2014/main" id="{3632353C-FAAE-995E-E98C-26A80757F034}"/>
              </a:ext>
            </a:extLst>
          </p:cNvPr>
          <p:cNvSpPr txBox="1">
            <a:spLocks/>
          </p:cNvSpPr>
          <p:nvPr/>
        </p:nvSpPr>
        <p:spPr>
          <a:xfrm>
            <a:off x="6384048" y="228567"/>
            <a:ext cx="5430619" cy="589046"/>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Business Impact  Analysis</a:t>
            </a:r>
          </a:p>
        </p:txBody>
      </p:sp>
      <p:sp>
        <p:nvSpPr>
          <p:cNvPr id="4" name="TextBox 3">
            <a:extLst>
              <a:ext uri="{FF2B5EF4-FFF2-40B4-BE49-F238E27FC236}">
                <a16:creationId xmlns:a16="http://schemas.microsoft.com/office/drawing/2014/main" id="{A61C179D-464B-5BAC-7186-7789AA74DB7F}"/>
              </a:ext>
            </a:extLst>
          </p:cNvPr>
          <p:cNvSpPr txBox="1"/>
          <p:nvPr/>
        </p:nvSpPr>
        <p:spPr>
          <a:xfrm>
            <a:off x="1120187" y="4960958"/>
            <a:ext cx="10169013" cy="1384995"/>
          </a:xfrm>
          <a:prstGeom prst="rect">
            <a:avLst/>
          </a:prstGeom>
          <a:noFill/>
        </p:spPr>
        <p:txBody>
          <a:bodyPr wrap="square" rtlCol="0">
            <a:spAutoFit/>
          </a:bodyPr>
          <a:lstStyle/>
          <a:p>
            <a:pPr marL="285750" indent="-285750">
              <a:buFont typeface="Arial" panose="020B0604020202020204" pitchFamily="34" charset="0"/>
              <a:buChar char="•"/>
            </a:pPr>
            <a:r>
              <a:rPr lang="en-SG" sz="1400" dirty="0"/>
              <a:t>The interaction analysis shows that cancellation risk is primarily driven by long lead times (&gt;150 days), TA/TO and Online TA channels, transient guests, European markets, and no-deposit bookings. The highest-risk bookings occur when these factors combine, particularly Lead Time &gt;150 + Transient (71% cancellation), Lead Time &gt;150 + TA/TO (63%), and Lead Time &gt;150 + Europe (62%), indicating that guests who book far in advance through intermediary channels without strong financial commitment are significantly more likely to cancel. This suggests that lead time acts as the main risk amplifier, while channel, guest type, and deposit policy determine the magnitude of the cancellation risk.</a:t>
            </a:r>
          </a:p>
        </p:txBody>
      </p:sp>
      <p:graphicFrame>
        <p:nvGraphicFramePr>
          <p:cNvPr id="5" name="Table 4">
            <a:extLst>
              <a:ext uri="{FF2B5EF4-FFF2-40B4-BE49-F238E27FC236}">
                <a16:creationId xmlns:a16="http://schemas.microsoft.com/office/drawing/2014/main" id="{07E5D4CE-4CD8-DCFB-CC57-952D972A44D2}"/>
              </a:ext>
            </a:extLst>
          </p:cNvPr>
          <p:cNvGraphicFramePr>
            <a:graphicFrameLocks noGrp="1"/>
          </p:cNvGraphicFramePr>
          <p:nvPr>
            <p:extLst>
              <p:ext uri="{D42A27DB-BD31-4B8C-83A1-F6EECF244321}">
                <p14:modId xmlns:p14="http://schemas.microsoft.com/office/powerpoint/2010/main" val="2358147774"/>
              </p:ext>
            </p:extLst>
          </p:nvPr>
        </p:nvGraphicFramePr>
        <p:xfrm>
          <a:off x="6507655" y="1008795"/>
          <a:ext cx="4608768" cy="2304352"/>
        </p:xfrm>
        <a:graphic>
          <a:graphicData uri="http://schemas.openxmlformats.org/drawingml/2006/table">
            <a:tbl>
              <a:tblPr firstRow="1" bandRow="1">
                <a:tableStyleId>{9D7B26C5-4107-4FEC-AEDC-1716B250A1EF}</a:tableStyleId>
              </a:tblPr>
              <a:tblGrid>
                <a:gridCol w="3458841">
                  <a:extLst>
                    <a:ext uri="{9D8B030D-6E8A-4147-A177-3AD203B41FA5}">
                      <a16:colId xmlns:a16="http://schemas.microsoft.com/office/drawing/2014/main" val="3068841471"/>
                    </a:ext>
                  </a:extLst>
                </a:gridCol>
                <a:gridCol w="1149927">
                  <a:extLst>
                    <a:ext uri="{9D8B030D-6E8A-4147-A177-3AD203B41FA5}">
                      <a16:colId xmlns:a16="http://schemas.microsoft.com/office/drawing/2014/main" val="101556883"/>
                    </a:ext>
                  </a:extLst>
                </a:gridCol>
              </a:tblGrid>
              <a:tr h="208940">
                <a:tc>
                  <a:txBody>
                    <a:bodyPr/>
                    <a:lstStyle/>
                    <a:p>
                      <a:pPr algn="ctr" fontAlgn="b">
                        <a:buNone/>
                      </a:pPr>
                      <a:r>
                        <a:rPr lang="en-SG" sz="1200" b="0" u="none" strike="noStrike">
                          <a:solidFill>
                            <a:schemeClr val="tx1"/>
                          </a:solidFill>
                          <a:effectLst/>
                        </a:rPr>
                        <a:t>Segment</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ctr" fontAlgn="b">
                        <a:buNone/>
                      </a:pPr>
                      <a:r>
                        <a:rPr lang="en-SG" sz="1200" b="0" u="none" strike="noStrike">
                          <a:solidFill>
                            <a:schemeClr val="tx1"/>
                          </a:solidFill>
                          <a:effectLst/>
                        </a:rPr>
                        <a:t>Risk Impact</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695975056"/>
                  </a:ext>
                </a:extLst>
              </a:tr>
              <a:tr h="208940">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≤150 + TA/TO</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17,313</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461349213"/>
                  </a:ext>
                </a:extLst>
              </a:tr>
              <a:tr h="208940">
                <a:tc>
                  <a:txBody>
                    <a:bodyPr/>
                    <a:lstStyle/>
                    <a:p>
                      <a:pPr algn="l" fontAlgn="b">
                        <a:buNone/>
                      </a:pPr>
                      <a:r>
                        <a:rPr lang="en-SG" sz="1200" b="0" u="none" strike="noStrike">
                          <a:solidFill>
                            <a:schemeClr val="tx1"/>
                          </a:solidFill>
                          <a:effectLst/>
                        </a:rPr>
                        <a:t>lead_time ≤150 + Europe</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16,697</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689518497"/>
                  </a:ext>
                </a:extLst>
              </a:tr>
              <a:tr h="208940">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≤150 + Transient</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16,277</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806195382"/>
                  </a:ext>
                </a:extLst>
              </a:tr>
              <a:tr h="208940">
                <a:tc>
                  <a:txBody>
                    <a:bodyPr/>
                    <a:lstStyle/>
                    <a:p>
                      <a:pPr algn="l" fontAlgn="b">
                        <a:buNone/>
                      </a:pPr>
                      <a:r>
                        <a:rPr lang="en-SG" sz="1200" b="0" u="none" strike="noStrike">
                          <a:solidFill>
                            <a:schemeClr val="tx1"/>
                          </a:solidFill>
                          <a:effectLst/>
                        </a:rPr>
                        <a:t>lead_time ≤150 + No Deposit</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14,257</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777055050"/>
                  </a:ext>
                </a:extLst>
              </a:tr>
              <a:tr h="208940">
                <a:tc>
                  <a:txBody>
                    <a:bodyPr/>
                    <a:lstStyle/>
                    <a:p>
                      <a:pPr algn="l" fontAlgn="b">
                        <a:buNone/>
                      </a:pPr>
                      <a:r>
                        <a:rPr lang="en-SG" sz="1200" b="0" u="none" strike="noStrike">
                          <a:solidFill>
                            <a:schemeClr val="tx1"/>
                          </a:solidFill>
                          <a:effectLst/>
                        </a:rPr>
                        <a:t>lead_time &gt;150 + TA/TO</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13,296</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608995298"/>
                  </a:ext>
                </a:extLst>
              </a:tr>
              <a:tr h="208940">
                <a:tc>
                  <a:txBody>
                    <a:bodyPr/>
                    <a:lstStyle/>
                    <a:p>
                      <a:pPr algn="l" fontAlgn="b">
                        <a:buNone/>
                      </a:pPr>
                      <a:r>
                        <a:rPr lang="en-SG" sz="1200" b="0" u="none" strike="noStrike">
                          <a:solidFill>
                            <a:schemeClr val="tx1"/>
                          </a:solidFill>
                          <a:effectLst/>
                        </a:rPr>
                        <a:t>lead_time &gt;150 + Europe</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12,889</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100048062"/>
                  </a:ext>
                </a:extLst>
              </a:tr>
              <a:tr h="208940">
                <a:tc>
                  <a:txBody>
                    <a:bodyPr/>
                    <a:lstStyle/>
                    <a:p>
                      <a:pPr algn="l" fontAlgn="b">
                        <a:buNone/>
                      </a:pPr>
                      <a:r>
                        <a:rPr lang="en-SG" sz="1200" b="0" u="none" strike="noStrike">
                          <a:solidFill>
                            <a:schemeClr val="tx1"/>
                          </a:solidFill>
                          <a:effectLst/>
                        </a:rPr>
                        <a:t>lead_time ≤150 + Transient + No Deposit</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11,602</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577141470"/>
                  </a:ext>
                </a:extLst>
              </a:tr>
              <a:tr h="214952">
                <a:tc>
                  <a:txBody>
                    <a:bodyPr/>
                    <a:lstStyle/>
                    <a:p>
                      <a:pPr algn="l" fontAlgn="b">
                        <a:buNone/>
                      </a:pPr>
                      <a:r>
                        <a:rPr lang="en-SG" sz="1200" b="0" u="none" strike="noStrike">
                          <a:solidFill>
                            <a:schemeClr val="tx1"/>
                          </a:solidFill>
                          <a:effectLst/>
                        </a:rPr>
                        <a:t>lead_time ≤150 + Online TA + No Deposit</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10,439</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705562526"/>
                  </a:ext>
                </a:extLst>
              </a:tr>
              <a:tr h="208940">
                <a:tc>
                  <a:txBody>
                    <a:bodyPr/>
                    <a:lstStyle/>
                    <a:p>
                      <a:pPr algn="l" fontAlgn="b">
                        <a:buNone/>
                      </a:pPr>
                      <a:r>
                        <a:rPr lang="en-SG" sz="1200" b="0" u="none" strike="noStrike">
                          <a:solidFill>
                            <a:schemeClr val="tx1"/>
                          </a:solidFill>
                          <a:effectLst/>
                        </a:rPr>
                        <a:t>lead_time ≤150 + Online TA</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10,455</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696540047"/>
                  </a:ext>
                </a:extLst>
              </a:tr>
              <a:tr h="208940">
                <a:tc>
                  <a:txBody>
                    <a:bodyPr/>
                    <a:lstStyle/>
                    <a:p>
                      <a:pPr algn="l" fontAlgn="b">
                        <a:buNone/>
                      </a:pPr>
                      <a:r>
                        <a:rPr lang="en-SG" sz="1200" b="0" u="none" strike="noStrike">
                          <a:solidFill>
                            <a:schemeClr val="tx1"/>
                          </a:solidFill>
                          <a:effectLst/>
                        </a:rPr>
                        <a:t>lead_time &gt;150 + Transient</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10,347</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175357741"/>
                  </a:ext>
                </a:extLst>
              </a:tr>
            </a:tbl>
          </a:graphicData>
        </a:graphic>
      </p:graphicFrame>
      <p:graphicFrame>
        <p:nvGraphicFramePr>
          <p:cNvPr id="6" name="Table 5">
            <a:extLst>
              <a:ext uri="{FF2B5EF4-FFF2-40B4-BE49-F238E27FC236}">
                <a16:creationId xmlns:a16="http://schemas.microsoft.com/office/drawing/2014/main" id="{45CC4405-2D4F-595E-00A2-277F30A7D292}"/>
              </a:ext>
            </a:extLst>
          </p:cNvPr>
          <p:cNvGraphicFramePr>
            <a:graphicFrameLocks noGrp="1"/>
          </p:cNvGraphicFramePr>
          <p:nvPr>
            <p:extLst>
              <p:ext uri="{D42A27DB-BD31-4B8C-83A1-F6EECF244321}">
                <p14:modId xmlns:p14="http://schemas.microsoft.com/office/powerpoint/2010/main" val="2370186802"/>
              </p:ext>
            </p:extLst>
          </p:nvPr>
        </p:nvGraphicFramePr>
        <p:xfrm>
          <a:off x="1310180" y="1039896"/>
          <a:ext cx="4033744" cy="1625600"/>
        </p:xfrm>
        <a:graphic>
          <a:graphicData uri="http://schemas.openxmlformats.org/drawingml/2006/table">
            <a:tbl>
              <a:tblPr>
                <a:tableStyleId>{9D7B26C5-4107-4FEC-AEDC-1716B250A1EF}</a:tableStyleId>
              </a:tblPr>
              <a:tblGrid>
                <a:gridCol w="3208579">
                  <a:extLst>
                    <a:ext uri="{9D8B030D-6E8A-4147-A177-3AD203B41FA5}">
                      <a16:colId xmlns:a16="http://schemas.microsoft.com/office/drawing/2014/main" val="2700411430"/>
                    </a:ext>
                  </a:extLst>
                </a:gridCol>
                <a:gridCol w="825165">
                  <a:extLst>
                    <a:ext uri="{9D8B030D-6E8A-4147-A177-3AD203B41FA5}">
                      <a16:colId xmlns:a16="http://schemas.microsoft.com/office/drawing/2014/main" val="2580694217"/>
                    </a:ext>
                  </a:extLst>
                </a:gridCol>
              </a:tblGrid>
              <a:tr h="203200">
                <a:tc>
                  <a:txBody>
                    <a:bodyPr/>
                    <a:lstStyle/>
                    <a:p>
                      <a:pPr algn="l" fontAlgn="b">
                        <a:buNone/>
                      </a:pPr>
                      <a:r>
                        <a:rPr lang="en-SG" sz="1200" b="0" u="none" strike="noStrike">
                          <a:solidFill>
                            <a:schemeClr val="tx1"/>
                          </a:solidFill>
                          <a:effectLst/>
                        </a:rPr>
                        <a:t>lead_time &gt;150 + Contract</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92%</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628220236"/>
                  </a:ext>
                </a:extLst>
              </a:tr>
              <a:tr h="203200">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&gt;150 + Groups</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83%</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722659146"/>
                  </a:ext>
                </a:extLst>
              </a:tr>
              <a:tr h="203200">
                <a:tc>
                  <a:txBody>
                    <a:bodyPr/>
                    <a:lstStyle/>
                    <a:p>
                      <a:pPr algn="l" fontAlgn="b">
                        <a:buNone/>
                      </a:pPr>
                      <a:r>
                        <a:rPr lang="en-SG" sz="1200" b="0" u="none" strike="noStrike">
                          <a:solidFill>
                            <a:schemeClr val="tx1"/>
                          </a:solidFill>
                          <a:effectLst/>
                        </a:rPr>
                        <a:t>lead_time &gt;150 + Corporate Market Segment</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83%</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520191206"/>
                  </a:ext>
                </a:extLst>
              </a:tr>
              <a:tr h="203200">
                <a:tc>
                  <a:txBody>
                    <a:bodyPr/>
                    <a:lstStyle/>
                    <a:p>
                      <a:pPr algn="l" fontAlgn="b">
                        <a:buNone/>
                      </a:pPr>
                      <a:r>
                        <a:rPr lang="en-SG" sz="1200" b="0" u="none" strike="noStrike">
                          <a:solidFill>
                            <a:schemeClr val="tx1"/>
                          </a:solidFill>
                          <a:effectLst/>
                        </a:rPr>
                        <a:t>lead_time &gt;150 + Transient</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71%</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691118525"/>
                  </a:ext>
                </a:extLst>
              </a:tr>
              <a:tr h="203200">
                <a:tc>
                  <a:txBody>
                    <a:bodyPr/>
                    <a:lstStyle/>
                    <a:p>
                      <a:pPr algn="l" fontAlgn="b">
                        <a:buNone/>
                      </a:pPr>
                      <a:r>
                        <a:rPr lang="en-SG" sz="1200" b="0" u="none" strike="noStrike">
                          <a:solidFill>
                            <a:schemeClr val="tx1"/>
                          </a:solidFill>
                          <a:effectLst/>
                        </a:rPr>
                        <a:t>lead_time &gt;150 + Q4</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69%</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4010807603"/>
                  </a:ext>
                </a:extLst>
              </a:tr>
              <a:tr h="203200">
                <a:tc>
                  <a:txBody>
                    <a:bodyPr/>
                    <a:lstStyle/>
                    <a:p>
                      <a:pPr algn="l" fontAlgn="b">
                        <a:buNone/>
                      </a:pPr>
                      <a:r>
                        <a:rPr lang="en-SG" sz="1200" b="0" u="none" strike="noStrike">
                          <a:solidFill>
                            <a:schemeClr val="tx1"/>
                          </a:solidFill>
                          <a:effectLst/>
                        </a:rPr>
                        <a:t>lead_time &gt;150 + Q2</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64%</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789221843"/>
                  </a:ext>
                </a:extLst>
              </a:tr>
              <a:tr h="203200">
                <a:tc>
                  <a:txBody>
                    <a:bodyPr/>
                    <a:lstStyle/>
                    <a:p>
                      <a:pPr algn="l" fontAlgn="b">
                        <a:buNone/>
                      </a:pPr>
                      <a:r>
                        <a:rPr lang="en-SG" sz="1200" b="0" u="none" strike="noStrike">
                          <a:solidFill>
                            <a:schemeClr val="tx1"/>
                          </a:solidFill>
                          <a:effectLst/>
                        </a:rPr>
                        <a:t>lead_time &gt;150 + TA/TO</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63%</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872602963"/>
                  </a:ext>
                </a:extLst>
              </a:tr>
              <a:tr h="203200">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&gt;150 + Europe</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62%</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101321817"/>
                  </a:ext>
                </a:extLst>
              </a:tr>
            </a:tbl>
          </a:graphicData>
        </a:graphic>
      </p:graphicFrame>
      <p:graphicFrame>
        <p:nvGraphicFramePr>
          <p:cNvPr id="7" name="Table 6">
            <a:extLst>
              <a:ext uri="{FF2B5EF4-FFF2-40B4-BE49-F238E27FC236}">
                <a16:creationId xmlns:a16="http://schemas.microsoft.com/office/drawing/2014/main" id="{E89BB0EA-ACE9-2DB5-46A8-4DDB3B6DE1CB}"/>
              </a:ext>
            </a:extLst>
          </p:cNvPr>
          <p:cNvGraphicFramePr>
            <a:graphicFrameLocks noGrp="1"/>
          </p:cNvGraphicFramePr>
          <p:nvPr>
            <p:extLst>
              <p:ext uri="{D42A27DB-BD31-4B8C-83A1-F6EECF244321}">
                <p14:modId xmlns:p14="http://schemas.microsoft.com/office/powerpoint/2010/main" val="920859489"/>
              </p:ext>
            </p:extLst>
          </p:nvPr>
        </p:nvGraphicFramePr>
        <p:xfrm>
          <a:off x="1330142" y="2862775"/>
          <a:ext cx="2460986" cy="1422400"/>
        </p:xfrm>
        <a:graphic>
          <a:graphicData uri="http://schemas.openxmlformats.org/drawingml/2006/table">
            <a:tbl>
              <a:tblPr firstRow="1" bandRow="1">
                <a:tableStyleId>{2D5ABB26-0587-4C30-8999-92F81FD0307C}</a:tableStyleId>
              </a:tblPr>
              <a:tblGrid>
                <a:gridCol w="2460986">
                  <a:extLst>
                    <a:ext uri="{9D8B030D-6E8A-4147-A177-3AD203B41FA5}">
                      <a16:colId xmlns:a16="http://schemas.microsoft.com/office/drawing/2014/main" val="3540267669"/>
                    </a:ext>
                  </a:extLst>
                </a:gridCol>
              </a:tblGrid>
              <a:tr h="203200">
                <a:tc>
                  <a:txBody>
                    <a:bodyPr/>
                    <a:lstStyle/>
                    <a:p>
                      <a:pPr algn="l" fontAlgn="b">
                        <a:buNone/>
                      </a:pPr>
                      <a:r>
                        <a:rPr lang="en-SG" sz="1200" b="1" u="none" strike="noStrike" dirty="0">
                          <a:solidFill>
                            <a:schemeClr val="tx1"/>
                          </a:solidFill>
                          <a:effectLst/>
                        </a:rPr>
                        <a:t>Core Predictors</a:t>
                      </a:r>
                      <a:endParaRPr lang="en-SG" sz="1200" b="1"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571900708"/>
                  </a:ext>
                </a:extLst>
              </a:tr>
              <a:tr h="203200">
                <a:tc>
                  <a:txBody>
                    <a:bodyPr/>
                    <a:lstStyle/>
                    <a:p>
                      <a:pPr algn="l" fontAlgn="b">
                        <a:buNone/>
                      </a:pPr>
                      <a:r>
                        <a:rPr lang="en-SG" sz="1200" b="0" u="none" strike="noStrike">
                          <a:solidFill>
                            <a:schemeClr val="tx1"/>
                          </a:solidFill>
                          <a:effectLst/>
                        </a:rPr>
                        <a:t>Lead Time &gt;150</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458330183"/>
                  </a:ext>
                </a:extLst>
              </a:tr>
              <a:tr h="203200">
                <a:tc>
                  <a:txBody>
                    <a:bodyPr/>
                    <a:lstStyle/>
                    <a:p>
                      <a:pPr algn="l" fontAlgn="b">
                        <a:buNone/>
                      </a:pPr>
                      <a:r>
                        <a:rPr lang="en-SG" sz="1200" b="0" u="none" strike="noStrike">
                          <a:solidFill>
                            <a:schemeClr val="tx1"/>
                          </a:solidFill>
                          <a:effectLst/>
                        </a:rPr>
                        <a:t>TA/TO channel</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706316148"/>
                  </a:ext>
                </a:extLst>
              </a:tr>
              <a:tr h="203200">
                <a:tc>
                  <a:txBody>
                    <a:bodyPr/>
                    <a:lstStyle/>
                    <a:p>
                      <a:pPr algn="l" fontAlgn="b">
                        <a:buNone/>
                      </a:pPr>
                      <a:r>
                        <a:rPr lang="en-SG" sz="1200" b="0" u="none" strike="noStrike" dirty="0">
                          <a:solidFill>
                            <a:schemeClr val="tx1"/>
                          </a:solidFill>
                          <a:effectLst/>
                        </a:rPr>
                        <a:t>European guests</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739780721"/>
                  </a:ext>
                </a:extLst>
              </a:tr>
              <a:tr h="203200">
                <a:tc>
                  <a:txBody>
                    <a:bodyPr/>
                    <a:lstStyle/>
                    <a:p>
                      <a:pPr algn="l" fontAlgn="b">
                        <a:buNone/>
                      </a:pPr>
                      <a:r>
                        <a:rPr lang="en-SG" sz="1200" b="0" u="none" strike="noStrike" dirty="0">
                          <a:solidFill>
                            <a:schemeClr val="tx1"/>
                          </a:solidFill>
                          <a:effectLst/>
                        </a:rPr>
                        <a:t>Transient guests</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61003380"/>
                  </a:ext>
                </a:extLst>
              </a:tr>
              <a:tr h="203200">
                <a:tc>
                  <a:txBody>
                    <a:bodyPr/>
                    <a:lstStyle/>
                    <a:p>
                      <a:pPr algn="l" fontAlgn="b">
                        <a:buNone/>
                      </a:pPr>
                      <a:r>
                        <a:rPr lang="en-SG" sz="1200" b="0" u="none" strike="noStrike" dirty="0">
                          <a:solidFill>
                            <a:schemeClr val="tx1"/>
                          </a:solidFill>
                          <a:effectLst/>
                        </a:rPr>
                        <a:t>Online TA</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332306654"/>
                  </a:ext>
                </a:extLst>
              </a:tr>
              <a:tr h="203200">
                <a:tc>
                  <a:txBody>
                    <a:bodyPr/>
                    <a:lstStyle/>
                    <a:p>
                      <a:pPr algn="l" fontAlgn="b">
                        <a:buNone/>
                      </a:pPr>
                      <a:r>
                        <a:rPr lang="en-SG" sz="1200" b="0" u="none" strike="noStrike" dirty="0">
                          <a:solidFill>
                            <a:schemeClr val="tx1"/>
                          </a:solidFill>
                          <a:effectLst/>
                        </a:rPr>
                        <a:t>No Deposit bookings</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831287388"/>
                  </a:ext>
                </a:extLst>
              </a:tr>
            </a:tbl>
          </a:graphicData>
        </a:graphic>
      </p:graphicFrame>
      <p:graphicFrame>
        <p:nvGraphicFramePr>
          <p:cNvPr id="9" name="Table 8">
            <a:extLst>
              <a:ext uri="{FF2B5EF4-FFF2-40B4-BE49-F238E27FC236}">
                <a16:creationId xmlns:a16="http://schemas.microsoft.com/office/drawing/2014/main" id="{8CC835FF-D901-580B-5C69-062A695E3FD3}"/>
              </a:ext>
            </a:extLst>
          </p:cNvPr>
          <p:cNvGraphicFramePr>
            <a:graphicFrameLocks noGrp="1"/>
          </p:cNvGraphicFramePr>
          <p:nvPr>
            <p:extLst>
              <p:ext uri="{D42A27DB-BD31-4B8C-83A1-F6EECF244321}">
                <p14:modId xmlns:p14="http://schemas.microsoft.com/office/powerpoint/2010/main" val="2772018739"/>
              </p:ext>
            </p:extLst>
          </p:nvPr>
        </p:nvGraphicFramePr>
        <p:xfrm>
          <a:off x="3522721" y="2951985"/>
          <a:ext cx="2441764" cy="1001221"/>
        </p:xfrm>
        <a:graphic>
          <a:graphicData uri="http://schemas.openxmlformats.org/drawingml/2006/table">
            <a:tbl>
              <a:tblPr/>
              <a:tblGrid>
                <a:gridCol w="2441764">
                  <a:extLst>
                    <a:ext uri="{9D8B030D-6E8A-4147-A177-3AD203B41FA5}">
                      <a16:colId xmlns:a16="http://schemas.microsoft.com/office/drawing/2014/main" val="1440703390"/>
                    </a:ext>
                  </a:extLst>
                </a:gridCol>
              </a:tblGrid>
              <a:tr h="190310">
                <a:tc>
                  <a:txBody>
                    <a:bodyPr/>
                    <a:lstStyle/>
                    <a:p>
                      <a:pPr algn="l" fontAlgn="b">
                        <a:buNone/>
                      </a:pPr>
                      <a:r>
                        <a:rPr lang="en-SG" sz="1200" b="1" i="0" u="none" strike="noStrike" dirty="0">
                          <a:solidFill>
                            <a:schemeClr val="tx1"/>
                          </a:solidFill>
                          <a:effectLst/>
                          <a:latin typeface="+mn-lt"/>
                        </a:rPr>
                        <a:t>Supporting Predictors</a:t>
                      </a:r>
                    </a:p>
                  </a:txBody>
                  <a:tcPr marL="9525" marR="9525" marT="9525" marB="0" anchor="b">
                    <a:lnL>
                      <a:noFill/>
                    </a:lnL>
                    <a:lnR>
                      <a:noFill/>
                    </a:lnR>
                    <a:lnT>
                      <a:noFill/>
                    </a:lnT>
                    <a:lnB>
                      <a:noFill/>
                    </a:lnB>
                    <a:noFill/>
                  </a:tcPr>
                </a:tc>
                <a:extLst>
                  <a:ext uri="{0D108BD9-81ED-4DB2-BD59-A6C34878D82A}">
                    <a16:rowId xmlns:a16="http://schemas.microsoft.com/office/drawing/2014/main" val="2126323362"/>
                  </a:ext>
                </a:extLst>
              </a:tr>
              <a:tr h="202204">
                <a:tc>
                  <a:txBody>
                    <a:bodyPr/>
                    <a:lstStyle/>
                    <a:p>
                      <a:pPr algn="l" fontAlgn="b">
                        <a:buNone/>
                      </a:pPr>
                      <a:r>
                        <a:rPr lang="en-SG" sz="1200" b="0" i="0" u="none" strike="noStrike" dirty="0">
                          <a:solidFill>
                            <a:schemeClr val="tx1"/>
                          </a:solidFill>
                          <a:effectLst/>
                          <a:latin typeface="+mn-lt"/>
                        </a:rPr>
                        <a:t>Quarter Q2, Q4</a:t>
                      </a:r>
                    </a:p>
                  </a:txBody>
                  <a:tcPr marL="9525" marR="9525" marT="9525" marB="0" anchor="b">
                    <a:lnL>
                      <a:noFill/>
                    </a:lnL>
                    <a:lnR>
                      <a:noFill/>
                    </a:lnR>
                    <a:lnT>
                      <a:noFill/>
                    </a:lnT>
                    <a:lnB>
                      <a:noFill/>
                    </a:lnB>
                    <a:noFill/>
                  </a:tcPr>
                </a:tc>
                <a:extLst>
                  <a:ext uri="{0D108BD9-81ED-4DB2-BD59-A6C34878D82A}">
                    <a16:rowId xmlns:a16="http://schemas.microsoft.com/office/drawing/2014/main" val="687379857"/>
                  </a:ext>
                </a:extLst>
              </a:tr>
              <a:tr h="202204">
                <a:tc>
                  <a:txBody>
                    <a:bodyPr/>
                    <a:lstStyle/>
                    <a:p>
                      <a:pPr algn="l" fontAlgn="b">
                        <a:buNone/>
                      </a:pPr>
                      <a:r>
                        <a:rPr lang="en-SG" sz="1200" b="0" i="0" u="none" strike="noStrike" dirty="0">
                          <a:solidFill>
                            <a:schemeClr val="tx1"/>
                          </a:solidFill>
                          <a:effectLst/>
                          <a:latin typeface="+mn-lt"/>
                        </a:rPr>
                        <a:t>Number of Stays &gt;14</a:t>
                      </a:r>
                    </a:p>
                  </a:txBody>
                  <a:tcPr marL="9525" marR="9525" marT="9525" marB="0" anchor="b">
                    <a:lnL>
                      <a:noFill/>
                    </a:lnL>
                    <a:lnR>
                      <a:noFill/>
                    </a:lnR>
                    <a:lnT>
                      <a:noFill/>
                    </a:lnT>
                    <a:lnB>
                      <a:noFill/>
                    </a:lnB>
                    <a:noFill/>
                  </a:tcPr>
                </a:tc>
                <a:extLst>
                  <a:ext uri="{0D108BD9-81ED-4DB2-BD59-A6C34878D82A}">
                    <a16:rowId xmlns:a16="http://schemas.microsoft.com/office/drawing/2014/main" val="312838827"/>
                  </a:ext>
                </a:extLst>
              </a:tr>
              <a:tr h="202204">
                <a:tc>
                  <a:txBody>
                    <a:bodyPr/>
                    <a:lstStyle/>
                    <a:p>
                      <a:pPr algn="l" fontAlgn="b">
                        <a:buNone/>
                      </a:pPr>
                      <a:endParaRPr lang="en-SG" sz="1200" b="0" i="0" u="none" strike="noStrike" dirty="0">
                        <a:solidFill>
                          <a:schemeClr val="tx1"/>
                        </a:solidFill>
                        <a:effectLst/>
                        <a:latin typeface="+mn-lt"/>
                      </a:endParaRPr>
                    </a:p>
                  </a:txBody>
                  <a:tcPr marL="9525" marR="9525" marT="9525" marB="0" anchor="b">
                    <a:lnL>
                      <a:noFill/>
                    </a:lnL>
                    <a:lnR>
                      <a:noFill/>
                    </a:lnR>
                    <a:lnT>
                      <a:noFill/>
                    </a:lnT>
                    <a:lnB>
                      <a:noFill/>
                    </a:lnB>
                    <a:noFill/>
                  </a:tcPr>
                </a:tc>
                <a:extLst>
                  <a:ext uri="{0D108BD9-81ED-4DB2-BD59-A6C34878D82A}">
                    <a16:rowId xmlns:a16="http://schemas.microsoft.com/office/drawing/2014/main" val="2376828485"/>
                  </a:ext>
                </a:extLst>
              </a:tr>
              <a:tr h="202204">
                <a:tc>
                  <a:txBody>
                    <a:bodyPr/>
                    <a:lstStyle/>
                    <a:p>
                      <a:pPr algn="l" fontAlgn="b">
                        <a:buNone/>
                      </a:pPr>
                      <a:endParaRPr lang="en-SG" sz="1200" b="0" i="0" u="none" strike="noStrike" dirty="0">
                        <a:solidFill>
                          <a:schemeClr val="tx1"/>
                        </a:solidFill>
                        <a:effectLst/>
                        <a:latin typeface="+mn-lt"/>
                      </a:endParaRPr>
                    </a:p>
                  </a:txBody>
                  <a:tcPr marL="9525" marR="9525" marT="9525" marB="0" anchor="b">
                    <a:lnL>
                      <a:noFill/>
                    </a:lnL>
                    <a:lnR>
                      <a:noFill/>
                    </a:lnR>
                    <a:lnT>
                      <a:noFill/>
                    </a:lnT>
                    <a:lnB>
                      <a:noFill/>
                    </a:lnB>
                    <a:noFill/>
                  </a:tcPr>
                </a:tc>
                <a:extLst>
                  <a:ext uri="{0D108BD9-81ED-4DB2-BD59-A6C34878D82A}">
                    <a16:rowId xmlns:a16="http://schemas.microsoft.com/office/drawing/2014/main" val="1214403176"/>
                  </a:ext>
                </a:extLst>
              </a:tr>
            </a:tbl>
          </a:graphicData>
        </a:graphic>
      </p:graphicFrame>
    </p:spTree>
    <p:extLst>
      <p:ext uri="{BB962C8B-B14F-4D97-AF65-F5344CB8AC3E}">
        <p14:creationId xmlns:p14="http://schemas.microsoft.com/office/powerpoint/2010/main" val="967949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D8E4653F-386C-ED0E-1FE8-27F20E6A08C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3E0399-9358-23B7-0FA6-0BB750B3F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017F7BB-569D-0BC4-665E-54EFE1F63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E8C8F92-300B-E8A5-A4AF-669100561ED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D0B40836-438F-595C-A2BB-F303F2AE8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532357EC-06F1-2BC8-85A5-A86575782EA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1672BAD7-87B9-A6EA-16E6-C8B53DE1AA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7450B775-E067-1B1D-40CA-A1BF25654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E03D653A-FF55-A133-3F4D-40FC48E373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10E889F1-6264-F0CC-7302-6866CCF7A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0472D332-5E05-B116-EF4D-CB526ABE513C}"/>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SG" sz="2800" dirty="0"/>
              <a:t>Executive</a:t>
            </a:r>
            <a:r>
              <a:rPr lang="en-US" sz="2800" dirty="0"/>
              <a:t> Conclusion _ City Hotel</a:t>
            </a:r>
          </a:p>
        </p:txBody>
      </p:sp>
      <p:sp>
        <p:nvSpPr>
          <p:cNvPr id="7" name="TextBox 6">
            <a:extLst>
              <a:ext uri="{FF2B5EF4-FFF2-40B4-BE49-F238E27FC236}">
                <a16:creationId xmlns:a16="http://schemas.microsoft.com/office/drawing/2014/main" id="{B90FDFBE-33F1-C204-A810-66ED7DCFB7BC}"/>
              </a:ext>
            </a:extLst>
          </p:cNvPr>
          <p:cNvSpPr txBox="1"/>
          <p:nvPr/>
        </p:nvSpPr>
        <p:spPr>
          <a:xfrm>
            <a:off x="1107463" y="2741705"/>
            <a:ext cx="10238371" cy="4019562"/>
          </a:xfrm>
          <a:prstGeom prst="rect">
            <a:avLst/>
          </a:prstGeom>
          <a:noFill/>
        </p:spPr>
        <p:txBody>
          <a:bodyPr wrap="square" rtlCol="0">
            <a:spAutoFit/>
          </a:bodyPr>
          <a:lstStyle/>
          <a:p>
            <a:r>
              <a:rPr lang="en-SG" sz="1400" dirty="0"/>
              <a:t>City Hotel's biggest challenge is its 40% cancellation rate, which causes approximately 4.57 million in lost revenue and 95,873 lost room nights. The strongest cancellation driver is long lead time bookings (&gt;150 days), particularly from Online TA and Offline TA/TO channels, where cancellation rates exceed 45–50%. </a:t>
            </a:r>
          </a:p>
          <a:p>
            <a:endParaRPr lang="en-SG" sz="1400" dirty="0"/>
          </a:p>
          <a:p>
            <a:r>
              <a:rPr lang="en-SG" sz="1400" dirty="0"/>
              <a:t>Management should prioritize a cancellation-reduction strategy focused on long lead-time reservations, OTA bookings, and high-risk European markets by introducing</a:t>
            </a:r>
          </a:p>
          <a:p>
            <a:endParaRPr lang="en-SG" sz="1400" dirty="0"/>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Deposit policies for high-risk reservations</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Automated booking reconfirmations before arrival</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Predictive cancellation scoring, based on lead time and booking channel</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Targeted incentives for direct bookings. </a:t>
            </a:r>
          </a:p>
          <a:p>
            <a:r>
              <a:rPr lang="en-SG" sz="1400" dirty="0"/>
              <a:t>Quarter should not be treated as the root cause of cancellations. It is primarily a seasonal indicator that helps identify when cancellation risk increases.</a:t>
            </a:r>
          </a:p>
          <a:p>
            <a:endParaRPr lang="en-SG" sz="1400" dirty="0"/>
          </a:p>
          <a:p>
            <a:r>
              <a:rPr lang="en-SG" sz="1400" dirty="0"/>
              <a:t>If control of the core predictors Lead Time, Market Segment, Deposit Type and Customer Type still cancellation hight, need to consider the supporting predictors Quarter (Q2, Q4) and Number of stays &gt;14.</a:t>
            </a:r>
          </a:p>
        </p:txBody>
      </p:sp>
      <p:sp>
        <p:nvSpPr>
          <p:cNvPr id="9" name="TextBox 8">
            <a:extLst>
              <a:ext uri="{FF2B5EF4-FFF2-40B4-BE49-F238E27FC236}">
                <a16:creationId xmlns:a16="http://schemas.microsoft.com/office/drawing/2014/main" id="{579C5F09-4A8C-A360-99A5-39E9A384F086}"/>
              </a:ext>
            </a:extLst>
          </p:cNvPr>
          <p:cNvSpPr txBox="1"/>
          <p:nvPr/>
        </p:nvSpPr>
        <p:spPr>
          <a:xfrm>
            <a:off x="1107463" y="1046861"/>
            <a:ext cx="3059591" cy="1446550"/>
          </a:xfrm>
          <a:prstGeom prst="rect">
            <a:avLst/>
          </a:prstGeom>
          <a:noFill/>
        </p:spPr>
        <p:txBody>
          <a:bodyPr wrap="square" rtlCol="0">
            <a:spAutoFit/>
          </a:bodyPr>
          <a:lstStyle/>
          <a:p>
            <a:r>
              <a:rPr lang="en-SG" sz="1400" b="1" dirty="0">
                <a:latin typeface="Times New Roman" panose="02020603050405020304" pitchFamily="18" charset="0"/>
                <a:cs typeface="Times New Roman" panose="02020603050405020304" pitchFamily="18" charset="0"/>
              </a:rPr>
              <a:t>KPI Section</a:t>
            </a:r>
          </a:p>
          <a:p>
            <a:r>
              <a:rPr lang="en-SG" sz="1400" dirty="0">
                <a:latin typeface="Times New Roman" panose="02020603050405020304" pitchFamily="18" charset="0"/>
                <a:cs typeface="Times New Roman" panose="02020603050405020304" pitchFamily="18" charset="0"/>
              </a:rPr>
              <a:t>Revenue = 11.5M </a:t>
            </a:r>
          </a:p>
          <a:p>
            <a:r>
              <a:rPr lang="en-SG" sz="1400" dirty="0">
                <a:latin typeface="Times New Roman" panose="02020603050405020304" pitchFamily="18" charset="0"/>
                <a:cs typeface="Times New Roman" panose="02020603050405020304" pitchFamily="18" charset="0"/>
              </a:rPr>
              <a:t>Lost Revenue = 4.57M </a:t>
            </a:r>
          </a:p>
          <a:p>
            <a:r>
              <a:rPr lang="en-SG" sz="1400" dirty="0">
                <a:latin typeface="Times New Roman" panose="02020603050405020304" pitchFamily="18" charset="0"/>
                <a:cs typeface="Times New Roman" panose="02020603050405020304" pitchFamily="18" charset="0"/>
              </a:rPr>
              <a:t>Cancellation Rate = 40% </a:t>
            </a:r>
          </a:p>
          <a:p>
            <a:r>
              <a:rPr lang="en-SG" sz="1400" dirty="0">
                <a:latin typeface="Times New Roman" panose="02020603050405020304" pitchFamily="18" charset="0"/>
                <a:cs typeface="Times New Roman" panose="02020603050405020304" pitchFamily="18" charset="0"/>
              </a:rPr>
              <a:t>Lost Nights = 95,873 </a:t>
            </a:r>
          </a:p>
          <a:p>
            <a:endParaRPr lang="en-US" dirty="0"/>
          </a:p>
        </p:txBody>
      </p:sp>
      <p:sp>
        <p:nvSpPr>
          <p:cNvPr id="11" name="TextBox 10">
            <a:extLst>
              <a:ext uri="{FF2B5EF4-FFF2-40B4-BE49-F238E27FC236}">
                <a16:creationId xmlns:a16="http://schemas.microsoft.com/office/drawing/2014/main" id="{1306F6F7-6214-BA8F-83A3-79CB3106A815}"/>
              </a:ext>
            </a:extLst>
          </p:cNvPr>
          <p:cNvSpPr txBox="1"/>
          <p:nvPr/>
        </p:nvSpPr>
        <p:spPr>
          <a:xfrm>
            <a:off x="4058257" y="1050022"/>
            <a:ext cx="3059591" cy="1600438"/>
          </a:xfrm>
          <a:prstGeom prst="rect">
            <a:avLst/>
          </a:prstGeom>
          <a:noFill/>
        </p:spPr>
        <p:txBody>
          <a:bodyPr wrap="square" rtlCol="0">
            <a:spAutoFit/>
          </a:bodyPr>
          <a:lstStyle/>
          <a:p>
            <a:r>
              <a:rPr lang="en-SG" sz="1400" b="1" dirty="0">
                <a:latin typeface="Times New Roman" panose="02020603050405020304" pitchFamily="18" charset="0"/>
                <a:cs typeface="Times New Roman" panose="02020603050405020304" pitchFamily="18" charset="0"/>
              </a:rPr>
              <a:t>Risk Section</a:t>
            </a:r>
          </a:p>
          <a:p>
            <a:r>
              <a:rPr lang="en-SG" sz="1400" dirty="0">
                <a:latin typeface="Times New Roman" panose="02020603050405020304" pitchFamily="18" charset="0"/>
                <a:cs typeface="Times New Roman" panose="02020603050405020304" pitchFamily="18" charset="0"/>
              </a:rPr>
              <a:t>Lead Time &gt;150 days </a:t>
            </a:r>
          </a:p>
          <a:p>
            <a:r>
              <a:rPr lang="en-SG" sz="1400" dirty="0">
                <a:latin typeface="Times New Roman" panose="02020603050405020304" pitchFamily="18" charset="0"/>
                <a:cs typeface="Times New Roman" panose="02020603050405020304" pitchFamily="18" charset="0"/>
              </a:rPr>
              <a:t>OTA/TA bookings </a:t>
            </a:r>
          </a:p>
          <a:p>
            <a:pPr fontAlgn="b"/>
            <a:r>
              <a:rPr lang="en-SG" sz="1400" dirty="0">
                <a:latin typeface="Times New Roman" panose="02020603050405020304" pitchFamily="18" charset="0"/>
                <a:cs typeface="Times New Roman" panose="02020603050405020304" pitchFamily="18" charset="0"/>
              </a:rPr>
              <a:t>European guests</a:t>
            </a:r>
          </a:p>
          <a:p>
            <a:pPr fontAlgn="b"/>
            <a:r>
              <a:rPr lang="en-SG" sz="1400" dirty="0">
                <a:latin typeface="Times New Roman" panose="02020603050405020304" pitchFamily="18" charset="0"/>
                <a:cs typeface="Times New Roman" panose="02020603050405020304" pitchFamily="18" charset="0"/>
              </a:rPr>
              <a:t>Transient guests</a:t>
            </a:r>
          </a:p>
          <a:p>
            <a:pPr fontAlgn="b"/>
            <a:r>
              <a:rPr lang="en-SG" sz="1400" dirty="0">
                <a:latin typeface="Times New Roman" panose="02020603050405020304" pitchFamily="18" charset="0"/>
                <a:cs typeface="Times New Roman" panose="02020603050405020304" pitchFamily="18" charset="0"/>
              </a:rPr>
              <a:t>Online TA</a:t>
            </a:r>
          </a:p>
          <a:p>
            <a:pPr fontAlgn="b"/>
            <a:r>
              <a:rPr lang="en-SG" sz="1400" dirty="0">
                <a:latin typeface="Times New Roman" panose="02020603050405020304" pitchFamily="18" charset="0"/>
                <a:cs typeface="Times New Roman" panose="02020603050405020304" pitchFamily="18" charset="0"/>
              </a:rPr>
              <a:t>No Deposit bookings</a:t>
            </a:r>
          </a:p>
        </p:txBody>
      </p:sp>
    </p:spTree>
    <p:extLst>
      <p:ext uri="{BB962C8B-B14F-4D97-AF65-F5344CB8AC3E}">
        <p14:creationId xmlns:p14="http://schemas.microsoft.com/office/powerpoint/2010/main" val="204285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4E9CBD51-CB62-1F90-8121-8878642D846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8B2D5CC-71E1-D230-47FB-38A43180C7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473A750-E6DE-F427-8A01-287B73232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243F3F5-2033-7DDA-9197-8435E71D38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03229EB6-7F40-9019-4625-02D36A72A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7DF40D2-4E3B-D64D-C3C8-ECB2006DF7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287C7863-D6FB-0CAE-3605-AA9CB8174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CD2F920-BEAF-F17C-2772-25C4D99F5B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FC674556-F6EC-E24E-C6AD-8C131FAE4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F7B52877-7706-840D-3F92-A1F661F3D7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8DFCFD-AF80-2728-908A-A45F88B1EC85}"/>
              </a:ext>
            </a:extLst>
          </p:cNvPr>
          <p:cNvSpPr txBox="1">
            <a:spLocks/>
          </p:cNvSpPr>
          <p:nvPr/>
        </p:nvSpPr>
        <p:spPr>
          <a:xfrm>
            <a:off x="1175799" y="993932"/>
            <a:ext cx="3225276"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Resort Hotel</a:t>
            </a:r>
          </a:p>
        </p:txBody>
      </p:sp>
      <p:sp>
        <p:nvSpPr>
          <p:cNvPr id="3" name="TextBox 2">
            <a:extLst>
              <a:ext uri="{FF2B5EF4-FFF2-40B4-BE49-F238E27FC236}">
                <a16:creationId xmlns:a16="http://schemas.microsoft.com/office/drawing/2014/main" id="{FA4D64B2-1403-DD5C-A562-A2BA8FA2B772}"/>
              </a:ext>
            </a:extLst>
          </p:cNvPr>
          <p:cNvSpPr txBox="1"/>
          <p:nvPr/>
        </p:nvSpPr>
        <p:spPr>
          <a:xfrm>
            <a:off x="1175799" y="1946352"/>
            <a:ext cx="4645415" cy="156966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1. </a:t>
            </a:r>
            <a:r>
              <a:rPr lang="en-SG" sz="2400" dirty="0">
                <a:latin typeface="Times New Roman" panose="02020603050405020304" pitchFamily="18" charset="0"/>
                <a:cs typeface="Times New Roman" panose="02020603050405020304" pitchFamily="18" charset="0"/>
              </a:rPr>
              <a:t>Define</a:t>
            </a:r>
            <a:r>
              <a:rPr lang="en-SG" sz="2400" b="1" dirty="0">
                <a:latin typeface="Times New Roman" panose="02020603050405020304" pitchFamily="18" charset="0"/>
                <a:cs typeface="Times New Roman" panose="02020603050405020304" pitchFamily="18" charset="0"/>
              </a:rPr>
              <a:t> </a:t>
            </a:r>
            <a:r>
              <a:rPr lang="en-SG" sz="2400" dirty="0">
                <a:latin typeface="Times New Roman" panose="02020603050405020304" pitchFamily="18" charset="0"/>
                <a:cs typeface="Times New Roman" panose="02020603050405020304" pitchFamily="18" charset="0"/>
              </a:rPr>
              <a:t>the business problem</a:t>
            </a:r>
          </a:p>
          <a:p>
            <a:r>
              <a:rPr lang="en-US" sz="2400" dirty="0">
                <a:latin typeface="Times New Roman" panose="02020603050405020304" pitchFamily="18" charset="0"/>
                <a:cs typeface="Times New Roman" panose="02020603050405020304" pitchFamily="18" charset="0"/>
              </a:rPr>
              <a:t>2. </a:t>
            </a:r>
            <a:r>
              <a:rPr lang="en-SG" sz="2400" dirty="0">
                <a:latin typeface="Times New Roman" panose="02020603050405020304" pitchFamily="18" charset="0"/>
                <a:cs typeface="Times New Roman" panose="02020603050405020304" pitchFamily="18" charset="0"/>
              </a:rPr>
              <a:t>Measure the impact</a:t>
            </a:r>
          </a:p>
          <a:p>
            <a:r>
              <a:rPr lang="en-SG" sz="2400" dirty="0">
                <a:latin typeface="Times New Roman" panose="02020603050405020304" pitchFamily="18" charset="0"/>
                <a:cs typeface="Times New Roman" panose="02020603050405020304" pitchFamily="18" charset="0"/>
              </a:rPr>
              <a:t>3. Find the drivers</a:t>
            </a:r>
          </a:p>
          <a:p>
            <a:r>
              <a:rPr lang="en-SG" sz="2400" dirty="0">
                <a:latin typeface="Times New Roman" panose="02020603050405020304" pitchFamily="18" charset="0"/>
                <a:cs typeface="Times New Roman" panose="02020603050405020304" pitchFamily="18" charset="0"/>
              </a:rPr>
              <a:t>4. Convert insights into actions</a:t>
            </a:r>
          </a:p>
        </p:txBody>
      </p:sp>
    </p:spTree>
    <p:extLst>
      <p:ext uri="{BB962C8B-B14F-4D97-AF65-F5344CB8AC3E}">
        <p14:creationId xmlns:p14="http://schemas.microsoft.com/office/powerpoint/2010/main" val="9306763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48A859E7-9A05-0301-4E37-B688E31C4B8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98D248-974B-F1F3-27CD-7645E5CC5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5A6CBB1-9156-12A0-21A4-1104075FA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F3E74D7-30C9-1B0F-B8DF-E2A4920DCE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055A0247-BC00-FB73-0C66-A2E767429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349EE02C-696C-0988-CECC-711EC11BF2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6DE903C9-CC54-AE2F-49A2-317244C622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5A0640F-9B60-BD3E-E5B4-094C9144A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BAAB3E55-7232-CFAC-4878-5460370D4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06C41FDC-0F32-F6C6-DC4C-D0EE09EFD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27A919-4343-E163-A472-F7A0B57FF557}"/>
              </a:ext>
            </a:extLst>
          </p:cNvPr>
          <p:cNvSpPr txBox="1">
            <a:spLocks/>
          </p:cNvSpPr>
          <p:nvPr/>
        </p:nvSpPr>
        <p:spPr>
          <a:xfrm>
            <a:off x="1175799" y="993932"/>
            <a:ext cx="3225276"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Types of Analysis</a:t>
            </a:r>
          </a:p>
        </p:txBody>
      </p:sp>
      <p:sp>
        <p:nvSpPr>
          <p:cNvPr id="3" name="TextBox 2">
            <a:extLst>
              <a:ext uri="{FF2B5EF4-FFF2-40B4-BE49-F238E27FC236}">
                <a16:creationId xmlns:a16="http://schemas.microsoft.com/office/drawing/2014/main" id="{8F08EE3D-F22C-BB25-642F-728EEC6E13DA}"/>
              </a:ext>
            </a:extLst>
          </p:cNvPr>
          <p:cNvSpPr txBox="1"/>
          <p:nvPr/>
        </p:nvSpPr>
        <p:spPr>
          <a:xfrm>
            <a:off x="1175799" y="1946352"/>
            <a:ext cx="6818274"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Revenue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Night of Stays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ADR (Average Daily Range)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Quarterly Trend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Waiting List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Lead Time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Market Segments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Deposit Type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Geographics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Customer Type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Correlation Analysis</a:t>
            </a:r>
            <a:endParaRPr lang="en-SG"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7973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76A574CE-DCD7-2118-6A74-DA4E2CED16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16775E-5FC7-F04D-9A57-456EB8EC7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C352B43-F6C4-7A94-36DA-D91BB35A1A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2479D83-C2E8-30B7-FF60-BE7A0E9E98E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6BAA7A5C-7F44-5D69-5E98-46E4080FE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0BF1FA20-A5E8-923F-7D34-FD66831C2C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7FBC70C1-A145-A063-6745-769FB2A88D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516F847-8899-0F5C-B590-3141856B16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C57EF51A-E022-40C8-4105-E10CAF60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87E7EA48-411D-F452-7E0D-D79607FA8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37278-9915-D6C6-5FAE-6C20B3FA2F13}"/>
              </a:ext>
            </a:extLst>
          </p:cNvPr>
          <p:cNvSpPr txBox="1">
            <a:spLocks/>
          </p:cNvSpPr>
          <p:nvPr/>
        </p:nvSpPr>
        <p:spPr>
          <a:xfrm>
            <a:off x="994280" y="223754"/>
            <a:ext cx="5905284"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Revenue Analysis</a:t>
            </a:r>
          </a:p>
        </p:txBody>
      </p:sp>
      <p:graphicFrame>
        <p:nvGraphicFramePr>
          <p:cNvPr id="3" name="Chart 2">
            <a:extLst>
              <a:ext uri="{FF2B5EF4-FFF2-40B4-BE49-F238E27FC236}">
                <a16:creationId xmlns:a16="http://schemas.microsoft.com/office/drawing/2014/main" id="{A2BC4F9D-ECD8-8642-31E3-9FB307DFB502}"/>
              </a:ext>
            </a:extLst>
          </p:cNvPr>
          <p:cNvGraphicFramePr>
            <a:graphicFrameLocks/>
          </p:cNvGraphicFramePr>
          <p:nvPr>
            <p:extLst>
              <p:ext uri="{D42A27DB-BD31-4B8C-83A1-F6EECF244321}">
                <p14:modId xmlns:p14="http://schemas.microsoft.com/office/powerpoint/2010/main" val="3869753518"/>
              </p:ext>
            </p:extLst>
          </p:nvPr>
        </p:nvGraphicFramePr>
        <p:xfrm>
          <a:off x="1003266" y="1370912"/>
          <a:ext cx="5642518" cy="365440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 name="Chart 3">
            <a:extLst>
              <a:ext uri="{FF2B5EF4-FFF2-40B4-BE49-F238E27FC236}">
                <a16:creationId xmlns:a16="http://schemas.microsoft.com/office/drawing/2014/main" id="{85DE8F31-3D90-9843-E206-A1F85407E090}"/>
              </a:ext>
            </a:extLst>
          </p:cNvPr>
          <p:cNvGraphicFramePr>
            <a:graphicFrameLocks/>
          </p:cNvGraphicFramePr>
          <p:nvPr>
            <p:extLst>
              <p:ext uri="{D42A27DB-BD31-4B8C-83A1-F6EECF244321}">
                <p14:modId xmlns:p14="http://schemas.microsoft.com/office/powerpoint/2010/main" val="1150968940"/>
              </p:ext>
            </p:extLst>
          </p:nvPr>
        </p:nvGraphicFramePr>
        <p:xfrm>
          <a:off x="6601552" y="1370912"/>
          <a:ext cx="5642518" cy="3654401"/>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849885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7D5628A1-0EDD-B270-03F6-1B1B938D38F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E07F126-5389-6292-23A8-5E9E89748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20790C-33D7-73CD-8952-AE45831B1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FB6B1310-A816-31A8-7CB0-E85162B21F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58EA507D-422A-256C-BC0F-4A1E84A45F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A9EDD9C-DB71-1B49-3C2C-FBAB32EE50C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9D5ED5E2-E881-EB60-62FD-CF35AD190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DF77A8E-3029-B034-98C7-2AF91EE62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ED5472AD-2F42-E2CF-7F9A-46A0144096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25CF4455-88FA-E2F1-17FF-46F300D1A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BA7864-424C-773A-E831-696ABAA0892D}"/>
              </a:ext>
            </a:extLst>
          </p:cNvPr>
          <p:cNvSpPr txBox="1">
            <a:spLocks/>
          </p:cNvSpPr>
          <p:nvPr/>
        </p:nvSpPr>
        <p:spPr>
          <a:xfrm>
            <a:off x="994280" y="223754"/>
            <a:ext cx="5905284"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Revenue Analysis</a:t>
            </a:r>
          </a:p>
        </p:txBody>
      </p:sp>
      <p:sp>
        <p:nvSpPr>
          <p:cNvPr id="3" name="TextBox 2">
            <a:extLst>
              <a:ext uri="{FF2B5EF4-FFF2-40B4-BE49-F238E27FC236}">
                <a16:creationId xmlns:a16="http://schemas.microsoft.com/office/drawing/2014/main" id="{ABD123BB-3594-A7AD-CF4E-92B56CD731D3}"/>
              </a:ext>
            </a:extLst>
          </p:cNvPr>
          <p:cNvSpPr txBox="1"/>
          <p:nvPr/>
        </p:nvSpPr>
        <p:spPr>
          <a:xfrm>
            <a:off x="1279069" y="5084129"/>
            <a:ext cx="10358749" cy="1550117"/>
          </a:xfrm>
          <a:prstGeom prst="rect">
            <a:avLst/>
          </a:prstGeom>
        </p:spPr>
        <p:txBody>
          <a:bodyPr vert="horz" lIns="91440" tIns="45720" rIns="91440" bIns="45720" rtlCol="0" anchor="ctr">
            <a:normAutofit lnSpcReduction="10000"/>
          </a:bodyPr>
          <a:lstStyle/>
          <a:p>
            <a:pPr defTabSz="914400">
              <a:lnSpc>
                <a:spcPct val="120000"/>
              </a:lnSpc>
              <a:spcAft>
                <a:spcPts val="600"/>
              </a:spcAft>
              <a:buClr>
                <a:schemeClr val="accent6"/>
              </a:buClr>
              <a:buSzPct val="90000"/>
              <a:buFont typeface="Wingdings" panose="05000000000000000000" pitchFamily="2" charset="2"/>
              <a:buChar char="§"/>
            </a:pPr>
            <a:r>
              <a:rPr lang="en-US" sz="1400" dirty="0"/>
              <a:t> Cancelation Revenue is 31% of Total Revenue. Almost one-third of potential revenue are cancellations.</a:t>
            </a:r>
          </a:p>
          <a:p>
            <a:pPr defTabSz="914400">
              <a:lnSpc>
                <a:spcPct val="120000"/>
              </a:lnSpc>
              <a:spcAft>
                <a:spcPts val="600"/>
              </a:spcAft>
              <a:buClr>
                <a:schemeClr val="accent6"/>
              </a:buClr>
              <a:buSzPct val="90000"/>
              <a:buFont typeface="Wingdings" panose="05000000000000000000" pitchFamily="2" charset="2"/>
              <a:buChar char="§"/>
            </a:pPr>
            <a:r>
              <a:rPr lang="en-SG" sz="1400" dirty="0"/>
              <a:t>Cancelled bookings generate higher average revenue than completed bookings. </a:t>
            </a:r>
            <a:endParaRPr lang="en-US" sz="1400" dirty="0"/>
          </a:p>
          <a:p>
            <a:pPr defTabSz="914400">
              <a:lnSpc>
                <a:spcPct val="120000"/>
              </a:lnSpc>
              <a:spcAft>
                <a:spcPts val="600"/>
              </a:spcAft>
              <a:buClr>
                <a:schemeClr val="accent6"/>
              </a:buClr>
              <a:buSzPct val="90000"/>
              <a:buFont typeface="Wingdings" panose="05000000000000000000" pitchFamily="2" charset="2"/>
              <a:buChar char="§"/>
            </a:pPr>
            <a:r>
              <a:rPr lang="en-US" sz="1400" dirty="0"/>
              <a:t> Number of nights Cancelled is 26% of Total Nights.</a:t>
            </a:r>
            <a:r>
              <a:rPr lang="en-SG" sz="1400" dirty="0"/>
              <a:t> Revenue loss is higher than booking loss =&gt; Cancel guests may higher value bookings.</a:t>
            </a:r>
          </a:p>
          <a:p>
            <a:pPr defTabSz="914400">
              <a:lnSpc>
                <a:spcPct val="120000"/>
              </a:lnSpc>
              <a:spcAft>
                <a:spcPts val="600"/>
              </a:spcAft>
              <a:buClr>
                <a:schemeClr val="accent6"/>
              </a:buClr>
              <a:buSzPct val="90000"/>
              <a:buFont typeface="Wingdings" panose="05000000000000000000" pitchFamily="2" charset="2"/>
              <a:buChar char="§"/>
            </a:pPr>
            <a:r>
              <a:rPr lang="en-US" sz="1400" dirty="0"/>
              <a:t>Cancel transaction is 27%.</a:t>
            </a:r>
          </a:p>
        </p:txBody>
      </p:sp>
      <p:sp>
        <p:nvSpPr>
          <p:cNvPr id="4" name="TextBox 3">
            <a:extLst>
              <a:ext uri="{FF2B5EF4-FFF2-40B4-BE49-F238E27FC236}">
                <a16:creationId xmlns:a16="http://schemas.microsoft.com/office/drawing/2014/main" id="{1080ED28-714F-D554-21DB-1929998CDC58}"/>
              </a:ext>
            </a:extLst>
          </p:cNvPr>
          <p:cNvSpPr txBox="1"/>
          <p:nvPr/>
        </p:nvSpPr>
        <p:spPr>
          <a:xfrm>
            <a:off x="6574585" y="350571"/>
            <a:ext cx="4716836" cy="4733557"/>
          </a:xfrm>
          <a:prstGeom prst="rect">
            <a:avLst/>
          </a:prstGeom>
        </p:spPr>
        <p:txBody>
          <a:bodyPr vert="horz" lIns="91440" tIns="45720" rIns="91440" bIns="45720" rtlCol="0" anchor="ctr">
            <a:normAutofit/>
          </a:bodyPr>
          <a:lstStyle/>
          <a:p>
            <a:pPr defTabSz="914400">
              <a:lnSpc>
                <a:spcPct val="120000"/>
              </a:lnSpc>
              <a:spcAft>
                <a:spcPts val="600"/>
              </a:spcAft>
              <a:buClr>
                <a:schemeClr val="accent6"/>
              </a:buClr>
              <a:buSzPct val="90000"/>
            </a:pPr>
            <a:r>
              <a:rPr lang="en-US" b="1" dirty="0"/>
              <a:t>Descriptive Analysis</a:t>
            </a:r>
            <a:r>
              <a:rPr lang="en-US" dirty="0"/>
              <a:t> </a:t>
            </a:r>
            <a:endParaRPr lang="en-US" sz="1400" dirty="0"/>
          </a:p>
          <a:p>
            <a:pPr defTabSz="914400">
              <a:lnSpc>
                <a:spcPct val="120000"/>
              </a:lnSpc>
              <a:spcAft>
                <a:spcPts val="600"/>
              </a:spcAft>
              <a:buClr>
                <a:schemeClr val="accent6"/>
              </a:buClr>
              <a:buSzPct val="90000"/>
              <a:buFont typeface="Wingdings" panose="05000000000000000000" pitchFamily="2" charset="2"/>
              <a:buChar char="§"/>
            </a:pPr>
            <a:endParaRPr lang="en-US" sz="1400" dirty="0"/>
          </a:p>
          <a:p>
            <a:pPr defTabSz="914400">
              <a:lnSpc>
                <a:spcPct val="120000"/>
              </a:lnSpc>
              <a:spcAft>
                <a:spcPts val="600"/>
              </a:spcAft>
              <a:buClr>
                <a:schemeClr val="accent6"/>
              </a:buClr>
              <a:buSzPct val="90000"/>
              <a:buFont typeface="Wingdings" panose="05000000000000000000" pitchFamily="2" charset="2"/>
              <a:buChar char="§"/>
            </a:pPr>
            <a:r>
              <a:rPr lang="en-US" sz="1400" dirty="0"/>
              <a:t>Resort Hotel room revenue is around 4.21M$ and cancellation revenue is 1.88M$.</a:t>
            </a:r>
          </a:p>
          <a:p>
            <a:pPr defTabSz="914400">
              <a:lnSpc>
                <a:spcPct val="120000"/>
              </a:lnSpc>
              <a:spcAft>
                <a:spcPts val="600"/>
              </a:spcAft>
              <a:buClr>
                <a:schemeClr val="accent6"/>
              </a:buClr>
              <a:buSzPct val="90000"/>
              <a:buFont typeface="Wingdings" panose="05000000000000000000" pitchFamily="2" charset="2"/>
              <a:buChar char="§"/>
            </a:pPr>
            <a:r>
              <a:rPr lang="en-US" sz="1400" dirty="0"/>
              <a:t>Median is around 250.</a:t>
            </a:r>
          </a:p>
          <a:p>
            <a:pPr defTabSz="914400">
              <a:lnSpc>
                <a:spcPct val="120000"/>
              </a:lnSpc>
              <a:spcAft>
                <a:spcPts val="600"/>
              </a:spcAft>
              <a:buClr>
                <a:schemeClr val="accent6"/>
              </a:buClr>
              <a:buSzPct val="90000"/>
              <a:buFont typeface="Wingdings" panose="05000000000000000000" pitchFamily="2" charset="2"/>
              <a:buChar char="§"/>
            </a:pPr>
            <a:r>
              <a:rPr lang="en-US" sz="1400" dirty="0"/>
              <a:t> As skewness is positive (Mode &lt; Median &lt; Mean)  the major of Resort Hotel revenue mostly at lower or average revenue, while a few extreme outliers pull the average up.</a:t>
            </a:r>
          </a:p>
          <a:p>
            <a:pPr defTabSz="914400">
              <a:lnSpc>
                <a:spcPct val="120000"/>
              </a:lnSpc>
              <a:spcAft>
                <a:spcPts val="600"/>
              </a:spcAft>
              <a:buClr>
                <a:schemeClr val="accent6"/>
              </a:buClr>
              <a:buSzPct val="90000"/>
              <a:buFont typeface="Wingdings" panose="05000000000000000000" pitchFamily="2" charset="2"/>
              <a:buChar char="§"/>
            </a:pPr>
            <a:r>
              <a:rPr lang="en-US" sz="1400" dirty="0"/>
              <a:t> The rage of total revenue is 0 ~ 7,500 showing there may have complementary or seasonal high earn.</a:t>
            </a:r>
          </a:p>
          <a:p>
            <a:pPr defTabSz="914400">
              <a:lnSpc>
                <a:spcPct val="120000"/>
              </a:lnSpc>
              <a:spcAft>
                <a:spcPts val="600"/>
              </a:spcAft>
              <a:buClr>
                <a:schemeClr val="accent6"/>
              </a:buClr>
              <a:buSzPct val="90000"/>
              <a:buFont typeface="Wingdings" panose="05000000000000000000" pitchFamily="2" charset="2"/>
              <a:buChar char="§"/>
            </a:pPr>
            <a:r>
              <a:rPr lang="en-US" sz="1400" dirty="0"/>
              <a:t> The average is around 400$ while standard deviation around 392 showing the variance is between 0$ ~ 700$.</a:t>
            </a:r>
          </a:p>
          <a:p>
            <a:pPr defTabSz="914400">
              <a:lnSpc>
                <a:spcPct val="120000"/>
              </a:lnSpc>
              <a:spcAft>
                <a:spcPts val="600"/>
              </a:spcAft>
              <a:buClr>
                <a:schemeClr val="accent6"/>
              </a:buClr>
              <a:buSzPct val="90000"/>
              <a:buFont typeface="Wingdings" panose="05000000000000000000" pitchFamily="2" charset="2"/>
              <a:buChar char="§"/>
            </a:pPr>
            <a:r>
              <a:rPr lang="en-US" sz="1400" dirty="0"/>
              <a:t> CV 1.23 indicates the revenue is irregular such as driven by high seasonal or luxury booking or cancellation.</a:t>
            </a:r>
          </a:p>
        </p:txBody>
      </p:sp>
      <p:graphicFrame>
        <p:nvGraphicFramePr>
          <p:cNvPr id="5" name="Table 4">
            <a:extLst>
              <a:ext uri="{FF2B5EF4-FFF2-40B4-BE49-F238E27FC236}">
                <a16:creationId xmlns:a16="http://schemas.microsoft.com/office/drawing/2014/main" id="{250A4028-989C-5FA6-992E-2F729A3E1C25}"/>
              </a:ext>
            </a:extLst>
          </p:cNvPr>
          <p:cNvGraphicFramePr>
            <a:graphicFrameLocks noGrp="1"/>
          </p:cNvGraphicFramePr>
          <p:nvPr>
            <p:extLst>
              <p:ext uri="{D42A27DB-BD31-4B8C-83A1-F6EECF244321}">
                <p14:modId xmlns:p14="http://schemas.microsoft.com/office/powerpoint/2010/main" val="864145138"/>
              </p:ext>
            </p:extLst>
          </p:nvPr>
        </p:nvGraphicFramePr>
        <p:xfrm>
          <a:off x="1360406" y="1193349"/>
          <a:ext cx="4635500" cy="3048000"/>
        </p:xfrm>
        <a:graphic>
          <a:graphicData uri="http://schemas.openxmlformats.org/drawingml/2006/table">
            <a:tbl>
              <a:tblPr firstRow="1" bandRow="1">
                <a:tableStyleId>{9D7B26C5-4107-4FEC-AEDC-1716B250A1EF}</a:tableStyleId>
              </a:tblPr>
              <a:tblGrid>
                <a:gridCol w="2070100">
                  <a:extLst>
                    <a:ext uri="{9D8B030D-6E8A-4147-A177-3AD203B41FA5}">
                      <a16:colId xmlns:a16="http://schemas.microsoft.com/office/drawing/2014/main" val="4115917818"/>
                    </a:ext>
                  </a:extLst>
                </a:gridCol>
                <a:gridCol w="1562100">
                  <a:extLst>
                    <a:ext uri="{9D8B030D-6E8A-4147-A177-3AD203B41FA5}">
                      <a16:colId xmlns:a16="http://schemas.microsoft.com/office/drawing/2014/main" val="3149824889"/>
                    </a:ext>
                  </a:extLst>
                </a:gridCol>
                <a:gridCol w="1003300">
                  <a:extLst>
                    <a:ext uri="{9D8B030D-6E8A-4147-A177-3AD203B41FA5}">
                      <a16:colId xmlns:a16="http://schemas.microsoft.com/office/drawing/2014/main" val="2599221078"/>
                    </a:ext>
                  </a:extLst>
                </a:gridCol>
              </a:tblGrid>
              <a:tr h="203200">
                <a:tc>
                  <a:txBody>
                    <a:bodyPr/>
                    <a:lstStyle/>
                    <a:p>
                      <a:pPr algn="ctr" fontAlgn="b">
                        <a:buNone/>
                      </a:pPr>
                      <a:r>
                        <a:rPr lang="en-SG" sz="1200" b="0" u="none" strike="noStrike" dirty="0">
                          <a:solidFill>
                            <a:schemeClr val="tx1"/>
                          </a:solidFill>
                          <a:effectLst/>
                        </a:rPr>
                        <a:t>2016 Year</a:t>
                      </a: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Canceled</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Non Cancel</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896171992"/>
                  </a:ext>
                </a:extLst>
              </a:tr>
              <a:tr h="203200">
                <a:tc>
                  <a:txBody>
                    <a:bodyPr/>
                    <a:lstStyle/>
                    <a:p>
                      <a:pPr algn="ctr" fontAlgn="b">
                        <a:buNone/>
                      </a:pPr>
                      <a:r>
                        <a:rPr lang="en-SG" sz="1200" b="1" u="none" strike="noStrike" dirty="0">
                          <a:solidFill>
                            <a:schemeClr val="tx1"/>
                          </a:solidFill>
                          <a:effectLst/>
                        </a:rPr>
                        <a:t>Resort Hotel</a:t>
                      </a:r>
                      <a:endParaRPr lang="en-SG" sz="1200" b="1"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Revenue</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Revenue</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565648847"/>
                  </a:ext>
                </a:extLst>
              </a:tr>
              <a:tr h="203200">
                <a:tc>
                  <a:txBody>
                    <a:bodyPr/>
                    <a:lstStyle/>
                    <a:p>
                      <a:pPr algn="l" fontAlgn="b">
                        <a:buNone/>
                      </a:pPr>
                      <a:r>
                        <a:rPr lang="en-SG" sz="1200" b="0" u="none" strike="noStrike" dirty="0">
                          <a:solidFill>
                            <a:schemeClr val="tx1"/>
                          </a:solidFill>
                          <a:effectLst/>
                        </a:rPr>
                        <a:t>Mean</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418.11</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320.24</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863470909"/>
                  </a:ext>
                </a:extLst>
              </a:tr>
              <a:tr h="203200">
                <a:tc>
                  <a:txBody>
                    <a:bodyPr/>
                    <a:lstStyle/>
                    <a:p>
                      <a:pPr algn="l" fontAlgn="b">
                        <a:buNone/>
                      </a:pPr>
                      <a:r>
                        <a:rPr lang="en-SG" sz="1200" b="0" u="none" strike="noStrike">
                          <a:solidFill>
                            <a:schemeClr val="tx1"/>
                          </a:solidFill>
                          <a:effectLst/>
                        </a:rPr>
                        <a:t>Max</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3,679.92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7,590.00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773171592"/>
                  </a:ext>
                </a:extLst>
              </a:tr>
              <a:tr h="203200">
                <a:tc>
                  <a:txBody>
                    <a:bodyPr/>
                    <a:lstStyle/>
                    <a:p>
                      <a:pPr algn="l" fontAlgn="b">
                        <a:buNone/>
                      </a:pPr>
                      <a:r>
                        <a:rPr lang="en-SG" sz="1200" b="0" u="none" strike="noStrike" dirty="0">
                          <a:solidFill>
                            <a:schemeClr val="tx1"/>
                          </a:solidFill>
                          <a:effectLst/>
                        </a:rPr>
                        <a:t>Min</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959948944"/>
                  </a:ext>
                </a:extLst>
              </a:tr>
              <a:tr h="203200">
                <a:tc>
                  <a:txBody>
                    <a:bodyPr/>
                    <a:lstStyle/>
                    <a:p>
                      <a:pPr algn="l" fontAlgn="b">
                        <a:buNone/>
                      </a:pPr>
                      <a:r>
                        <a:rPr lang="en-SG" sz="1200" b="0" u="none" strike="noStrike">
                          <a:solidFill>
                            <a:schemeClr val="tx1"/>
                          </a:solidFill>
                          <a:effectLst/>
                        </a:rPr>
                        <a:t>Range</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3,679.92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7,590.00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676168221"/>
                  </a:ext>
                </a:extLst>
              </a:tr>
              <a:tr h="203200">
                <a:tc>
                  <a:txBody>
                    <a:bodyPr/>
                    <a:lstStyle/>
                    <a:p>
                      <a:pPr algn="l" fontAlgn="b">
                        <a:buNone/>
                      </a:pPr>
                      <a:r>
                        <a:rPr lang="en-SG" sz="1200" b="0" u="none" strike="noStrike" dirty="0">
                          <a:solidFill>
                            <a:schemeClr val="tx1"/>
                          </a:solidFill>
                          <a:effectLst/>
                        </a:rPr>
                        <a:t>Mode</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096349084"/>
                  </a:ext>
                </a:extLst>
              </a:tr>
              <a:tr h="203200">
                <a:tc>
                  <a:txBody>
                    <a:bodyPr/>
                    <a:lstStyle/>
                    <a:p>
                      <a:pPr algn="l" fontAlgn="b">
                        <a:buNone/>
                      </a:pPr>
                      <a:r>
                        <a:rPr lang="en-SG" sz="1200" b="0" u="none" strike="noStrike">
                          <a:solidFill>
                            <a:schemeClr val="tx1"/>
                          </a:solidFill>
                          <a:effectLst/>
                        </a:rPr>
                        <a:t>Median</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252.00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252.00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588798846"/>
                  </a:ext>
                </a:extLst>
              </a:tr>
              <a:tr h="203200">
                <a:tc>
                  <a:txBody>
                    <a:bodyPr/>
                    <a:lstStyle/>
                    <a:p>
                      <a:pPr algn="l" fontAlgn="b">
                        <a:buNone/>
                      </a:pPr>
                      <a:r>
                        <a:rPr lang="en-SG" sz="1200" b="0" u="none" strike="noStrike">
                          <a:solidFill>
                            <a:schemeClr val="tx1"/>
                          </a:solidFill>
                          <a:effectLst/>
                        </a:rPr>
                        <a:t>Var</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153,908.13</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153,908.13</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257521975"/>
                  </a:ext>
                </a:extLst>
              </a:tr>
              <a:tr h="203200">
                <a:tc>
                  <a:txBody>
                    <a:bodyPr/>
                    <a:lstStyle/>
                    <a:p>
                      <a:pPr algn="l" fontAlgn="b">
                        <a:buNone/>
                      </a:pPr>
                      <a:r>
                        <a:rPr lang="en-SG" sz="1200" b="0" u="none" strike="noStrike">
                          <a:solidFill>
                            <a:schemeClr val="tx1"/>
                          </a:solidFill>
                          <a:effectLst/>
                        </a:rPr>
                        <a:t>STD</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392.31</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392.31</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37286787"/>
                  </a:ext>
                </a:extLst>
              </a:tr>
              <a:tr h="203200">
                <a:tc>
                  <a:txBody>
                    <a:bodyPr/>
                    <a:lstStyle/>
                    <a:p>
                      <a:pPr algn="l" fontAlgn="b">
                        <a:buNone/>
                      </a:pPr>
                      <a:r>
                        <a:rPr lang="en-SG" sz="1200" b="0" u="none" strike="noStrike">
                          <a:solidFill>
                            <a:schemeClr val="tx1"/>
                          </a:solidFill>
                          <a:effectLst/>
                        </a:rPr>
                        <a:t>CV</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0.94</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1.23</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835258552"/>
                  </a:ext>
                </a:extLst>
              </a:tr>
              <a:tr h="203200">
                <a:tc>
                  <a:txBody>
                    <a:bodyPr/>
                    <a:lstStyle/>
                    <a:p>
                      <a:pPr algn="l" fontAlgn="b">
                        <a:buNone/>
                      </a:pPr>
                      <a:r>
                        <a:rPr lang="en-SG" sz="1200" b="0" u="none" strike="noStrike">
                          <a:solidFill>
                            <a:schemeClr val="tx1"/>
                          </a:solidFill>
                          <a:effectLst/>
                        </a:rPr>
                        <a:t>Sum</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1,878,566.37</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4,211,163.49</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516339957"/>
                  </a:ext>
                </a:extLst>
              </a:tr>
              <a:tr h="203200">
                <a:tc>
                  <a:txBody>
                    <a:bodyPr/>
                    <a:lstStyle/>
                    <a:p>
                      <a:pPr algn="l" fontAlgn="b">
                        <a:buNone/>
                      </a:pPr>
                      <a:r>
                        <a:rPr lang="en-SG" sz="1200" b="0" u="none" strike="noStrike">
                          <a:solidFill>
                            <a:schemeClr val="tx1"/>
                          </a:solidFill>
                          <a:effectLst/>
                        </a:rPr>
                        <a:t>Number of Nights</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20,381</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51,754</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747239847"/>
                  </a:ext>
                </a:extLst>
              </a:tr>
              <a:tr h="203200">
                <a:tc>
                  <a:txBody>
                    <a:bodyPr/>
                    <a:lstStyle/>
                    <a:p>
                      <a:pPr algn="l" fontAlgn="b">
                        <a:buNone/>
                      </a:pPr>
                      <a:r>
                        <a:rPr lang="en-SG" sz="1200" b="0" u="none" strike="noStrike">
                          <a:solidFill>
                            <a:schemeClr val="tx1"/>
                          </a:solidFill>
                          <a:effectLst/>
                        </a:rPr>
                        <a:t>Transaction</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4,605</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13,038</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846338911"/>
                  </a:ext>
                </a:extLst>
              </a:tr>
              <a:tr h="203200">
                <a:tc>
                  <a:txBody>
                    <a:bodyPr/>
                    <a:lstStyle/>
                    <a:p>
                      <a:pPr algn="l" fontAlgn="b">
                        <a:buNone/>
                      </a:pPr>
                      <a:r>
                        <a:rPr lang="en-SG" sz="1200" b="0" u="none" strike="noStrike">
                          <a:solidFill>
                            <a:schemeClr val="tx1"/>
                          </a:solidFill>
                          <a:effectLst/>
                        </a:rPr>
                        <a:t>Skew Revenue</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2.16</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2.16</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783296054"/>
                  </a:ext>
                </a:extLst>
              </a:tr>
            </a:tbl>
          </a:graphicData>
        </a:graphic>
      </p:graphicFrame>
    </p:spTree>
    <p:extLst>
      <p:ext uri="{BB962C8B-B14F-4D97-AF65-F5344CB8AC3E}">
        <p14:creationId xmlns:p14="http://schemas.microsoft.com/office/powerpoint/2010/main" val="2739484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0D011080-AA67-F620-BCA7-36A53400EC0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30ED244-8CE1-9151-0839-81BE9CC26F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F39F1B-883D-F7C9-AD69-C5B632BBB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A0B347C-E697-2DC7-19F1-923D6FB6D3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E920B799-AA79-FA77-8AA0-E61748B3D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F5BD1883-9AA2-60F1-9081-DAC06D97787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207BF878-87E3-90F8-01A0-385C40D9F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53EC1C5-637D-C0CE-6F2F-3B8C18D87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8EBBFDB0-40F8-1F2B-8CC2-3C84765C48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D2B77D39-095B-A814-E36F-7CD1D56F6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54C509-BA04-5D5F-F796-E8536FF0EF2F}"/>
              </a:ext>
            </a:extLst>
          </p:cNvPr>
          <p:cNvSpPr txBox="1">
            <a:spLocks/>
          </p:cNvSpPr>
          <p:nvPr/>
        </p:nvSpPr>
        <p:spPr>
          <a:xfrm>
            <a:off x="1111599" y="339980"/>
            <a:ext cx="4236256"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Night of Stays Analysis</a:t>
            </a:r>
          </a:p>
        </p:txBody>
      </p:sp>
      <p:sp>
        <p:nvSpPr>
          <p:cNvPr id="3" name="TextBox 2">
            <a:extLst>
              <a:ext uri="{FF2B5EF4-FFF2-40B4-BE49-F238E27FC236}">
                <a16:creationId xmlns:a16="http://schemas.microsoft.com/office/drawing/2014/main" id="{9E8356BC-2951-251D-6083-37AB16943096}"/>
              </a:ext>
            </a:extLst>
          </p:cNvPr>
          <p:cNvSpPr txBox="1"/>
          <p:nvPr/>
        </p:nvSpPr>
        <p:spPr>
          <a:xfrm>
            <a:off x="1088907" y="5445758"/>
            <a:ext cx="6148183" cy="662554"/>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15+ night stays are high risk but low volume. </a:t>
            </a:r>
            <a:endParaRPr lang="en-US" sz="1400" dirty="0"/>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4-7 night stays create much over 50% total cancellation damage.</a:t>
            </a:r>
          </a:p>
        </p:txBody>
      </p:sp>
      <p:graphicFrame>
        <p:nvGraphicFramePr>
          <p:cNvPr id="4" name="Table 3">
            <a:extLst>
              <a:ext uri="{FF2B5EF4-FFF2-40B4-BE49-F238E27FC236}">
                <a16:creationId xmlns:a16="http://schemas.microsoft.com/office/drawing/2014/main" id="{2AB98AFD-F3F6-8118-FBAA-2641FCEE3D25}"/>
              </a:ext>
            </a:extLst>
          </p:cNvPr>
          <p:cNvGraphicFramePr>
            <a:graphicFrameLocks noGrp="1"/>
          </p:cNvGraphicFramePr>
          <p:nvPr>
            <p:extLst>
              <p:ext uri="{D42A27DB-BD31-4B8C-83A1-F6EECF244321}">
                <p14:modId xmlns:p14="http://schemas.microsoft.com/office/powerpoint/2010/main" val="1512583455"/>
              </p:ext>
            </p:extLst>
          </p:nvPr>
        </p:nvGraphicFramePr>
        <p:xfrm>
          <a:off x="7090742" y="605790"/>
          <a:ext cx="4730807" cy="2502050"/>
        </p:xfrm>
        <a:graphic>
          <a:graphicData uri="http://schemas.openxmlformats.org/drawingml/2006/table">
            <a:tbl>
              <a:tblPr firstRow="1" bandRow="1">
                <a:tableStyleId>{9D7B26C5-4107-4FEC-AEDC-1716B250A1EF}</a:tableStyleId>
              </a:tblPr>
              <a:tblGrid>
                <a:gridCol w="2034239">
                  <a:extLst>
                    <a:ext uri="{9D8B030D-6E8A-4147-A177-3AD203B41FA5}">
                      <a16:colId xmlns:a16="http://schemas.microsoft.com/office/drawing/2014/main" val="1000419060"/>
                    </a:ext>
                  </a:extLst>
                </a:gridCol>
                <a:gridCol w="891053">
                  <a:extLst>
                    <a:ext uri="{9D8B030D-6E8A-4147-A177-3AD203B41FA5}">
                      <a16:colId xmlns:a16="http://schemas.microsoft.com/office/drawing/2014/main" val="2204415316"/>
                    </a:ext>
                  </a:extLst>
                </a:gridCol>
                <a:gridCol w="1022090">
                  <a:extLst>
                    <a:ext uri="{9D8B030D-6E8A-4147-A177-3AD203B41FA5}">
                      <a16:colId xmlns:a16="http://schemas.microsoft.com/office/drawing/2014/main" val="2173349422"/>
                    </a:ext>
                  </a:extLst>
                </a:gridCol>
                <a:gridCol w="783425">
                  <a:extLst>
                    <a:ext uri="{9D8B030D-6E8A-4147-A177-3AD203B41FA5}">
                      <a16:colId xmlns:a16="http://schemas.microsoft.com/office/drawing/2014/main" val="2661380897"/>
                    </a:ext>
                  </a:extLst>
                </a:gridCol>
              </a:tblGrid>
              <a:tr h="211199">
                <a:tc>
                  <a:txBody>
                    <a:bodyPr/>
                    <a:lstStyle/>
                    <a:p>
                      <a:pPr algn="l" fontAlgn="b">
                        <a:buNone/>
                      </a:pPr>
                      <a:r>
                        <a:rPr lang="en-SG" sz="1200" b="0" u="none" strike="noStrike" dirty="0">
                          <a:solidFill>
                            <a:schemeClr val="tx1"/>
                          </a:solidFill>
                          <a:effectLst/>
                        </a:rPr>
                        <a:t>Number of nights Stay in</a:t>
                      </a:r>
                      <a:endParaRPr lang="en-SG" sz="1200" b="0" i="0" u="none" strike="noStrike" dirty="0">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Weekend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Weekday</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Total</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389937078"/>
                  </a:ext>
                </a:extLst>
              </a:tr>
              <a:tr h="211199">
                <a:tc>
                  <a:txBody>
                    <a:bodyPr/>
                    <a:lstStyle/>
                    <a:p>
                      <a:pPr algn="l" fontAlgn="b">
                        <a:buNone/>
                      </a:pPr>
                      <a:r>
                        <a:rPr lang="en-SG" sz="1200" b="0" u="none" strike="noStrike" dirty="0">
                          <a:solidFill>
                            <a:schemeClr val="tx1"/>
                          </a:solidFill>
                          <a:effectLst/>
                        </a:rPr>
                        <a:t>Mean</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1.13</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2.99</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4.11</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900567851"/>
                  </a:ext>
                </a:extLst>
              </a:tr>
              <a:tr h="211199">
                <a:tc>
                  <a:txBody>
                    <a:bodyPr/>
                    <a:lstStyle/>
                    <a:p>
                      <a:pPr algn="l" fontAlgn="b">
                        <a:buNone/>
                      </a:pPr>
                      <a:r>
                        <a:rPr lang="en-SG" sz="1200" b="0" u="none" strike="noStrike" dirty="0">
                          <a:solidFill>
                            <a:schemeClr val="tx1"/>
                          </a:solidFill>
                          <a:effectLst/>
                        </a:rPr>
                        <a:t>Max</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19</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50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69</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541373565"/>
                  </a:ext>
                </a:extLst>
              </a:tr>
              <a:tr h="211199">
                <a:tc>
                  <a:txBody>
                    <a:bodyPr/>
                    <a:lstStyle/>
                    <a:p>
                      <a:pPr algn="l" fontAlgn="b">
                        <a:buNone/>
                      </a:pPr>
                      <a:r>
                        <a:rPr lang="en-SG" sz="1200" b="0" u="none" strike="noStrike">
                          <a:solidFill>
                            <a:schemeClr val="tx1"/>
                          </a:solidFill>
                          <a:effectLst/>
                        </a:rPr>
                        <a:t>Min</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861002667"/>
                  </a:ext>
                </a:extLst>
              </a:tr>
              <a:tr h="211199">
                <a:tc>
                  <a:txBody>
                    <a:bodyPr/>
                    <a:lstStyle/>
                    <a:p>
                      <a:pPr algn="l" fontAlgn="b">
                        <a:buNone/>
                      </a:pPr>
                      <a:r>
                        <a:rPr lang="en-SG" sz="1200" b="0" u="none" strike="noStrike">
                          <a:solidFill>
                            <a:schemeClr val="tx1"/>
                          </a:solidFill>
                          <a:effectLst/>
                        </a:rPr>
                        <a:t>Range</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19</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50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69</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75338457"/>
                  </a:ext>
                </a:extLst>
              </a:tr>
              <a:tr h="211199">
                <a:tc>
                  <a:txBody>
                    <a:bodyPr/>
                    <a:lstStyle/>
                    <a:p>
                      <a:pPr algn="l" fontAlgn="b">
                        <a:buNone/>
                      </a:pPr>
                      <a:r>
                        <a:rPr lang="en-SG" sz="1200" b="0" u="none" strike="noStrike" dirty="0">
                          <a:solidFill>
                            <a:schemeClr val="tx1"/>
                          </a:solidFill>
                          <a:effectLst/>
                        </a:rPr>
                        <a:t>Mode</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722525473"/>
                  </a:ext>
                </a:extLst>
              </a:tr>
              <a:tr h="211199">
                <a:tc>
                  <a:txBody>
                    <a:bodyPr/>
                    <a:lstStyle/>
                    <a:p>
                      <a:pPr algn="l" fontAlgn="b">
                        <a:buNone/>
                      </a:pPr>
                      <a:r>
                        <a:rPr lang="en-SG" sz="1200" b="0" u="none" strike="noStrike">
                          <a:solidFill>
                            <a:schemeClr val="tx1"/>
                          </a:solidFill>
                          <a:effectLst/>
                        </a:rPr>
                        <a:t>Median</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3</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854128725"/>
                  </a:ext>
                </a:extLst>
              </a:tr>
              <a:tr h="211199">
                <a:tc>
                  <a:txBody>
                    <a:bodyPr/>
                    <a:lstStyle/>
                    <a:p>
                      <a:pPr algn="l" fontAlgn="b">
                        <a:buNone/>
                      </a:pPr>
                      <a:r>
                        <a:rPr lang="en-SG" sz="1200" b="0" u="none" strike="noStrike">
                          <a:solidFill>
                            <a:schemeClr val="tx1"/>
                          </a:solidFill>
                          <a:effectLst/>
                        </a:rPr>
                        <a:t>Var</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1.32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6.13</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11.63</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935072178"/>
                  </a:ext>
                </a:extLst>
              </a:tr>
              <a:tr h="211199">
                <a:tc>
                  <a:txBody>
                    <a:bodyPr/>
                    <a:lstStyle/>
                    <a:p>
                      <a:pPr algn="l" fontAlgn="b">
                        <a:buNone/>
                      </a:pPr>
                      <a:r>
                        <a:rPr lang="en-SG" sz="1200" b="0" u="none" strike="noStrike">
                          <a:solidFill>
                            <a:schemeClr val="tx1"/>
                          </a:solidFill>
                          <a:effectLst/>
                        </a:rPr>
                        <a:t>STD</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1.15</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2.48</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3.41</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4096835534"/>
                  </a:ext>
                </a:extLst>
              </a:tr>
              <a:tr h="211199">
                <a:tc>
                  <a:txBody>
                    <a:bodyPr/>
                    <a:lstStyle/>
                    <a:p>
                      <a:pPr algn="l" fontAlgn="b">
                        <a:buNone/>
                      </a:pPr>
                      <a:r>
                        <a:rPr lang="en-SG" sz="1200" b="0" u="none" strike="noStrike">
                          <a:solidFill>
                            <a:schemeClr val="tx1"/>
                          </a:solidFill>
                          <a:effectLst/>
                        </a:rPr>
                        <a:t>CV</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1.02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0.83</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0.83</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386152416"/>
                  </a:ext>
                </a:extLst>
              </a:tr>
              <a:tr h="390060">
                <a:tc>
                  <a:txBody>
                    <a:bodyPr/>
                    <a:lstStyle/>
                    <a:p>
                      <a:pPr algn="l" fontAlgn="b">
                        <a:buNone/>
                      </a:pPr>
                      <a:r>
                        <a:rPr lang="en-SG" sz="1200" b="0" u="none" strike="noStrike" dirty="0">
                          <a:solidFill>
                            <a:schemeClr val="tx1"/>
                          </a:solidFill>
                          <a:effectLst/>
                        </a:rPr>
                        <a:t>Sum</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31,197.00</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82,687.00</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113,884.00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858168737"/>
                  </a:ext>
                </a:extLst>
              </a:tr>
            </a:tbl>
          </a:graphicData>
        </a:graphic>
      </p:graphicFrame>
      <p:graphicFrame>
        <p:nvGraphicFramePr>
          <p:cNvPr id="5" name="Chart 4">
            <a:extLst>
              <a:ext uri="{FF2B5EF4-FFF2-40B4-BE49-F238E27FC236}">
                <a16:creationId xmlns:a16="http://schemas.microsoft.com/office/drawing/2014/main" id="{3C3F3F15-D57F-F0F0-8242-4605DEA67265}"/>
              </a:ext>
            </a:extLst>
          </p:cNvPr>
          <p:cNvGraphicFramePr>
            <a:graphicFrameLocks/>
          </p:cNvGraphicFramePr>
          <p:nvPr>
            <p:extLst>
              <p:ext uri="{D42A27DB-BD31-4B8C-83A1-F6EECF244321}">
                <p14:modId xmlns:p14="http://schemas.microsoft.com/office/powerpoint/2010/main" val="1499257850"/>
              </p:ext>
            </p:extLst>
          </p:nvPr>
        </p:nvGraphicFramePr>
        <p:xfrm>
          <a:off x="1111599" y="953318"/>
          <a:ext cx="5383186" cy="336981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Table 5">
            <a:extLst>
              <a:ext uri="{FF2B5EF4-FFF2-40B4-BE49-F238E27FC236}">
                <a16:creationId xmlns:a16="http://schemas.microsoft.com/office/drawing/2014/main" id="{562C4C3C-BC28-6CE5-A085-5F32A8B6898A}"/>
              </a:ext>
            </a:extLst>
          </p:cNvPr>
          <p:cNvGraphicFramePr>
            <a:graphicFrameLocks noGrp="1"/>
          </p:cNvGraphicFramePr>
          <p:nvPr>
            <p:extLst>
              <p:ext uri="{D42A27DB-BD31-4B8C-83A1-F6EECF244321}">
                <p14:modId xmlns:p14="http://schemas.microsoft.com/office/powerpoint/2010/main" val="641316401"/>
              </p:ext>
            </p:extLst>
          </p:nvPr>
        </p:nvGraphicFramePr>
        <p:xfrm>
          <a:off x="6722691" y="3464622"/>
          <a:ext cx="5164092" cy="1050315"/>
        </p:xfrm>
        <a:graphic>
          <a:graphicData uri="http://schemas.openxmlformats.org/drawingml/2006/table">
            <a:tbl>
              <a:tblPr firstRow="1" bandRow="1">
                <a:tableStyleId>{9D7B26C5-4107-4FEC-AEDC-1716B250A1EF}</a:tableStyleId>
              </a:tblPr>
              <a:tblGrid>
                <a:gridCol w="1929506">
                  <a:extLst>
                    <a:ext uri="{9D8B030D-6E8A-4147-A177-3AD203B41FA5}">
                      <a16:colId xmlns:a16="http://schemas.microsoft.com/office/drawing/2014/main" val="2570426282"/>
                    </a:ext>
                  </a:extLst>
                </a:gridCol>
                <a:gridCol w="1456008">
                  <a:extLst>
                    <a:ext uri="{9D8B030D-6E8A-4147-A177-3AD203B41FA5}">
                      <a16:colId xmlns:a16="http://schemas.microsoft.com/office/drawing/2014/main" val="3417015254"/>
                    </a:ext>
                  </a:extLst>
                </a:gridCol>
                <a:gridCol w="935159">
                  <a:extLst>
                    <a:ext uri="{9D8B030D-6E8A-4147-A177-3AD203B41FA5}">
                      <a16:colId xmlns:a16="http://schemas.microsoft.com/office/drawing/2014/main" val="925188294"/>
                    </a:ext>
                  </a:extLst>
                </a:gridCol>
                <a:gridCol w="843419">
                  <a:extLst>
                    <a:ext uri="{9D8B030D-6E8A-4147-A177-3AD203B41FA5}">
                      <a16:colId xmlns:a16="http://schemas.microsoft.com/office/drawing/2014/main" val="2341065151"/>
                    </a:ext>
                  </a:extLst>
                </a:gridCol>
              </a:tblGrid>
              <a:tr h="210063">
                <a:tc>
                  <a:txBody>
                    <a:bodyPr/>
                    <a:lstStyle/>
                    <a:p>
                      <a:pPr algn="ctr" fontAlgn="b">
                        <a:buNone/>
                      </a:pPr>
                      <a:r>
                        <a:rPr lang="en-SG" sz="1200" b="0" u="none" strike="noStrike" dirty="0">
                          <a:solidFill>
                            <a:schemeClr val="tx1"/>
                          </a:solidFill>
                          <a:effectLst/>
                        </a:rPr>
                        <a:t>Number of nights stay in</a:t>
                      </a: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Weekend</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Weekday</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dirty="0">
                          <a:solidFill>
                            <a:schemeClr val="tx1"/>
                          </a:solidFill>
                          <a:effectLst/>
                        </a:rPr>
                        <a:t>Total</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331692319"/>
                  </a:ext>
                </a:extLst>
              </a:tr>
              <a:tr h="210063">
                <a:tc>
                  <a:txBody>
                    <a:bodyPr/>
                    <a:lstStyle/>
                    <a:p>
                      <a:pPr algn="r" fontAlgn="b">
                        <a:buNone/>
                      </a:pPr>
                      <a:r>
                        <a:rPr lang="en-SG" sz="1200" b="0" u="none" strike="noStrike">
                          <a:solidFill>
                            <a:schemeClr val="tx1"/>
                          </a:solidFill>
                          <a:effectLst/>
                        </a:rPr>
                        <a:t>1~3</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8,756</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26,578</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35,334</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954967203"/>
                  </a:ext>
                </a:extLst>
              </a:tr>
              <a:tr h="210063">
                <a:tc>
                  <a:txBody>
                    <a:bodyPr/>
                    <a:lstStyle/>
                    <a:p>
                      <a:pPr algn="r" fontAlgn="b">
                        <a:buNone/>
                      </a:pPr>
                      <a:r>
                        <a:rPr lang="en-SG" sz="1200" b="0" u="none" strike="noStrike">
                          <a:solidFill>
                            <a:schemeClr val="tx1"/>
                          </a:solidFill>
                          <a:effectLst/>
                        </a:rPr>
                        <a:t>4~7</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23,241</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59,374</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82,615</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596248821"/>
                  </a:ext>
                </a:extLst>
              </a:tr>
              <a:tr h="210063">
                <a:tc>
                  <a:txBody>
                    <a:bodyPr/>
                    <a:lstStyle/>
                    <a:p>
                      <a:pPr algn="r" fontAlgn="b">
                        <a:buNone/>
                      </a:pPr>
                      <a:r>
                        <a:rPr lang="en-SG" sz="1200" b="0" u="none" strike="noStrike">
                          <a:solidFill>
                            <a:schemeClr val="tx1"/>
                          </a:solidFill>
                          <a:effectLst/>
                        </a:rPr>
                        <a:t>8~14</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10,674</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26,228</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36,902</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439768485"/>
                  </a:ext>
                </a:extLst>
              </a:tr>
              <a:tr h="210063">
                <a:tc>
                  <a:txBody>
                    <a:bodyPr/>
                    <a:lstStyle/>
                    <a:p>
                      <a:pPr algn="r" fontAlgn="b">
                        <a:buNone/>
                      </a:pPr>
                      <a:r>
                        <a:rPr lang="en-SG" sz="1200" b="0" u="none" strike="noStrike">
                          <a:solidFill>
                            <a:schemeClr val="tx1"/>
                          </a:solidFill>
                          <a:effectLst/>
                        </a:rPr>
                        <a:t>15~69</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1,714</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4,471</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6,185</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443660503"/>
                  </a:ext>
                </a:extLst>
              </a:tr>
            </a:tbl>
          </a:graphicData>
        </a:graphic>
      </p:graphicFrame>
      <p:graphicFrame>
        <p:nvGraphicFramePr>
          <p:cNvPr id="9" name="Table 8">
            <a:extLst>
              <a:ext uri="{FF2B5EF4-FFF2-40B4-BE49-F238E27FC236}">
                <a16:creationId xmlns:a16="http://schemas.microsoft.com/office/drawing/2014/main" id="{AB5279CB-372D-475D-4C24-91C5139AE284}"/>
              </a:ext>
            </a:extLst>
          </p:cNvPr>
          <p:cNvGraphicFramePr>
            <a:graphicFrameLocks noGrp="1"/>
          </p:cNvGraphicFramePr>
          <p:nvPr>
            <p:extLst>
              <p:ext uri="{D42A27DB-BD31-4B8C-83A1-F6EECF244321}">
                <p14:modId xmlns:p14="http://schemas.microsoft.com/office/powerpoint/2010/main" val="4213300809"/>
              </p:ext>
            </p:extLst>
          </p:nvPr>
        </p:nvGraphicFramePr>
        <p:xfrm>
          <a:off x="8340019" y="4813021"/>
          <a:ext cx="3475406" cy="1371600"/>
        </p:xfrm>
        <a:graphic>
          <a:graphicData uri="http://schemas.openxmlformats.org/drawingml/2006/table">
            <a:tbl>
              <a:tblPr firstRow="1" bandRow="1">
                <a:tableStyleId>{9D7B26C5-4107-4FEC-AEDC-1716B250A1EF}</a:tableStyleId>
              </a:tblPr>
              <a:tblGrid>
                <a:gridCol w="1737703">
                  <a:extLst>
                    <a:ext uri="{9D8B030D-6E8A-4147-A177-3AD203B41FA5}">
                      <a16:colId xmlns:a16="http://schemas.microsoft.com/office/drawing/2014/main" val="1005473292"/>
                    </a:ext>
                  </a:extLst>
                </a:gridCol>
                <a:gridCol w="1737703">
                  <a:extLst>
                    <a:ext uri="{9D8B030D-6E8A-4147-A177-3AD203B41FA5}">
                      <a16:colId xmlns:a16="http://schemas.microsoft.com/office/drawing/2014/main" val="829752310"/>
                    </a:ext>
                  </a:extLst>
                </a:gridCol>
              </a:tblGrid>
              <a:tr h="266674">
                <a:tc>
                  <a:txBody>
                    <a:bodyPr/>
                    <a:lstStyle/>
                    <a:p>
                      <a:pPr>
                        <a:buNone/>
                      </a:pPr>
                      <a:r>
                        <a:rPr lang="en-SG" sz="1200"/>
                        <a:t>Nights</a:t>
                      </a:r>
                    </a:p>
                  </a:txBody>
                  <a:tcPr anchor="ctr"/>
                </a:tc>
                <a:tc>
                  <a:txBody>
                    <a:bodyPr/>
                    <a:lstStyle/>
                    <a:p>
                      <a:pPr algn="l">
                        <a:buNone/>
                      </a:pPr>
                      <a:r>
                        <a:rPr lang="en-SG" sz="1200" dirty="0"/>
                        <a:t>Cancel Rate %</a:t>
                      </a:r>
                    </a:p>
                  </a:txBody>
                  <a:tcPr anchor="ctr"/>
                </a:tc>
                <a:extLst>
                  <a:ext uri="{0D108BD9-81ED-4DB2-BD59-A6C34878D82A}">
                    <a16:rowId xmlns:a16="http://schemas.microsoft.com/office/drawing/2014/main" val="1172248463"/>
                  </a:ext>
                </a:extLst>
              </a:tr>
              <a:tr h="266674">
                <a:tc>
                  <a:txBody>
                    <a:bodyPr/>
                    <a:lstStyle/>
                    <a:p>
                      <a:pPr>
                        <a:buNone/>
                      </a:pPr>
                      <a:r>
                        <a:rPr lang="en-SG" sz="1200"/>
                        <a:t>1-3</a:t>
                      </a:r>
                    </a:p>
                  </a:txBody>
                  <a:tcPr anchor="ctr"/>
                </a:tc>
                <a:tc>
                  <a:txBody>
                    <a:bodyPr/>
                    <a:lstStyle/>
                    <a:p>
                      <a:pPr algn="l">
                        <a:buNone/>
                      </a:pPr>
                      <a:r>
                        <a:rPr lang="en-SG" sz="1200"/>
                        <a:t>24%</a:t>
                      </a:r>
                    </a:p>
                  </a:txBody>
                  <a:tcPr anchor="ctr"/>
                </a:tc>
                <a:extLst>
                  <a:ext uri="{0D108BD9-81ED-4DB2-BD59-A6C34878D82A}">
                    <a16:rowId xmlns:a16="http://schemas.microsoft.com/office/drawing/2014/main" val="1523105897"/>
                  </a:ext>
                </a:extLst>
              </a:tr>
              <a:tr h="266674">
                <a:tc>
                  <a:txBody>
                    <a:bodyPr/>
                    <a:lstStyle/>
                    <a:p>
                      <a:pPr>
                        <a:buNone/>
                      </a:pPr>
                      <a:r>
                        <a:rPr lang="en-SG" sz="1200"/>
                        <a:t>4-7</a:t>
                      </a:r>
                    </a:p>
                  </a:txBody>
                  <a:tcPr anchor="ctr"/>
                </a:tc>
                <a:tc>
                  <a:txBody>
                    <a:bodyPr/>
                    <a:lstStyle/>
                    <a:p>
                      <a:pPr algn="l">
                        <a:buNone/>
                      </a:pPr>
                      <a:r>
                        <a:rPr lang="en-SG" sz="1200"/>
                        <a:t>31%</a:t>
                      </a:r>
                    </a:p>
                  </a:txBody>
                  <a:tcPr anchor="ctr"/>
                </a:tc>
                <a:extLst>
                  <a:ext uri="{0D108BD9-81ED-4DB2-BD59-A6C34878D82A}">
                    <a16:rowId xmlns:a16="http://schemas.microsoft.com/office/drawing/2014/main" val="4177178499"/>
                  </a:ext>
                </a:extLst>
              </a:tr>
              <a:tr h="266674">
                <a:tc>
                  <a:txBody>
                    <a:bodyPr/>
                    <a:lstStyle/>
                    <a:p>
                      <a:pPr>
                        <a:buNone/>
                      </a:pPr>
                      <a:r>
                        <a:rPr lang="en-SG" sz="1200"/>
                        <a:t>8-14</a:t>
                      </a:r>
                    </a:p>
                  </a:txBody>
                  <a:tcPr anchor="ctr"/>
                </a:tc>
                <a:tc>
                  <a:txBody>
                    <a:bodyPr/>
                    <a:lstStyle/>
                    <a:p>
                      <a:pPr algn="l">
                        <a:buNone/>
                      </a:pPr>
                      <a:r>
                        <a:rPr lang="en-SG" sz="1200" dirty="0"/>
                        <a:t>28%</a:t>
                      </a:r>
                    </a:p>
                  </a:txBody>
                  <a:tcPr anchor="ctr"/>
                </a:tc>
                <a:extLst>
                  <a:ext uri="{0D108BD9-81ED-4DB2-BD59-A6C34878D82A}">
                    <a16:rowId xmlns:a16="http://schemas.microsoft.com/office/drawing/2014/main" val="1503730234"/>
                  </a:ext>
                </a:extLst>
              </a:tr>
              <a:tr h="266674">
                <a:tc>
                  <a:txBody>
                    <a:bodyPr/>
                    <a:lstStyle/>
                    <a:p>
                      <a:pPr>
                        <a:buNone/>
                      </a:pPr>
                      <a:r>
                        <a:rPr lang="en-SG" sz="1200"/>
                        <a:t>15+</a:t>
                      </a:r>
                    </a:p>
                  </a:txBody>
                  <a:tcPr anchor="ctr"/>
                </a:tc>
                <a:tc>
                  <a:txBody>
                    <a:bodyPr/>
                    <a:lstStyle/>
                    <a:p>
                      <a:pPr algn="l">
                        <a:buNone/>
                      </a:pPr>
                      <a:r>
                        <a:rPr lang="en-SG" sz="1200" dirty="0"/>
                        <a:t>45%</a:t>
                      </a:r>
                    </a:p>
                  </a:txBody>
                  <a:tcPr anchor="ctr"/>
                </a:tc>
                <a:extLst>
                  <a:ext uri="{0D108BD9-81ED-4DB2-BD59-A6C34878D82A}">
                    <a16:rowId xmlns:a16="http://schemas.microsoft.com/office/drawing/2014/main" val="1380307870"/>
                  </a:ext>
                </a:extLst>
              </a:tr>
            </a:tbl>
          </a:graphicData>
        </a:graphic>
      </p:graphicFrame>
      <p:graphicFrame>
        <p:nvGraphicFramePr>
          <p:cNvPr id="13" name="Table 12">
            <a:extLst>
              <a:ext uri="{FF2B5EF4-FFF2-40B4-BE49-F238E27FC236}">
                <a16:creationId xmlns:a16="http://schemas.microsoft.com/office/drawing/2014/main" id="{AA21D48C-A61C-14CD-8F3C-6983E0D5D909}"/>
              </a:ext>
            </a:extLst>
          </p:cNvPr>
          <p:cNvGraphicFramePr>
            <a:graphicFrameLocks noGrp="1"/>
          </p:cNvGraphicFramePr>
          <p:nvPr>
            <p:extLst>
              <p:ext uri="{D42A27DB-BD31-4B8C-83A1-F6EECF244321}">
                <p14:modId xmlns:p14="http://schemas.microsoft.com/office/powerpoint/2010/main" val="754167676"/>
              </p:ext>
            </p:extLst>
          </p:nvPr>
        </p:nvGraphicFramePr>
        <p:xfrm>
          <a:off x="1620662" y="4424602"/>
          <a:ext cx="4089400" cy="609600"/>
        </p:xfrm>
        <a:graphic>
          <a:graphicData uri="http://schemas.openxmlformats.org/drawingml/2006/table">
            <a:tbl>
              <a:tblPr firstRow="1" bandRow="1">
                <a:tableStyleId>{9D7B26C5-4107-4FEC-AEDC-1716B250A1EF}</a:tableStyleId>
              </a:tblPr>
              <a:tblGrid>
                <a:gridCol w="1819088">
                  <a:extLst>
                    <a:ext uri="{9D8B030D-6E8A-4147-A177-3AD203B41FA5}">
                      <a16:colId xmlns:a16="http://schemas.microsoft.com/office/drawing/2014/main" val="2425086311"/>
                    </a:ext>
                  </a:extLst>
                </a:gridCol>
                <a:gridCol w="900839">
                  <a:extLst>
                    <a:ext uri="{9D8B030D-6E8A-4147-A177-3AD203B41FA5}">
                      <a16:colId xmlns:a16="http://schemas.microsoft.com/office/drawing/2014/main" val="4100825146"/>
                    </a:ext>
                  </a:extLst>
                </a:gridCol>
                <a:gridCol w="1369473">
                  <a:extLst>
                    <a:ext uri="{9D8B030D-6E8A-4147-A177-3AD203B41FA5}">
                      <a16:colId xmlns:a16="http://schemas.microsoft.com/office/drawing/2014/main" val="4214718358"/>
                    </a:ext>
                  </a:extLst>
                </a:gridCol>
              </a:tblGrid>
              <a:tr h="203200">
                <a:tc>
                  <a:txBody>
                    <a:bodyPr/>
                    <a:lstStyle/>
                    <a:p>
                      <a:pPr algn="r" fontAlgn="b">
                        <a:buNone/>
                      </a:pP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Weekday</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Weekend</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265597312"/>
                  </a:ext>
                </a:extLst>
              </a:tr>
              <a:tr h="203200">
                <a:tc>
                  <a:txBody>
                    <a:bodyPr/>
                    <a:lstStyle/>
                    <a:p>
                      <a:pPr algn="l" fontAlgn="b">
                        <a:buNone/>
                      </a:pPr>
                      <a:r>
                        <a:rPr lang="en-SG" sz="1200" b="0" u="none" strike="noStrike">
                          <a:solidFill>
                            <a:schemeClr val="tx1"/>
                          </a:solidFill>
                          <a:effectLst/>
                        </a:rPr>
                        <a:t>Cancelled Nights</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72%</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28%</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807995606"/>
                  </a:ext>
                </a:extLst>
              </a:tr>
              <a:tr h="203200">
                <a:tc>
                  <a:txBody>
                    <a:bodyPr/>
                    <a:lstStyle/>
                    <a:p>
                      <a:pPr algn="l" fontAlgn="b">
                        <a:buNone/>
                      </a:pPr>
                      <a:r>
                        <a:rPr lang="en-SG" sz="1200" b="0" u="none" strike="noStrike">
                          <a:solidFill>
                            <a:schemeClr val="tx1"/>
                          </a:solidFill>
                          <a:effectLst/>
                        </a:rPr>
                        <a:t>Non-Cancelled Nights</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73%</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27%</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4144826010"/>
                  </a:ext>
                </a:extLst>
              </a:tr>
            </a:tbl>
          </a:graphicData>
        </a:graphic>
      </p:graphicFrame>
    </p:spTree>
    <p:extLst>
      <p:ext uri="{BB962C8B-B14F-4D97-AF65-F5344CB8AC3E}">
        <p14:creationId xmlns:p14="http://schemas.microsoft.com/office/powerpoint/2010/main" val="3421813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a:extLst>
            <a:ext uri="{FF2B5EF4-FFF2-40B4-BE49-F238E27FC236}">
              <a16:creationId xmlns:a16="http://schemas.microsoft.com/office/drawing/2014/main" id="{E92A2C34-92F0-AFC9-1C28-44FA3198A50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84487F-8515-2BF3-2837-2F4338109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EF18A4D-D483-3535-89FF-3A0B69129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D763897-D84B-2141-F1B2-75E7DAA34DD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E8AA2BE6-F57A-3580-122D-5C5EF824C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FBF4CA76-A2BE-0ADE-F1F2-27734F5F5EE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82AE14F9-B7B7-3BEA-596C-DC2DF6B47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EFB0143-FC22-8805-5341-681E18578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E660DAE9-5D78-4521-A28A-8F05E1B2C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7AD4639C-2755-8F76-3250-1EFE783E2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F3D22-4769-25B3-1A0F-232263B7E158}"/>
              </a:ext>
            </a:extLst>
          </p:cNvPr>
          <p:cNvSpPr txBox="1">
            <a:spLocks/>
          </p:cNvSpPr>
          <p:nvPr/>
        </p:nvSpPr>
        <p:spPr>
          <a:xfrm>
            <a:off x="1127177" y="304765"/>
            <a:ext cx="6977732"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ADR (Average Daily Range) Analysis</a:t>
            </a:r>
          </a:p>
        </p:txBody>
      </p:sp>
      <p:sp>
        <p:nvSpPr>
          <p:cNvPr id="3" name="TextBox 2">
            <a:extLst>
              <a:ext uri="{FF2B5EF4-FFF2-40B4-BE49-F238E27FC236}">
                <a16:creationId xmlns:a16="http://schemas.microsoft.com/office/drawing/2014/main" id="{E2FD4A1F-8BF7-128A-2F56-D65487ED3693}"/>
              </a:ext>
            </a:extLst>
          </p:cNvPr>
          <p:cNvSpPr txBox="1"/>
          <p:nvPr/>
        </p:nvSpPr>
        <p:spPr>
          <a:xfrm>
            <a:off x="1232637" y="5162965"/>
            <a:ext cx="9182877" cy="1333507"/>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Safe zone ADR under $70 and more cancellation ADR over $80.</a:t>
            </a:r>
          </a:p>
          <a:p>
            <a:pPr indent="-285750" defTabSz="914400">
              <a:lnSpc>
                <a:spcPct val="120000"/>
              </a:lnSpc>
              <a:spcAft>
                <a:spcPts val="600"/>
              </a:spcAft>
              <a:buClr>
                <a:schemeClr val="accent6"/>
              </a:buClr>
              <a:buSzPct val="90000"/>
              <a:buFont typeface="Wingdings" panose="05000000000000000000" pitchFamily="2" charset="2"/>
              <a:buChar char="§"/>
            </a:pPr>
            <a:r>
              <a:rPr lang="en-US" sz="1400" b="1" dirty="0"/>
              <a:t>High ADR priced bookings are more likely to cancel.</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Due to the limitation of resources, can’t calculate ADR value of weekday and weekend.</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Based on calculation ADR range are going up on Q3.</a:t>
            </a:r>
          </a:p>
        </p:txBody>
      </p:sp>
      <p:graphicFrame>
        <p:nvGraphicFramePr>
          <p:cNvPr id="4" name="Table 3">
            <a:extLst>
              <a:ext uri="{FF2B5EF4-FFF2-40B4-BE49-F238E27FC236}">
                <a16:creationId xmlns:a16="http://schemas.microsoft.com/office/drawing/2014/main" id="{3C7CE39C-82A4-8B69-E75C-AA39D3E7036B}"/>
              </a:ext>
            </a:extLst>
          </p:cNvPr>
          <p:cNvGraphicFramePr>
            <a:graphicFrameLocks noGrp="1"/>
          </p:cNvGraphicFramePr>
          <p:nvPr>
            <p:extLst>
              <p:ext uri="{D42A27DB-BD31-4B8C-83A1-F6EECF244321}">
                <p14:modId xmlns:p14="http://schemas.microsoft.com/office/powerpoint/2010/main" val="433262480"/>
              </p:ext>
            </p:extLst>
          </p:nvPr>
        </p:nvGraphicFramePr>
        <p:xfrm>
          <a:off x="1232637" y="1139596"/>
          <a:ext cx="4298367" cy="3366444"/>
        </p:xfrm>
        <a:graphic>
          <a:graphicData uri="http://schemas.openxmlformats.org/drawingml/2006/table">
            <a:tbl>
              <a:tblPr firstRow="1" bandRow="1">
                <a:tableStyleId>{9D7B26C5-4107-4FEC-AEDC-1716B250A1EF}</a:tableStyleId>
              </a:tblPr>
              <a:tblGrid>
                <a:gridCol w="1577470">
                  <a:extLst>
                    <a:ext uri="{9D8B030D-6E8A-4147-A177-3AD203B41FA5}">
                      <a16:colId xmlns:a16="http://schemas.microsoft.com/office/drawing/2014/main" val="1768907035"/>
                    </a:ext>
                  </a:extLst>
                </a:gridCol>
                <a:gridCol w="1237786">
                  <a:extLst>
                    <a:ext uri="{9D8B030D-6E8A-4147-A177-3AD203B41FA5}">
                      <a16:colId xmlns:a16="http://schemas.microsoft.com/office/drawing/2014/main" val="2286508572"/>
                    </a:ext>
                  </a:extLst>
                </a:gridCol>
                <a:gridCol w="1483111">
                  <a:extLst>
                    <a:ext uri="{9D8B030D-6E8A-4147-A177-3AD203B41FA5}">
                      <a16:colId xmlns:a16="http://schemas.microsoft.com/office/drawing/2014/main" val="145546078"/>
                    </a:ext>
                  </a:extLst>
                </a:gridCol>
              </a:tblGrid>
              <a:tr h="407127">
                <a:tc>
                  <a:txBody>
                    <a:bodyPr/>
                    <a:lstStyle/>
                    <a:p>
                      <a:pPr algn="ctr" fontAlgn="b">
                        <a:buNone/>
                      </a:pPr>
                      <a:r>
                        <a:rPr lang="en-SG" sz="1200" b="0" u="none" strike="noStrike" dirty="0" err="1">
                          <a:solidFill>
                            <a:schemeClr val="tx1"/>
                          </a:solidFill>
                          <a:effectLst/>
                        </a:rPr>
                        <a:t>Adr</a:t>
                      </a:r>
                      <a:r>
                        <a:rPr lang="en-SG" sz="1200" b="0" u="none" strike="noStrike" dirty="0">
                          <a:solidFill>
                            <a:schemeClr val="tx1"/>
                          </a:solidFill>
                          <a:effectLst/>
                        </a:rPr>
                        <a:t> Value</a:t>
                      </a:r>
                      <a:endParaRPr lang="en-SG" sz="1200" b="0" i="0" u="none" strike="noStrike" dirty="0">
                        <a:solidFill>
                          <a:schemeClr val="tx1"/>
                        </a:solidFill>
                        <a:effectLst/>
                        <a:latin typeface="+mn-lt"/>
                      </a:endParaRPr>
                    </a:p>
                  </a:txBody>
                  <a:tcPr marL="9525" marR="9525" marT="9525" marB="0" anchor="ctr"/>
                </a:tc>
                <a:tc>
                  <a:txBody>
                    <a:bodyPr/>
                    <a:lstStyle/>
                    <a:p>
                      <a:pPr algn="ctr" fontAlgn="b">
                        <a:buNone/>
                      </a:pPr>
                      <a:r>
                        <a:rPr lang="en-SG" sz="1200" b="0" u="none" strike="noStrike" dirty="0">
                          <a:solidFill>
                            <a:schemeClr val="tx1"/>
                          </a:solidFill>
                          <a:effectLst/>
                        </a:rPr>
                        <a:t>Cancelled</a:t>
                      </a:r>
                      <a:endParaRPr lang="en-SG" sz="1200" b="0" i="0" u="none" strike="noStrike" dirty="0">
                        <a:solidFill>
                          <a:schemeClr val="tx1"/>
                        </a:solidFill>
                        <a:effectLst/>
                        <a:latin typeface="+mn-lt"/>
                      </a:endParaRPr>
                    </a:p>
                  </a:txBody>
                  <a:tcPr marL="9525" marR="9525" marT="9525" marB="0" anchor="ctr"/>
                </a:tc>
                <a:tc>
                  <a:txBody>
                    <a:bodyPr/>
                    <a:lstStyle/>
                    <a:p>
                      <a:pPr algn="ctr" fontAlgn="b">
                        <a:buNone/>
                      </a:pPr>
                      <a:r>
                        <a:rPr lang="en-SG" sz="1200" b="0" u="none" strike="noStrike" dirty="0">
                          <a:solidFill>
                            <a:schemeClr val="tx1"/>
                          </a:solidFill>
                          <a:effectLst/>
                        </a:rPr>
                        <a:t>Non Cancelled</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539338590"/>
                  </a:ext>
                </a:extLst>
              </a:tr>
              <a:tr h="328813">
                <a:tc>
                  <a:txBody>
                    <a:bodyPr/>
                    <a:lstStyle/>
                    <a:p>
                      <a:pPr algn="l" fontAlgn="b">
                        <a:buNone/>
                      </a:pPr>
                      <a:r>
                        <a:rPr lang="en-SG" sz="1200" b="0" u="none" strike="noStrike">
                          <a:solidFill>
                            <a:schemeClr val="tx1"/>
                          </a:solidFill>
                          <a:effectLst/>
                        </a:rPr>
                        <a:t>Mean</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92.49</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81.85</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2377803052"/>
                  </a:ext>
                </a:extLst>
              </a:tr>
              <a:tr h="328813">
                <a:tc>
                  <a:txBody>
                    <a:bodyPr/>
                    <a:lstStyle/>
                    <a:p>
                      <a:pPr algn="l" fontAlgn="b">
                        <a:buNone/>
                      </a:pPr>
                      <a:r>
                        <a:rPr lang="en-SG" sz="1200" b="0" u="none" strike="noStrike">
                          <a:solidFill>
                            <a:schemeClr val="tx1"/>
                          </a:solidFill>
                          <a:effectLst/>
                        </a:rPr>
                        <a:t>Max</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211.03</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211.00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895837464"/>
                  </a:ext>
                </a:extLst>
              </a:tr>
              <a:tr h="328813">
                <a:tc>
                  <a:txBody>
                    <a:bodyPr/>
                    <a:lstStyle/>
                    <a:p>
                      <a:pPr algn="l" fontAlgn="b">
                        <a:buNone/>
                      </a:pPr>
                      <a:r>
                        <a:rPr lang="en-SG" sz="1200" b="0" u="none" strike="noStrike">
                          <a:solidFill>
                            <a:schemeClr val="tx1"/>
                          </a:solidFill>
                          <a:effectLst/>
                        </a:rPr>
                        <a:t>Min</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0.00</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0.00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2701339989"/>
                  </a:ext>
                </a:extLst>
              </a:tr>
              <a:tr h="328813">
                <a:tc>
                  <a:txBody>
                    <a:bodyPr/>
                    <a:lstStyle/>
                    <a:p>
                      <a:pPr algn="l" fontAlgn="b">
                        <a:buNone/>
                      </a:pPr>
                      <a:r>
                        <a:rPr lang="en-SG" sz="1200" b="0" u="none" strike="noStrike">
                          <a:solidFill>
                            <a:schemeClr val="tx1"/>
                          </a:solidFill>
                          <a:effectLst/>
                        </a:rPr>
                        <a:t>Range</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211.03</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211.00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110630176"/>
                  </a:ext>
                </a:extLst>
              </a:tr>
              <a:tr h="328813">
                <a:tc>
                  <a:txBody>
                    <a:bodyPr/>
                    <a:lstStyle/>
                    <a:p>
                      <a:pPr algn="l" fontAlgn="b">
                        <a:buNone/>
                      </a:pPr>
                      <a:r>
                        <a:rPr lang="en-SG" sz="1200" b="0" u="none" strike="noStrike">
                          <a:solidFill>
                            <a:schemeClr val="tx1"/>
                          </a:solidFill>
                          <a:effectLst/>
                        </a:rPr>
                        <a:t>Mode</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48.00</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48.00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70634555"/>
                  </a:ext>
                </a:extLst>
              </a:tr>
              <a:tr h="328813">
                <a:tc>
                  <a:txBody>
                    <a:bodyPr/>
                    <a:lstStyle/>
                    <a:p>
                      <a:pPr algn="l" fontAlgn="b">
                        <a:buNone/>
                      </a:pPr>
                      <a:r>
                        <a:rPr lang="en-SG" sz="1200" b="0" u="none" strike="noStrike">
                          <a:solidFill>
                            <a:schemeClr val="tx1"/>
                          </a:solidFill>
                          <a:effectLst/>
                        </a:rPr>
                        <a:t>Median</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80.00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69.00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2025552269"/>
                  </a:ext>
                </a:extLst>
              </a:tr>
              <a:tr h="328813">
                <a:tc>
                  <a:txBody>
                    <a:bodyPr/>
                    <a:lstStyle/>
                    <a:p>
                      <a:pPr algn="l" fontAlgn="b">
                        <a:buNone/>
                      </a:pPr>
                      <a:r>
                        <a:rPr lang="en-SG" sz="1200" b="0" u="none" strike="noStrike">
                          <a:solidFill>
                            <a:schemeClr val="tx1"/>
                          </a:solidFill>
                          <a:effectLst/>
                        </a:rPr>
                        <a:t>Var</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2,423.06</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2,151.82</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1945606683"/>
                  </a:ext>
                </a:extLst>
              </a:tr>
              <a:tr h="328813">
                <a:tc>
                  <a:txBody>
                    <a:bodyPr/>
                    <a:lstStyle/>
                    <a:p>
                      <a:pPr algn="l" fontAlgn="b">
                        <a:buNone/>
                      </a:pPr>
                      <a:r>
                        <a:rPr lang="en-SG" sz="1200" b="0" u="none" strike="noStrike" dirty="0">
                          <a:solidFill>
                            <a:schemeClr val="tx1"/>
                          </a:solidFill>
                          <a:effectLst/>
                        </a:rPr>
                        <a:t>STD</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49.22</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46.39</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1192993316"/>
                  </a:ext>
                </a:extLst>
              </a:tr>
              <a:tr h="328813">
                <a:tc>
                  <a:txBody>
                    <a:bodyPr/>
                    <a:lstStyle/>
                    <a:p>
                      <a:pPr algn="l" fontAlgn="b">
                        <a:buNone/>
                      </a:pPr>
                      <a:r>
                        <a:rPr lang="en-SG" sz="1200" b="0" u="none" strike="noStrike">
                          <a:solidFill>
                            <a:schemeClr val="tx1"/>
                          </a:solidFill>
                          <a:effectLst/>
                        </a:rPr>
                        <a:t>CV</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0.53</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0.57</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700661755"/>
                  </a:ext>
                </a:extLst>
              </a:tr>
            </a:tbl>
          </a:graphicData>
        </a:graphic>
      </p:graphicFrame>
      <p:graphicFrame>
        <p:nvGraphicFramePr>
          <p:cNvPr id="6" name="Chart 5">
            <a:extLst>
              <a:ext uri="{FF2B5EF4-FFF2-40B4-BE49-F238E27FC236}">
                <a16:creationId xmlns:a16="http://schemas.microsoft.com/office/drawing/2014/main" id="{B3387BF5-EC57-7F8E-30F4-AB9220985E62}"/>
              </a:ext>
            </a:extLst>
          </p:cNvPr>
          <p:cNvGraphicFramePr>
            <a:graphicFrameLocks/>
          </p:cNvGraphicFramePr>
          <p:nvPr>
            <p:extLst>
              <p:ext uri="{D42A27DB-BD31-4B8C-83A1-F6EECF244321}">
                <p14:modId xmlns:p14="http://schemas.microsoft.com/office/powerpoint/2010/main" val="3148728132"/>
              </p:ext>
            </p:extLst>
          </p:nvPr>
        </p:nvGraphicFramePr>
        <p:xfrm>
          <a:off x="6043502" y="1104010"/>
          <a:ext cx="5760571" cy="3537263"/>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946078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5A145A67-395B-1A5F-D0BA-B5A39E3A4AC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21D1620-3840-64F5-4B6D-BE3305B6B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A921414-F195-312E-0914-10B1CD562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7A01C88-28AA-A575-AB79-0E30817F861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FC89E69A-B778-B946-BEAD-4A2C780A25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289A40D1-0D13-AF3B-AD51-967078AA0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557D63EC-F7A9-0D5C-C00B-8CB9E9A50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6C8AA51-0373-C075-9F7D-654E9BA4CE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D97FD8C3-10AD-59DF-BB01-DDF9DD5D0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08A04CCC-FE32-BB58-9972-087E9EC91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9561153-7F8B-69E7-3975-717D8DA48405}"/>
              </a:ext>
            </a:extLst>
          </p:cNvPr>
          <p:cNvSpPr txBox="1"/>
          <p:nvPr/>
        </p:nvSpPr>
        <p:spPr>
          <a:xfrm>
            <a:off x="1224556" y="4885470"/>
            <a:ext cx="6298462" cy="998030"/>
          </a:xfrm>
          <a:prstGeom prst="rect">
            <a:avLst/>
          </a:prstGeom>
          <a:noFill/>
        </p:spPr>
        <p:txBody>
          <a:bodyPr wrap="square" rtlCol="0">
            <a:spAutoFit/>
          </a:bodyPr>
          <a:lstStyle/>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Q3 generates highest revenue and highest cancellation.</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Q2 is second largest revenue and cancellation also.</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The hotel cancellation most when demand is strong.</a:t>
            </a:r>
          </a:p>
        </p:txBody>
      </p:sp>
      <p:sp>
        <p:nvSpPr>
          <p:cNvPr id="3" name="Title 1">
            <a:extLst>
              <a:ext uri="{FF2B5EF4-FFF2-40B4-BE49-F238E27FC236}">
                <a16:creationId xmlns:a16="http://schemas.microsoft.com/office/drawing/2014/main" id="{B07E702C-F71F-A0F5-98A2-B8EDCEAF1397}"/>
              </a:ext>
            </a:extLst>
          </p:cNvPr>
          <p:cNvSpPr txBox="1">
            <a:spLocks/>
          </p:cNvSpPr>
          <p:nvPr/>
        </p:nvSpPr>
        <p:spPr>
          <a:xfrm>
            <a:off x="994279" y="223754"/>
            <a:ext cx="9396630"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Quarterly Trend Analysis</a:t>
            </a:r>
          </a:p>
        </p:txBody>
      </p:sp>
      <p:pic>
        <p:nvPicPr>
          <p:cNvPr id="4" name="Picture 3">
            <a:extLst>
              <a:ext uri="{FF2B5EF4-FFF2-40B4-BE49-F238E27FC236}">
                <a16:creationId xmlns:a16="http://schemas.microsoft.com/office/drawing/2014/main" id="{1FEA1B83-FFC7-8834-F55E-D20ACBE85A77}"/>
              </a:ext>
            </a:extLst>
          </p:cNvPr>
          <p:cNvPicPr>
            <a:picLocks noChangeAspect="1"/>
          </p:cNvPicPr>
          <p:nvPr/>
        </p:nvPicPr>
        <p:blipFill>
          <a:blip r:embed="rId5"/>
          <a:stretch>
            <a:fillRect/>
          </a:stretch>
        </p:blipFill>
        <p:spPr>
          <a:xfrm>
            <a:off x="1224556" y="1069655"/>
            <a:ext cx="5689600" cy="3149600"/>
          </a:xfrm>
          <a:prstGeom prst="rect">
            <a:avLst/>
          </a:prstGeom>
        </p:spPr>
      </p:pic>
      <p:graphicFrame>
        <p:nvGraphicFramePr>
          <p:cNvPr id="5" name="Table 4">
            <a:extLst>
              <a:ext uri="{FF2B5EF4-FFF2-40B4-BE49-F238E27FC236}">
                <a16:creationId xmlns:a16="http://schemas.microsoft.com/office/drawing/2014/main" id="{ED908320-986C-1BFB-ED98-D10145345C2B}"/>
              </a:ext>
            </a:extLst>
          </p:cNvPr>
          <p:cNvGraphicFramePr>
            <a:graphicFrameLocks noGrp="1"/>
          </p:cNvGraphicFramePr>
          <p:nvPr>
            <p:extLst>
              <p:ext uri="{D42A27DB-BD31-4B8C-83A1-F6EECF244321}">
                <p14:modId xmlns:p14="http://schemas.microsoft.com/office/powerpoint/2010/main" val="338754653"/>
              </p:ext>
            </p:extLst>
          </p:nvPr>
        </p:nvGraphicFramePr>
        <p:xfrm>
          <a:off x="7443370" y="4207094"/>
          <a:ext cx="4589118" cy="1750893"/>
        </p:xfrm>
        <a:graphic>
          <a:graphicData uri="http://schemas.openxmlformats.org/drawingml/2006/table">
            <a:tbl>
              <a:tblPr firstRow="1" bandRow="1">
                <a:tableStyleId>{9D7B26C5-4107-4FEC-AEDC-1716B250A1EF}</a:tableStyleId>
              </a:tblPr>
              <a:tblGrid>
                <a:gridCol w="1261131">
                  <a:extLst>
                    <a:ext uri="{9D8B030D-6E8A-4147-A177-3AD203B41FA5}">
                      <a16:colId xmlns:a16="http://schemas.microsoft.com/office/drawing/2014/main" val="1671221972"/>
                    </a:ext>
                  </a:extLst>
                </a:gridCol>
                <a:gridCol w="1062619">
                  <a:extLst>
                    <a:ext uri="{9D8B030D-6E8A-4147-A177-3AD203B41FA5}">
                      <a16:colId xmlns:a16="http://schemas.microsoft.com/office/drawing/2014/main" val="1420651920"/>
                    </a:ext>
                  </a:extLst>
                </a:gridCol>
                <a:gridCol w="1342873">
                  <a:extLst>
                    <a:ext uri="{9D8B030D-6E8A-4147-A177-3AD203B41FA5}">
                      <a16:colId xmlns:a16="http://schemas.microsoft.com/office/drawing/2014/main" val="522763340"/>
                    </a:ext>
                  </a:extLst>
                </a:gridCol>
                <a:gridCol w="922495">
                  <a:extLst>
                    <a:ext uri="{9D8B030D-6E8A-4147-A177-3AD203B41FA5}">
                      <a16:colId xmlns:a16="http://schemas.microsoft.com/office/drawing/2014/main" val="2730340620"/>
                    </a:ext>
                  </a:extLst>
                </a:gridCol>
              </a:tblGrid>
              <a:tr h="553061">
                <a:tc>
                  <a:txBody>
                    <a:bodyPr/>
                    <a:lstStyle/>
                    <a:p>
                      <a:pPr algn="ctr" fontAlgn="b">
                        <a:buNone/>
                      </a:pPr>
                      <a:r>
                        <a:rPr lang="en-SG" sz="1200" b="0" u="none" strike="noStrike">
                          <a:solidFill>
                            <a:schemeClr val="tx1"/>
                          </a:solidFill>
                          <a:effectLst/>
                        </a:rPr>
                        <a:t>Cancelled Transaction %</a:t>
                      </a:r>
                      <a:endParaRPr lang="en-SG" sz="1200" b="0" i="0" u="none" strike="noStrike">
                        <a:solidFill>
                          <a:schemeClr val="tx1"/>
                        </a:solidFill>
                        <a:effectLst/>
                        <a:latin typeface="+mn-lt"/>
                      </a:endParaRPr>
                    </a:p>
                  </a:txBody>
                  <a:tcPr marL="9525" marR="9525" marT="9525" marB="0" anchor="ctr"/>
                </a:tc>
                <a:tc>
                  <a:txBody>
                    <a:bodyPr/>
                    <a:lstStyle/>
                    <a:p>
                      <a:pPr algn="ctr" fontAlgn="b">
                        <a:buNone/>
                      </a:pPr>
                      <a:r>
                        <a:rPr lang="en-SG" sz="1200" b="0" u="none" strike="noStrike">
                          <a:solidFill>
                            <a:schemeClr val="tx1"/>
                          </a:solidFill>
                          <a:effectLst/>
                        </a:rPr>
                        <a:t>2015</a:t>
                      </a:r>
                      <a:endParaRPr lang="en-SG" sz="1200" b="0" i="0" u="none" strike="noStrike">
                        <a:solidFill>
                          <a:schemeClr val="tx1"/>
                        </a:solidFill>
                        <a:effectLst/>
                        <a:latin typeface="+mn-lt"/>
                      </a:endParaRPr>
                    </a:p>
                  </a:txBody>
                  <a:tcPr marL="9525" marR="9525" marT="9525" marB="0" anchor="ctr"/>
                </a:tc>
                <a:tc>
                  <a:txBody>
                    <a:bodyPr/>
                    <a:lstStyle/>
                    <a:p>
                      <a:pPr algn="ctr" fontAlgn="b">
                        <a:buNone/>
                      </a:pPr>
                      <a:r>
                        <a:rPr lang="en-SG" sz="1200" b="0" u="none" strike="noStrike" dirty="0">
                          <a:solidFill>
                            <a:schemeClr val="tx1"/>
                          </a:solidFill>
                          <a:effectLst/>
                        </a:rPr>
                        <a:t>2016</a:t>
                      </a:r>
                      <a:endParaRPr lang="en-SG" sz="1200" b="0" i="0" u="none" strike="noStrike" dirty="0">
                        <a:solidFill>
                          <a:schemeClr val="tx1"/>
                        </a:solidFill>
                        <a:effectLst/>
                        <a:latin typeface="+mn-lt"/>
                      </a:endParaRPr>
                    </a:p>
                  </a:txBody>
                  <a:tcPr marL="9525" marR="9525" marT="9525" marB="0" anchor="ctr"/>
                </a:tc>
                <a:tc>
                  <a:txBody>
                    <a:bodyPr/>
                    <a:lstStyle/>
                    <a:p>
                      <a:pPr algn="ctr" fontAlgn="b">
                        <a:buNone/>
                      </a:pPr>
                      <a:r>
                        <a:rPr lang="en-SG" sz="1200" b="0" u="none" strike="noStrike" dirty="0">
                          <a:solidFill>
                            <a:schemeClr val="tx1"/>
                          </a:solidFill>
                          <a:effectLst/>
                        </a:rPr>
                        <a:t>2017</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2488658236"/>
                  </a:ext>
                </a:extLst>
              </a:tr>
              <a:tr h="299458">
                <a:tc>
                  <a:txBody>
                    <a:bodyPr/>
                    <a:lstStyle/>
                    <a:p>
                      <a:pPr algn="l" fontAlgn="b">
                        <a:buNone/>
                      </a:pPr>
                      <a:r>
                        <a:rPr lang="en-SG" sz="1200" b="0" u="none" strike="noStrike">
                          <a:solidFill>
                            <a:schemeClr val="tx1"/>
                          </a:solidFill>
                          <a:effectLst/>
                        </a:rPr>
                        <a:t>Qtr1</a:t>
                      </a:r>
                      <a:endParaRPr lang="en-SG" sz="1200" b="0" i="0" u="none" strike="noStrike">
                        <a:solidFill>
                          <a:schemeClr val="tx1"/>
                        </a:solidFill>
                        <a:effectLst/>
                        <a:latin typeface="+mn-lt"/>
                      </a:endParaRPr>
                    </a:p>
                  </a:txBody>
                  <a:tcPr marL="9525" marR="9525" marT="9525" marB="0" anchor="ctr"/>
                </a:tc>
                <a:tc>
                  <a:txBody>
                    <a:bodyPr/>
                    <a:lstStyle/>
                    <a:p>
                      <a:pPr algn="l" fontAlgn="b">
                        <a:buNone/>
                      </a:pP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21%</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22%</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692145300"/>
                  </a:ext>
                </a:extLst>
              </a:tr>
              <a:tr h="299458">
                <a:tc>
                  <a:txBody>
                    <a:bodyPr/>
                    <a:lstStyle/>
                    <a:p>
                      <a:pPr algn="l" fontAlgn="b">
                        <a:buNone/>
                      </a:pPr>
                      <a:r>
                        <a:rPr lang="en-SG" sz="1200" b="0" u="none" strike="noStrike">
                          <a:solidFill>
                            <a:schemeClr val="tx1"/>
                          </a:solidFill>
                          <a:effectLst/>
                        </a:rPr>
                        <a:t>Qtr2</a:t>
                      </a:r>
                      <a:endParaRPr lang="en-SG" sz="1200" b="0" i="0" u="none" strike="noStrike">
                        <a:solidFill>
                          <a:schemeClr val="tx1"/>
                        </a:solidFill>
                        <a:effectLst/>
                        <a:latin typeface="+mn-lt"/>
                      </a:endParaRPr>
                    </a:p>
                  </a:txBody>
                  <a:tcPr marL="9525" marR="9525" marT="9525" marB="0" anchor="ctr"/>
                </a:tc>
                <a:tc>
                  <a:txBody>
                    <a:bodyPr/>
                    <a:lstStyle/>
                    <a:p>
                      <a:pPr algn="l" fontAlgn="b">
                        <a:buNone/>
                      </a:pP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27%</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33%</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094439905"/>
                  </a:ext>
                </a:extLst>
              </a:tr>
              <a:tr h="299458">
                <a:tc>
                  <a:txBody>
                    <a:bodyPr/>
                    <a:lstStyle/>
                    <a:p>
                      <a:pPr algn="l" fontAlgn="b">
                        <a:buNone/>
                      </a:pPr>
                      <a:r>
                        <a:rPr lang="en-SG" sz="1200" b="0" u="none" strike="noStrike">
                          <a:solidFill>
                            <a:schemeClr val="tx1"/>
                          </a:solidFill>
                          <a:effectLst/>
                        </a:rPr>
                        <a:t>Qtr3</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28%</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31%</a:t>
                      </a:r>
                      <a:endParaRPr lang="en-SG" sz="1200" b="0" i="0" u="none" strike="noStrike" dirty="0">
                        <a:solidFill>
                          <a:schemeClr val="tx1"/>
                        </a:solidFill>
                        <a:effectLst/>
                        <a:latin typeface="+mn-lt"/>
                      </a:endParaRPr>
                    </a:p>
                  </a:txBody>
                  <a:tcPr marL="9525" marR="9525" marT="9525" marB="0" anchor="ctr"/>
                </a:tc>
                <a:tc>
                  <a:txBody>
                    <a:bodyPr/>
                    <a:lstStyle/>
                    <a:p>
                      <a:pPr algn="l" fontAlgn="b">
                        <a:buNone/>
                      </a:pP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4207379209"/>
                  </a:ext>
                </a:extLst>
              </a:tr>
              <a:tr h="299458">
                <a:tc>
                  <a:txBody>
                    <a:bodyPr/>
                    <a:lstStyle/>
                    <a:p>
                      <a:pPr algn="l" fontAlgn="b">
                        <a:buNone/>
                      </a:pPr>
                      <a:r>
                        <a:rPr lang="en-SG" sz="1200" b="0" u="none" strike="noStrike">
                          <a:solidFill>
                            <a:schemeClr val="tx1"/>
                          </a:solidFill>
                          <a:effectLst/>
                        </a:rPr>
                        <a:t>Qtr4</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23%</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25%</a:t>
                      </a:r>
                      <a:endParaRPr lang="en-SG" sz="1200" b="0" i="0" u="none" strike="noStrike" dirty="0">
                        <a:solidFill>
                          <a:schemeClr val="tx1"/>
                        </a:solidFill>
                        <a:effectLst/>
                        <a:latin typeface="+mn-lt"/>
                      </a:endParaRPr>
                    </a:p>
                  </a:txBody>
                  <a:tcPr marL="9525" marR="9525" marT="9525" marB="0" anchor="ctr"/>
                </a:tc>
                <a:tc>
                  <a:txBody>
                    <a:bodyPr/>
                    <a:lstStyle/>
                    <a:p>
                      <a:pPr algn="l" fontAlgn="b">
                        <a:buNone/>
                      </a:pP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510403851"/>
                  </a:ext>
                </a:extLst>
              </a:tr>
            </a:tbl>
          </a:graphicData>
        </a:graphic>
      </p:graphicFrame>
      <p:graphicFrame>
        <p:nvGraphicFramePr>
          <p:cNvPr id="6" name="Table 5">
            <a:extLst>
              <a:ext uri="{FF2B5EF4-FFF2-40B4-BE49-F238E27FC236}">
                <a16:creationId xmlns:a16="http://schemas.microsoft.com/office/drawing/2014/main" id="{24242A82-B195-7877-FE6A-1850F2C46E4C}"/>
              </a:ext>
            </a:extLst>
          </p:cNvPr>
          <p:cNvGraphicFramePr>
            <a:graphicFrameLocks noGrp="1"/>
          </p:cNvGraphicFramePr>
          <p:nvPr>
            <p:extLst>
              <p:ext uri="{D42A27DB-BD31-4B8C-83A1-F6EECF244321}">
                <p14:modId xmlns:p14="http://schemas.microsoft.com/office/powerpoint/2010/main" val="3697693926"/>
              </p:ext>
            </p:extLst>
          </p:nvPr>
        </p:nvGraphicFramePr>
        <p:xfrm>
          <a:off x="7135446" y="1403579"/>
          <a:ext cx="4897042" cy="2360094"/>
        </p:xfrm>
        <a:graphic>
          <a:graphicData uri="http://schemas.openxmlformats.org/drawingml/2006/table">
            <a:tbl>
              <a:tblPr firstRow="1" bandRow="1">
                <a:tableStyleId>{9D7B26C5-4107-4FEC-AEDC-1716B250A1EF}</a:tableStyleId>
              </a:tblPr>
              <a:tblGrid>
                <a:gridCol w="2186898">
                  <a:extLst>
                    <a:ext uri="{9D8B030D-6E8A-4147-A177-3AD203B41FA5}">
                      <a16:colId xmlns:a16="http://schemas.microsoft.com/office/drawing/2014/main" val="2894000996"/>
                    </a:ext>
                  </a:extLst>
                </a:gridCol>
                <a:gridCol w="1650236">
                  <a:extLst>
                    <a:ext uri="{9D8B030D-6E8A-4147-A177-3AD203B41FA5}">
                      <a16:colId xmlns:a16="http://schemas.microsoft.com/office/drawing/2014/main" val="338634495"/>
                    </a:ext>
                  </a:extLst>
                </a:gridCol>
                <a:gridCol w="1059908">
                  <a:extLst>
                    <a:ext uri="{9D8B030D-6E8A-4147-A177-3AD203B41FA5}">
                      <a16:colId xmlns:a16="http://schemas.microsoft.com/office/drawing/2014/main" val="237538154"/>
                    </a:ext>
                  </a:extLst>
                </a:gridCol>
              </a:tblGrid>
              <a:tr h="393349">
                <a:tc>
                  <a:txBody>
                    <a:bodyPr/>
                    <a:lstStyle/>
                    <a:p>
                      <a:pPr algn="ctr" fontAlgn="b">
                        <a:buNone/>
                      </a:pPr>
                      <a:r>
                        <a:rPr lang="en-SG" sz="1200" b="0" u="none" strike="noStrike" dirty="0">
                          <a:solidFill>
                            <a:schemeClr val="tx1"/>
                          </a:solidFill>
                          <a:effectLst/>
                        </a:rPr>
                        <a:t>All Revenue</a:t>
                      </a:r>
                      <a:endParaRPr lang="en-SG" sz="1200" b="0" i="0" u="none" strike="noStrike" dirty="0">
                        <a:solidFill>
                          <a:schemeClr val="tx1"/>
                        </a:solidFill>
                        <a:effectLst/>
                        <a:latin typeface="+mn-lt"/>
                      </a:endParaRPr>
                    </a:p>
                  </a:txBody>
                  <a:tcPr marL="9525" marR="9525" marT="9525" marB="0" anchor="ctr"/>
                </a:tc>
                <a:tc>
                  <a:txBody>
                    <a:bodyPr/>
                    <a:lstStyle/>
                    <a:p>
                      <a:pPr algn="ctr" fontAlgn="b">
                        <a:buNone/>
                      </a:pPr>
                      <a:r>
                        <a:rPr lang="en-SG" sz="1200" b="0" u="none" strike="noStrike">
                          <a:solidFill>
                            <a:schemeClr val="tx1"/>
                          </a:solidFill>
                          <a:effectLst/>
                        </a:rPr>
                        <a:t>2016</a:t>
                      </a:r>
                      <a:endParaRPr lang="en-SG" sz="1200" b="0" i="0" u="none" strike="noStrike">
                        <a:solidFill>
                          <a:schemeClr val="tx1"/>
                        </a:solidFill>
                        <a:effectLst/>
                        <a:latin typeface="+mn-lt"/>
                      </a:endParaRPr>
                    </a:p>
                  </a:txBody>
                  <a:tcPr marL="9525" marR="9525" marT="9525" marB="0" anchor="ctr"/>
                </a:tc>
                <a:tc>
                  <a:txBody>
                    <a:bodyPr/>
                    <a:lstStyle/>
                    <a:p>
                      <a:pPr algn="ctr" fontAlgn="b">
                        <a:buNone/>
                      </a:pPr>
                      <a:r>
                        <a:rPr lang="en-SG" sz="1200" b="0" u="none" strike="noStrike" dirty="0">
                          <a:solidFill>
                            <a:schemeClr val="tx1"/>
                          </a:solidFill>
                          <a:effectLst/>
                        </a:rPr>
                        <a:t>Cancelled %</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4158469462"/>
                  </a:ext>
                </a:extLst>
              </a:tr>
              <a:tr h="393349">
                <a:tc>
                  <a:txBody>
                    <a:bodyPr/>
                    <a:lstStyle/>
                    <a:p>
                      <a:pPr algn="l" fontAlgn="b">
                        <a:buNone/>
                      </a:pPr>
                      <a:r>
                        <a:rPr lang="en-SG" sz="1200" b="0" u="none" strike="noStrike">
                          <a:solidFill>
                            <a:schemeClr val="tx1"/>
                          </a:solidFill>
                          <a:effectLst/>
                        </a:rPr>
                        <a:t>Qtr1</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731,656.54</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30%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311270953"/>
                  </a:ext>
                </a:extLst>
              </a:tr>
              <a:tr h="393349">
                <a:tc>
                  <a:txBody>
                    <a:bodyPr/>
                    <a:lstStyle/>
                    <a:p>
                      <a:pPr algn="l" fontAlgn="b">
                        <a:buNone/>
                      </a:pPr>
                      <a:r>
                        <a:rPr lang="en-SG" sz="1200" b="0" u="none" strike="noStrike">
                          <a:solidFill>
                            <a:schemeClr val="tx1"/>
                          </a:solidFill>
                          <a:effectLst/>
                        </a:rPr>
                        <a:t>Qtr2</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1,713,096.59</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30%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4188546030"/>
                  </a:ext>
                </a:extLst>
              </a:tr>
              <a:tr h="393349">
                <a:tc>
                  <a:txBody>
                    <a:bodyPr/>
                    <a:lstStyle/>
                    <a:p>
                      <a:pPr algn="l" fontAlgn="b">
                        <a:buNone/>
                      </a:pPr>
                      <a:r>
                        <a:rPr lang="en-SG" sz="1200" b="0" u="none" strike="noStrike">
                          <a:solidFill>
                            <a:schemeClr val="tx1"/>
                          </a:solidFill>
                          <a:effectLst/>
                        </a:rPr>
                        <a:t>Qtr3</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2,579,337.42</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34%</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1005344024"/>
                  </a:ext>
                </a:extLst>
              </a:tr>
              <a:tr h="393349">
                <a:tc>
                  <a:txBody>
                    <a:bodyPr/>
                    <a:lstStyle/>
                    <a:p>
                      <a:pPr algn="l" fontAlgn="b">
                        <a:buNone/>
                      </a:pPr>
                      <a:r>
                        <a:rPr lang="en-SG" sz="1200" b="0" u="none" strike="noStrike">
                          <a:solidFill>
                            <a:schemeClr val="tx1"/>
                          </a:solidFill>
                          <a:effectLst/>
                        </a:rPr>
                        <a:t>Qtr4</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1,065,639.31</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28%</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2954702798"/>
                  </a:ext>
                </a:extLst>
              </a:tr>
              <a:tr h="393349">
                <a:tc>
                  <a:txBody>
                    <a:bodyPr/>
                    <a:lstStyle/>
                    <a:p>
                      <a:pPr algn="l" fontAlgn="b">
                        <a:buNone/>
                      </a:pPr>
                      <a:r>
                        <a:rPr lang="en-SG" sz="1200" b="0" u="none" strike="noStrike" dirty="0">
                          <a:solidFill>
                            <a:schemeClr val="tx1"/>
                          </a:solidFill>
                          <a:effectLst/>
                        </a:rPr>
                        <a:t>Grand Total</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6,089,729.86</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31%</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2721251704"/>
                  </a:ext>
                </a:extLst>
              </a:tr>
            </a:tbl>
          </a:graphicData>
        </a:graphic>
      </p:graphicFrame>
    </p:spTree>
    <p:extLst>
      <p:ext uri="{BB962C8B-B14F-4D97-AF65-F5344CB8AC3E}">
        <p14:creationId xmlns:p14="http://schemas.microsoft.com/office/powerpoint/2010/main" val="3543468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8CB5DE72-9A50-D605-8A05-17C4E03DF20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507B91-9652-D7F7-7991-FD21D9BD6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B49C6C-E7D5-112E-3AE9-3157EBA87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CEC4495-D933-4B99-149F-A2151555FF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6B956F21-5616-45A5-3071-F1C8A006B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F90A17D7-7D47-7DD1-68F7-565B1319BA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A1FF8948-977F-1442-B393-23931A68F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83CAFC0-4C7A-2078-F5E9-69DF32F12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E66CBBA1-A600-FBEF-70C6-FB311CDEFF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3680167C-5771-CAA7-B3BE-BC326C6611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hart 1">
            <a:extLst>
              <a:ext uri="{FF2B5EF4-FFF2-40B4-BE49-F238E27FC236}">
                <a16:creationId xmlns:a16="http://schemas.microsoft.com/office/drawing/2014/main" id="{8CD5998A-5E89-6A1B-7117-A242F9873DB1}"/>
              </a:ext>
            </a:extLst>
          </p:cNvPr>
          <p:cNvGraphicFramePr>
            <a:graphicFrameLocks/>
          </p:cNvGraphicFramePr>
          <p:nvPr>
            <p:extLst>
              <p:ext uri="{D42A27DB-BD31-4B8C-83A1-F6EECF244321}">
                <p14:modId xmlns:p14="http://schemas.microsoft.com/office/powerpoint/2010/main" val="1654680955"/>
              </p:ext>
            </p:extLst>
          </p:nvPr>
        </p:nvGraphicFramePr>
        <p:xfrm>
          <a:off x="1003266" y="905272"/>
          <a:ext cx="5111013" cy="3871664"/>
        </p:xfrm>
        <a:graphic>
          <a:graphicData uri="http://schemas.openxmlformats.org/drawingml/2006/chart">
            <c:chart xmlns:c="http://schemas.openxmlformats.org/drawingml/2006/chart" xmlns:r="http://schemas.openxmlformats.org/officeDocument/2006/relationships" r:id="rId5"/>
          </a:graphicData>
        </a:graphic>
      </p:graphicFrame>
      <p:sp>
        <p:nvSpPr>
          <p:cNvPr id="3" name="Title 1">
            <a:extLst>
              <a:ext uri="{FF2B5EF4-FFF2-40B4-BE49-F238E27FC236}">
                <a16:creationId xmlns:a16="http://schemas.microsoft.com/office/drawing/2014/main" id="{786F9744-D00F-AF80-9680-4C557DEC64EB}"/>
              </a:ext>
            </a:extLst>
          </p:cNvPr>
          <p:cNvSpPr txBox="1">
            <a:spLocks/>
          </p:cNvSpPr>
          <p:nvPr/>
        </p:nvSpPr>
        <p:spPr>
          <a:xfrm>
            <a:off x="994279" y="223754"/>
            <a:ext cx="4947847"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Waiting List Analysis</a:t>
            </a:r>
          </a:p>
        </p:txBody>
      </p:sp>
      <p:graphicFrame>
        <p:nvGraphicFramePr>
          <p:cNvPr id="5" name="Table 4">
            <a:extLst>
              <a:ext uri="{FF2B5EF4-FFF2-40B4-BE49-F238E27FC236}">
                <a16:creationId xmlns:a16="http://schemas.microsoft.com/office/drawing/2014/main" id="{52B142D4-B94A-DA0F-CA1F-394BB8AD0E2F}"/>
              </a:ext>
            </a:extLst>
          </p:cNvPr>
          <p:cNvGraphicFramePr>
            <a:graphicFrameLocks noGrp="1"/>
          </p:cNvGraphicFramePr>
          <p:nvPr>
            <p:extLst>
              <p:ext uri="{D42A27DB-BD31-4B8C-83A1-F6EECF244321}">
                <p14:modId xmlns:p14="http://schemas.microsoft.com/office/powerpoint/2010/main" val="2338363595"/>
              </p:ext>
            </p:extLst>
          </p:nvPr>
        </p:nvGraphicFramePr>
        <p:xfrm>
          <a:off x="6234481" y="641268"/>
          <a:ext cx="5694104" cy="2708288"/>
        </p:xfrm>
        <a:graphic>
          <a:graphicData uri="http://schemas.openxmlformats.org/drawingml/2006/table">
            <a:tbl>
              <a:tblPr firstRow="1" bandRow="1">
                <a:tableStyleId>{9D7B26C5-4107-4FEC-AEDC-1716B250A1EF}</a:tableStyleId>
              </a:tblPr>
              <a:tblGrid>
                <a:gridCol w="1809834">
                  <a:extLst>
                    <a:ext uri="{9D8B030D-6E8A-4147-A177-3AD203B41FA5}">
                      <a16:colId xmlns:a16="http://schemas.microsoft.com/office/drawing/2014/main" val="1599382795"/>
                    </a:ext>
                  </a:extLst>
                </a:gridCol>
                <a:gridCol w="1469236">
                  <a:extLst>
                    <a:ext uri="{9D8B030D-6E8A-4147-A177-3AD203B41FA5}">
                      <a16:colId xmlns:a16="http://schemas.microsoft.com/office/drawing/2014/main" val="2242849063"/>
                    </a:ext>
                  </a:extLst>
                </a:gridCol>
                <a:gridCol w="1219466">
                  <a:extLst>
                    <a:ext uri="{9D8B030D-6E8A-4147-A177-3AD203B41FA5}">
                      <a16:colId xmlns:a16="http://schemas.microsoft.com/office/drawing/2014/main" val="4196187592"/>
                    </a:ext>
                  </a:extLst>
                </a:gridCol>
                <a:gridCol w="1195568">
                  <a:extLst>
                    <a:ext uri="{9D8B030D-6E8A-4147-A177-3AD203B41FA5}">
                      <a16:colId xmlns:a16="http://schemas.microsoft.com/office/drawing/2014/main" val="2980885626"/>
                    </a:ext>
                  </a:extLst>
                </a:gridCol>
              </a:tblGrid>
              <a:tr h="246208">
                <a:tc>
                  <a:txBody>
                    <a:bodyPr/>
                    <a:lstStyle/>
                    <a:p>
                      <a:pPr algn="ctr" fontAlgn="b">
                        <a:buNone/>
                      </a:pPr>
                      <a:r>
                        <a:rPr lang="en-SG" sz="1200" b="0" u="none" strike="noStrike">
                          <a:solidFill>
                            <a:schemeClr val="tx1"/>
                          </a:solidFill>
                          <a:effectLst/>
                        </a:rPr>
                        <a:t>days_in_waiting_list</a:t>
                      </a:r>
                      <a:endParaRPr lang="en-SG" sz="1200" b="0" i="0" u="none" strike="noStrike">
                        <a:solidFill>
                          <a:schemeClr val="tx1"/>
                        </a:solidFill>
                        <a:effectLst/>
                        <a:latin typeface="+mn-lt"/>
                      </a:endParaRPr>
                    </a:p>
                  </a:txBody>
                  <a:tcPr marL="9525" marR="9525" marT="9525" marB="0" anchor="ctr"/>
                </a:tc>
                <a:tc>
                  <a:txBody>
                    <a:bodyPr/>
                    <a:lstStyle/>
                    <a:p>
                      <a:pPr algn="ctr" fontAlgn="b">
                        <a:buNone/>
                      </a:pPr>
                      <a:r>
                        <a:rPr lang="en-SG" sz="1200" b="0" u="none" strike="noStrike">
                          <a:solidFill>
                            <a:schemeClr val="tx1"/>
                          </a:solidFill>
                          <a:effectLst/>
                        </a:rPr>
                        <a:t>Total</a:t>
                      </a:r>
                      <a:endParaRPr lang="en-SG" sz="1200" b="0" i="0" u="none" strike="noStrike">
                        <a:solidFill>
                          <a:schemeClr val="tx1"/>
                        </a:solidFill>
                        <a:effectLst/>
                        <a:latin typeface="+mn-lt"/>
                      </a:endParaRPr>
                    </a:p>
                  </a:txBody>
                  <a:tcPr marL="9525" marR="9525" marT="9525" marB="0" anchor="ctr"/>
                </a:tc>
                <a:tc>
                  <a:txBody>
                    <a:bodyPr/>
                    <a:lstStyle/>
                    <a:p>
                      <a:pPr algn="ctr" fontAlgn="b">
                        <a:buNone/>
                      </a:pPr>
                      <a:r>
                        <a:rPr lang="en-SG" sz="1200" b="0" u="none" strike="noStrike">
                          <a:solidFill>
                            <a:schemeClr val="tx1"/>
                          </a:solidFill>
                          <a:effectLst/>
                        </a:rPr>
                        <a:t>Cancelled</a:t>
                      </a:r>
                      <a:endParaRPr lang="en-SG" sz="1200" b="0" i="0" u="none" strike="noStrike">
                        <a:solidFill>
                          <a:schemeClr val="tx1"/>
                        </a:solidFill>
                        <a:effectLst/>
                        <a:latin typeface="+mn-lt"/>
                      </a:endParaRPr>
                    </a:p>
                  </a:txBody>
                  <a:tcPr marL="9525" marR="9525" marT="9525" marB="0" anchor="ctr"/>
                </a:tc>
                <a:tc>
                  <a:txBody>
                    <a:bodyPr/>
                    <a:lstStyle/>
                    <a:p>
                      <a:pPr algn="ctr" fontAlgn="b">
                        <a:buNone/>
                      </a:pPr>
                      <a:r>
                        <a:rPr lang="en-SG" sz="1200" b="0" u="none" strike="noStrike" dirty="0">
                          <a:solidFill>
                            <a:schemeClr val="tx1"/>
                          </a:solidFill>
                          <a:effectLst/>
                        </a:rPr>
                        <a:t>Non Cancelled</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2417757751"/>
                  </a:ext>
                </a:extLst>
              </a:tr>
              <a:tr h="246208">
                <a:tc>
                  <a:txBody>
                    <a:bodyPr/>
                    <a:lstStyle/>
                    <a:p>
                      <a:pPr algn="l" fontAlgn="b">
                        <a:buNone/>
                      </a:pPr>
                      <a:r>
                        <a:rPr lang="en-SG" sz="1200" b="0" u="none" strike="noStrike">
                          <a:solidFill>
                            <a:schemeClr val="tx1"/>
                          </a:solidFill>
                          <a:effectLst/>
                        </a:rPr>
                        <a:t>Mean</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83.40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60.71</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85.05</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1771298966"/>
                  </a:ext>
                </a:extLst>
              </a:tr>
              <a:tr h="246208">
                <a:tc>
                  <a:txBody>
                    <a:bodyPr/>
                    <a:lstStyle/>
                    <a:p>
                      <a:pPr algn="l" fontAlgn="b">
                        <a:buNone/>
                      </a:pPr>
                      <a:r>
                        <a:rPr lang="en-SG" sz="1200" b="0" u="none" strike="noStrike">
                          <a:solidFill>
                            <a:schemeClr val="tx1"/>
                          </a:solidFill>
                          <a:effectLst/>
                        </a:rPr>
                        <a:t>Max</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185.00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125.00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185.00</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1264177779"/>
                  </a:ext>
                </a:extLst>
              </a:tr>
              <a:tr h="246208">
                <a:tc>
                  <a:txBody>
                    <a:bodyPr/>
                    <a:lstStyle/>
                    <a:p>
                      <a:pPr algn="l" fontAlgn="b">
                        <a:buNone/>
                      </a:pPr>
                      <a:r>
                        <a:rPr lang="en-SG" sz="1200" b="0" u="none" strike="noStrike">
                          <a:solidFill>
                            <a:schemeClr val="tx1"/>
                          </a:solidFill>
                          <a:effectLst/>
                        </a:rPr>
                        <a:t>Min</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1.00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632369283"/>
                  </a:ext>
                </a:extLst>
              </a:tr>
              <a:tr h="246208">
                <a:tc>
                  <a:txBody>
                    <a:bodyPr/>
                    <a:lstStyle/>
                    <a:p>
                      <a:pPr algn="l" fontAlgn="b">
                        <a:buNone/>
                      </a:pPr>
                      <a:r>
                        <a:rPr lang="en-SG" sz="1200" b="0" u="none" strike="noStrike">
                          <a:solidFill>
                            <a:schemeClr val="tx1"/>
                          </a:solidFill>
                          <a:effectLst/>
                        </a:rPr>
                        <a:t>Range</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184.00</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124.00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184.00</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3710652287"/>
                  </a:ext>
                </a:extLst>
              </a:tr>
              <a:tr h="246208">
                <a:tc>
                  <a:txBody>
                    <a:bodyPr/>
                    <a:lstStyle/>
                    <a:p>
                      <a:pPr algn="l" fontAlgn="b">
                        <a:buNone/>
                      </a:pPr>
                      <a:r>
                        <a:rPr lang="en-SG" sz="1200" b="0" u="none" strike="noStrike">
                          <a:solidFill>
                            <a:schemeClr val="tx1"/>
                          </a:solidFill>
                          <a:effectLst/>
                        </a:rPr>
                        <a:t>Mode</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122.00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122.00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122.00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465328076"/>
                  </a:ext>
                </a:extLst>
              </a:tr>
              <a:tr h="246208">
                <a:tc>
                  <a:txBody>
                    <a:bodyPr/>
                    <a:lstStyle/>
                    <a:p>
                      <a:pPr algn="l" fontAlgn="b">
                        <a:buNone/>
                      </a:pPr>
                      <a:r>
                        <a:rPr lang="en-SG" sz="1200" b="0" u="none" strike="noStrike" dirty="0">
                          <a:solidFill>
                            <a:schemeClr val="tx1"/>
                          </a:solidFill>
                          <a:effectLst/>
                        </a:rPr>
                        <a:t>Median</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75.00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50.00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83.00</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2195295931"/>
                  </a:ext>
                </a:extLst>
              </a:tr>
              <a:tr h="246208">
                <a:tc>
                  <a:txBody>
                    <a:bodyPr/>
                    <a:lstStyle/>
                    <a:p>
                      <a:pPr algn="l" fontAlgn="b">
                        <a:buNone/>
                      </a:pPr>
                      <a:r>
                        <a:rPr lang="en-SG" sz="1200" b="0" u="none" strike="noStrike">
                          <a:solidFill>
                            <a:schemeClr val="tx1"/>
                          </a:solidFill>
                          <a:effectLst/>
                        </a:rPr>
                        <a:t>Var</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1,826.56</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2,082.22</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1,776.32</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4163349853"/>
                  </a:ext>
                </a:extLst>
              </a:tr>
              <a:tr h="246208">
                <a:tc>
                  <a:txBody>
                    <a:bodyPr/>
                    <a:lstStyle/>
                    <a:p>
                      <a:pPr algn="l" fontAlgn="b">
                        <a:buNone/>
                      </a:pPr>
                      <a:r>
                        <a:rPr lang="en-SG" sz="1200" b="0" u="none" strike="noStrike">
                          <a:solidFill>
                            <a:schemeClr val="tx1"/>
                          </a:solidFill>
                          <a:effectLst/>
                        </a:rPr>
                        <a:t>STD</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42.74</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45.63</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42.15</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661043961"/>
                  </a:ext>
                </a:extLst>
              </a:tr>
              <a:tr h="246208">
                <a:tc>
                  <a:txBody>
                    <a:bodyPr/>
                    <a:lstStyle/>
                    <a:p>
                      <a:pPr algn="l" fontAlgn="b">
                        <a:buNone/>
                      </a:pPr>
                      <a:r>
                        <a:rPr lang="en-SG" sz="1200" b="0" u="none" strike="noStrike">
                          <a:solidFill>
                            <a:schemeClr val="tx1"/>
                          </a:solidFill>
                          <a:effectLst/>
                        </a:rPr>
                        <a:t>CV</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0.51</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0.75</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0.50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2703607019"/>
                  </a:ext>
                </a:extLst>
              </a:tr>
              <a:tr h="246208">
                <a:tc>
                  <a:txBody>
                    <a:bodyPr/>
                    <a:lstStyle/>
                    <a:p>
                      <a:pPr algn="l" fontAlgn="b">
                        <a:buNone/>
                      </a:pPr>
                      <a:r>
                        <a:rPr lang="en-SG" sz="1200" b="0" u="none" strike="noStrike">
                          <a:solidFill>
                            <a:schemeClr val="tx1"/>
                          </a:solidFill>
                          <a:effectLst/>
                        </a:rPr>
                        <a:t>Sum</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20,849.00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1,032.00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19,817.00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430503172"/>
                  </a:ext>
                </a:extLst>
              </a:tr>
            </a:tbl>
          </a:graphicData>
        </a:graphic>
      </p:graphicFrame>
      <p:sp>
        <p:nvSpPr>
          <p:cNvPr id="6" name="TextBox 5">
            <a:extLst>
              <a:ext uri="{FF2B5EF4-FFF2-40B4-BE49-F238E27FC236}">
                <a16:creationId xmlns:a16="http://schemas.microsoft.com/office/drawing/2014/main" id="{0A130FAC-D517-5FD9-5EED-FB8A55991B44}"/>
              </a:ext>
            </a:extLst>
          </p:cNvPr>
          <p:cNvSpPr txBox="1"/>
          <p:nvPr/>
        </p:nvSpPr>
        <p:spPr>
          <a:xfrm>
            <a:off x="1069999" y="5119661"/>
            <a:ext cx="10362463" cy="1668983"/>
          </a:xfrm>
          <a:prstGeom prst="rect">
            <a:avLst/>
          </a:prstGeom>
          <a:noFill/>
        </p:spPr>
        <p:txBody>
          <a:bodyPr wrap="square" rtlCol="0">
            <a:spAutoFit/>
          </a:bodyPr>
          <a:lstStyle/>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Waiting list is highest in Q4.</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Non-cancelled guests waited longer.</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ADR vs Waiting = -0.01, Cancellation vs Waiting = -0.04 -&gt; Very weak relationships.</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b="1" dirty="0">
                <a:latin typeface="Arial" panose="020B0604020202020204" pitchFamily="34" charset="0"/>
                <a:cs typeface="Arial" panose="020B0604020202020204" pitchFamily="34" charset="0"/>
              </a:rPr>
              <a:t>Waiting list is not a major cancellation driver.</a:t>
            </a:r>
          </a:p>
          <a:p>
            <a:pPr marL="285750" indent="-285750" defTabSz="914400">
              <a:lnSpc>
                <a:spcPct val="120000"/>
              </a:lnSpc>
              <a:spcAft>
                <a:spcPts val="600"/>
              </a:spcAft>
              <a:buClr>
                <a:schemeClr val="accent6"/>
              </a:buClr>
              <a:buSzPct val="90000"/>
              <a:buFont typeface="Arial" panose="020B0604020202020204" pitchFamily="34" charset="0"/>
              <a:buChar char="•"/>
            </a:pPr>
            <a:endParaRPr lang="en-SG" sz="1400" dirty="0">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0E22229A-3040-8E61-25B3-C4DCEF6FA2D2}"/>
              </a:ext>
            </a:extLst>
          </p:cNvPr>
          <p:cNvGraphicFramePr>
            <a:graphicFrameLocks noGrp="1"/>
          </p:cNvGraphicFramePr>
          <p:nvPr>
            <p:extLst>
              <p:ext uri="{D42A27DB-BD31-4B8C-83A1-F6EECF244321}">
                <p14:modId xmlns:p14="http://schemas.microsoft.com/office/powerpoint/2010/main" val="759557122"/>
              </p:ext>
            </p:extLst>
          </p:nvPr>
        </p:nvGraphicFramePr>
        <p:xfrm>
          <a:off x="6929270" y="3538731"/>
          <a:ext cx="4999315" cy="1391755"/>
        </p:xfrm>
        <a:graphic>
          <a:graphicData uri="http://schemas.openxmlformats.org/drawingml/2006/table">
            <a:tbl>
              <a:tblPr firstRow="1" bandRow="1">
                <a:tableStyleId>{9D7B26C5-4107-4FEC-AEDC-1716B250A1EF}</a:tableStyleId>
              </a:tblPr>
              <a:tblGrid>
                <a:gridCol w="1178637">
                  <a:extLst>
                    <a:ext uri="{9D8B030D-6E8A-4147-A177-3AD203B41FA5}">
                      <a16:colId xmlns:a16="http://schemas.microsoft.com/office/drawing/2014/main" val="954744119"/>
                    </a:ext>
                  </a:extLst>
                </a:gridCol>
                <a:gridCol w="1241437">
                  <a:extLst>
                    <a:ext uri="{9D8B030D-6E8A-4147-A177-3AD203B41FA5}">
                      <a16:colId xmlns:a16="http://schemas.microsoft.com/office/drawing/2014/main" val="3820569528"/>
                    </a:ext>
                  </a:extLst>
                </a:gridCol>
                <a:gridCol w="1428956">
                  <a:extLst>
                    <a:ext uri="{9D8B030D-6E8A-4147-A177-3AD203B41FA5}">
                      <a16:colId xmlns:a16="http://schemas.microsoft.com/office/drawing/2014/main" val="2968881869"/>
                    </a:ext>
                  </a:extLst>
                </a:gridCol>
                <a:gridCol w="1150285">
                  <a:extLst>
                    <a:ext uri="{9D8B030D-6E8A-4147-A177-3AD203B41FA5}">
                      <a16:colId xmlns:a16="http://schemas.microsoft.com/office/drawing/2014/main" val="1740891960"/>
                    </a:ext>
                  </a:extLst>
                </a:gridCol>
              </a:tblGrid>
              <a:tr h="806965">
                <a:tc>
                  <a:txBody>
                    <a:bodyPr/>
                    <a:lstStyle/>
                    <a:p>
                      <a:pPr algn="ctr" fontAlgn="b">
                        <a:buNone/>
                      </a:pPr>
                      <a:endParaRPr lang="en-SG" sz="1200" b="0" i="0" u="none" strike="noStrike" dirty="0">
                        <a:solidFill>
                          <a:schemeClr val="tx1"/>
                        </a:solidFill>
                        <a:effectLst/>
                        <a:latin typeface=""/>
                      </a:endParaRPr>
                    </a:p>
                  </a:txBody>
                  <a:tcPr marL="9525" marR="9525" marT="9525" marB="0" anchor="ctr"/>
                </a:tc>
                <a:tc>
                  <a:txBody>
                    <a:bodyPr/>
                    <a:lstStyle/>
                    <a:p>
                      <a:pPr algn="l" fontAlgn="b">
                        <a:buNone/>
                      </a:pPr>
                      <a:endParaRPr lang="en-SG" sz="1200" b="0" i="0" u="none" strike="noStrike" dirty="0">
                        <a:solidFill>
                          <a:schemeClr val="tx1"/>
                        </a:solidFill>
                        <a:effectLst/>
                        <a:latin typeface=""/>
                      </a:endParaRPr>
                    </a:p>
                  </a:txBody>
                  <a:tcPr marL="9525" marR="9525" marT="9525" marB="0" anchor="ctr"/>
                </a:tc>
                <a:tc>
                  <a:txBody>
                    <a:bodyPr/>
                    <a:lstStyle/>
                    <a:p>
                      <a:pPr algn="ctr" fontAlgn="ctr">
                        <a:buNone/>
                      </a:pPr>
                      <a:r>
                        <a:rPr lang="en-SG" sz="1200" b="0" u="none" strike="noStrike">
                          <a:solidFill>
                            <a:schemeClr val="tx1"/>
                          </a:solidFill>
                          <a:effectLst/>
                        </a:rPr>
                        <a:t>Covariance (COVARIANCE.S)</a:t>
                      </a:r>
                      <a:endParaRPr lang="en-SG" sz="1200" b="0" i="0" u="none" strike="noStrike">
                        <a:solidFill>
                          <a:schemeClr val="tx1"/>
                        </a:solidFill>
                        <a:effectLst/>
                        <a:latin typeface=""/>
                      </a:endParaRPr>
                    </a:p>
                  </a:txBody>
                  <a:tcPr marL="9525" marR="9525" marT="9525" marB="0" anchor="ctr"/>
                </a:tc>
                <a:tc>
                  <a:txBody>
                    <a:bodyPr/>
                    <a:lstStyle/>
                    <a:p>
                      <a:pPr algn="ctr" fontAlgn="ctr">
                        <a:buNone/>
                      </a:pPr>
                      <a:r>
                        <a:rPr lang="en-SG" sz="1200" b="0" u="none" strike="noStrike" dirty="0">
                          <a:solidFill>
                            <a:schemeClr val="tx1"/>
                          </a:solidFill>
                          <a:effectLst/>
                        </a:rPr>
                        <a:t>Correlation (CORREL)</a:t>
                      </a:r>
                      <a:endParaRPr lang="en-SG" sz="1200" b="0" i="0" u="none" strike="noStrike" dirty="0">
                        <a:solidFill>
                          <a:schemeClr val="tx1"/>
                        </a:solidFill>
                        <a:effectLst/>
                        <a:latin typeface=""/>
                      </a:endParaRPr>
                    </a:p>
                  </a:txBody>
                  <a:tcPr marL="9525" marR="9525" marT="9525" marB="0" anchor="ctr"/>
                </a:tc>
                <a:extLst>
                  <a:ext uri="{0D108BD9-81ED-4DB2-BD59-A6C34878D82A}">
                    <a16:rowId xmlns:a16="http://schemas.microsoft.com/office/drawing/2014/main" val="1458271487"/>
                  </a:ext>
                </a:extLst>
              </a:tr>
              <a:tr h="292395">
                <a:tc>
                  <a:txBody>
                    <a:bodyPr/>
                    <a:lstStyle/>
                    <a:p>
                      <a:pPr algn="l" fontAlgn="b">
                        <a:buNone/>
                      </a:pPr>
                      <a:r>
                        <a:rPr lang="en-SG" sz="1200" b="0" u="none" strike="noStrike">
                          <a:solidFill>
                            <a:schemeClr val="tx1"/>
                          </a:solidFill>
                          <a:effectLst/>
                        </a:rPr>
                        <a:t>ADR</a:t>
                      </a:r>
                      <a:endParaRPr lang="en-SG" sz="1200" b="0" i="0" u="none" strike="noStrike">
                        <a:solidFill>
                          <a:schemeClr val="tx1"/>
                        </a:solidFill>
                        <a:effectLst/>
                        <a:latin typeface=""/>
                      </a:endParaRPr>
                    </a:p>
                  </a:txBody>
                  <a:tcPr marL="9525" marR="9525" marT="9525" marB="0" anchor="ctr"/>
                </a:tc>
                <a:tc>
                  <a:txBody>
                    <a:bodyPr/>
                    <a:lstStyle/>
                    <a:p>
                      <a:pPr algn="l" fontAlgn="b">
                        <a:buNone/>
                      </a:pPr>
                      <a:r>
                        <a:rPr lang="en-SG" sz="1200" b="0" u="none" strike="noStrike">
                          <a:solidFill>
                            <a:schemeClr val="tx1"/>
                          </a:solidFill>
                          <a:effectLst/>
                        </a:rPr>
                        <a:t>days_in_waiting</a:t>
                      </a:r>
                      <a:endParaRPr lang="en-SG" sz="1200" b="0" i="0" u="none" strike="noStrike">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-2.97</a:t>
                      </a:r>
                      <a:endParaRPr lang="en-SG" sz="1200" b="0" i="0" u="none" strike="noStrike" dirty="0">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-0.01</a:t>
                      </a:r>
                      <a:endParaRPr lang="en-SG" sz="1200" b="0" i="0" u="none" strike="noStrike" dirty="0">
                        <a:solidFill>
                          <a:schemeClr val="tx1"/>
                        </a:solidFill>
                        <a:effectLst/>
                        <a:latin typeface=""/>
                      </a:endParaRPr>
                    </a:p>
                  </a:txBody>
                  <a:tcPr marL="9525" marR="9525" marT="9525" marB="0" anchor="ctr"/>
                </a:tc>
                <a:extLst>
                  <a:ext uri="{0D108BD9-81ED-4DB2-BD59-A6C34878D82A}">
                    <a16:rowId xmlns:a16="http://schemas.microsoft.com/office/drawing/2014/main" val="3857558586"/>
                  </a:ext>
                </a:extLst>
              </a:tr>
              <a:tr h="292395">
                <a:tc>
                  <a:txBody>
                    <a:bodyPr/>
                    <a:lstStyle/>
                    <a:p>
                      <a:pPr algn="l" fontAlgn="b">
                        <a:buNone/>
                      </a:pPr>
                      <a:r>
                        <a:rPr lang="en-SG" sz="1200" b="0" u="none" strike="noStrike">
                          <a:solidFill>
                            <a:schemeClr val="tx1"/>
                          </a:solidFill>
                          <a:effectLst/>
                        </a:rPr>
                        <a:t>Cancellation</a:t>
                      </a:r>
                      <a:endParaRPr lang="en-SG" sz="1200" b="0" i="0" u="none" strike="noStrike">
                        <a:solidFill>
                          <a:schemeClr val="tx1"/>
                        </a:solidFill>
                        <a:effectLst/>
                        <a:latin typeface=""/>
                      </a:endParaRPr>
                    </a:p>
                  </a:txBody>
                  <a:tcPr marL="9525" marR="9525" marT="9525" marB="0" anchor="ctr"/>
                </a:tc>
                <a:tc>
                  <a:txBody>
                    <a:bodyPr/>
                    <a:lstStyle/>
                    <a:p>
                      <a:pPr algn="l" fontAlgn="b">
                        <a:buNone/>
                      </a:pPr>
                      <a:r>
                        <a:rPr lang="en-SG" sz="1200" b="0" u="none" strike="noStrike">
                          <a:solidFill>
                            <a:schemeClr val="tx1"/>
                          </a:solidFill>
                          <a:effectLst/>
                        </a:rPr>
                        <a:t>days_in_waiting</a:t>
                      </a:r>
                      <a:endParaRPr lang="en-SG" sz="1200" b="0" i="0" u="none" strike="noStrike">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-0.21</a:t>
                      </a:r>
                      <a:endParaRPr lang="en-SG" sz="1200" b="0" i="0" u="none" strike="noStrike" dirty="0">
                        <a:solidFill>
                          <a:schemeClr val="tx1"/>
                        </a:solidFill>
                        <a:effectLst/>
                        <a:latin typeface=""/>
                      </a:endParaRPr>
                    </a:p>
                  </a:txBody>
                  <a:tcPr marL="9525" marR="9525" marT="9525" marB="0" anchor="ctr"/>
                </a:tc>
                <a:tc>
                  <a:txBody>
                    <a:bodyPr/>
                    <a:lstStyle/>
                    <a:p>
                      <a:pPr algn="r" fontAlgn="b">
                        <a:buNone/>
                      </a:pPr>
                      <a:r>
                        <a:rPr lang="en-SG" sz="1200" b="0" u="none" strike="noStrike" dirty="0">
                          <a:solidFill>
                            <a:schemeClr val="tx1"/>
                          </a:solidFill>
                          <a:effectLst/>
                        </a:rPr>
                        <a:t>-0.04</a:t>
                      </a:r>
                      <a:endParaRPr lang="en-SG" sz="1200" b="0" i="0" u="none" strike="noStrike" dirty="0">
                        <a:solidFill>
                          <a:schemeClr val="tx1"/>
                        </a:solidFill>
                        <a:effectLst/>
                        <a:latin typeface=""/>
                      </a:endParaRPr>
                    </a:p>
                  </a:txBody>
                  <a:tcPr marL="9525" marR="9525" marT="9525" marB="0" anchor="ctr"/>
                </a:tc>
                <a:extLst>
                  <a:ext uri="{0D108BD9-81ED-4DB2-BD59-A6C34878D82A}">
                    <a16:rowId xmlns:a16="http://schemas.microsoft.com/office/drawing/2014/main" val="2814368162"/>
                  </a:ext>
                </a:extLst>
              </a:tr>
            </a:tbl>
          </a:graphicData>
        </a:graphic>
      </p:graphicFrame>
    </p:spTree>
    <p:extLst>
      <p:ext uri="{BB962C8B-B14F-4D97-AF65-F5344CB8AC3E}">
        <p14:creationId xmlns:p14="http://schemas.microsoft.com/office/powerpoint/2010/main" val="3824878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CD6546A7-E0B6-6D1D-F423-936B9861B14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D3C297-0D1B-051A-AA8B-09793F08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E448A69-86D8-6385-FEE1-0EC8C1B401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3CB80AE7-18F7-E50F-3F73-C155F8E47BC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253DF5DB-20F3-B428-F71C-7897BF3127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2BEA2E19-278E-E797-7F6F-72E37DD992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03461712-2202-1E58-AD58-6ADC9E775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0B45B13-411E-93BE-C445-91CF75C38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0A430A36-37C1-5C7A-75D8-2E7B1E4BF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49C58225-8B6F-736E-9BED-644AF4DF37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hart 2">
            <a:extLst>
              <a:ext uri="{FF2B5EF4-FFF2-40B4-BE49-F238E27FC236}">
                <a16:creationId xmlns:a16="http://schemas.microsoft.com/office/drawing/2014/main" id="{98FD562F-2615-8209-0F50-3D3AC7862AB9}"/>
              </a:ext>
            </a:extLst>
          </p:cNvPr>
          <p:cNvGraphicFramePr>
            <a:graphicFrameLocks/>
          </p:cNvGraphicFramePr>
          <p:nvPr>
            <p:extLst>
              <p:ext uri="{D42A27DB-BD31-4B8C-83A1-F6EECF244321}">
                <p14:modId xmlns:p14="http://schemas.microsoft.com/office/powerpoint/2010/main" val="3656360765"/>
              </p:ext>
            </p:extLst>
          </p:nvPr>
        </p:nvGraphicFramePr>
        <p:xfrm>
          <a:off x="807509" y="739520"/>
          <a:ext cx="5721969" cy="369389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 name="Table 3">
            <a:extLst>
              <a:ext uri="{FF2B5EF4-FFF2-40B4-BE49-F238E27FC236}">
                <a16:creationId xmlns:a16="http://schemas.microsoft.com/office/drawing/2014/main" id="{500FED49-F8F2-03D3-0EAE-5EEF0BA6E3CA}"/>
              </a:ext>
            </a:extLst>
          </p:cNvPr>
          <p:cNvGraphicFramePr>
            <a:graphicFrameLocks noGrp="1"/>
          </p:cNvGraphicFramePr>
          <p:nvPr>
            <p:extLst>
              <p:ext uri="{D42A27DB-BD31-4B8C-83A1-F6EECF244321}">
                <p14:modId xmlns:p14="http://schemas.microsoft.com/office/powerpoint/2010/main" val="1675117246"/>
              </p:ext>
            </p:extLst>
          </p:nvPr>
        </p:nvGraphicFramePr>
        <p:xfrm>
          <a:off x="6757181" y="4036002"/>
          <a:ext cx="5206051" cy="609600"/>
        </p:xfrm>
        <a:graphic>
          <a:graphicData uri="http://schemas.openxmlformats.org/drawingml/2006/table">
            <a:tbl>
              <a:tblPr firstRow="1" bandRow="1">
                <a:tableStyleId>{9D7B26C5-4107-4FEC-AEDC-1716B250A1EF}</a:tableStyleId>
              </a:tblPr>
              <a:tblGrid>
                <a:gridCol w="1461560">
                  <a:extLst>
                    <a:ext uri="{9D8B030D-6E8A-4147-A177-3AD203B41FA5}">
                      <a16:colId xmlns:a16="http://schemas.microsoft.com/office/drawing/2014/main" val="1404797803"/>
                    </a:ext>
                  </a:extLst>
                </a:gridCol>
                <a:gridCol w="1340769">
                  <a:extLst>
                    <a:ext uri="{9D8B030D-6E8A-4147-A177-3AD203B41FA5}">
                      <a16:colId xmlns:a16="http://schemas.microsoft.com/office/drawing/2014/main" val="1612013808"/>
                    </a:ext>
                  </a:extLst>
                </a:gridCol>
                <a:gridCol w="1304532">
                  <a:extLst>
                    <a:ext uri="{9D8B030D-6E8A-4147-A177-3AD203B41FA5}">
                      <a16:colId xmlns:a16="http://schemas.microsoft.com/office/drawing/2014/main" val="2246634154"/>
                    </a:ext>
                  </a:extLst>
                </a:gridCol>
                <a:gridCol w="1099190">
                  <a:extLst>
                    <a:ext uri="{9D8B030D-6E8A-4147-A177-3AD203B41FA5}">
                      <a16:colId xmlns:a16="http://schemas.microsoft.com/office/drawing/2014/main" val="145152820"/>
                    </a:ext>
                  </a:extLst>
                </a:gridCol>
              </a:tblGrid>
              <a:tr h="406400">
                <a:tc gridSpan="2">
                  <a:txBody>
                    <a:bodyPr/>
                    <a:lstStyle/>
                    <a:p>
                      <a:pPr algn="ctr" fontAlgn="ctr">
                        <a:buNone/>
                      </a:pPr>
                      <a:r>
                        <a:rPr lang="en-SG" sz="1200" b="0" u="none" strike="noStrike" dirty="0">
                          <a:solidFill>
                            <a:schemeClr val="tx1"/>
                          </a:solidFill>
                          <a:effectLst/>
                        </a:rPr>
                        <a:t>Relationship</a:t>
                      </a:r>
                      <a:endParaRPr lang="en-SG" sz="1200" b="0" i="0" u="none" strike="noStrike" dirty="0">
                        <a:solidFill>
                          <a:schemeClr val="tx1"/>
                        </a:solidFill>
                        <a:effectLst/>
                        <a:latin typeface="+mn-lt"/>
                      </a:endParaRPr>
                    </a:p>
                  </a:txBody>
                  <a:tcPr marL="9525" marR="9525" marT="9525" marB="0" anchor="ctr"/>
                </a:tc>
                <a:tc hMerge="1">
                  <a:txBody>
                    <a:bodyPr/>
                    <a:lstStyle/>
                    <a:p>
                      <a:endParaRPr lang="en-US"/>
                    </a:p>
                  </a:txBody>
                  <a:tcPr/>
                </a:tc>
                <a:tc>
                  <a:txBody>
                    <a:bodyPr/>
                    <a:lstStyle/>
                    <a:p>
                      <a:pPr algn="ctr" fontAlgn="ctr">
                        <a:buNone/>
                      </a:pPr>
                      <a:r>
                        <a:rPr lang="en-SG" sz="1200" b="0" u="none" strike="noStrike" dirty="0">
                          <a:solidFill>
                            <a:schemeClr val="tx1"/>
                          </a:solidFill>
                          <a:effectLst/>
                        </a:rPr>
                        <a:t>Covariance (COVARIANCE.S)</a:t>
                      </a:r>
                      <a:endParaRPr lang="en-SG" sz="1200" b="0" i="0" u="none" strike="noStrike" dirty="0">
                        <a:solidFill>
                          <a:schemeClr val="tx1"/>
                        </a:solidFill>
                        <a:effectLst/>
                        <a:latin typeface="+mn-lt"/>
                      </a:endParaRPr>
                    </a:p>
                  </a:txBody>
                  <a:tcPr marL="9525" marR="9525" marT="9525" marB="0" anchor="ctr"/>
                </a:tc>
                <a:tc>
                  <a:txBody>
                    <a:bodyPr/>
                    <a:lstStyle/>
                    <a:p>
                      <a:pPr algn="ctr" fontAlgn="ctr">
                        <a:buNone/>
                      </a:pPr>
                      <a:r>
                        <a:rPr lang="en-SG" sz="1200" b="0" u="none" strike="noStrike">
                          <a:solidFill>
                            <a:schemeClr val="tx1"/>
                          </a:solidFill>
                          <a:effectLst/>
                        </a:rPr>
                        <a:t>Correlation (CORREL)</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2668103894"/>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ctr"/>
                </a:tc>
                <a:tc>
                  <a:txBody>
                    <a:bodyPr/>
                    <a:lstStyle/>
                    <a:p>
                      <a:pPr algn="l" fontAlgn="b">
                        <a:buNone/>
                      </a:pPr>
                      <a:r>
                        <a:rPr lang="en-SG" sz="1200" b="0" u="none" strike="noStrike">
                          <a:solidFill>
                            <a:schemeClr val="tx1"/>
                          </a:solidFill>
                          <a:effectLst/>
                        </a:rPr>
                        <a:t>Lead Time</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10.22</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0.23</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13079786"/>
                  </a:ext>
                </a:extLst>
              </a:tr>
            </a:tbl>
          </a:graphicData>
        </a:graphic>
      </p:graphicFrame>
      <p:graphicFrame>
        <p:nvGraphicFramePr>
          <p:cNvPr id="5" name="Table 4">
            <a:extLst>
              <a:ext uri="{FF2B5EF4-FFF2-40B4-BE49-F238E27FC236}">
                <a16:creationId xmlns:a16="http://schemas.microsoft.com/office/drawing/2014/main" id="{6FAA120E-6EAF-3511-2B79-7368476CE0F4}"/>
              </a:ext>
            </a:extLst>
          </p:cNvPr>
          <p:cNvGraphicFramePr>
            <a:graphicFrameLocks noGrp="1"/>
          </p:cNvGraphicFramePr>
          <p:nvPr>
            <p:extLst>
              <p:ext uri="{D42A27DB-BD31-4B8C-83A1-F6EECF244321}">
                <p14:modId xmlns:p14="http://schemas.microsoft.com/office/powerpoint/2010/main" val="4221155913"/>
              </p:ext>
            </p:extLst>
          </p:nvPr>
        </p:nvGraphicFramePr>
        <p:xfrm>
          <a:off x="6757181" y="953318"/>
          <a:ext cx="5206050" cy="2838516"/>
        </p:xfrm>
        <a:graphic>
          <a:graphicData uri="http://schemas.openxmlformats.org/drawingml/2006/table">
            <a:tbl>
              <a:tblPr firstRow="1" bandRow="1">
                <a:tableStyleId>{9D7B26C5-4107-4FEC-AEDC-1716B250A1EF}</a:tableStyleId>
              </a:tblPr>
              <a:tblGrid>
                <a:gridCol w="1856026">
                  <a:extLst>
                    <a:ext uri="{9D8B030D-6E8A-4147-A177-3AD203B41FA5}">
                      <a16:colId xmlns:a16="http://schemas.microsoft.com/office/drawing/2014/main" val="2009911701"/>
                    </a:ext>
                  </a:extLst>
                </a:gridCol>
                <a:gridCol w="1697957">
                  <a:extLst>
                    <a:ext uri="{9D8B030D-6E8A-4147-A177-3AD203B41FA5}">
                      <a16:colId xmlns:a16="http://schemas.microsoft.com/office/drawing/2014/main" val="932781626"/>
                    </a:ext>
                  </a:extLst>
                </a:gridCol>
                <a:gridCol w="1652067">
                  <a:extLst>
                    <a:ext uri="{9D8B030D-6E8A-4147-A177-3AD203B41FA5}">
                      <a16:colId xmlns:a16="http://schemas.microsoft.com/office/drawing/2014/main" val="3241332833"/>
                    </a:ext>
                  </a:extLst>
                </a:gridCol>
              </a:tblGrid>
              <a:tr h="236543">
                <a:tc>
                  <a:txBody>
                    <a:bodyPr/>
                    <a:lstStyle/>
                    <a:p>
                      <a:pPr algn="ctr" fontAlgn="b">
                        <a:buNone/>
                      </a:pPr>
                      <a:r>
                        <a:rPr lang="en-SG" sz="1200" b="0" u="none" strike="noStrike">
                          <a:solidFill>
                            <a:schemeClr val="tx1"/>
                          </a:solidFill>
                          <a:effectLst/>
                        </a:rPr>
                        <a:t>Lead Time </a:t>
                      </a:r>
                      <a:endParaRPr lang="en-SG" sz="1200" b="0" i="0" u="none" strike="noStrike">
                        <a:solidFill>
                          <a:schemeClr val="tx1"/>
                        </a:solidFill>
                        <a:effectLst/>
                        <a:latin typeface="+mn-lt"/>
                      </a:endParaRPr>
                    </a:p>
                  </a:txBody>
                  <a:tcPr marL="9525" marR="9525" marT="9525" marB="0" anchor="ctr"/>
                </a:tc>
                <a:tc>
                  <a:txBody>
                    <a:bodyPr/>
                    <a:lstStyle/>
                    <a:p>
                      <a:pPr algn="ctr" fontAlgn="b">
                        <a:buNone/>
                      </a:pPr>
                      <a:r>
                        <a:rPr lang="en-SG" sz="1200" b="0" u="none" strike="noStrike">
                          <a:solidFill>
                            <a:schemeClr val="tx1"/>
                          </a:solidFill>
                          <a:effectLst/>
                        </a:rPr>
                        <a:t>Cancelled</a:t>
                      </a:r>
                      <a:endParaRPr lang="en-SG" sz="1200" b="0" i="0" u="none" strike="noStrike">
                        <a:solidFill>
                          <a:schemeClr val="tx1"/>
                        </a:solidFill>
                        <a:effectLst/>
                        <a:latin typeface="+mn-lt"/>
                      </a:endParaRPr>
                    </a:p>
                  </a:txBody>
                  <a:tcPr marL="9525" marR="9525" marT="9525" marB="0" anchor="ctr"/>
                </a:tc>
                <a:tc>
                  <a:txBody>
                    <a:bodyPr/>
                    <a:lstStyle/>
                    <a:p>
                      <a:pPr algn="ctr" fontAlgn="b">
                        <a:buNone/>
                      </a:pPr>
                      <a:r>
                        <a:rPr lang="en-SG" sz="1200" b="0" u="none" strike="noStrike" dirty="0" err="1">
                          <a:solidFill>
                            <a:schemeClr val="tx1"/>
                          </a:solidFill>
                          <a:effectLst/>
                        </a:rPr>
                        <a:t>Non_Cancelled</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009440224"/>
                  </a:ext>
                </a:extLst>
              </a:tr>
              <a:tr h="236543">
                <a:tc>
                  <a:txBody>
                    <a:bodyPr/>
                    <a:lstStyle/>
                    <a:p>
                      <a:pPr algn="l" fontAlgn="b">
                        <a:buNone/>
                      </a:pPr>
                      <a:r>
                        <a:rPr lang="en-SG" sz="1200" b="0" u="none" strike="noStrike">
                          <a:solidFill>
                            <a:schemeClr val="tx1"/>
                          </a:solidFill>
                          <a:effectLst/>
                        </a:rPr>
                        <a:t>Mean</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131.27</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79.44</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3245447623"/>
                  </a:ext>
                </a:extLst>
              </a:tr>
              <a:tr h="236543">
                <a:tc>
                  <a:txBody>
                    <a:bodyPr/>
                    <a:lstStyle/>
                    <a:p>
                      <a:pPr algn="l" fontAlgn="b">
                        <a:buNone/>
                      </a:pPr>
                      <a:r>
                        <a:rPr lang="en-SG" sz="1200" b="0" u="none" strike="noStrike">
                          <a:solidFill>
                            <a:schemeClr val="tx1"/>
                          </a:solidFill>
                          <a:effectLst/>
                        </a:rPr>
                        <a:t>Max</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471.00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737.00</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2687440209"/>
                  </a:ext>
                </a:extLst>
              </a:tr>
              <a:tr h="236543">
                <a:tc>
                  <a:txBody>
                    <a:bodyPr/>
                    <a:lstStyle/>
                    <a:p>
                      <a:pPr algn="l" fontAlgn="b">
                        <a:buNone/>
                      </a:pPr>
                      <a:r>
                        <a:rPr lang="en-SG" sz="1200" b="0" u="none" strike="noStrike">
                          <a:solidFill>
                            <a:schemeClr val="tx1"/>
                          </a:solidFill>
                          <a:effectLst/>
                        </a:rPr>
                        <a:t>Min</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0.00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688749593"/>
                  </a:ext>
                </a:extLst>
              </a:tr>
              <a:tr h="236543">
                <a:tc>
                  <a:txBody>
                    <a:bodyPr/>
                    <a:lstStyle/>
                    <a:p>
                      <a:pPr algn="l" fontAlgn="b">
                        <a:buNone/>
                      </a:pPr>
                      <a:r>
                        <a:rPr lang="en-SG" sz="1200" b="0" u="none" strike="noStrike">
                          <a:solidFill>
                            <a:schemeClr val="tx1"/>
                          </a:solidFill>
                          <a:effectLst/>
                        </a:rPr>
                        <a:t>Range</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471.00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737.00</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778448755"/>
                  </a:ext>
                </a:extLst>
              </a:tr>
              <a:tr h="236543">
                <a:tc>
                  <a:txBody>
                    <a:bodyPr/>
                    <a:lstStyle/>
                    <a:p>
                      <a:pPr algn="l" fontAlgn="b">
                        <a:buNone/>
                      </a:pPr>
                      <a:r>
                        <a:rPr lang="en-SG" sz="1200" b="0" u="none" strike="noStrike">
                          <a:solidFill>
                            <a:schemeClr val="tx1"/>
                          </a:solidFill>
                          <a:effectLst/>
                        </a:rPr>
                        <a:t>Mode</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1996800792"/>
                  </a:ext>
                </a:extLst>
              </a:tr>
              <a:tr h="236543">
                <a:tc>
                  <a:txBody>
                    <a:bodyPr/>
                    <a:lstStyle/>
                    <a:p>
                      <a:pPr algn="l" fontAlgn="b">
                        <a:buNone/>
                      </a:pPr>
                      <a:r>
                        <a:rPr lang="en-SG" sz="1200" b="0" u="none" strike="noStrike">
                          <a:solidFill>
                            <a:schemeClr val="tx1"/>
                          </a:solidFill>
                          <a:effectLst/>
                        </a:rPr>
                        <a:t>Median</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112.00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37.00</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1071488288"/>
                  </a:ext>
                </a:extLst>
              </a:tr>
              <a:tr h="236543">
                <a:tc>
                  <a:txBody>
                    <a:bodyPr/>
                    <a:lstStyle/>
                    <a:p>
                      <a:pPr algn="l" fontAlgn="b">
                        <a:buNone/>
                      </a:pPr>
                      <a:r>
                        <a:rPr lang="en-SG" sz="1200" b="0" u="none" strike="noStrike">
                          <a:solidFill>
                            <a:schemeClr val="tx1"/>
                          </a:solidFill>
                          <a:effectLst/>
                        </a:rPr>
                        <a:t>Var</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10,046.05</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8,876.85</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1329290306"/>
                  </a:ext>
                </a:extLst>
              </a:tr>
              <a:tr h="236543">
                <a:tc>
                  <a:txBody>
                    <a:bodyPr/>
                    <a:lstStyle/>
                    <a:p>
                      <a:pPr algn="l" fontAlgn="b">
                        <a:buNone/>
                      </a:pPr>
                      <a:r>
                        <a:rPr lang="en-SG" sz="1200" b="0" u="none" strike="noStrike">
                          <a:solidFill>
                            <a:schemeClr val="tx1"/>
                          </a:solidFill>
                          <a:effectLst/>
                        </a:rPr>
                        <a:t>STD</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100.23</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94.22</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4275012340"/>
                  </a:ext>
                </a:extLst>
              </a:tr>
              <a:tr h="236543">
                <a:tc>
                  <a:txBody>
                    <a:bodyPr/>
                    <a:lstStyle/>
                    <a:p>
                      <a:pPr algn="l" fontAlgn="b">
                        <a:buNone/>
                      </a:pPr>
                      <a:r>
                        <a:rPr lang="en-SG" sz="1200" b="0" u="none" strike="noStrike">
                          <a:solidFill>
                            <a:schemeClr val="tx1"/>
                          </a:solidFill>
                          <a:effectLst/>
                        </a:rPr>
                        <a:t>CV</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0.76</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1.19</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1601898494"/>
                  </a:ext>
                </a:extLst>
              </a:tr>
              <a:tr h="236543">
                <a:tc>
                  <a:txBody>
                    <a:bodyPr/>
                    <a:lstStyle/>
                    <a:p>
                      <a:pPr algn="l" fontAlgn="b">
                        <a:buNone/>
                      </a:pPr>
                      <a:r>
                        <a:rPr lang="en-SG" sz="1200" b="0" u="none" strike="noStrike">
                          <a:solidFill>
                            <a:schemeClr val="tx1"/>
                          </a:solidFill>
                          <a:effectLst/>
                        </a:rPr>
                        <a:t>Sum</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1,331,775.00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2,177,614.00</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1181559328"/>
                  </a:ext>
                </a:extLst>
              </a:tr>
              <a:tr h="236543">
                <a:tc>
                  <a:txBody>
                    <a:bodyPr/>
                    <a:lstStyle/>
                    <a:p>
                      <a:pPr algn="l" fontAlgn="b">
                        <a:buNone/>
                      </a:pPr>
                      <a:r>
                        <a:rPr lang="en-SG" sz="1200" b="0" u="none" strike="noStrike">
                          <a:solidFill>
                            <a:schemeClr val="tx1"/>
                          </a:solidFill>
                          <a:effectLst/>
                        </a:rPr>
                        <a:t>Count Transaction</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10,145.00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27,411.00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4072097393"/>
                  </a:ext>
                </a:extLst>
              </a:tr>
            </a:tbl>
          </a:graphicData>
        </a:graphic>
      </p:graphicFrame>
      <p:sp>
        <p:nvSpPr>
          <p:cNvPr id="6" name="Title 1">
            <a:extLst>
              <a:ext uri="{FF2B5EF4-FFF2-40B4-BE49-F238E27FC236}">
                <a16:creationId xmlns:a16="http://schemas.microsoft.com/office/drawing/2014/main" id="{BCD1FD2C-6537-BDF3-0918-61598559A664}"/>
              </a:ext>
            </a:extLst>
          </p:cNvPr>
          <p:cNvSpPr txBox="1">
            <a:spLocks/>
          </p:cNvSpPr>
          <p:nvPr/>
        </p:nvSpPr>
        <p:spPr>
          <a:xfrm>
            <a:off x="994279" y="223754"/>
            <a:ext cx="10729089" cy="531620"/>
          </a:xfrm>
          <a:prstGeom prst="rect">
            <a:avLst/>
          </a:prstGeom>
        </p:spPr>
        <p:txBody>
          <a:bodyPr vert="horz" lIns="91440" tIns="45720" rIns="91440" bIns="45720" rtlCol="0" anchor="t">
            <a:normAutofit fontScale="925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Lead Time Analysis (</a:t>
            </a:r>
            <a:r>
              <a:rPr lang="en-SG" sz="2800" dirty="0"/>
              <a:t>Lead Time = days between booking and arrival.</a:t>
            </a:r>
            <a:r>
              <a:rPr lang="en-US" sz="2800" dirty="0"/>
              <a:t>)</a:t>
            </a:r>
          </a:p>
        </p:txBody>
      </p:sp>
      <p:sp>
        <p:nvSpPr>
          <p:cNvPr id="7" name="TextBox 6">
            <a:extLst>
              <a:ext uri="{FF2B5EF4-FFF2-40B4-BE49-F238E27FC236}">
                <a16:creationId xmlns:a16="http://schemas.microsoft.com/office/drawing/2014/main" id="{6F14EAF1-049C-80EE-67D1-F86F55479D3D}"/>
              </a:ext>
            </a:extLst>
          </p:cNvPr>
          <p:cNvSpPr txBox="1"/>
          <p:nvPr/>
        </p:nvSpPr>
        <p:spPr>
          <a:xfrm>
            <a:off x="952476" y="4470256"/>
            <a:ext cx="6293451" cy="2305246"/>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Bookings that cancel are booked twice as far in advance as those that stay =&gt; </a:t>
            </a:r>
            <a:r>
              <a:rPr lang="en-SG" sz="1400" b="1" dirty="0"/>
              <a:t>major revenue threat </a:t>
            </a:r>
            <a:r>
              <a:rPr lang="en-SG" sz="1400" dirty="0"/>
              <a:t> (Q3 and Q2)</a:t>
            </a:r>
            <a:endParaRPr lang="en-US" sz="1400" b="1" dirty="0"/>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Lead time and cancellation having 23% strength relationship and raise and fall together.</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Guests booking more than one month in advance become significantly more likely to cancel.</a:t>
            </a:r>
            <a:endParaRPr lang="en-US" sz="1400" dirty="0"/>
          </a:p>
          <a:p>
            <a:pPr marL="171450" indent="-171450">
              <a:buFont typeface="Arial" panose="020B0604020202020204" pitchFamily="34" charset="0"/>
              <a:buChar char="•"/>
            </a:pPr>
            <a:r>
              <a:rPr lang="en-SG" sz="1400" dirty="0"/>
              <a:t>Guests booking more than 130 days in advance have 39% cancellation rate, which is 1.45x higher than average. </a:t>
            </a:r>
          </a:p>
        </p:txBody>
      </p:sp>
      <p:graphicFrame>
        <p:nvGraphicFramePr>
          <p:cNvPr id="15" name="Table 14">
            <a:extLst>
              <a:ext uri="{FF2B5EF4-FFF2-40B4-BE49-F238E27FC236}">
                <a16:creationId xmlns:a16="http://schemas.microsoft.com/office/drawing/2014/main" id="{3938A14A-7CF6-A3E7-5C9A-58B3DC523B78}"/>
              </a:ext>
            </a:extLst>
          </p:cNvPr>
          <p:cNvGraphicFramePr>
            <a:graphicFrameLocks noGrp="1"/>
          </p:cNvGraphicFramePr>
          <p:nvPr>
            <p:extLst>
              <p:ext uri="{D42A27DB-BD31-4B8C-83A1-F6EECF244321}">
                <p14:modId xmlns:p14="http://schemas.microsoft.com/office/powerpoint/2010/main" val="872161403"/>
              </p:ext>
            </p:extLst>
          </p:nvPr>
        </p:nvGraphicFramePr>
        <p:xfrm>
          <a:off x="7353131" y="4936744"/>
          <a:ext cx="4610100" cy="1016000"/>
        </p:xfrm>
        <a:graphic>
          <a:graphicData uri="http://schemas.openxmlformats.org/drawingml/2006/table">
            <a:tbl>
              <a:tblPr firstRow="1" bandRow="1">
                <a:tableStyleId>{9D7B26C5-4107-4FEC-AEDC-1716B250A1EF}</a:tableStyleId>
              </a:tblPr>
              <a:tblGrid>
                <a:gridCol w="2046466">
                  <a:extLst>
                    <a:ext uri="{9D8B030D-6E8A-4147-A177-3AD203B41FA5}">
                      <a16:colId xmlns:a16="http://schemas.microsoft.com/office/drawing/2014/main" val="317292267"/>
                    </a:ext>
                  </a:extLst>
                </a:gridCol>
                <a:gridCol w="1561025">
                  <a:extLst>
                    <a:ext uri="{9D8B030D-6E8A-4147-A177-3AD203B41FA5}">
                      <a16:colId xmlns:a16="http://schemas.microsoft.com/office/drawing/2014/main" val="1589686111"/>
                    </a:ext>
                  </a:extLst>
                </a:gridCol>
                <a:gridCol w="1002609">
                  <a:extLst>
                    <a:ext uri="{9D8B030D-6E8A-4147-A177-3AD203B41FA5}">
                      <a16:colId xmlns:a16="http://schemas.microsoft.com/office/drawing/2014/main" val="3913751170"/>
                    </a:ext>
                  </a:extLst>
                </a:gridCol>
              </a:tblGrid>
              <a:tr h="203200">
                <a:tc>
                  <a:txBody>
                    <a:bodyPr/>
                    <a:lstStyle/>
                    <a:p>
                      <a:pPr algn="l" fontAlgn="b">
                        <a:buNone/>
                      </a:pPr>
                      <a:r>
                        <a:rPr lang="en-SG" sz="1200" b="0" u="none" strike="noStrike">
                          <a:solidFill>
                            <a:schemeClr val="tx1"/>
                          </a:solidFill>
                          <a:effectLst/>
                        </a:rPr>
                        <a:t>Lead Time</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l" fontAlgn="b">
                        <a:buNone/>
                      </a:pPr>
                      <a:r>
                        <a:rPr lang="en-SG" sz="1200" b="0" u="none" strike="noStrike">
                          <a:solidFill>
                            <a:schemeClr val="tx1"/>
                          </a:solidFill>
                          <a:effectLst/>
                        </a:rPr>
                        <a:t>Cancellation %</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ctr" fontAlgn="b">
                        <a:buNone/>
                      </a:pPr>
                      <a:r>
                        <a:rPr lang="en-SG" sz="1200" b="0" u="none" strike="noStrike">
                          <a:solidFill>
                            <a:schemeClr val="tx1"/>
                          </a:solidFill>
                          <a:effectLst/>
                        </a:rPr>
                        <a:t>Lift</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942285222"/>
                  </a:ext>
                </a:extLst>
              </a:tr>
              <a:tr h="203200">
                <a:tc>
                  <a:txBody>
                    <a:bodyPr/>
                    <a:lstStyle/>
                    <a:p>
                      <a:pPr algn="l" fontAlgn="b">
                        <a:buNone/>
                      </a:pPr>
                      <a:r>
                        <a:rPr lang="en-SG" sz="1200" b="0" u="none" strike="noStrike" dirty="0">
                          <a:solidFill>
                            <a:schemeClr val="tx1"/>
                          </a:solidFill>
                          <a:effectLst/>
                        </a:rPr>
                        <a:t>0~30</a:t>
                      </a:r>
                      <a:endParaRPr lang="en-SG" sz="1200" b="0" i="0" u="none" strike="noStrike" dirty="0">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12%</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0.46</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858250156"/>
                  </a:ext>
                </a:extLst>
              </a:tr>
              <a:tr h="203200">
                <a:tc>
                  <a:txBody>
                    <a:bodyPr/>
                    <a:lstStyle/>
                    <a:p>
                      <a:pPr algn="l" fontAlgn="b">
                        <a:buNone/>
                      </a:pPr>
                      <a:r>
                        <a:rPr lang="en-SG" sz="1200" b="0" u="none" strike="noStrike">
                          <a:solidFill>
                            <a:schemeClr val="tx1"/>
                          </a:solidFill>
                          <a:effectLst/>
                        </a:rPr>
                        <a:t>31~90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32%</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1.18</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101411503"/>
                  </a:ext>
                </a:extLst>
              </a:tr>
              <a:tr h="203200">
                <a:tc>
                  <a:txBody>
                    <a:bodyPr/>
                    <a:lstStyle/>
                    <a:p>
                      <a:pPr algn="l" fontAlgn="b">
                        <a:buNone/>
                      </a:pPr>
                      <a:r>
                        <a:rPr lang="en-SG" sz="1200" b="0" u="none" strike="noStrike">
                          <a:solidFill>
                            <a:schemeClr val="tx1"/>
                          </a:solidFill>
                          <a:effectLst/>
                        </a:rPr>
                        <a:t>91~130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37%</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1.38</a:t>
                      </a:r>
                      <a:endParaRPr lang="en-SG" sz="1200" b="0" i="0" u="none" strike="noStrike">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3124461731"/>
                  </a:ext>
                </a:extLst>
              </a:tr>
              <a:tr h="203200">
                <a:tc>
                  <a:txBody>
                    <a:bodyPr/>
                    <a:lstStyle/>
                    <a:p>
                      <a:pPr algn="l" fontAlgn="b">
                        <a:buNone/>
                      </a:pPr>
                      <a:r>
                        <a:rPr lang="en-SG" sz="1200" b="0" u="none" strike="noStrike">
                          <a:solidFill>
                            <a:schemeClr val="tx1"/>
                          </a:solidFill>
                          <a:effectLst/>
                        </a:rPr>
                        <a:t>130+</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a:solidFill>
                            <a:schemeClr val="tx1"/>
                          </a:solidFill>
                          <a:effectLst/>
                        </a:rPr>
                        <a:t>39%</a:t>
                      </a:r>
                      <a:endParaRPr lang="en-SG" sz="1200" b="0" i="0" u="none" strike="noStrike">
                        <a:solidFill>
                          <a:schemeClr val="tx1"/>
                        </a:solidFill>
                        <a:effectLst/>
                        <a:latin typeface="Times New Roman" panose="02020603050405020304" pitchFamily="18" charset="0"/>
                      </a:endParaRPr>
                    </a:p>
                  </a:txBody>
                  <a:tcPr marL="9525" marR="9525" marT="9525" marB="0" anchor="b"/>
                </a:tc>
                <a:tc>
                  <a:txBody>
                    <a:bodyPr/>
                    <a:lstStyle/>
                    <a:p>
                      <a:pPr algn="r" fontAlgn="b">
                        <a:buNone/>
                      </a:pPr>
                      <a:r>
                        <a:rPr lang="en-SG" sz="1200" b="0" u="none" strike="noStrike" dirty="0">
                          <a:solidFill>
                            <a:schemeClr val="tx1"/>
                          </a:solidFill>
                          <a:effectLst/>
                        </a:rPr>
                        <a:t>1.45</a:t>
                      </a:r>
                      <a:endParaRPr lang="en-SG" sz="1200" b="0" i="0" u="none" strike="noStrike" dirty="0">
                        <a:solidFill>
                          <a:schemeClr val="tx1"/>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2060541217"/>
                  </a:ext>
                </a:extLst>
              </a:tr>
            </a:tbl>
          </a:graphicData>
        </a:graphic>
      </p:graphicFrame>
    </p:spTree>
    <p:extLst>
      <p:ext uri="{BB962C8B-B14F-4D97-AF65-F5344CB8AC3E}">
        <p14:creationId xmlns:p14="http://schemas.microsoft.com/office/powerpoint/2010/main" val="955976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4D6D2749-E5AA-A3F6-B681-311D03DF75D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6A1626-1156-BF4B-5D35-6167A5086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321A50-DF39-866F-98EB-342264F721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B3146AA2-7AB5-156E-65EE-AF16D52FE6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90F74120-000E-1F83-DD47-10F6A7591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58CFBE28-6E59-C408-2074-818FAEF383F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33A10707-D901-C1F4-28A0-4E8FC0C3B6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668A9EE-072E-4A68-41B0-BAA0735F03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59D05150-2644-A52D-CC07-9FDA6EE4F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3A735B1D-F7C8-C3BA-93F9-05F95E65C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4A9B07-1754-3BA7-4BA7-EBF386719AFA}"/>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Lead Time &amp; Market Segments Analysis</a:t>
            </a:r>
          </a:p>
        </p:txBody>
      </p:sp>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2849C479-1288-624B-84A0-5B5981EBE8BD}"/>
                  </a:ext>
                </a:extLst>
              </p:cNvPr>
              <p:cNvGraphicFramePr/>
              <p:nvPr>
                <p:extLst>
                  <p:ext uri="{D42A27DB-BD31-4B8C-83A1-F6EECF244321}">
                    <p14:modId xmlns:p14="http://schemas.microsoft.com/office/powerpoint/2010/main" val="3046311603"/>
                  </p:ext>
                </p:extLst>
              </p:nvPr>
            </p:nvGraphicFramePr>
            <p:xfrm>
              <a:off x="484153" y="804701"/>
              <a:ext cx="5611847" cy="3033008"/>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3" name="Chart 2">
                <a:extLst>
                  <a:ext uri="{FF2B5EF4-FFF2-40B4-BE49-F238E27FC236}">
                    <a16:creationId xmlns:a16="http://schemas.microsoft.com/office/drawing/2014/main" id="{2849C479-1288-624B-84A0-5B5981EBE8BD}"/>
                  </a:ext>
                </a:extLst>
              </p:cNvPr>
              <p:cNvPicPr>
                <a:picLocks noGrp="1" noRot="1" noChangeAspect="1" noMove="1" noResize="1" noEditPoints="1" noAdjustHandles="1" noChangeArrowheads="1" noChangeShapeType="1"/>
              </p:cNvPicPr>
              <p:nvPr/>
            </p:nvPicPr>
            <p:blipFill>
              <a:blip r:embed="rId6"/>
              <a:stretch>
                <a:fillRect/>
              </a:stretch>
            </p:blipFill>
            <p:spPr>
              <a:xfrm>
                <a:off x="484153" y="804701"/>
                <a:ext cx="5611847" cy="3033008"/>
              </a:xfrm>
              <a:prstGeom prst="rect">
                <a:avLst/>
              </a:prstGeom>
            </p:spPr>
          </p:pic>
        </mc:Fallback>
      </mc:AlternateContent>
      <p:graphicFrame>
        <p:nvGraphicFramePr>
          <p:cNvPr id="4" name="Chart 3">
            <a:extLst>
              <a:ext uri="{FF2B5EF4-FFF2-40B4-BE49-F238E27FC236}">
                <a16:creationId xmlns:a16="http://schemas.microsoft.com/office/drawing/2014/main" id="{78B92005-6016-703E-A50A-4A1A44184F74}"/>
              </a:ext>
            </a:extLst>
          </p:cNvPr>
          <p:cNvGraphicFramePr>
            <a:graphicFrameLocks/>
          </p:cNvGraphicFramePr>
          <p:nvPr>
            <p:extLst>
              <p:ext uri="{D42A27DB-BD31-4B8C-83A1-F6EECF244321}">
                <p14:modId xmlns:p14="http://schemas.microsoft.com/office/powerpoint/2010/main" val="712219926"/>
              </p:ext>
            </p:extLst>
          </p:nvPr>
        </p:nvGraphicFramePr>
        <p:xfrm>
          <a:off x="6492919" y="961780"/>
          <a:ext cx="5611847" cy="3362741"/>
        </p:xfrm>
        <a:graphic>
          <a:graphicData uri="http://schemas.openxmlformats.org/drawingml/2006/chart">
            <c:chart xmlns:c="http://schemas.openxmlformats.org/drawingml/2006/chart" xmlns:r="http://schemas.openxmlformats.org/officeDocument/2006/relationships" r:id="rId7"/>
          </a:graphicData>
        </a:graphic>
      </p:graphicFrame>
      <p:sp>
        <p:nvSpPr>
          <p:cNvPr id="5" name="TextBox 4">
            <a:extLst>
              <a:ext uri="{FF2B5EF4-FFF2-40B4-BE49-F238E27FC236}">
                <a16:creationId xmlns:a16="http://schemas.microsoft.com/office/drawing/2014/main" id="{8D4B1118-1B6D-5298-264F-4E24AD47EA91}"/>
              </a:ext>
            </a:extLst>
          </p:cNvPr>
          <p:cNvSpPr txBox="1"/>
          <p:nvPr/>
        </p:nvSpPr>
        <p:spPr>
          <a:xfrm>
            <a:off x="1603110" y="4722934"/>
            <a:ext cx="3745108" cy="1819794"/>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200" dirty="0"/>
              <a:t>Top largest lead time Market Segments</a:t>
            </a:r>
          </a:p>
          <a:p>
            <a:pPr marL="57150" indent="-342900" defTabSz="914400">
              <a:lnSpc>
                <a:spcPct val="120000"/>
              </a:lnSpc>
              <a:spcAft>
                <a:spcPts val="600"/>
              </a:spcAft>
              <a:buClr>
                <a:schemeClr val="accent6"/>
              </a:buClr>
              <a:buSzPct val="90000"/>
              <a:buFont typeface="+mj-lt"/>
              <a:buAutoNum type="arabicPeriod"/>
            </a:pPr>
            <a:r>
              <a:rPr lang="en-US" sz="1200" dirty="0"/>
              <a:t>Online TA (38%)</a:t>
            </a:r>
          </a:p>
          <a:p>
            <a:pPr marL="57150" indent="-342900" defTabSz="914400">
              <a:lnSpc>
                <a:spcPct val="120000"/>
              </a:lnSpc>
              <a:spcAft>
                <a:spcPts val="600"/>
              </a:spcAft>
              <a:buClr>
                <a:schemeClr val="accent6"/>
              </a:buClr>
              <a:buSzPct val="90000"/>
              <a:buFont typeface="+mj-lt"/>
              <a:buAutoNum type="arabicPeriod"/>
            </a:pPr>
            <a:r>
              <a:rPr lang="en-US" sz="1200" dirty="0"/>
              <a:t>Groups (28%)</a:t>
            </a:r>
          </a:p>
          <a:p>
            <a:pPr marL="57150" indent="-342900" defTabSz="914400">
              <a:lnSpc>
                <a:spcPct val="120000"/>
              </a:lnSpc>
              <a:spcAft>
                <a:spcPts val="600"/>
              </a:spcAft>
              <a:buClr>
                <a:schemeClr val="accent6"/>
              </a:buClr>
              <a:buSzPct val="90000"/>
              <a:buFont typeface="+mj-lt"/>
              <a:buAutoNum type="arabicPeriod"/>
            </a:pPr>
            <a:r>
              <a:rPr lang="en-US" sz="1200" dirty="0"/>
              <a:t>Offline TA/TO (27%)</a:t>
            </a:r>
          </a:p>
          <a:p>
            <a:pPr marL="57150" indent="-342900" defTabSz="914400">
              <a:lnSpc>
                <a:spcPct val="120000"/>
              </a:lnSpc>
              <a:spcAft>
                <a:spcPts val="600"/>
              </a:spcAft>
              <a:buClr>
                <a:schemeClr val="accent6"/>
              </a:buClr>
              <a:buSzPct val="90000"/>
              <a:buFont typeface="+mj-lt"/>
              <a:buAutoNum type="arabicPeriod"/>
            </a:pPr>
            <a:r>
              <a:rPr lang="en-US" sz="1200" dirty="0"/>
              <a:t>Direct</a:t>
            </a:r>
          </a:p>
          <a:p>
            <a:pPr indent="-285750" defTabSz="914400">
              <a:lnSpc>
                <a:spcPct val="120000"/>
              </a:lnSpc>
              <a:spcAft>
                <a:spcPts val="600"/>
              </a:spcAft>
              <a:buClr>
                <a:schemeClr val="accent6"/>
              </a:buClr>
              <a:buSzPct val="90000"/>
              <a:buFont typeface="Wingdings" panose="05000000000000000000" pitchFamily="2" charset="2"/>
              <a:buChar char="§"/>
            </a:pPr>
            <a:endParaRPr lang="en-US" sz="1400" dirty="0"/>
          </a:p>
        </p:txBody>
      </p:sp>
      <p:sp>
        <p:nvSpPr>
          <p:cNvPr id="6" name="TextBox 5">
            <a:extLst>
              <a:ext uri="{FF2B5EF4-FFF2-40B4-BE49-F238E27FC236}">
                <a16:creationId xmlns:a16="http://schemas.microsoft.com/office/drawing/2014/main" id="{C5D23FE6-3C68-3C74-11E6-899EB4D4F0F5}"/>
              </a:ext>
            </a:extLst>
          </p:cNvPr>
          <p:cNvSpPr txBox="1"/>
          <p:nvPr/>
        </p:nvSpPr>
        <p:spPr>
          <a:xfrm>
            <a:off x="6572206" y="4691051"/>
            <a:ext cx="3745108" cy="1222707"/>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200" dirty="0"/>
              <a:t>The most cancellation Market Segments</a:t>
            </a:r>
          </a:p>
          <a:p>
            <a:pPr marL="57150" indent="-342900" defTabSz="914400">
              <a:lnSpc>
                <a:spcPct val="120000"/>
              </a:lnSpc>
              <a:spcAft>
                <a:spcPts val="600"/>
              </a:spcAft>
              <a:buClr>
                <a:schemeClr val="accent6"/>
              </a:buClr>
              <a:buSzPct val="90000"/>
              <a:buFont typeface="+mj-lt"/>
              <a:buAutoNum type="arabicPeriod"/>
            </a:pPr>
            <a:r>
              <a:rPr lang="en-US" sz="1200" dirty="0"/>
              <a:t>Online TA (49%)</a:t>
            </a:r>
          </a:p>
          <a:p>
            <a:pPr marL="57150" indent="-342900" defTabSz="914400">
              <a:lnSpc>
                <a:spcPct val="120000"/>
              </a:lnSpc>
              <a:spcAft>
                <a:spcPts val="600"/>
              </a:spcAft>
              <a:buClr>
                <a:schemeClr val="accent6"/>
              </a:buClr>
              <a:buSzPct val="90000"/>
              <a:buFont typeface="+mj-lt"/>
              <a:buAutoNum type="arabicPeriod"/>
            </a:pPr>
            <a:r>
              <a:rPr lang="en-US" sz="1200" dirty="0"/>
              <a:t>Groups (45%)</a:t>
            </a:r>
          </a:p>
          <a:p>
            <a:pPr indent="-285750" defTabSz="914400">
              <a:lnSpc>
                <a:spcPct val="120000"/>
              </a:lnSpc>
              <a:spcAft>
                <a:spcPts val="600"/>
              </a:spcAft>
              <a:buClr>
                <a:schemeClr val="accent6"/>
              </a:buClr>
              <a:buSzPct val="90000"/>
              <a:buFont typeface="Wingdings" panose="05000000000000000000" pitchFamily="2" charset="2"/>
              <a:buChar char="§"/>
            </a:pPr>
            <a:endParaRPr lang="en-US" sz="1400" dirty="0"/>
          </a:p>
        </p:txBody>
      </p:sp>
    </p:spTree>
    <p:extLst>
      <p:ext uri="{BB962C8B-B14F-4D97-AF65-F5344CB8AC3E}">
        <p14:creationId xmlns:p14="http://schemas.microsoft.com/office/powerpoint/2010/main" val="1359137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70F187D7-3DC8-BD2C-BFEF-7C90F84D590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30884B8-A77F-1FC0-9578-A63078D072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0B18BF-9711-C60D-F5A4-51FC17ED2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F7CCC97-B285-EA28-D119-E13F3069626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A2C95866-BF69-C548-79F3-6DB73FC3D4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4193C18E-B7FE-E469-2980-93BDD2AB74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0D822715-0C15-E6E1-65A5-B52F39E4F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44A85E3A-C871-0F48-1E5D-DBB7388AF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B50E0B3A-A7D7-4459-7CE1-1FFF64DDBD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F336F98C-269A-4D52-B835-3782F6426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5B5C71-1E5D-DD67-4746-724C424F2DF3}"/>
              </a:ext>
            </a:extLst>
          </p:cNvPr>
          <p:cNvSpPr txBox="1">
            <a:spLocks/>
          </p:cNvSpPr>
          <p:nvPr/>
        </p:nvSpPr>
        <p:spPr>
          <a:xfrm>
            <a:off x="994279" y="223754"/>
            <a:ext cx="4947847"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Market Segments Analysis</a:t>
            </a:r>
          </a:p>
        </p:txBody>
      </p:sp>
      <p:graphicFrame>
        <p:nvGraphicFramePr>
          <p:cNvPr id="3" name="Chart 2">
            <a:extLst>
              <a:ext uri="{FF2B5EF4-FFF2-40B4-BE49-F238E27FC236}">
                <a16:creationId xmlns:a16="http://schemas.microsoft.com/office/drawing/2014/main" id="{CD10546B-3095-D8BA-E9AA-4CFC79F0D4B3}"/>
              </a:ext>
            </a:extLst>
          </p:cNvPr>
          <p:cNvGraphicFramePr>
            <a:graphicFrameLocks/>
          </p:cNvGraphicFramePr>
          <p:nvPr>
            <p:extLst>
              <p:ext uri="{D42A27DB-BD31-4B8C-83A1-F6EECF244321}">
                <p14:modId xmlns:p14="http://schemas.microsoft.com/office/powerpoint/2010/main" val="1609049852"/>
              </p:ext>
            </p:extLst>
          </p:nvPr>
        </p:nvGraphicFramePr>
        <p:xfrm>
          <a:off x="246649" y="930716"/>
          <a:ext cx="5994134" cy="356688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 name="Chart 3">
            <a:extLst>
              <a:ext uri="{FF2B5EF4-FFF2-40B4-BE49-F238E27FC236}">
                <a16:creationId xmlns:a16="http://schemas.microsoft.com/office/drawing/2014/main" id="{6B6D5C11-C17E-596F-FE0D-FE9DF476CA1F}"/>
              </a:ext>
            </a:extLst>
          </p:cNvPr>
          <p:cNvGraphicFramePr>
            <a:graphicFrameLocks/>
          </p:cNvGraphicFramePr>
          <p:nvPr>
            <p:extLst>
              <p:ext uri="{D42A27DB-BD31-4B8C-83A1-F6EECF244321}">
                <p14:modId xmlns:p14="http://schemas.microsoft.com/office/powerpoint/2010/main" val="3775459124"/>
              </p:ext>
            </p:extLst>
          </p:nvPr>
        </p:nvGraphicFramePr>
        <p:xfrm>
          <a:off x="6597633" y="851505"/>
          <a:ext cx="5516815" cy="3566885"/>
        </p:xfrm>
        <a:graphic>
          <a:graphicData uri="http://schemas.openxmlformats.org/drawingml/2006/chart">
            <c:chart xmlns:c="http://schemas.openxmlformats.org/drawingml/2006/chart" xmlns:r="http://schemas.openxmlformats.org/officeDocument/2006/relationships" r:id="rId6"/>
          </a:graphicData>
        </a:graphic>
      </p:graphicFrame>
      <p:sp>
        <p:nvSpPr>
          <p:cNvPr id="5" name="TextBox 4">
            <a:extLst>
              <a:ext uri="{FF2B5EF4-FFF2-40B4-BE49-F238E27FC236}">
                <a16:creationId xmlns:a16="http://schemas.microsoft.com/office/drawing/2014/main" id="{1C21A13E-C3D6-FC32-758D-606672A86E52}"/>
              </a:ext>
            </a:extLst>
          </p:cNvPr>
          <p:cNvSpPr txBox="1"/>
          <p:nvPr/>
        </p:nvSpPr>
        <p:spPr>
          <a:xfrm>
            <a:off x="1003266" y="4933292"/>
            <a:ext cx="5713089" cy="662554"/>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Online TA generate most revenue but also most cancellations.</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Direct Market Segments is healthiest.</a:t>
            </a:r>
          </a:p>
        </p:txBody>
      </p:sp>
      <p:graphicFrame>
        <p:nvGraphicFramePr>
          <p:cNvPr id="9" name="Table 8">
            <a:extLst>
              <a:ext uri="{FF2B5EF4-FFF2-40B4-BE49-F238E27FC236}">
                <a16:creationId xmlns:a16="http://schemas.microsoft.com/office/drawing/2014/main" id="{40CA13C4-5B3B-6C78-54B8-2EBB697DBC4C}"/>
              </a:ext>
            </a:extLst>
          </p:cNvPr>
          <p:cNvGraphicFramePr>
            <a:graphicFrameLocks noGrp="1"/>
          </p:cNvGraphicFramePr>
          <p:nvPr>
            <p:extLst>
              <p:ext uri="{D42A27DB-BD31-4B8C-83A1-F6EECF244321}">
                <p14:modId xmlns:p14="http://schemas.microsoft.com/office/powerpoint/2010/main" val="977524215"/>
              </p:ext>
            </p:extLst>
          </p:nvPr>
        </p:nvGraphicFramePr>
        <p:xfrm>
          <a:off x="7703128" y="4407200"/>
          <a:ext cx="4242224" cy="1993600"/>
        </p:xfrm>
        <a:graphic>
          <a:graphicData uri="http://schemas.openxmlformats.org/drawingml/2006/table">
            <a:tbl>
              <a:tblPr firstRow="1" bandRow="1">
                <a:tableStyleId>{9D7B26C5-4107-4FEC-AEDC-1716B250A1EF}</a:tableStyleId>
              </a:tblPr>
              <a:tblGrid>
                <a:gridCol w="2412905">
                  <a:extLst>
                    <a:ext uri="{9D8B030D-6E8A-4147-A177-3AD203B41FA5}">
                      <a16:colId xmlns:a16="http://schemas.microsoft.com/office/drawing/2014/main" val="2662135189"/>
                    </a:ext>
                  </a:extLst>
                </a:gridCol>
                <a:gridCol w="1829319">
                  <a:extLst>
                    <a:ext uri="{9D8B030D-6E8A-4147-A177-3AD203B41FA5}">
                      <a16:colId xmlns:a16="http://schemas.microsoft.com/office/drawing/2014/main" val="3483877461"/>
                    </a:ext>
                  </a:extLst>
                </a:gridCol>
              </a:tblGrid>
              <a:tr h="284800">
                <a:tc>
                  <a:txBody>
                    <a:bodyPr/>
                    <a:lstStyle/>
                    <a:p>
                      <a:pPr algn="l" fontAlgn="b">
                        <a:buNone/>
                      </a:pPr>
                      <a:r>
                        <a:rPr lang="en-SG" sz="1200" b="0" i="0" u="none" strike="noStrike" dirty="0">
                          <a:solidFill>
                            <a:schemeClr val="tx1"/>
                          </a:solidFill>
                          <a:effectLst/>
                          <a:latin typeface="Arial" panose="020B0604020202020204" pitchFamily="34" charset="0"/>
                          <a:cs typeface="Arial" panose="020B0604020202020204" pitchFamily="34" charset="0"/>
                        </a:rPr>
                        <a:t>Cancellation Count 2016</a:t>
                      </a:r>
                    </a:p>
                  </a:txBody>
                  <a:tcPr marL="8806" marR="8806" marT="8806" marB="0" anchor="b"/>
                </a:tc>
                <a:tc>
                  <a:txBody>
                    <a:bodyPr/>
                    <a:lstStyle/>
                    <a:p>
                      <a:pPr algn="ctr" fontAlgn="b">
                        <a:buNone/>
                      </a:pPr>
                      <a:r>
                        <a:rPr lang="en-SG" sz="1200" b="0" u="none" strike="noStrike" dirty="0">
                          <a:solidFill>
                            <a:schemeClr val="tx1"/>
                          </a:solidFill>
                          <a:effectLst/>
                          <a:latin typeface="Arial" panose="020B0604020202020204" pitchFamily="34" charset="0"/>
                          <a:cs typeface="Arial" panose="020B0604020202020204" pitchFamily="34" charset="0"/>
                        </a:rPr>
                        <a:t>Total</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8806" marR="8806" marT="8806" marB="0" anchor="b"/>
                </a:tc>
                <a:extLst>
                  <a:ext uri="{0D108BD9-81ED-4DB2-BD59-A6C34878D82A}">
                    <a16:rowId xmlns:a16="http://schemas.microsoft.com/office/drawing/2014/main" val="1894402261"/>
                  </a:ext>
                </a:extLst>
              </a:tr>
              <a:tr h="284800">
                <a:tc>
                  <a:txBody>
                    <a:bodyPr/>
                    <a:lstStyle/>
                    <a:p>
                      <a:pPr algn="l" fontAlgn="b">
                        <a:buNone/>
                      </a:pPr>
                      <a:r>
                        <a:rPr lang="en-SG" sz="1100" b="0" u="none" strike="noStrike">
                          <a:solidFill>
                            <a:schemeClr val="tx1"/>
                          </a:solidFill>
                          <a:effectLst/>
                        </a:rPr>
                        <a:t>Complementary</a:t>
                      </a:r>
                      <a:endParaRPr lang="en-SG" sz="1100" b="0" i="0" u="none" strike="noStrike">
                        <a:solidFill>
                          <a:schemeClr val="tx1"/>
                        </a:solidFill>
                        <a:effectLst/>
                        <a:latin typeface="Times New Roman" panose="02020603050405020304" pitchFamily="18" charset="0"/>
                      </a:endParaRPr>
                    </a:p>
                  </a:txBody>
                  <a:tcPr marL="8806" marR="8806" marT="8806" marB="0" anchor="b"/>
                </a:tc>
                <a:tc>
                  <a:txBody>
                    <a:bodyPr/>
                    <a:lstStyle/>
                    <a:p>
                      <a:pPr algn="r" fontAlgn="b">
                        <a:buNone/>
                      </a:pPr>
                      <a:r>
                        <a:rPr lang="en-SG" sz="1100" b="0" u="none" strike="noStrike" dirty="0">
                          <a:solidFill>
                            <a:schemeClr val="tx1"/>
                          </a:solidFill>
                          <a:effectLst/>
                        </a:rPr>
                        <a:t>0.4%</a:t>
                      </a:r>
                      <a:endParaRPr lang="en-SG" sz="1100" b="0" i="0" u="none" strike="noStrike" dirty="0">
                        <a:solidFill>
                          <a:schemeClr val="tx1"/>
                        </a:solidFill>
                        <a:effectLst/>
                        <a:latin typeface="Times New Roman" panose="02020603050405020304" pitchFamily="18" charset="0"/>
                      </a:endParaRPr>
                    </a:p>
                  </a:txBody>
                  <a:tcPr marL="8806" marR="8806" marT="8806" marB="0" anchor="b"/>
                </a:tc>
                <a:extLst>
                  <a:ext uri="{0D108BD9-81ED-4DB2-BD59-A6C34878D82A}">
                    <a16:rowId xmlns:a16="http://schemas.microsoft.com/office/drawing/2014/main" val="2408107931"/>
                  </a:ext>
                </a:extLst>
              </a:tr>
              <a:tr h="284800">
                <a:tc>
                  <a:txBody>
                    <a:bodyPr/>
                    <a:lstStyle/>
                    <a:p>
                      <a:pPr algn="l" fontAlgn="b">
                        <a:buNone/>
                      </a:pPr>
                      <a:r>
                        <a:rPr lang="en-SG" sz="1100" b="0" u="none" strike="noStrike">
                          <a:solidFill>
                            <a:schemeClr val="tx1"/>
                          </a:solidFill>
                          <a:effectLst/>
                        </a:rPr>
                        <a:t>Corporate</a:t>
                      </a:r>
                      <a:endParaRPr lang="en-SG" sz="1100" b="0" i="0" u="none" strike="noStrike">
                        <a:solidFill>
                          <a:schemeClr val="tx1"/>
                        </a:solidFill>
                        <a:effectLst/>
                        <a:latin typeface="Times New Roman" panose="02020603050405020304" pitchFamily="18" charset="0"/>
                      </a:endParaRPr>
                    </a:p>
                  </a:txBody>
                  <a:tcPr marL="8806" marR="8806" marT="8806" marB="0" anchor="b"/>
                </a:tc>
                <a:tc>
                  <a:txBody>
                    <a:bodyPr/>
                    <a:lstStyle/>
                    <a:p>
                      <a:pPr algn="r" fontAlgn="b">
                        <a:buNone/>
                      </a:pPr>
                      <a:r>
                        <a:rPr lang="en-SG" sz="1100" b="0" u="none" strike="noStrike" dirty="0">
                          <a:solidFill>
                            <a:schemeClr val="tx1"/>
                          </a:solidFill>
                          <a:effectLst/>
                        </a:rPr>
                        <a:t>1.9%</a:t>
                      </a:r>
                      <a:endParaRPr lang="en-SG" sz="1100" b="0" i="0" u="none" strike="noStrike" dirty="0">
                        <a:solidFill>
                          <a:schemeClr val="tx1"/>
                        </a:solidFill>
                        <a:effectLst/>
                        <a:latin typeface="Times New Roman" panose="02020603050405020304" pitchFamily="18" charset="0"/>
                      </a:endParaRPr>
                    </a:p>
                  </a:txBody>
                  <a:tcPr marL="8806" marR="8806" marT="8806" marB="0" anchor="b"/>
                </a:tc>
                <a:extLst>
                  <a:ext uri="{0D108BD9-81ED-4DB2-BD59-A6C34878D82A}">
                    <a16:rowId xmlns:a16="http://schemas.microsoft.com/office/drawing/2014/main" val="2282918020"/>
                  </a:ext>
                </a:extLst>
              </a:tr>
              <a:tr h="284800">
                <a:tc>
                  <a:txBody>
                    <a:bodyPr/>
                    <a:lstStyle/>
                    <a:p>
                      <a:pPr algn="l" fontAlgn="b">
                        <a:buNone/>
                      </a:pPr>
                      <a:r>
                        <a:rPr lang="en-SG" sz="1100" b="0" u="none" strike="noStrike">
                          <a:solidFill>
                            <a:schemeClr val="tx1"/>
                          </a:solidFill>
                          <a:effectLst/>
                        </a:rPr>
                        <a:t>Direct</a:t>
                      </a:r>
                      <a:endParaRPr lang="en-SG" sz="1100" b="0" i="0" u="none" strike="noStrike">
                        <a:solidFill>
                          <a:schemeClr val="tx1"/>
                        </a:solidFill>
                        <a:effectLst/>
                        <a:latin typeface="Times New Roman" panose="02020603050405020304" pitchFamily="18" charset="0"/>
                      </a:endParaRPr>
                    </a:p>
                  </a:txBody>
                  <a:tcPr marL="8806" marR="8806" marT="8806" marB="0" anchor="b"/>
                </a:tc>
                <a:tc>
                  <a:txBody>
                    <a:bodyPr/>
                    <a:lstStyle/>
                    <a:p>
                      <a:pPr algn="r" fontAlgn="b">
                        <a:buNone/>
                      </a:pPr>
                      <a:r>
                        <a:rPr lang="en-SG" sz="1100" b="0" u="none" strike="noStrike">
                          <a:solidFill>
                            <a:schemeClr val="tx1"/>
                          </a:solidFill>
                          <a:effectLst/>
                        </a:rPr>
                        <a:t>7.0%</a:t>
                      </a:r>
                      <a:endParaRPr lang="en-SG" sz="1100" b="0" i="0" u="none" strike="noStrike">
                        <a:solidFill>
                          <a:schemeClr val="tx1"/>
                        </a:solidFill>
                        <a:effectLst/>
                        <a:latin typeface="Times New Roman" panose="02020603050405020304" pitchFamily="18" charset="0"/>
                      </a:endParaRPr>
                    </a:p>
                  </a:txBody>
                  <a:tcPr marL="8806" marR="8806" marT="8806" marB="0" anchor="b"/>
                </a:tc>
                <a:extLst>
                  <a:ext uri="{0D108BD9-81ED-4DB2-BD59-A6C34878D82A}">
                    <a16:rowId xmlns:a16="http://schemas.microsoft.com/office/drawing/2014/main" val="949117459"/>
                  </a:ext>
                </a:extLst>
              </a:tr>
              <a:tr h="284800">
                <a:tc>
                  <a:txBody>
                    <a:bodyPr/>
                    <a:lstStyle/>
                    <a:p>
                      <a:pPr algn="l" fontAlgn="b">
                        <a:buNone/>
                      </a:pPr>
                      <a:r>
                        <a:rPr lang="en-SG" sz="1100" b="0" u="none" strike="noStrike" dirty="0">
                          <a:solidFill>
                            <a:schemeClr val="tx1"/>
                          </a:solidFill>
                          <a:effectLst/>
                        </a:rPr>
                        <a:t>Groups</a:t>
                      </a:r>
                      <a:endParaRPr lang="en-SG" sz="1100" b="0" i="0" u="none" strike="noStrike" dirty="0">
                        <a:solidFill>
                          <a:schemeClr val="tx1"/>
                        </a:solidFill>
                        <a:effectLst/>
                        <a:latin typeface="Times New Roman" panose="02020603050405020304" pitchFamily="18" charset="0"/>
                      </a:endParaRPr>
                    </a:p>
                  </a:txBody>
                  <a:tcPr marL="8806" marR="8806" marT="8806" marB="0" anchor="b"/>
                </a:tc>
                <a:tc>
                  <a:txBody>
                    <a:bodyPr/>
                    <a:lstStyle/>
                    <a:p>
                      <a:pPr algn="r" fontAlgn="b">
                        <a:buNone/>
                      </a:pPr>
                      <a:r>
                        <a:rPr lang="en-SG" sz="1100" b="0" u="none" strike="noStrike">
                          <a:solidFill>
                            <a:schemeClr val="tx1"/>
                          </a:solidFill>
                          <a:effectLst/>
                        </a:rPr>
                        <a:t>29.4%</a:t>
                      </a:r>
                      <a:endParaRPr lang="en-SG" sz="1100" b="0" i="0" u="none" strike="noStrike">
                        <a:solidFill>
                          <a:schemeClr val="tx1"/>
                        </a:solidFill>
                        <a:effectLst/>
                        <a:latin typeface="Times New Roman" panose="02020603050405020304" pitchFamily="18" charset="0"/>
                      </a:endParaRPr>
                    </a:p>
                  </a:txBody>
                  <a:tcPr marL="8806" marR="8806" marT="8806" marB="0" anchor="b"/>
                </a:tc>
                <a:extLst>
                  <a:ext uri="{0D108BD9-81ED-4DB2-BD59-A6C34878D82A}">
                    <a16:rowId xmlns:a16="http://schemas.microsoft.com/office/drawing/2014/main" val="3150345785"/>
                  </a:ext>
                </a:extLst>
              </a:tr>
              <a:tr h="284800">
                <a:tc>
                  <a:txBody>
                    <a:bodyPr/>
                    <a:lstStyle/>
                    <a:p>
                      <a:pPr algn="l" fontAlgn="b">
                        <a:buNone/>
                      </a:pPr>
                      <a:r>
                        <a:rPr lang="en-SG" sz="1100" b="0" u="none" strike="noStrike">
                          <a:solidFill>
                            <a:schemeClr val="tx1"/>
                          </a:solidFill>
                          <a:effectLst/>
                        </a:rPr>
                        <a:t>Offline TA/TO</a:t>
                      </a:r>
                      <a:endParaRPr lang="en-SG" sz="1100" b="0" i="0" u="none" strike="noStrike">
                        <a:solidFill>
                          <a:schemeClr val="tx1"/>
                        </a:solidFill>
                        <a:effectLst/>
                        <a:latin typeface="Times New Roman" panose="02020603050405020304" pitchFamily="18" charset="0"/>
                      </a:endParaRPr>
                    </a:p>
                  </a:txBody>
                  <a:tcPr marL="8806" marR="8806" marT="8806" marB="0" anchor="b"/>
                </a:tc>
                <a:tc>
                  <a:txBody>
                    <a:bodyPr/>
                    <a:lstStyle/>
                    <a:p>
                      <a:pPr algn="r" fontAlgn="b">
                        <a:buNone/>
                      </a:pPr>
                      <a:r>
                        <a:rPr lang="en-SG" sz="1100" b="0" u="none" strike="noStrike">
                          <a:solidFill>
                            <a:schemeClr val="tx1"/>
                          </a:solidFill>
                          <a:effectLst/>
                        </a:rPr>
                        <a:t>9.1%</a:t>
                      </a:r>
                      <a:endParaRPr lang="en-SG" sz="1100" b="0" i="0" u="none" strike="noStrike">
                        <a:solidFill>
                          <a:schemeClr val="tx1"/>
                        </a:solidFill>
                        <a:effectLst/>
                        <a:latin typeface="Times New Roman" panose="02020603050405020304" pitchFamily="18" charset="0"/>
                      </a:endParaRPr>
                    </a:p>
                  </a:txBody>
                  <a:tcPr marL="8806" marR="8806" marT="8806" marB="0" anchor="b"/>
                </a:tc>
                <a:extLst>
                  <a:ext uri="{0D108BD9-81ED-4DB2-BD59-A6C34878D82A}">
                    <a16:rowId xmlns:a16="http://schemas.microsoft.com/office/drawing/2014/main" val="1480587310"/>
                  </a:ext>
                </a:extLst>
              </a:tr>
              <a:tr h="284800">
                <a:tc>
                  <a:txBody>
                    <a:bodyPr/>
                    <a:lstStyle/>
                    <a:p>
                      <a:pPr algn="l" fontAlgn="b">
                        <a:buNone/>
                      </a:pPr>
                      <a:r>
                        <a:rPr lang="en-SG" sz="1100" b="0" u="none" strike="noStrike" dirty="0">
                          <a:solidFill>
                            <a:schemeClr val="tx1"/>
                          </a:solidFill>
                          <a:effectLst/>
                        </a:rPr>
                        <a:t>Online TA</a:t>
                      </a:r>
                      <a:endParaRPr lang="en-SG" sz="1100" b="0" i="0" u="none" strike="noStrike" dirty="0">
                        <a:solidFill>
                          <a:schemeClr val="tx1"/>
                        </a:solidFill>
                        <a:effectLst/>
                        <a:latin typeface="Times New Roman" panose="02020603050405020304" pitchFamily="18" charset="0"/>
                      </a:endParaRPr>
                    </a:p>
                  </a:txBody>
                  <a:tcPr marL="8806" marR="8806" marT="8806" marB="0" anchor="b"/>
                </a:tc>
                <a:tc>
                  <a:txBody>
                    <a:bodyPr/>
                    <a:lstStyle/>
                    <a:p>
                      <a:pPr algn="r" fontAlgn="b">
                        <a:buNone/>
                      </a:pPr>
                      <a:r>
                        <a:rPr lang="en-SG" sz="1100" b="0" u="none" strike="noStrike" dirty="0">
                          <a:solidFill>
                            <a:schemeClr val="tx1"/>
                          </a:solidFill>
                          <a:effectLst/>
                        </a:rPr>
                        <a:t>52.3%</a:t>
                      </a:r>
                      <a:endParaRPr lang="en-SG" sz="1100" b="0" i="0" u="none" strike="noStrike" dirty="0">
                        <a:solidFill>
                          <a:schemeClr val="tx1"/>
                        </a:solidFill>
                        <a:effectLst/>
                        <a:latin typeface="Times New Roman" panose="02020603050405020304" pitchFamily="18" charset="0"/>
                      </a:endParaRPr>
                    </a:p>
                  </a:txBody>
                  <a:tcPr marL="8806" marR="8806" marT="8806" marB="0" anchor="b"/>
                </a:tc>
                <a:extLst>
                  <a:ext uri="{0D108BD9-81ED-4DB2-BD59-A6C34878D82A}">
                    <a16:rowId xmlns:a16="http://schemas.microsoft.com/office/drawing/2014/main" val="1330817640"/>
                  </a:ext>
                </a:extLst>
              </a:tr>
            </a:tbl>
          </a:graphicData>
        </a:graphic>
      </p:graphicFrame>
    </p:spTree>
    <p:extLst>
      <p:ext uri="{BB962C8B-B14F-4D97-AF65-F5344CB8AC3E}">
        <p14:creationId xmlns:p14="http://schemas.microsoft.com/office/powerpoint/2010/main" val="1330922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B3A21F3E-5DA0-1C49-9BCC-F67CDEA9C8D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0073A0-FC60-51CF-C558-822C068C8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3AECE9-84CB-423B-289C-AAF12B496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1B3D7C6-3B67-150F-847B-4BAB0C2150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F5FBE579-B62F-406C-A379-9414A3233F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4C95619C-21F5-F1FA-FFFE-0793BEFD31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7D38A0E4-556C-3AEB-B13D-1BB17FD10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7FD1FDC5-051D-5567-E3FB-2BCA47491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9C076797-CD27-BBF9-B9BE-F24EBF118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1C889002-051F-670F-1277-7FFF7748F8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1A323D-7AA4-394E-6230-F7DF84777E92}"/>
              </a:ext>
            </a:extLst>
          </p:cNvPr>
          <p:cNvSpPr txBox="1">
            <a:spLocks/>
          </p:cNvSpPr>
          <p:nvPr/>
        </p:nvSpPr>
        <p:spPr>
          <a:xfrm>
            <a:off x="994279" y="223754"/>
            <a:ext cx="7706376" cy="589046"/>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Market Segments &amp; Deposit Type Analysis</a:t>
            </a:r>
          </a:p>
        </p:txBody>
      </p:sp>
      <p:sp>
        <p:nvSpPr>
          <p:cNvPr id="5" name="TextBox 4">
            <a:extLst>
              <a:ext uri="{FF2B5EF4-FFF2-40B4-BE49-F238E27FC236}">
                <a16:creationId xmlns:a16="http://schemas.microsoft.com/office/drawing/2014/main" id="{560060EB-3DCB-8479-EF69-563444741CBA}"/>
              </a:ext>
            </a:extLst>
          </p:cNvPr>
          <p:cNvSpPr txBox="1"/>
          <p:nvPr/>
        </p:nvSpPr>
        <p:spPr>
          <a:xfrm>
            <a:off x="1330492" y="4223098"/>
            <a:ext cx="8016435" cy="327077"/>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With volume of the transactions and cancellations, No Deposit is highest revenue risk.</a:t>
            </a:r>
          </a:p>
        </p:txBody>
      </p:sp>
      <p:graphicFrame>
        <p:nvGraphicFramePr>
          <p:cNvPr id="7" name="Table 6">
            <a:extLst>
              <a:ext uri="{FF2B5EF4-FFF2-40B4-BE49-F238E27FC236}">
                <a16:creationId xmlns:a16="http://schemas.microsoft.com/office/drawing/2014/main" id="{8688B083-EAC7-FC16-886D-5760B48F7389}"/>
              </a:ext>
            </a:extLst>
          </p:cNvPr>
          <p:cNvGraphicFramePr>
            <a:graphicFrameLocks noGrp="1"/>
          </p:cNvGraphicFramePr>
          <p:nvPr>
            <p:extLst>
              <p:ext uri="{D42A27DB-BD31-4B8C-83A1-F6EECF244321}">
                <p14:modId xmlns:p14="http://schemas.microsoft.com/office/powerpoint/2010/main" val="3207279037"/>
              </p:ext>
            </p:extLst>
          </p:nvPr>
        </p:nvGraphicFramePr>
        <p:xfrm>
          <a:off x="6096000" y="1036552"/>
          <a:ext cx="5766483" cy="2731880"/>
        </p:xfrm>
        <a:graphic>
          <a:graphicData uri="http://schemas.openxmlformats.org/drawingml/2006/table">
            <a:tbl>
              <a:tblPr firstRow="1" bandRow="1">
                <a:tableStyleId>{9D7B26C5-4107-4FEC-AEDC-1716B250A1EF}</a:tableStyleId>
              </a:tblPr>
              <a:tblGrid>
                <a:gridCol w="1298645">
                  <a:extLst>
                    <a:ext uri="{9D8B030D-6E8A-4147-A177-3AD203B41FA5}">
                      <a16:colId xmlns:a16="http://schemas.microsoft.com/office/drawing/2014/main" val="2120421610"/>
                    </a:ext>
                  </a:extLst>
                </a:gridCol>
                <a:gridCol w="887129">
                  <a:extLst>
                    <a:ext uri="{9D8B030D-6E8A-4147-A177-3AD203B41FA5}">
                      <a16:colId xmlns:a16="http://schemas.microsoft.com/office/drawing/2014/main" val="4090502241"/>
                    </a:ext>
                  </a:extLst>
                </a:gridCol>
                <a:gridCol w="1063350">
                  <a:extLst>
                    <a:ext uri="{9D8B030D-6E8A-4147-A177-3AD203B41FA5}">
                      <a16:colId xmlns:a16="http://schemas.microsoft.com/office/drawing/2014/main" val="198358787"/>
                    </a:ext>
                  </a:extLst>
                </a:gridCol>
                <a:gridCol w="927340">
                  <a:extLst>
                    <a:ext uri="{9D8B030D-6E8A-4147-A177-3AD203B41FA5}">
                      <a16:colId xmlns:a16="http://schemas.microsoft.com/office/drawing/2014/main" val="32602137"/>
                    </a:ext>
                  </a:extLst>
                </a:gridCol>
                <a:gridCol w="1590019">
                  <a:extLst>
                    <a:ext uri="{9D8B030D-6E8A-4147-A177-3AD203B41FA5}">
                      <a16:colId xmlns:a16="http://schemas.microsoft.com/office/drawing/2014/main" val="3342810995"/>
                    </a:ext>
                  </a:extLst>
                </a:gridCol>
              </a:tblGrid>
              <a:tr h="341485">
                <a:tc>
                  <a:txBody>
                    <a:bodyPr/>
                    <a:lstStyle/>
                    <a:p>
                      <a:pPr algn="l" fontAlgn="b">
                        <a:buNone/>
                      </a:pPr>
                      <a:r>
                        <a:rPr lang="en-SG" sz="1200" b="0" u="none" strike="noStrike" dirty="0">
                          <a:solidFill>
                            <a:schemeClr val="tx1"/>
                          </a:solidFill>
                          <a:effectLst/>
                        </a:rPr>
                        <a:t>Market Segments</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r>
                        <a:rPr lang="en-SG" sz="1200" b="0" u="none" strike="noStrike">
                          <a:solidFill>
                            <a:schemeClr val="tx1"/>
                          </a:solidFill>
                          <a:effectLst/>
                        </a:rPr>
                        <a:t>No Deposit</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r>
                        <a:rPr lang="en-SG" sz="1200" b="0" u="none" strike="noStrike" dirty="0">
                          <a:solidFill>
                            <a:schemeClr val="tx1"/>
                          </a:solidFill>
                          <a:effectLst/>
                        </a:rPr>
                        <a:t>Non Refund</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r>
                        <a:rPr lang="en-SG" sz="1200" b="0" u="none" strike="noStrike">
                          <a:solidFill>
                            <a:schemeClr val="tx1"/>
                          </a:solidFill>
                          <a:effectLst/>
                        </a:rPr>
                        <a:t>Refundable</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b">
                        <a:buNone/>
                      </a:pPr>
                      <a:r>
                        <a:rPr lang="en-SG" sz="1200" b="0" u="none" strike="noStrike">
                          <a:solidFill>
                            <a:schemeClr val="tx1"/>
                          </a:solidFill>
                          <a:effectLst/>
                        </a:rPr>
                        <a:t>All Types Cancel %</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10830766"/>
                  </a:ext>
                </a:extLst>
              </a:tr>
              <a:tr h="341485">
                <a:tc>
                  <a:txBody>
                    <a:bodyPr/>
                    <a:lstStyle/>
                    <a:p>
                      <a:pPr algn="l" fontAlgn="b">
                        <a:buNone/>
                      </a:pPr>
                      <a:r>
                        <a:rPr lang="en-SG" sz="1200" b="0" u="none" strike="noStrike" dirty="0">
                          <a:solidFill>
                            <a:schemeClr val="tx1"/>
                          </a:solidFill>
                          <a:effectLst/>
                        </a:rPr>
                        <a:t>Complementary</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16%</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dirty="0">
                          <a:solidFill>
                            <a:schemeClr val="tx1"/>
                          </a:solidFill>
                          <a:effectLst/>
                        </a:rPr>
                        <a:t>16%</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645233047"/>
                  </a:ext>
                </a:extLst>
              </a:tr>
              <a:tr h="341485">
                <a:tc>
                  <a:txBody>
                    <a:bodyPr/>
                    <a:lstStyle/>
                    <a:p>
                      <a:pPr algn="l" fontAlgn="b">
                        <a:buNone/>
                      </a:pPr>
                      <a:r>
                        <a:rPr lang="en-SG" sz="1200" b="0" u="none" strike="noStrike">
                          <a:solidFill>
                            <a:schemeClr val="tx1"/>
                          </a:solidFill>
                          <a:effectLst/>
                        </a:rPr>
                        <a:t>Corporate</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15%</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72%</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15%</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806254730"/>
                  </a:ext>
                </a:extLst>
              </a:tr>
              <a:tr h="341485">
                <a:tc>
                  <a:txBody>
                    <a:bodyPr/>
                    <a:lstStyle/>
                    <a:p>
                      <a:pPr algn="l" fontAlgn="b">
                        <a:buNone/>
                      </a:pPr>
                      <a:r>
                        <a:rPr lang="en-SG" sz="1200" b="0" u="none" strike="noStrike">
                          <a:solidFill>
                            <a:schemeClr val="tx1"/>
                          </a:solidFill>
                          <a:effectLst/>
                        </a:rPr>
                        <a:t>Direct</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13%</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20%</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13%</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256656935"/>
                  </a:ext>
                </a:extLst>
              </a:tr>
              <a:tr h="341485">
                <a:tc>
                  <a:txBody>
                    <a:bodyPr/>
                    <a:lstStyle/>
                    <a:p>
                      <a:pPr algn="l" fontAlgn="b">
                        <a:buNone/>
                      </a:pPr>
                      <a:r>
                        <a:rPr lang="en-SG" sz="1200" b="0" u="none" strike="noStrike">
                          <a:solidFill>
                            <a:schemeClr val="tx1"/>
                          </a:solidFill>
                          <a:effectLst/>
                        </a:rPr>
                        <a:t>Groups</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24%</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96%</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dirty="0">
                          <a:solidFill>
                            <a:schemeClr val="tx1"/>
                          </a:solidFill>
                          <a:effectLst/>
                        </a:rPr>
                        <a:t>10%</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43%</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581787582"/>
                  </a:ext>
                </a:extLst>
              </a:tr>
              <a:tr h="341485">
                <a:tc>
                  <a:txBody>
                    <a:bodyPr/>
                    <a:lstStyle/>
                    <a:p>
                      <a:pPr algn="l" fontAlgn="b">
                        <a:buNone/>
                      </a:pPr>
                      <a:r>
                        <a:rPr lang="en-SG" sz="1200" b="0" u="none" strike="noStrike">
                          <a:solidFill>
                            <a:schemeClr val="tx1"/>
                          </a:solidFill>
                          <a:effectLst/>
                        </a:rPr>
                        <a:t>Offline TA/TO</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13%</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99%</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100%</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15%</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061143696"/>
                  </a:ext>
                </a:extLst>
              </a:tr>
              <a:tr h="341485">
                <a:tc>
                  <a:txBody>
                    <a:bodyPr/>
                    <a:lstStyle/>
                    <a:p>
                      <a:pPr algn="l" fontAlgn="b">
                        <a:buNone/>
                      </a:pPr>
                      <a:r>
                        <a:rPr lang="en-SG" sz="1200" b="0" u="none" strike="noStrike">
                          <a:solidFill>
                            <a:schemeClr val="tx1"/>
                          </a:solidFill>
                          <a:effectLst/>
                        </a:rPr>
                        <a:t>Online TA</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34%</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dirty="0">
                          <a:solidFill>
                            <a:schemeClr val="tx1"/>
                          </a:solidFill>
                          <a:effectLst/>
                        </a:rPr>
                        <a:t>100%</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100%</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34%</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91373434"/>
                  </a:ext>
                </a:extLst>
              </a:tr>
              <a:tr h="341485">
                <a:tc>
                  <a:txBody>
                    <a:bodyPr/>
                    <a:lstStyle/>
                    <a:p>
                      <a:pPr algn="l" fontAlgn="b">
                        <a:buNone/>
                      </a:pPr>
                      <a:r>
                        <a:rPr lang="en-SG" sz="1200" b="0" u="none" strike="noStrike">
                          <a:solidFill>
                            <a:schemeClr val="tx1"/>
                          </a:solidFill>
                          <a:effectLst/>
                        </a:rPr>
                        <a:t>Total</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24%</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96%</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14%</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dirty="0">
                          <a:solidFill>
                            <a:schemeClr val="tx1"/>
                          </a:solidFill>
                          <a:effectLst/>
                        </a:rPr>
                        <a:t>27%</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420627057"/>
                  </a:ext>
                </a:extLst>
              </a:tr>
            </a:tbl>
          </a:graphicData>
        </a:graphic>
      </p:graphicFrame>
      <p:graphicFrame>
        <p:nvGraphicFramePr>
          <p:cNvPr id="11" name="Table 10">
            <a:extLst>
              <a:ext uri="{FF2B5EF4-FFF2-40B4-BE49-F238E27FC236}">
                <a16:creationId xmlns:a16="http://schemas.microsoft.com/office/drawing/2014/main" id="{51459F90-FFF2-9C43-1259-D8198A889508}"/>
              </a:ext>
            </a:extLst>
          </p:cNvPr>
          <p:cNvGraphicFramePr>
            <a:graphicFrameLocks noGrp="1"/>
          </p:cNvGraphicFramePr>
          <p:nvPr>
            <p:extLst>
              <p:ext uri="{D42A27DB-BD31-4B8C-83A1-F6EECF244321}">
                <p14:modId xmlns:p14="http://schemas.microsoft.com/office/powerpoint/2010/main" val="811906485"/>
              </p:ext>
            </p:extLst>
          </p:nvPr>
        </p:nvGraphicFramePr>
        <p:xfrm>
          <a:off x="436068" y="1036552"/>
          <a:ext cx="5230442" cy="2731880"/>
        </p:xfrm>
        <a:graphic>
          <a:graphicData uri="http://schemas.openxmlformats.org/drawingml/2006/table">
            <a:tbl>
              <a:tblPr firstRow="1" bandRow="1">
                <a:tableStyleId>{9D7B26C5-4107-4FEC-AEDC-1716B250A1EF}</a:tableStyleId>
              </a:tblPr>
              <a:tblGrid>
                <a:gridCol w="1133591">
                  <a:extLst>
                    <a:ext uri="{9D8B030D-6E8A-4147-A177-3AD203B41FA5}">
                      <a16:colId xmlns:a16="http://schemas.microsoft.com/office/drawing/2014/main" val="1132492293"/>
                    </a:ext>
                  </a:extLst>
                </a:gridCol>
                <a:gridCol w="924159">
                  <a:extLst>
                    <a:ext uri="{9D8B030D-6E8A-4147-A177-3AD203B41FA5}">
                      <a16:colId xmlns:a16="http://schemas.microsoft.com/office/drawing/2014/main" val="3125870484"/>
                    </a:ext>
                  </a:extLst>
                </a:gridCol>
                <a:gridCol w="997527">
                  <a:extLst>
                    <a:ext uri="{9D8B030D-6E8A-4147-A177-3AD203B41FA5}">
                      <a16:colId xmlns:a16="http://schemas.microsoft.com/office/drawing/2014/main" val="3489751936"/>
                    </a:ext>
                  </a:extLst>
                </a:gridCol>
                <a:gridCol w="997528">
                  <a:extLst>
                    <a:ext uri="{9D8B030D-6E8A-4147-A177-3AD203B41FA5}">
                      <a16:colId xmlns:a16="http://schemas.microsoft.com/office/drawing/2014/main" val="61359607"/>
                    </a:ext>
                  </a:extLst>
                </a:gridCol>
                <a:gridCol w="1177637">
                  <a:extLst>
                    <a:ext uri="{9D8B030D-6E8A-4147-A177-3AD203B41FA5}">
                      <a16:colId xmlns:a16="http://schemas.microsoft.com/office/drawing/2014/main" val="2370461173"/>
                    </a:ext>
                  </a:extLst>
                </a:gridCol>
              </a:tblGrid>
              <a:tr h="341485">
                <a:tc>
                  <a:txBody>
                    <a:bodyPr/>
                    <a:lstStyle/>
                    <a:p>
                      <a:pPr algn="l" fontAlgn="b">
                        <a:buNone/>
                      </a:pPr>
                      <a:r>
                        <a:rPr lang="en-SG" sz="1200" b="0" i="0" u="none" strike="noStrike" dirty="0">
                          <a:solidFill>
                            <a:schemeClr val="tx1"/>
                          </a:solidFill>
                          <a:effectLst/>
                          <a:latin typeface="Arial" panose="020B0604020202020204" pitchFamily="34" charset="0"/>
                          <a:cs typeface="Arial" panose="020B0604020202020204" pitchFamily="34" charset="0"/>
                        </a:rPr>
                        <a:t>All Transactions</a:t>
                      </a:r>
                    </a:p>
                  </a:txBody>
                  <a:tcPr marL="9525" marR="9525" marT="9525" marB="0" anchor="ctr"/>
                </a:tc>
                <a:tc>
                  <a:txBody>
                    <a:bodyPr/>
                    <a:lstStyle/>
                    <a:p>
                      <a:pPr algn="l" fontAlgn="b">
                        <a:buNone/>
                      </a:pPr>
                      <a:r>
                        <a:rPr lang="en-SG" sz="1200" b="0" u="none" strike="noStrike">
                          <a:solidFill>
                            <a:schemeClr val="tx1"/>
                          </a:solidFill>
                          <a:effectLst/>
                        </a:rPr>
                        <a:t>No Deposit</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r>
                        <a:rPr lang="en-SG" sz="1200" b="0" u="none" strike="noStrike" dirty="0">
                          <a:solidFill>
                            <a:schemeClr val="tx1"/>
                          </a:solidFill>
                          <a:effectLst/>
                        </a:rPr>
                        <a:t>Non Refund</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r>
                        <a:rPr lang="en-SG" sz="1200" b="0" u="none" strike="noStrike">
                          <a:solidFill>
                            <a:schemeClr val="tx1"/>
                          </a:solidFill>
                          <a:effectLst/>
                        </a:rPr>
                        <a:t>Refundable</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r>
                        <a:rPr lang="en-SG" sz="1200" b="0" u="none" strike="noStrike" dirty="0">
                          <a:solidFill>
                            <a:schemeClr val="tx1"/>
                          </a:solidFill>
                          <a:effectLst/>
                        </a:rPr>
                        <a:t>Grand Total</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908933298"/>
                  </a:ext>
                </a:extLst>
              </a:tr>
              <a:tr h="341485">
                <a:tc>
                  <a:txBody>
                    <a:bodyPr/>
                    <a:lstStyle/>
                    <a:p>
                      <a:pPr algn="l" fontAlgn="b">
                        <a:buNone/>
                      </a:pPr>
                      <a:r>
                        <a:rPr lang="en-SG" sz="1200" b="0" u="none" strike="noStrike" dirty="0">
                          <a:solidFill>
                            <a:schemeClr val="tx1"/>
                          </a:solidFill>
                          <a:effectLst/>
                        </a:rPr>
                        <a:t>Complementary</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201</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dirty="0">
                          <a:solidFill>
                            <a:schemeClr val="tx1"/>
                          </a:solidFill>
                          <a:effectLst/>
                        </a:rPr>
                        <a:t>201</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875769613"/>
                  </a:ext>
                </a:extLst>
              </a:tr>
              <a:tr h="341485">
                <a:tc>
                  <a:txBody>
                    <a:bodyPr/>
                    <a:lstStyle/>
                    <a:p>
                      <a:pPr algn="l" fontAlgn="b">
                        <a:buNone/>
                      </a:pPr>
                      <a:r>
                        <a:rPr lang="en-SG" sz="1200" b="0" u="none" strike="noStrike">
                          <a:solidFill>
                            <a:schemeClr val="tx1"/>
                          </a:solidFill>
                          <a:effectLst/>
                        </a:rPr>
                        <a:t>Corporate</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2,281</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dirty="0">
                          <a:solidFill>
                            <a:schemeClr val="tx1"/>
                          </a:solidFill>
                          <a:effectLst/>
                        </a:rPr>
                        <a:t>25</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b">
                        <a:buNone/>
                      </a:pP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2,306</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126867354"/>
                  </a:ext>
                </a:extLst>
              </a:tr>
              <a:tr h="341485">
                <a:tc>
                  <a:txBody>
                    <a:bodyPr/>
                    <a:lstStyle/>
                    <a:p>
                      <a:pPr algn="l" fontAlgn="b">
                        <a:buNone/>
                      </a:pPr>
                      <a:r>
                        <a:rPr lang="en-SG" sz="1200" b="0" u="none" strike="noStrike">
                          <a:solidFill>
                            <a:schemeClr val="tx1"/>
                          </a:solidFill>
                          <a:effectLst/>
                        </a:rPr>
                        <a:t>Direct</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5,886</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5,892</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752496323"/>
                  </a:ext>
                </a:extLst>
              </a:tr>
              <a:tr h="341485">
                <a:tc>
                  <a:txBody>
                    <a:bodyPr/>
                    <a:lstStyle/>
                    <a:p>
                      <a:pPr algn="l" fontAlgn="b">
                        <a:buNone/>
                      </a:pPr>
                      <a:r>
                        <a:rPr lang="en-SG" sz="1200" b="0" u="none" strike="noStrike">
                          <a:solidFill>
                            <a:schemeClr val="tx1"/>
                          </a:solidFill>
                          <a:effectLst/>
                        </a:rPr>
                        <a:t>Groups</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dirty="0">
                          <a:solidFill>
                            <a:schemeClr val="tx1"/>
                          </a:solidFill>
                          <a:effectLst/>
                        </a:rPr>
                        <a:t>4,138</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1,512</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dirty="0">
                          <a:solidFill>
                            <a:schemeClr val="tx1"/>
                          </a:solidFill>
                          <a:effectLst/>
                        </a:rPr>
                        <a:t>129</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5,779</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867465496"/>
                  </a:ext>
                </a:extLst>
              </a:tr>
              <a:tr h="341485">
                <a:tc>
                  <a:txBody>
                    <a:bodyPr/>
                    <a:lstStyle/>
                    <a:p>
                      <a:pPr algn="l" fontAlgn="b">
                        <a:buNone/>
                      </a:pPr>
                      <a:r>
                        <a:rPr lang="en-SG" sz="1200" b="0" u="none" strike="noStrike">
                          <a:solidFill>
                            <a:schemeClr val="tx1"/>
                          </a:solidFill>
                          <a:effectLst/>
                        </a:rPr>
                        <a:t>Offline TA/TO</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7,267</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151</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2</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7,420</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366950031"/>
                  </a:ext>
                </a:extLst>
              </a:tr>
              <a:tr h="341485">
                <a:tc>
                  <a:txBody>
                    <a:bodyPr/>
                    <a:lstStyle/>
                    <a:p>
                      <a:pPr algn="l" fontAlgn="b">
                        <a:buNone/>
                      </a:pPr>
                      <a:r>
                        <a:rPr lang="en-SG" sz="1200" b="0" u="none" strike="noStrike">
                          <a:solidFill>
                            <a:schemeClr val="tx1"/>
                          </a:solidFill>
                          <a:effectLst/>
                        </a:rPr>
                        <a:t>Online TA</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15,926</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28</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4</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dirty="0">
                          <a:solidFill>
                            <a:schemeClr val="tx1"/>
                          </a:solidFill>
                          <a:effectLst/>
                        </a:rPr>
                        <a:t>15,958</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265339131"/>
                  </a:ext>
                </a:extLst>
              </a:tr>
              <a:tr h="341485">
                <a:tc>
                  <a:txBody>
                    <a:bodyPr/>
                    <a:lstStyle/>
                    <a:p>
                      <a:pPr algn="l" fontAlgn="b">
                        <a:buNone/>
                      </a:pPr>
                      <a:r>
                        <a:rPr lang="en-SG" sz="1200" b="0" u="none" strike="noStrike">
                          <a:solidFill>
                            <a:schemeClr val="tx1"/>
                          </a:solidFill>
                          <a:effectLst/>
                        </a:rPr>
                        <a:t>Grand Total</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35,699</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1,717</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a:solidFill>
                            <a:schemeClr val="tx1"/>
                          </a:solidFill>
                          <a:effectLst/>
                        </a:rPr>
                        <a:t>140</a:t>
                      </a:r>
                      <a:endParaRPr lang="en-SG" sz="12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buNone/>
                      </a:pPr>
                      <a:r>
                        <a:rPr lang="en-SG" sz="1200" b="0" u="none" strike="noStrike" dirty="0">
                          <a:solidFill>
                            <a:schemeClr val="tx1"/>
                          </a:solidFill>
                          <a:effectLst/>
                        </a:rPr>
                        <a:t>37,556</a:t>
                      </a:r>
                      <a:endParaRPr lang="en-SG"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734551611"/>
                  </a:ext>
                </a:extLst>
              </a:tr>
            </a:tbl>
          </a:graphicData>
        </a:graphic>
      </p:graphicFrame>
      <p:sp>
        <p:nvSpPr>
          <p:cNvPr id="13" name="TextBox 12">
            <a:extLst>
              <a:ext uri="{FF2B5EF4-FFF2-40B4-BE49-F238E27FC236}">
                <a16:creationId xmlns:a16="http://schemas.microsoft.com/office/drawing/2014/main" id="{DDF2951E-33FC-3BF6-EA0E-AD3B10A9229A}"/>
              </a:ext>
            </a:extLst>
          </p:cNvPr>
          <p:cNvSpPr txBox="1"/>
          <p:nvPr/>
        </p:nvSpPr>
        <p:spPr>
          <a:xfrm>
            <a:off x="1330492" y="4751658"/>
            <a:ext cx="10277595" cy="1333507"/>
          </a:xfrm>
          <a:prstGeom prst="rect">
            <a:avLst/>
          </a:prstGeom>
          <a:noFill/>
        </p:spPr>
        <p:txBody>
          <a:bodyPr wrap="square" rtlCol="0">
            <a:spAutoFit/>
          </a:bodyPr>
          <a:lstStyle/>
          <a:p>
            <a:pPr marL="57150" indent="-342900" defTabSz="914400">
              <a:lnSpc>
                <a:spcPct val="120000"/>
              </a:lnSpc>
              <a:spcAft>
                <a:spcPts val="600"/>
              </a:spcAft>
              <a:buClr>
                <a:schemeClr val="accent6"/>
              </a:buClr>
              <a:buSzPct val="90000"/>
              <a:buFont typeface="+mj-lt"/>
              <a:buAutoNum type="arabicPeriod"/>
            </a:pPr>
            <a:r>
              <a:rPr lang="en-US" sz="1400" dirty="0"/>
              <a:t>Online TA -&gt; 36% No Deposit -&gt; Seems like no protection policy on largest market segments</a:t>
            </a:r>
          </a:p>
          <a:p>
            <a:pPr marL="57150" indent="-342900" defTabSz="914400">
              <a:lnSpc>
                <a:spcPct val="120000"/>
              </a:lnSpc>
              <a:spcAft>
                <a:spcPts val="600"/>
              </a:spcAft>
              <a:buClr>
                <a:schemeClr val="accent6"/>
              </a:buClr>
              <a:buSzPct val="90000"/>
              <a:buFont typeface="+mj-lt"/>
              <a:buAutoNum type="arabicPeriod"/>
            </a:pPr>
            <a:r>
              <a:rPr lang="en-US" sz="1400" dirty="0"/>
              <a:t>Group -&gt; 24% No Deposit, 96% Non Refund -&gt; Deposit amount seems small amount -&gt; increase deposit amount</a:t>
            </a:r>
          </a:p>
          <a:p>
            <a:pPr marL="57150" indent="-342900" defTabSz="914400">
              <a:lnSpc>
                <a:spcPct val="120000"/>
              </a:lnSpc>
              <a:spcAft>
                <a:spcPts val="600"/>
              </a:spcAft>
              <a:buClr>
                <a:schemeClr val="accent6"/>
              </a:buClr>
              <a:buSzPct val="90000"/>
              <a:buFont typeface="+mj-lt"/>
              <a:buAutoNum type="arabicPeriod"/>
            </a:pPr>
            <a:r>
              <a:rPr lang="en-US" sz="1400" dirty="0"/>
              <a:t>Offline TA/TO -&gt; 13% No Deposit, 99% No Refund, 100% Refundable (2/2) -&gt; safe</a:t>
            </a:r>
          </a:p>
          <a:p>
            <a:pPr marL="57150" indent="-342900" defTabSz="914400">
              <a:lnSpc>
                <a:spcPct val="120000"/>
              </a:lnSpc>
              <a:spcAft>
                <a:spcPts val="600"/>
              </a:spcAft>
              <a:buClr>
                <a:schemeClr val="accent6"/>
              </a:buClr>
              <a:buSzPct val="90000"/>
              <a:buFont typeface="+mj-lt"/>
              <a:buAutoNum type="arabicPeriod"/>
            </a:pPr>
            <a:r>
              <a:rPr lang="en-US" sz="1400" dirty="0"/>
              <a:t>Direct -&gt; 24% No Deposit, 96% Non Refund -&gt; Deposit amount seems small amount -&gt; increase deposit amount</a:t>
            </a:r>
          </a:p>
        </p:txBody>
      </p:sp>
    </p:spTree>
    <p:extLst>
      <p:ext uri="{BB962C8B-B14F-4D97-AF65-F5344CB8AC3E}">
        <p14:creationId xmlns:p14="http://schemas.microsoft.com/office/powerpoint/2010/main" val="994129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EE206FA7-6D54-59DC-738F-5142CBCD729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347315-4EB5-9FEB-D561-BBA238548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6CD5D28-C698-FB56-59D2-192DBCD15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564F063-BB3C-2666-0BB2-0C6409A2B4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8BE6C05F-CFFC-4933-8C00-41307200E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3FFFA950-ADD6-909B-D0A1-88644C8DDE4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CDE3C61B-4B29-87C4-F4D9-C88FEE69F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2544AE5-03EB-5AB4-2151-D4CA0D249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9453EC7D-DB58-A6FA-C154-38AEB62CD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C10392B2-EEF8-4FBE-2D63-F09098C07D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A49ABA-B61C-A4A3-363B-76181E46DA6D}"/>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Geographic Analysis</a:t>
            </a:r>
          </a:p>
        </p:txBody>
      </p:sp>
      <p:sp>
        <p:nvSpPr>
          <p:cNvPr id="3" name="TextBox 2">
            <a:extLst>
              <a:ext uri="{FF2B5EF4-FFF2-40B4-BE49-F238E27FC236}">
                <a16:creationId xmlns:a16="http://schemas.microsoft.com/office/drawing/2014/main" id="{5B6337B6-79B3-B949-70CA-5F38E5288018}"/>
              </a:ext>
            </a:extLst>
          </p:cNvPr>
          <p:cNvSpPr txBox="1"/>
          <p:nvPr/>
        </p:nvSpPr>
        <p:spPr>
          <a:xfrm>
            <a:off x="1144501" y="4659080"/>
            <a:ext cx="6395417" cy="1256562"/>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91.8% of the guest are coming from Europe.</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96% of all cancellation from Europe guest.</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Most of guest are from Portugal (High Cancellation), UK (Most Profitable), Ireland (stable).</a:t>
            </a:r>
          </a:p>
        </p:txBody>
      </p:sp>
      <p:graphicFrame>
        <p:nvGraphicFramePr>
          <p:cNvPr id="4" name="Chart 3">
            <a:extLst>
              <a:ext uri="{FF2B5EF4-FFF2-40B4-BE49-F238E27FC236}">
                <a16:creationId xmlns:a16="http://schemas.microsoft.com/office/drawing/2014/main" id="{16DB3EAB-E254-7CCC-DA00-D64067259C9C}"/>
              </a:ext>
            </a:extLst>
          </p:cNvPr>
          <p:cNvGraphicFramePr>
            <a:graphicFrameLocks/>
          </p:cNvGraphicFramePr>
          <p:nvPr>
            <p:extLst>
              <p:ext uri="{D42A27DB-BD31-4B8C-83A1-F6EECF244321}">
                <p14:modId xmlns:p14="http://schemas.microsoft.com/office/powerpoint/2010/main" val="2764328790"/>
              </p:ext>
            </p:extLst>
          </p:nvPr>
        </p:nvGraphicFramePr>
        <p:xfrm>
          <a:off x="1144501" y="992989"/>
          <a:ext cx="5851631" cy="346758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Chart 4">
            <a:extLst>
              <a:ext uri="{FF2B5EF4-FFF2-40B4-BE49-F238E27FC236}">
                <a16:creationId xmlns:a16="http://schemas.microsoft.com/office/drawing/2014/main" id="{804DF94D-A233-9320-D41C-C859A229C8C1}"/>
              </a:ext>
            </a:extLst>
          </p:cNvPr>
          <p:cNvGraphicFramePr>
            <a:graphicFrameLocks/>
          </p:cNvGraphicFramePr>
          <p:nvPr>
            <p:extLst>
              <p:ext uri="{D42A27DB-BD31-4B8C-83A1-F6EECF244321}">
                <p14:modId xmlns:p14="http://schemas.microsoft.com/office/powerpoint/2010/main" val="2765578430"/>
              </p:ext>
            </p:extLst>
          </p:nvPr>
        </p:nvGraphicFramePr>
        <p:xfrm>
          <a:off x="7180724" y="1008795"/>
          <a:ext cx="4540221" cy="328611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 name="Table 5">
            <a:extLst>
              <a:ext uri="{FF2B5EF4-FFF2-40B4-BE49-F238E27FC236}">
                <a16:creationId xmlns:a16="http://schemas.microsoft.com/office/drawing/2014/main" id="{E20DF0C6-56DB-D321-6443-91F502A6EA35}"/>
              </a:ext>
            </a:extLst>
          </p:cNvPr>
          <p:cNvGraphicFramePr>
            <a:graphicFrameLocks noGrp="1"/>
          </p:cNvGraphicFramePr>
          <p:nvPr>
            <p:extLst>
              <p:ext uri="{D42A27DB-BD31-4B8C-83A1-F6EECF244321}">
                <p14:modId xmlns:p14="http://schemas.microsoft.com/office/powerpoint/2010/main" val="2247287673"/>
              </p:ext>
            </p:extLst>
          </p:nvPr>
        </p:nvGraphicFramePr>
        <p:xfrm>
          <a:off x="7540984" y="4618284"/>
          <a:ext cx="4220460" cy="812800"/>
        </p:xfrm>
        <a:graphic>
          <a:graphicData uri="http://schemas.openxmlformats.org/drawingml/2006/table">
            <a:tbl>
              <a:tblPr firstRow="1" bandRow="1">
                <a:tableStyleId>{9D7B26C5-4107-4FEC-AEDC-1716B250A1EF}</a:tableStyleId>
              </a:tblPr>
              <a:tblGrid>
                <a:gridCol w="1102284">
                  <a:extLst>
                    <a:ext uri="{9D8B030D-6E8A-4147-A177-3AD203B41FA5}">
                      <a16:colId xmlns:a16="http://schemas.microsoft.com/office/drawing/2014/main" val="282020629"/>
                    </a:ext>
                  </a:extLst>
                </a:gridCol>
                <a:gridCol w="1072494">
                  <a:extLst>
                    <a:ext uri="{9D8B030D-6E8A-4147-A177-3AD203B41FA5}">
                      <a16:colId xmlns:a16="http://schemas.microsoft.com/office/drawing/2014/main" val="3303186017"/>
                    </a:ext>
                  </a:extLst>
                </a:gridCol>
                <a:gridCol w="903675">
                  <a:extLst>
                    <a:ext uri="{9D8B030D-6E8A-4147-A177-3AD203B41FA5}">
                      <a16:colId xmlns:a16="http://schemas.microsoft.com/office/drawing/2014/main" val="3000538107"/>
                    </a:ext>
                  </a:extLst>
                </a:gridCol>
                <a:gridCol w="1142007">
                  <a:extLst>
                    <a:ext uri="{9D8B030D-6E8A-4147-A177-3AD203B41FA5}">
                      <a16:colId xmlns:a16="http://schemas.microsoft.com/office/drawing/2014/main" val="4120490972"/>
                    </a:ext>
                  </a:extLst>
                </a:gridCol>
              </a:tblGrid>
              <a:tr h="203200">
                <a:tc>
                  <a:txBody>
                    <a:bodyPr/>
                    <a:lstStyle/>
                    <a:p>
                      <a:pPr algn="ctr" fontAlgn="b">
                        <a:buNone/>
                      </a:pP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dirty="0" err="1">
                          <a:solidFill>
                            <a:schemeClr val="tx1"/>
                          </a:solidFill>
                          <a:effectLst/>
                        </a:rPr>
                        <a:t>Non_Cancelled</a:t>
                      </a: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Cancelled</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dirty="0">
                          <a:solidFill>
                            <a:schemeClr val="tx1"/>
                          </a:solidFill>
                          <a:effectLst/>
                        </a:rPr>
                        <a:t>Total</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902166978"/>
                  </a:ext>
                </a:extLst>
              </a:tr>
              <a:tr h="203200">
                <a:tc>
                  <a:txBody>
                    <a:bodyPr/>
                    <a:lstStyle/>
                    <a:p>
                      <a:pPr algn="l" fontAlgn="b">
                        <a:buNone/>
                      </a:pPr>
                      <a:r>
                        <a:rPr lang="en-SG" sz="1200" b="0" u="none" strike="noStrike">
                          <a:solidFill>
                            <a:schemeClr val="tx1"/>
                          </a:solidFill>
                          <a:effectLst/>
                        </a:rPr>
                        <a:t>Portugal</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24%</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71%</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38%</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513413341"/>
                  </a:ext>
                </a:extLst>
              </a:tr>
              <a:tr h="203200">
                <a:tc>
                  <a:txBody>
                    <a:bodyPr/>
                    <a:lstStyle/>
                    <a:p>
                      <a:pPr algn="l" fontAlgn="b">
                        <a:buNone/>
                      </a:pPr>
                      <a:r>
                        <a:rPr lang="en-SG" sz="1200" b="0" u="none" strike="noStrike">
                          <a:solidFill>
                            <a:schemeClr val="tx1"/>
                          </a:solidFill>
                          <a:effectLst/>
                        </a:rPr>
                        <a:t>United Kingdom</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34%</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9%</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26%</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450347662"/>
                  </a:ext>
                </a:extLst>
              </a:tr>
              <a:tr h="203200">
                <a:tc>
                  <a:txBody>
                    <a:bodyPr/>
                    <a:lstStyle/>
                    <a:p>
                      <a:pPr algn="l" fontAlgn="b">
                        <a:buNone/>
                      </a:pPr>
                      <a:r>
                        <a:rPr lang="en-SG" sz="1200" b="0" u="none" strike="noStrike">
                          <a:solidFill>
                            <a:schemeClr val="tx1"/>
                          </a:solidFill>
                          <a:effectLst/>
                        </a:rPr>
                        <a:t>Ireland</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6%</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9%</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97018097"/>
                  </a:ext>
                </a:extLst>
              </a:tr>
            </a:tbl>
          </a:graphicData>
        </a:graphic>
      </p:graphicFrame>
    </p:spTree>
    <p:extLst>
      <p:ext uri="{BB962C8B-B14F-4D97-AF65-F5344CB8AC3E}">
        <p14:creationId xmlns:p14="http://schemas.microsoft.com/office/powerpoint/2010/main" val="23447844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83E9171B-273C-9A3D-6739-2076231B1E8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E27F81-4E3B-EB3A-0E9E-46AFB2FDA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F3EF04-E9B9-05D4-3D70-ECF4B48DA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28EE290-FD80-3749-270F-1D0D48E26AE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D9AA9FF3-54A3-E748-104D-646E26E34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110EE566-35A8-74F4-8F9E-35D688D2544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76BC46E4-2782-358F-2771-9C6AA87831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DDF9054-EC86-1D88-9457-3A7098464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DFAAB7BF-742A-2592-3FBD-982EF7699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C97A1D13-1F6C-CBAB-0165-EE424AB57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BE4166-9729-B402-6244-AE8BDF413219}"/>
              </a:ext>
            </a:extLst>
          </p:cNvPr>
          <p:cNvSpPr txBox="1">
            <a:spLocks/>
          </p:cNvSpPr>
          <p:nvPr/>
        </p:nvSpPr>
        <p:spPr>
          <a:xfrm>
            <a:off x="994278" y="223754"/>
            <a:ext cx="9650155"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Market Segments &amp; Geographic Relationship Analysis</a:t>
            </a:r>
          </a:p>
          <a:p>
            <a:pPr algn="l"/>
            <a:endParaRPr lang="en-US" sz="2800" dirty="0"/>
          </a:p>
        </p:txBody>
      </p:sp>
      <p:graphicFrame>
        <p:nvGraphicFramePr>
          <p:cNvPr id="4" name="Table 3">
            <a:extLst>
              <a:ext uri="{FF2B5EF4-FFF2-40B4-BE49-F238E27FC236}">
                <a16:creationId xmlns:a16="http://schemas.microsoft.com/office/drawing/2014/main" id="{E7F1FFBF-246E-25A7-C996-CDAED6DAC1C2}"/>
              </a:ext>
            </a:extLst>
          </p:cNvPr>
          <p:cNvGraphicFramePr>
            <a:graphicFrameLocks noGrp="1"/>
          </p:cNvGraphicFramePr>
          <p:nvPr>
            <p:extLst>
              <p:ext uri="{D42A27DB-BD31-4B8C-83A1-F6EECF244321}">
                <p14:modId xmlns:p14="http://schemas.microsoft.com/office/powerpoint/2010/main" val="3985950148"/>
              </p:ext>
            </p:extLst>
          </p:nvPr>
        </p:nvGraphicFramePr>
        <p:xfrm>
          <a:off x="2514715" y="1180390"/>
          <a:ext cx="7620001" cy="406400"/>
        </p:xfrm>
        <a:graphic>
          <a:graphicData uri="http://schemas.openxmlformats.org/drawingml/2006/table">
            <a:tbl>
              <a:tblPr firstRow="1" bandRow="1">
                <a:tableStyleId>{5940675A-B579-460E-94D1-54222C63F5DA}</a:tableStyleId>
              </a:tblPr>
              <a:tblGrid>
                <a:gridCol w="2068376">
                  <a:extLst>
                    <a:ext uri="{9D8B030D-6E8A-4147-A177-3AD203B41FA5}">
                      <a16:colId xmlns:a16="http://schemas.microsoft.com/office/drawing/2014/main" val="371901305"/>
                    </a:ext>
                  </a:extLst>
                </a:gridCol>
                <a:gridCol w="1560799">
                  <a:extLst>
                    <a:ext uri="{9D8B030D-6E8A-4147-A177-3AD203B41FA5}">
                      <a16:colId xmlns:a16="http://schemas.microsoft.com/office/drawing/2014/main" val="4792950"/>
                    </a:ext>
                  </a:extLst>
                </a:gridCol>
                <a:gridCol w="1002465">
                  <a:extLst>
                    <a:ext uri="{9D8B030D-6E8A-4147-A177-3AD203B41FA5}">
                      <a16:colId xmlns:a16="http://schemas.microsoft.com/office/drawing/2014/main" val="1385187503"/>
                    </a:ext>
                  </a:extLst>
                </a:gridCol>
                <a:gridCol w="904122">
                  <a:extLst>
                    <a:ext uri="{9D8B030D-6E8A-4147-A177-3AD203B41FA5}">
                      <a16:colId xmlns:a16="http://schemas.microsoft.com/office/drawing/2014/main" val="3561420318"/>
                    </a:ext>
                  </a:extLst>
                </a:gridCol>
                <a:gridCol w="882461">
                  <a:extLst>
                    <a:ext uri="{9D8B030D-6E8A-4147-A177-3AD203B41FA5}">
                      <a16:colId xmlns:a16="http://schemas.microsoft.com/office/drawing/2014/main" val="3692071644"/>
                    </a:ext>
                  </a:extLst>
                </a:gridCol>
                <a:gridCol w="1201778">
                  <a:extLst>
                    <a:ext uri="{9D8B030D-6E8A-4147-A177-3AD203B41FA5}">
                      <a16:colId xmlns:a16="http://schemas.microsoft.com/office/drawing/2014/main" val="3706966374"/>
                    </a:ext>
                  </a:extLst>
                </a:gridCol>
              </a:tblGrid>
              <a:tr h="203200">
                <a:tc>
                  <a:txBody>
                    <a:bodyPr/>
                    <a:lstStyle/>
                    <a:p>
                      <a:pPr algn="ctr" fontAlgn="t">
                        <a:buNone/>
                      </a:pPr>
                      <a:r>
                        <a:rPr lang="en-SG" sz="1200" b="1" u="none" strike="noStrike">
                          <a:solidFill>
                            <a:schemeClr val="tx1"/>
                          </a:solidFill>
                          <a:effectLst/>
                        </a:rPr>
                        <a:t>Var1</a:t>
                      </a:r>
                      <a:endParaRPr lang="en-SG" sz="1200" b="1" i="0" u="none" strike="noStrike">
                        <a:solidFill>
                          <a:schemeClr val="tx1"/>
                        </a:solidFill>
                        <a:effectLst/>
                        <a:latin typeface="+mn-lt"/>
                      </a:endParaRPr>
                    </a:p>
                  </a:txBody>
                  <a:tcPr marL="9525" marR="9525" marT="9525" marB="0"/>
                </a:tc>
                <a:tc>
                  <a:txBody>
                    <a:bodyPr/>
                    <a:lstStyle/>
                    <a:p>
                      <a:pPr algn="ctr" fontAlgn="t">
                        <a:buNone/>
                      </a:pPr>
                      <a:r>
                        <a:rPr lang="en-SG" sz="1200" b="1" u="none" strike="noStrike">
                          <a:solidFill>
                            <a:schemeClr val="tx1"/>
                          </a:solidFill>
                          <a:effectLst/>
                        </a:rPr>
                        <a:t>Var2</a:t>
                      </a:r>
                      <a:endParaRPr lang="en-SG" sz="1200" b="1" i="0" u="none" strike="noStrike">
                        <a:solidFill>
                          <a:schemeClr val="tx1"/>
                        </a:solidFill>
                        <a:effectLst/>
                        <a:latin typeface="+mn-lt"/>
                      </a:endParaRPr>
                    </a:p>
                  </a:txBody>
                  <a:tcPr marL="9525" marR="9525" marT="9525" marB="0"/>
                </a:tc>
                <a:tc>
                  <a:txBody>
                    <a:bodyPr/>
                    <a:lstStyle/>
                    <a:p>
                      <a:pPr algn="ctr" fontAlgn="t">
                        <a:buNone/>
                      </a:pPr>
                      <a:r>
                        <a:rPr lang="en-SG" sz="1200" b="1" u="none" strike="noStrike">
                          <a:solidFill>
                            <a:schemeClr val="tx1"/>
                          </a:solidFill>
                          <a:effectLst/>
                        </a:rPr>
                        <a:t>Chi2</a:t>
                      </a:r>
                      <a:endParaRPr lang="en-SG" sz="1200" b="1" i="0" u="none" strike="noStrike">
                        <a:solidFill>
                          <a:schemeClr val="tx1"/>
                        </a:solidFill>
                        <a:effectLst/>
                        <a:latin typeface="+mn-lt"/>
                      </a:endParaRPr>
                    </a:p>
                  </a:txBody>
                  <a:tcPr marL="9525" marR="9525" marT="9525" marB="0"/>
                </a:tc>
                <a:tc>
                  <a:txBody>
                    <a:bodyPr/>
                    <a:lstStyle/>
                    <a:p>
                      <a:pPr algn="ctr" fontAlgn="t">
                        <a:buNone/>
                      </a:pPr>
                      <a:r>
                        <a:rPr lang="en-SG" sz="1200" b="1" u="none" strike="noStrike">
                          <a:solidFill>
                            <a:schemeClr val="tx1"/>
                          </a:solidFill>
                          <a:effectLst/>
                        </a:rPr>
                        <a:t>p-value</a:t>
                      </a:r>
                      <a:endParaRPr lang="en-SG" sz="1200" b="1" i="0" u="none" strike="noStrike">
                        <a:solidFill>
                          <a:schemeClr val="tx1"/>
                        </a:solidFill>
                        <a:effectLst/>
                        <a:latin typeface="+mn-lt"/>
                      </a:endParaRPr>
                    </a:p>
                  </a:txBody>
                  <a:tcPr marL="9525" marR="9525" marT="9525" marB="0"/>
                </a:tc>
                <a:tc>
                  <a:txBody>
                    <a:bodyPr/>
                    <a:lstStyle/>
                    <a:p>
                      <a:pPr algn="ctr" fontAlgn="t">
                        <a:buNone/>
                      </a:pPr>
                      <a:r>
                        <a:rPr lang="en-SG" sz="1200" b="1" u="none" strike="noStrike" dirty="0" err="1">
                          <a:solidFill>
                            <a:schemeClr val="tx1"/>
                          </a:solidFill>
                          <a:effectLst/>
                        </a:rPr>
                        <a:t>dof</a:t>
                      </a:r>
                      <a:endParaRPr lang="en-SG" sz="1200" b="1" i="0" u="none" strike="noStrike" dirty="0">
                        <a:solidFill>
                          <a:schemeClr val="tx1"/>
                        </a:solidFill>
                        <a:effectLst/>
                        <a:latin typeface="+mn-lt"/>
                      </a:endParaRPr>
                    </a:p>
                  </a:txBody>
                  <a:tcPr marL="9525" marR="9525" marT="9525" marB="0"/>
                </a:tc>
                <a:tc>
                  <a:txBody>
                    <a:bodyPr/>
                    <a:lstStyle/>
                    <a:p>
                      <a:pPr algn="ctr" fontAlgn="t">
                        <a:buNone/>
                      </a:pPr>
                      <a:r>
                        <a:rPr lang="en-SG" sz="1200" b="1" u="none" strike="noStrike" dirty="0" err="1">
                          <a:solidFill>
                            <a:schemeClr val="tx1"/>
                          </a:solidFill>
                          <a:effectLst/>
                        </a:rPr>
                        <a:t>Cramers_V</a:t>
                      </a:r>
                      <a:endParaRPr lang="en-SG" sz="1200" b="1" i="0" u="none" strike="noStrike" dirty="0">
                        <a:solidFill>
                          <a:schemeClr val="tx1"/>
                        </a:solidFill>
                        <a:effectLst/>
                        <a:latin typeface="+mn-lt"/>
                      </a:endParaRPr>
                    </a:p>
                  </a:txBody>
                  <a:tcPr marL="9525" marR="9525" marT="9525" marB="0"/>
                </a:tc>
                <a:extLst>
                  <a:ext uri="{0D108BD9-81ED-4DB2-BD59-A6C34878D82A}">
                    <a16:rowId xmlns:a16="http://schemas.microsoft.com/office/drawing/2014/main" val="3377526968"/>
                  </a:ext>
                </a:extLst>
              </a:tr>
              <a:tr h="203200">
                <a:tc>
                  <a:txBody>
                    <a:bodyPr/>
                    <a:lstStyle/>
                    <a:p>
                      <a:pPr algn="l" fontAlgn="b">
                        <a:buNone/>
                      </a:pPr>
                      <a:r>
                        <a:rPr lang="en-SG" sz="1200" b="0" u="none" strike="noStrike">
                          <a:solidFill>
                            <a:schemeClr val="tx1"/>
                          </a:solidFill>
                          <a:effectLst/>
                        </a:rPr>
                        <a:t>Market Segments</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a:solidFill>
                            <a:schemeClr val="tx1"/>
                          </a:solidFill>
                          <a:effectLst/>
                        </a:rPr>
                        <a:t>Country Zone</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16.54393764</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0.008568487</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512176113"/>
                  </a:ext>
                </a:extLst>
              </a:tr>
            </a:tbl>
          </a:graphicData>
        </a:graphic>
      </p:graphicFrame>
      <p:graphicFrame>
        <p:nvGraphicFramePr>
          <p:cNvPr id="7" name="Table 6">
            <a:extLst>
              <a:ext uri="{FF2B5EF4-FFF2-40B4-BE49-F238E27FC236}">
                <a16:creationId xmlns:a16="http://schemas.microsoft.com/office/drawing/2014/main" id="{AFB78FFA-F9BF-364B-A3EB-6B1EDDB1DF82}"/>
              </a:ext>
            </a:extLst>
          </p:cNvPr>
          <p:cNvGraphicFramePr>
            <a:graphicFrameLocks noGrp="1"/>
          </p:cNvGraphicFramePr>
          <p:nvPr>
            <p:extLst>
              <p:ext uri="{D42A27DB-BD31-4B8C-83A1-F6EECF244321}">
                <p14:modId xmlns:p14="http://schemas.microsoft.com/office/powerpoint/2010/main" val="4150837763"/>
              </p:ext>
            </p:extLst>
          </p:nvPr>
        </p:nvGraphicFramePr>
        <p:xfrm>
          <a:off x="2066052" y="1976188"/>
          <a:ext cx="8703019" cy="1518864"/>
        </p:xfrm>
        <a:graphic>
          <a:graphicData uri="http://schemas.openxmlformats.org/drawingml/2006/table">
            <a:tbl>
              <a:tblPr/>
              <a:tblGrid>
                <a:gridCol w="1361315">
                  <a:extLst>
                    <a:ext uri="{9D8B030D-6E8A-4147-A177-3AD203B41FA5}">
                      <a16:colId xmlns:a16="http://schemas.microsoft.com/office/drawing/2014/main" val="1985918943"/>
                    </a:ext>
                  </a:extLst>
                </a:gridCol>
                <a:gridCol w="821635">
                  <a:extLst>
                    <a:ext uri="{9D8B030D-6E8A-4147-A177-3AD203B41FA5}">
                      <a16:colId xmlns:a16="http://schemas.microsoft.com/office/drawing/2014/main" val="1386181403"/>
                    </a:ext>
                  </a:extLst>
                </a:gridCol>
                <a:gridCol w="795130">
                  <a:extLst>
                    <a:ext uri="{9D8B030D-6E8A-4147-A177-3AD203B41FA5}">
                      <a16:colId xmlns:a16="http://schemas.microsoft.com/office/drawing/2014/main" val="2840676423"/>
                    </a:ext>
                  </a:extLst>
                </a:gridCol>
                <a:gridCol w="874644">
                  <a:extLst>
                    <a:ext uri="{9D8B030D-6E8A-4147-A177-3AD203B41FA5}">
                      <a16:colId xmlns:a16="http://schemas.microsoft.com/office/drawing/2014/main" val="1417076138"/>
                    </a:ext>
                  </a:extLst>
                </a:gridCol>
                <a:gridCol w="1060174">
                  <a:extLst>
                    <a:ext uri="{9D8B030D-6E8A-4147-A177-3AD203B41FA5}">
                      <a16:colId xmlns:a16="http://schemas.microsoft.com/office/drawing/2014/main" val="719697090"/>
                    </a:ext>
                  </a:extLst>
                </a:gridCol>
                <a:gridCol w="940904">
                  <a:extLst>
                    <a:ext uri="{9D8B030D-6E8A-4147-A177-3AD203B41FA5}">
                      <a16:colId xmlns:a16="http://schemas.microsoft.com/office/drawing/2014/main" val="479730699"/>
                    </a:ext>
                  </a:extLst>
                </a:gridCol>
                <a:gridCol w="1134552">
                  <a:extLst>
                    <a:ext uri="{9D8B030D-6E8A-4147-A177-3AD203B41FA5}">
                      <a16:colId xmlns:a16="http://schemas.microsoft.com/office/drawing/2014/main" val="1885396531"/>
                    </a:ext>
                  </a:extLst>
                </a:gridCol>
                <a:gridCol w="770432">
                  <a:extLst>
                    <a:ext uri="{9D8B030D-6E8A-4147-A177-3AD203B41FA5}">
                      <a16:colId xmlns:a16="http://schemas.microsoft.com/office/drawing/2014/main" val="1426262649"/>
                    </a:ext>
                  </a:extLst>
                </a:gridCol>
                <a:gridCol w="944233">
                  <a:extLst>
                    <a:ext uri="{9D8B030D-6E8A-4147-A177-3AD203B41FA5}">
                      <a16:colId xmlns:a16="http://schemas.microsoft.com/office/drawing/2014/main" val="2850993243"/>
                    </a:ext>
                  </a:extLst>
                </a:gridCol>
              </a:tblGrid>
              <a:tr h="69185">
                <a:tc>
                  <a:txBody>
                    <a:bodyPr/>
                    <a:lstStyle/>
                    <a:p>
                      <a:pPr algn="ctr" fontAlgn="b">
                        <a:buNone/>
                      </a:pPr>
                      <a:endParaRPr lang="en-SG" sz="1200" b="0" i="0" u="none" strike="noStrike">
                        <a:solidFill>
                          <a:schemeClr val="tx1"/>
                        </a:solidFill>
                        <a:effectLst/>
                        <a:latin typeface="+mn-lt"/>
                      </a:endParaRPr>
                    </a:p>
                  </a:txBody>
                  <a:tcPr marL="6978" marR="6978" marT="6978"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mn-lt"/>
                        </a:rPr>
                        <a:t>Africa</a:t>
                      </a:r>
                    </a:p>
                  </a:txBody>
                  <a:tcPr marL="6978" marR="6978" marT="6978"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mn-lt"/>
                        </a:rPr>
                        <a:t>Asia</a:t>
                      </a:r>
                    </a:p>
                  </a:txBody>
                  <a:tcPr marL="6978" marR="6978" marT="6978"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mn-lt"/>
                        </a:rPr>
                        <a:t>Europe</a:t>
                      </a:r>
                    </a:p>
                  </a:txBody>
                  <a:tcPr marL="6978" marR="6978" marT="6978"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mn-lt"/>
                        </a:rPr>
                        <a:t>North America</a:t>
                      </a:r>
                    </a:p>
                  </a:txBody>
                  <a:tcPr marL="6978" marR="6978" marT="6978" marB="0" anchor="b">
                    <a:lnL>
                      <a:noFill/>
                    </a:lnL>
                    <a:lnR>
                      <a:noFill/>
                    </a:lnR>
                    <a:lnT>
                      <a:noFill/>
                    </a:lnT>
                    <a:lnB>
                      <a:noFill/>
                    </a:lnB>
                    <a:noFill/>
                  </a:tcPr>
                </a:tc>
                <a:tc>
                  <a:txBody>
                    <a:bodyPr/>
                    <a:lstStyle/>
                    <a:p>
                      <a:pPr algn="ctr" fontAlgn="b">
                        <a:buNone/>
                      </a:pPr>
                      <a:r>
                        <a:rPr lang="en-SG" sz="1200" b="0" i="0" u="none" strike="noStrike" dirty="0">
                          <a:solidFill>
                            <a:schemeClr val="tx1"/>
                          </a:solidFill>
                          <a:effectLst/>
                          <a:latin typeface="+mn-lt"/>
                        </a:rPr>
                        <a:t>Oceania</a:t>
                      </a:r>
                    </a:p>
                  </a:txBody>
                  <a:tcPr marL="6978" marR="6978" marT="6978"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mn-lt"/>
                        </a:rPr>
                        <a:t>South America</a:t>
                      </a:r>
                    </a:p>
                  </a:txBody>
                  <a:tcPr marL="6978" marR="6978" marT="6978"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mn-lt"/>
                        </a:rPr>
                        <a:t>Undefined</a:t>
                      </a:r>
                    </a:p>
                  </a:txBody>
                  <a:tcPr marL="6978" marR="6978" marT="6978" marB="0" anchor="b">
                    <a:lnL>
                      <a:noFill/>
                    </a:lnL>
                    <a:lnR>
                      <a:noFill/>
                    </a:lnR>
                    <a:lnT>
                      <a:noFill/>
                    </a:lnT>
                    <a:lnB>
                      <a:noFill/>
                    </a:lnB>
                    <a:noFill/>
                  </a:tcPr>
                </a:tc>
                <a:tc>
                  <a:txBody>
                    <a:bodyPr/>
                    <a:lstStyle/>
                    <a:p>
                      <a:pPr algn="ctr" fontAlgn="b">
                        <a:buNone/>
                      </a:pPr>
                      <a:r>
                        <a:rPr lang="en-SG" sz="1200" b="0" i="0" u="none" strike="noStrike" dirty="0">
                          <a:solidFill>
                            <a:schemeClr val="tx1"/>
                          </a:solidFill>
                          <a:effectLst/>
                          <a:latin typeface="+mn-lt"/>
                        </a:rPr>
                        <a:t>Grand Total</a:t>
                      </a:r>
                    </a:p>
                  </a:txBody>
                  <a:tcPr marL="6978" marR="6978" marT="6978" marB="0" anchor="b">
                    <a:lnL>
                      <a:noFill/>
                    </a:lnL>
                    <a:lnR>
                      <a:noFill/>
                    </a:lnR>
                    <a:lnT>
                      <a:noFill/>
                    </a:lnT>
                    <a:lnB>
                      <a:noFill/>
                    </a:lnB>
                    <a:noFill/>
                  </a:tcPr>
                </a:tc>
                <a:extLst>
                  <a:ext uri="{0D108BD9-81ED-4DB2-BD59-A6C34878D82A}">
                    <a16:rowId xmlns:a16="http://schemas.microsoft.com/office/drawing/2014/main" val="1593995222"/>
                  </a:ext>
                </a:extLst>
              </a:tr>
              <a:tr h="148854">
                <a:tc>
                  <a:txBody>
                    <a:bodyPr/>
                    <a:lstStyle/>
                    <a:p>
                      <a:pPr algn="l" fontAlgn="b">
                        <a:buNone/>
                      </a:pPr>
                      <a:r>
                        <a:rPr lang="en-SG" sz="1200" b="0" i="0" u="none" strike="noStrike">
                          <a:solidFill>
                            <a:schemeClr val="tx1"/>
                          </a:solidFill>
                          <a:effectLst/>
                          <a:latin typeface="+mn-lt"/>
                        </a:rPr>
                        <a:t>Complementary</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193</a:t>
                      </a:r>
                    </a:p>
                  </a:txBody>
                  <a:tcPr marL="6978" marR="6978" marT="6978"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mn-lt"/>
                      </a:endParaRPr>
                    </a:p>
                  </a:txBody>
                  <a:tcPr marL="6978" marR="6978" marT="6978" marB="0" anchor="b">
                    <a:lnL>
                      <a:noFill/>
                    </a:lnL>
                    <a:lnR>
                      <a:noFill/>
                    </a:lnR>
                    <a:lnT>
                      <a:noFill/>
                    </a:lnT>
                    <a:lnB>
                      <a:noFill/>
                    </a:lnB>
                    <a:noFill/>
                  </a:tcPr>
                </a:tc>
                <a:tc>
                  <a:txBody>
                    <a:bodyPr/>
                    <a:lstStyle/>
                    <a:p>
                      <a:pPr algn="l" fontAlgn="b">
                        <a:buNone/>
                      </a:pPr>
                      <a:endParaRPr lang="en-SG" sz="1200" b="0" i="0" u="none" strike="noStrike">
                        <a:solidFill>
                          <a:schemeClr val="tx1"/>
                        </a:solidFill>
                        <a:effectLst/>
                        <a:latin typeface="+mn-lt"/>
                      </a:endParaRP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201</a:t>
                      </a:r>
                    </a:p>
                  </a:txBody>
                  <a:tcPr marL="6978" marR="6978" marT="6978" marB="0" anchor="b">
                    <a:lnL>
                      <a:noFill/>
                    </a:lnL>
                    <a:lnR>
                      <a:noFill/>
                    </a:lnR>
                    <a:lnT>
                      <a:noFill/>
                    </a:lnT>
                    <a:lnB>
                      <a:noFill/>
                    </a:lnB>
                    <a:noFill/>
                  </a:tcPr>
                </a:tc>
                <a:extLst>
                  <a:ext uri="{0D108BD9-81ED-4DB2-BD59-A6C34878D82A}">
                    <a16:rowId xmlns:a16="http://schemas.microsoft.com/office/drawing/2014/main" val="72488467"/>
                  </a:ext>
                </a:extLst>
              </a:tr>
              <a:tr h="148854">
                <a:tc>
                  <a:txBody>
                    <a:bodyPr/>
                    <a:lstStyle/>
                    <a:p>
                      <a:pPr algn="l" fontAlgn="b">
                        <a:buNone/>
                      </a:pPr>
                      <a:r>
                        <a:rPr lang="en-SG" sz="1200" b="0" i="0" u="none" strike="noStrike">
                          <a:solidFill>
                            <a:schemeClr val="tx1"/>
                          </a:solidFill>
                          <a:effectLst/>
                          <a:latin typeface="+mn-lt"/>
                        </a:rPr>
                        <a:t>Corporate</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7</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2,096</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11</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5</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183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2,306</a:t>
                      </a:r>
                    </a:p>
                  </a:txBody>
                  <a:tcPr marL="6978" marR="6978" marT="6978" marB="0" anchor="b">
                    <a:lnL>
                      <a:noFill/>
                    </a:lnL>
                    <a:lnR>
                      <a:noFill/>
                    </a:lnR>
                    <a:lnT>
                      <a:noFill/>
                    </a:lnT>
                    <a:lnB>
                      <a:noFill/>
                    </a:lnB>
                    <a:noFill/>
                  </a:tcPr>
                </a:tc>
                <a:extLst>
                  <a:ext uri="{0D108BD9-81ED-4DB2-BD59-A6C34878D82A}">
                    <a16:rowId xmlns:a16="http://schemas.microsoft.com/office/drawing/2014/main" val="2374144032"/>
                  </a:ext>
                </a:extLst>
              </a:tr>
              <a:tr h="148854">
                <a:tc>
                  <a:txBody>
                    <a:bodyPr/>
                    <a:lstStyle/>
                    <a:p>
                      <a:pPr algn="l" fontAlgn="b">
                        <a:buNone/>
                      </a:pPr>
                      <a:r>
                        <a:rPr lang="en-SG" sz="1200" b="0" i="0" u="none" strike="noStrike">
                          <a:solidFill>
                            <a:schemeClr val="tx1"/>
                          </a:solidFill>
                          <a:effectLst/>
                          <a:latin typeface="+mn-lt"/>
                        </a:rPr>
                        <a:t>Direct</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26</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84</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5,448</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99</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19</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64</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152</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5,892</a:t>
                      </a:r>
                    </a:p>
                  </a:txBody>
                  <a:tcPr marL="6978" marR="6978" marT="6978" marB="0" anchor="b">
                    <a:lnL>
                      <a:noFill/>
                    </a:lnL>
                    <a:lnR>
                      <a:noFill/>
                    </a:lnR>
                    <a:lnT>
                      <a:noFill/>
                    </a:lnT>
                    <a:lnB>
                      <a:noFill/>
                    </a:lnB>
                    <a:noFill/>
                  </a:tcPr>
                </a:tc>
                <a:extLst>
                  <a:ext uri="{0D108BD9-81ED-4DB2-BD59-A6C34878D82A}">
                    <a16:rowId xmlns:a16="http://schemas.microsoft.com/office/drawing/2014/main" val="3926326078"/>
                  </a:ext>
                </a:extLst>
              </a:tr>
              <a:tr h="148854">
                <a:tc>
                  <a:txBody>
                    <a:bodyPr/>
                    <a:lstStyle/>
                    <a:p>
                      <a:pPr algn="l" fontAlgn="b">
                        <a:buNone/>
                      </a:pPr>
                      <a:r>
                        <a:rPr lang="en-SG" sz="1200" b="0" i="0" u="none" strike="noStrike">
                          <a:solidFill>
                            <a:schemeClr val="tx1"/>
                          </a:solidFill>
                          <a:effectLst/>
                          <a:latin typeface="+mn-lt"/>
                        </a:rPr>
                        <a:t>Groups</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148</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5,603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5</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17</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5,779</a:t>
                      </a:r>
                    </a:p>
                  </a:txBody>
                  <a:tcPr marL="6978" marR="6978" marT="6978" marB="0" anchor="b">
                    <a:lnL>
                      <a:noFill/>
                    </a:lnL>
                    <a:lnR>
                      <a:noFill/>
                    </a:lnR>
                    <a:lnT>
                      <a:noFill/>
                    </a:lnT>
                    <a:lnB>
                      <a:noFill/>
                    </a:lnB>
                    <a:noFill/>
                  </a:tcPr>
                </a:tc>
                <a:extLst>
                  <a:ext uri="{0D108BD9-81ED-4DB2-BD59-A6C34878D82A}">
                    <a16:rowId xmlns:a16="http://schemas.microsoft.com/office/drawing/2014/main" val="2981958971"/>
                  </a:ext>
                </a:extLst>
              </a:tr>
              <a:tr h="148854">
                <a:tc>
                  <a:txBody>
                    <a:bodyPr/>
                    <a:lstStyle/>
                    <a:p>
                      <a:pPr algn="l" fontAlgn="b">
                        <a:buNone/>
                      </a:pPr>
                      <a:r>
                        <a:rPr lang="en-SG" sz="1200" b="0" i="0" u="none" strike="noStrike">
                          <a:solidFill>
                            <a:schemeClr val="tx1"/>
                          </a:solidFill>
                          <a:effectLst/>
                          <a:latin typeface="+mn-lt"/>
                        </a:rPr>
                        <a:t>Offline TA/TO</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234</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7,053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38</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15</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24</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45</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7,420</a:t>
                      </a:r>
                    </a:p>
                  </a:txBody>
                  <a:tcPr marL="6978" marR="6978" marT="6978" marB="0" anchor="b">
                    <a:lnL>
                      <a:noFill/>
                    </a:lnL>
                    <a:lnR>
                      <a:noFill/>
                    </a:lnR>
                    <a:lnT>
                      <a:noFill/>
                    </a:lnT>
                    <a:lnB>
                      <a:noFill/>
                    </a:lnB>
                    <a:noFill/>
                  </a:tcPr>
                </a:tc>
                <a:extLst>
                  <a:ext uri="{0D108BD9-81ED-4DB2-BD59-A6C34878D82A}">
                    <a16:rowId xmlns:a16="http://schemas.microsoft.com/office/drawing/2014/main" val="3813689291"/>
                  </a:ext>
                </a:extLst>
              </a:tr>
              <a:tr h="148854">
                <a:tc>
                  <a:txBody>
                    <a:bodyPr/>
                    <a:lstStyle/>
                    <a:p>
                      <a:pPr algn="l" fontAlgn="b">
                        <a:buNone/>
                      </a:pPr>
                      <a:r>
                        <a:rPr lang="en-SG" sz="1200" b="0" i="0" u="none" strike="noStrike">
                          <a:solidFill>
                            <a:schemeClr val="tx1"/>
                          </a:solidFill>
                          <a:effectLst/>
                          <a:latin typeface="+mn-lt"/>
                        </a:rPr>
                        <a:t>Online TA</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83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540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14,542</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287</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54</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380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72</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15,958</a:t>
                      </a:r>
                    </a:p>
                  </a:txBody>
                  <a:tcPr marL="6978" marR="6978" marT="6978" marB="0" anchor="b">
                    <a:lnL>
                      <a:noFill/>
                    </a:lnL>
                    <a:lnR>
                      <a:noFill/>
                    </a:lnR>
                    <a:lnT>
                      <a:noFill/>
                    </a:lnT>
                    <a:lnB>
                      <a:noFill/>
                    </a:lnB>
                    <a:noFill/>
                  </a:tcPr>
                </a:tc>
                <a:extLst>
                  <a:ext uri="{0D108BD9-81ED-4DB2-BD59-A6C34878D82A}">
                    <a16:rowId xmlns:a16="http://schemas.microsoft.com/office/drawing/2014/main" val="3365656736"/>
                  </a:ext>
                </a:extLst>
              </a:tr>
              <a:tr h="148854">
                <a:tc>
                  <a:txBody>
                    <a:bodyPr/>
                    <a:lstStyle/>
                    <a:p>
                      <a:pPr algn="l" fontAlgn="b">
                        <a:buNone/>
                      </a:pPr>
                      <a:r>
                        <a:rPr lang="en-SG" sz="1200" b="0" i="0" u="none" strike="noStrike">
                          <a:solidFill>
                            <a:schemeClr val="tx1"/>
                          </a:solidFill>
                          <a:effectLst/>
                          <a:latin typeface="+mn-lt"/>
                        </a:rPr>
                        <a:t>Grand Total</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124</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1,014</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34,935</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440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94</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493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456</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37,556</a:t>
                      </a:r>
                    </a:p>
                  </a:txBody>
                  <a:tcPr marL="6978" marR="6978" marT="6978" marB="0" anchor="b">
                    <a:lnL>
                      <a:noFill/>
                    </a:lnL>
                    <a:lnR>
                      <a:noFill/>
                    </a:lnR>
                    <a:lnT>
                      <a:noFill/>
                    </a:lnT>
                    <a:lnB>
                      <a:noFill/>
                    </a:lnB>
                    <a:noFill/>
                  </a:tcPr>
                </a:tc>
                <a:extLst>
                  <a:ext uri="{0D108BD9-81ED-4DB2-BD59-A6C34878D82A}">
                    <a16:rowId xmlns:a16="http://schemas.microsoft.com/office/drawing/2014/main" val="3110180767"/>
                  </a:ext>
                </a:extLst>
              </a:tr>
            </a:tbl>
          </a:graphicData>
        </a:graphic>
      </p:graphicFrame>
      <p:graphicFrame>
        <p:nvGraphicFramePr>
          <p:cNvPr id="11" name="Table 10">
            <a:extLst>
              <a:ext uri="{FF2B5EF4-FFF2-40B4-BE49-F238E27FC236}">
                <a16:creationId xmlns:a16="http://schemas.microsoft.com/office/drawing/2014/main" id="{E0C91D61-6B20-0CED-BC0B-FAC9E47F20FB}"/>
              </a:ext>
            </a:extLst>
          </p:cNvPr>
          <p:cNvGraphicFramePr>
            <a:graphicFrameLocks noGrp="1"/>
          </p:cNvGraphicFramePr>
          <p:nvPr>
            <p:extLst>
              <p:ext uri="{D42A27DB-BD31-4B8C-83A1-F6EECF244321}">
                <p14:modId xmlns:p14="http://schemas.microsoft.com/office/powerpoint/2010/main" val="4129823440"/>
              </p:ext>
            </p:extLst>
          </p:nvPr>
        </p:nvGraphicFramePr>
        <p:xfrm>
          <a:off x="2066051" y="3660301"/>
          <a:ext cx="8703018" cy="1518864"/>
        </p:xfrm>
        <a:graphic>
          <a:graphicData uri="http://schemas.openxmlformats.org/drawingml/2006/table">
            <a:tbl>
              <a:tblPr/>
              <a:tblGrid>
                <a:gridCol w="1367235">
                  <a:extLst>
                    <a:ext uri="{9D8B030D-6E8A-4147-A177-3AD203B41FA5}">
                      <a16:colId xmlns:a16="http://schemas.microsoft.com/office/drawing/2014/main" val="498778008"/>
                    </a:ext>
                  </a:extLst>
                </a:gridCol>
                <a:gridCol w="834887">
                  <a:extLst>
                    <a:ext uri="{9D8B030D-6E8A-4147-A177-3AD203B41FA5}">
                      <a16:colId xmlns:a16="http://schemas.microsoft.com/office/drawing/2014/main" val="107420519"/>
                    </a:ext>
                  </a:extLst>
                </a:gridCol>
                <a:gridCol w="781878">
                  <a:extLst>
                    <a:ext uri="{9D8B030D-6E8A-4147-A177-3AD203B41FA5}">
                      <a16:colId xmlns:a16="http://schemas.microsoft.com/office/drawing/2014/main" val="3904999331"/>
                    </a:ext>
                  </a:extLst>
                </a:gridCol>
                <a:gridCol w="728870">
                  <a:extLst>
                    <a:ext uri="{9D8B030D-6E8A-4147-A177-3AD203B41FA5}">
                      <a16:colId xmlns:a16="http://schemas.microsoft.com/office/drawing/2014/main" val="3779963178"/>
                    </a:ext>
                  </a:extLst>
                </a:gridCol>
                <a:gridCol w="1205948">
                  <a:extLst>
                    <a:ext uri="{9D8B030D-6E8A-4147-A177-3AD203B41FA5}">
                      <a16:colId xmlns:a16="http://schemas.microsoft.com/office/drawing/2014/main" val="2058170570"/>
                    </a:ext>
                  </a:extLst>
                </a:gridCol>
                <a:gridCol w="901148">
                  <a:extLst>
                    <a:ext uri="{9D8B030D-6E8A-4147-A177-3AD203B41FA5}">
                      <a16:colId xmlns:a16="http://schemas.microsoft.com/office/drawing/2014/main" val="721268388"/>
                    </a:ext>
                  </a:extLst>
                </a:gridCol>
                <a:gridCol w="1168387">
                  <a:extLst>
                    <a:ext uri="{9D8B030D-6E8A-4147-A177-3AD203B41FA5}">
                      <a16:colId xmlns:a16="http://schemas.microsoft.com/office/drawing/2014/main" val="731203386"/>
                    </a:ext>
                  </a:extLst>
                </a:gridCol>
                <a:gridCol w="770432">
                  <a:extLst>
                    <a:ext uri="{9D8B030D-6E8A-4147-A177-3AD203B41FA5}">
                      <a16:colId xmlns:a16="http://schemas.microsoft.com/office/drawing/2014/main" val="533314745"/>
                    </a:ext>
                  </a:extLst>
                </a:gridCol>
                <a:gridCol w="944233">
                  <a:extLst>
                    <a:ext uri="{9D8B030D-6E8A-4147-A177-3AD203B41FA5}">
                      <a16:colId xmlns:a16="http://schemas.microsoft.com/office/drawing/2014/main" val="606072062"/>
                    </a:ext>
                  </a:extLst>
                </a:gridCol>
              </a:tblGrid>
              <a:tr h="189858">
                <a:tc>
                  <a:txBody>
                    <a:bodyPr/>
                    <a:lstStyle/>
                    <a:p>
                      <a:pPr algn="l" fontAlgn="b">
                        <a:buNone/>
                      </a:pPr>
                      <a:endParaRPr lang="en-SG" sz="1200" b="0" i="0" u="none" strike="noStrike">
                        <a:solidFill>
                          <a:schemeClr val="tx1"/>
                        </a:solidFill>
                        <a:effectLst/>
                        <a:latin typeface="+mn-lt"/>
                      </a:endParaRPr>
                    </a:p>
                  </a:txBody>
                  <a:tcPr marL="6978" marR="6978" marT="6978"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mn-lt"/>
                        </a:rPr>
                        <a:t>Africa</a:t>
                      </a:r>
                    </a:p>
                  </a:txBody>
                  <a:tcPr marL="6978" marR="6978" marT="6978"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mn-lt"/>
                        </a:rPr>
                        <a:t>Asia</a:t>
                      </a:r>
                    </a:p>
                  </a:txBody>
                  <a:tcPr marL="6978" marR="6978" marT="6978" marB="0" anchor="b">
                    <a:lnL>
                      <a:noFill/>
                    </a:lnL>
                    <a:lnR>
                      <a:noFill/>
                    </a:lnR>
                    <a:lnT>
                      <a:noFill/>
                    </a:lnT>
                    <a:lnB>
                      <a:noFill/>
                    </a:lnB>
                    <a:noFill/>
                  </a:tcPr>
                </a:tc>
                <a:tc>
                  <a:txBody>
                    <a:bodyPr/>
                    <a:lstStyle/>
                    <a:p>
                      <a:pPr algn="ctr" fontAlgn="b">
                        <a:buNone/>
                      </a:pPr>
                      <a:r>
                        <a:rPr lang="en-SG" sz="1200" b="0" i="0" u="none" strike="noStrike" dirty="0">
                          <a:solidFill>
                            <a:schemeClr val="tx1"/>
                          </a:solidFill>
                          <a:effectLst/>
                          <a:latin typeface="+mn-lt"/>
                        </a:rPr>
                        <a:t>Europe</a:t>
                      </a:r>
                    </a:p>
                  </a:txBody>
                  <a:tcPr marL="6978" marR="6978" marT="6978" marB="0" anchor="b">
                    <a:lnL>
                      <a:noFill/>
                    </a:lnL>
                    <a:lnR>
                      <a:noFill/>
                    </a:lnR>
                    <a:lnT>
                      <a:noFill/>
                    </a:lnT>
                    <a:lnB>
                      <a:noFill/>
                    </a:lnB>
                    <a:noFill/>
                  </a:tcPr>
                </a:tc>
                <a:tc>
                  <a:txBody>
                    <a:bodyPr/>
                    <a:lstStyle/>
                    <a:p>
                      <a:pPr algn="ctr" fontAlgn="b">
                        <a:buNone/>
                      </a:pPr>
                      <a:r>
                        <a:rPr lang="en-SG" sz="1200" b="0" i="0" u="none" strike="noStrike" dirty="0">
                          <a:solidFill>
                            <a:schemeClr val="tx1"/>
                          </a:solidFill>
                          <a:effectLst/>
                          <a:latin typeface="+mn-lt"/>
                        </a:rPr>
                        <a:t>North America</a:t>
                      </a:r>
                    </a:p>
                  </a:txBody>
                  <a:tcPr marL="6978" marR="6978" marT="6978" marB="0" anchor="b">
                    <a:lnL>
                      <a:noFill/>
                    </a:lnL>
                    <a:lnR>
                      <a:noFill/>
                    </a:lnR>
                    <a:lnT>
                      <a:noFill/>
                    </a:lnT>
                    <a:lnB>
                      <a:noFill/>
                    </a:lnB>
                    <a:noFill/>
                  </a:tcPr>
                </a:tc>
                <a:tc>
                  <a:txBody>
                    <a:bodyPr/>
                    <a:lstStyle/>
                    <a:p>
                      <a:pPr algn="ctr" fontAlgn="b">
                        <a:buNone/>
                      </a:pPr>
                      <a:r>
                        <a:rPr lang="en-SG" sz="1200" b="0" i="0" u="none" strike="noStrike" dirty="0">
                          <a:solidFill>
                            <a:schemeClr val="tx1"/>
                          </a:solidFill>
                          <a:effectLst/>
                          <a:latin typeface="+mn-lt"/>
                        </a:rPr>
                        <a:t>Oceania</a:t>
                      </a:r>
                    </a:p>
                  </a:txBody>
                  <a:tcPr marL="6978" marR="6978" marT="6978"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mn-lt"/>
                        </a:rPr>
                        <a:t>South America</a:t>
                      </a:r>
                    </a:p>
                  </a:txBody>
                  <a:tcPr marL="6978" marR="6978" marT="6978" marB="0" anchor="b">
                    <a:lnL>
                      <a:noFill/>
                    </a:lnL>
                    <a:lnR>
                      <a:noFill/>
                    </a:lnR>
                    <a:lnT>
                      <a:noFill/>
                    </a:lnT>
                    <a:lnB>
                      <a:noFill/>
                    </a:lnB>
                    <a:noFill/>
                  </a:tcPr>
                </a:tc>
                <a:tc>
                  <a:txBody>
                    <a:bodyPr/>
                    <a:lstStyle/>
                    <a:p>
                      <a:pPr algn="ctr" fontAlgn="b">
                        <a:buNone/>
                      </a:pPr>
                      <a:r>
                        <a:rPr lang="en-SG" sz="1200" b="0" i="0" u="none" strike="noStrike">
                          <a:solidFill>
                            <a:schemeClr val="tx1"/>
                          </a:solidFill>
                          <a:effectLst/>
                          <a:latin typeface="+mn-lt"/>
                        </a:rPr>
                        <a:t>Undefined</a:t>
                      </a:r>
                    </a:p>
                  </a:txBody>
                  <a:tcPr marL="6978" marR="6978" marT="6978" marB="0" anchor="b">
                    <a:lnL>
                      <a:noFill/>
                    </a:lnL>
                    <a:lnR>
                      <a:noFill/>
                    </a:lnR>
                    <a:lnT>
                      <a:noFill/>
                    </a:lnT>
                    <a:lnB>
                      <a:noFill/>
                    </a:lnB>
                    <a:noFill/>
                  </a:tcPr>
                </a:tc>
                <a:tc>
                  <a:txBody>
                    <a:bodyPr/>
                    <a:lstStyle/>
                    <a:p>
                      <a:pPr algn="ctr" fontAlgn="b">
                        <a:buNone/>
                      </a:pPr>
                      <a:r>
                        <a:rPr lang="en-SG" sz="1200" b="0" i="0" u="none" strike="noStrike" dirty="0">
                          <a:solidFill>
                            <a:schemeClr val="tx1"/>
                          </a:solidFill>
                          <a:effectLst/>
                          <a:latin typeface="+mn-lt"/>
                        </a:rPr>
                        <a:t>Grand Total</a:t>
                      </a:r>
                    </a:p>
                  </a:txBody>
                  <a:tcPr marL="6978" marR="6978" marT="6978" marB="0" anchor="b">
                    <a:lnL>
                      <a:noFill/>
                    </a:lnL>
                    <a:lnR>
                      <a:noFill/>
                    </a:lnR>
                    <a:lnT>
                      <a:noFill/>
                    </a:lnT>
                    <a:lnB>
                      <a:noFill/>
                    </a:lnB>
                    <a:noFill/>
                  </a:tcPr>
                </a:tc>
                <a:extLst>
                  <a:ext uri="{0D108BD9-81ED-4DB2-BD59-A6C34878D82A}">
                    <a16:rowId xmlns:a16="http://schemas.microsoft.com/office/drawing/2014/main" val="4276835156"/>
                  </a:ext>
                </a:extLst>
              </a:tr>
              <a:tr h="189858">
                <a:tc>
                  <a:txBody>
                    <a:bodyPr/>
                    <a:lstStyle/>
                    <a:p>
                      <a:pPr algn="l" fontAlgn="b">
                        <a:buNone/>
                      </a:pPr>
                      <a:r>
                        <a:rPr lang="en-SG" sz="1200" b="0" i="0" u="none" strike="noStrike">
                          <a:solidFill>
                            <a:schemeClr val="tx1"/>
                          </a:solidFill>
                          <a:effectLst/>
                          <a:latin typeface="+mn-lt"/>
                        </a:rPr>
                        <a:t>Complementary</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0%</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1%</a:t>
                      </a:r>
                    </a:p>
                  </a:txBody>
                  <a:tcPr marL="6978" marR="6978" marT="6978" marB="0" anchor="b">
                    <a:lnL>
                      <a:noFill/>
                    </a:lnL>
                    <a:lnR>
                      <a:noFill/>
                    </a:lnR>
                    <a:lnT>
                      <a:noFill/>
                    </a:lnT>
                    <a:lnB>
                      <a:noFill/>
                    </a:lnB>
                    <a:noFill/>
                  </a:tcPr>
                </a:tc>
                <a:extLst>
                  <a:ext uri="{0D108BD9-81ED-4DB2-BD59-A6C34878D82A}">
                    <a16:rowId xmlns:a16="http://schemas.microsoft.com/office/drawing/2014/main" val="663955460"/>
                  </a:ext>
                </a:extLst>
              </a:tr>
              <a:tr h="189858">
                <a:tc>
                  <a:txBody>
                    <a:bodyPr/>
                    <a:lstStyle/>
                    <a:p>
                      <a:pPr algn="l" fontAlgn="b">
                        <a:buNone/>
                      </a:pPr>
                      <a:r>
                        <a:rPr lang="en-SG" sz="1200" b="0" i="0" u="none" strike="noStrike">
                          <a:solidFill>
                            <a:schemeClr val="tx1"/>
                          </a:solidFill>
                          <a:effectLst/>
                          <a:latin typeface="+mn-lt"/>
                        </a:rPr>
                        <a:t>Corporate</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6%</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40%</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6%</a:t>
                      </a:r>
                    </a:p>
                  </a:txBody>
                  <a:tcPr marL="6978" marR="6978" marT="6978" marB="0" anchor="b">
                    <a:lnL>
                      <a:noFill/>
                    </a:lnL>
                    <a:lnR>
                      <a:noFill/>
                    </a:lnR>
                    <a:lnT>
                      <a:noFill/>
                    </a:lnT>
                    <a:lnB>
                      <a:noFill/>
                    </a:lnB>
                    <a:noFill/>
                  </a:tcPr>
                </a:tc>
                <a:extLst>
                  <a:ext uri="{0D108BD9-81ED-4DB2-BD59-A6C34878D82A}">
                    <a16:rowId xmlns:a16="http://schemas.microsoft.com/office/drawing/2014/main" val="875683582"/>
                  </a:ext>
                </a:extLst>
              </a:tr>
              <a:tr h="189858">
                <a:tc>
                  <a:txBody>
                    <a:bodyPr/>
                    <a:lstStyle/>
                    <a:p>
                      <a:pPr algn="l" fontAlgn="b">
                        <a:buNone/>
                      </a:pPr>
                      <a:r>
                        <a:rPr lang="en-SG" sz="1200" b="0" i="0" u="none" strike="noStrike">
                          <a:solidFill>
                            <a:schemeClr val="tx1"/>
                          </a:solidFill>
                          <a:effectLst/>
                          <a:latin typeface="+mn-lt"/>
                        </a:rPr>
                        <a:t>Direct</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8%</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16%</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33%</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16%</a:t>
                      </a:r>
                    </a:p>
                  </a:txBody>
                  <a:tcPr marL="6978" marR="6978" marT="6978" marB="0" anchor="b">
                    <a:lnL>
                      <a:noFill/>
                    </a:lnL>
                    <a:lnR>
                      <a:noFill/>
                    </a:lnR>
                    <a:lnT>
                      <a:noFill/>
                    </a:lnT>
                    <a:lnB>
                      <a:noFill/>
                    </a:lnB>
                    <a:noFill/>
                  </a:tcPr>
                </a:tc>
                <a:extLst>
                  <a:ext uri="{0D108BD9-81ED-4DB2-BD59-A6C34878D82A}">
                    <a16:rowId xmlns:a16="http://schemas.microsoft.com/office/drawing/2014/main" val="3504436740"/>
                  </a:ext>
                </a:extLst>
              </a:tr>
              <a:tr h="189858">
                <a:tc>
                  <a:txBody>
                    <a:bodyPr/>
                    <a:lstStyle/>
                    <a:p>
                      <a:pPr algn="l" fontAlgn="b">
                        <a:buNone/>
                      </a:pPr>
                      <a:r>
                        <a:rPr lang="en-SG" sz="1200" b="0" i="0" u="none" strike="noStrike">
                          <a:solidFill>
                            <a:schemeClr val="tx1"/>
                          </a:solidFill>
                          <a:effectLst/>
                          <a:latin typeface="+mn-lt"/>
                        </a:rPr>
                        <a:t>Groups</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15%</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16%</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15%</a:t>
                      </a:r>
                    </a:p>
                  </a:txBody>
                  <a:tcPr marL="6978" marR="6978" marT="6978" marB="0" anchor="b">
                    <a:lnL>
                      <a:noFill/>
                    </a:lnL>
                    <a:lnR>
                      <a:noFill/>
                    </a:lnR>
                    <a:lnT>
                      <a:noFill/>
                    </a:lnT>
                    <a:lnB>
                      <a:noFill/>
                    </a:lnB>
                    <a:noFill/>
                  </a:tcPr>
                </a:tc>
                <a:extLst>
                  <a:ext uri="{0D108BD9-81ED-4DB2-BD59-A6C34878D82A}">
                    <a16:rowId xmlns:a16="http://schemas.microsoft.com/office/drawing/2014/main" val="3095355000"/>
                  </a:ext>
                </a:extLst>
              </a:tr>
              <a:tr h="189858">
                <a:tc>
                  <a:txBody>
                    <a:bodyPr/>
                    <a:lstStyle/>
                    <a:p>
                      <a:pPr algn="l" fontAlgn="b">
                        <a:buNone/>
                      </a:pPr>
                      <a:r>
                        <a:rPr lang="en-SG" sz="1200" b="0" i="0" u="none" strike="noStrike" dirty="0">
                          <a:solidFill>
                            <a:schemeClr val="tx1"/>
                          </a:solidFill>
                          <a:effectLst/>
                          <a:latin typeface="+mn-lt"/>
                        </a:rPr>
                        <a:t>Offline TA/TO</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9%</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20%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9%</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16%</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5%</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10%</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20%</a:t>
                      </a:r>
                    </a:p>
                  </a:txBody>
                  <a:tcPr marL="6978" marR="6978" marT="6978" marB="0" anchor="b">
                    <a:lnL>
                      <a:noFill/>
                    </a:lnL>
                    <a:lnR>
                      <a:noFill/>
                    </a:lnR>
                    <a:lnT>
                      <a:noFill/>
                    </a:lnT>
                    <a:lnB>
                      <a:noFill/>
                    </a:lnB>
                    <a:noFill/>
                  </a:tcPr>
                </a:tc>
                <a:extLst>
                  <a:ext uri="{0D108BD9-81ED-4DB2-BD59-A6C34878D82A}">
                    <a16:rowId xmlns:a16="http://schemas.microsoft.com/office/drawing/2014/main" val="885727548"/>
                  </a:ext>
                </a:extLst>
              </a:tr>
              <a:tr h="189858">
                <a:tc>
                  <a:txBody>
                    <a:bodyPr/>
                    <a:lstStyle/>
                    <a:p>
                      <a:pPr algn="l" fontAlgn="b">
                        <a:buNone/>
                      </a:pPr>
                      <a:r>
                        <a:rPr lang="en-SG" sz="1200" b="0" i="0" u="none" strike="noStrike">
                          <a:solidFill>
                            <a:schemeClr val="tx1"/>
                          </a:solidFill>
                          <a:effectLst/>
                          <a:latin typeface="+mn-lt"/>
                        </a:rPr>
                        <a:t>Online TA</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67%</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53%</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42%</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65%</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57%</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77%</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16%</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42%</a:t>
                      </a:r>
                    </a:p>
                  </a:txBody>
                  <a:tcPr marL="6978" marR="6978" marT="6978" marB="0" anchor="b">
                    <a:lnL>
                      <a:noFill/>
                    </a:lnL>
                    <a:lnR>
                      <a:noFill/>
                    </a:lnR>
                    <a:lnT>
                      <a:noFill/>
                    </a:lnT>
                    <a:lnB>
                      <a:noFill/>
                    </a:lnB>
                    <a:noFill/>
                  </a:tcPr>
                </a:tc>
                <a:extLst>
                  <a:ext uri="{0D108BD9-81ED-4DB2-BD59-A6C34878D82A}">
                    <a16:rowId xmlns:a16="http://schemas.microsoft.com/office/drawing/2014/main" val="3825387871"/>
                  </a:ext>
                </a:extLst>
              </a:tr>
              <a:tr h="189858">
                <a:tc>
                  <a:txBody>
                    <a:bodyPr/>
                    <a:lstStyle/>
                    <a:p>
                      <a:pPr algn="l" fontAlgn="b">
                        <a:buNone/>
                      </a:pPr>
                      <a:r>
                        <a:rPr lang="en-SG" sz="1200" b="0" i="0" u="none" strike="noStrike">
                          <a:solidFill>
                            <a:schemeClr val="tx1"/>
                          </a:solidFill>
                          <a:effectLst/>
                          <a:latin typeface="+mn-lt"/>
                        </a:rPr>
                        <a:t>Grand Total</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100%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100%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100%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100%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100%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100%</a:t>
                      </a:r>
                    </a:p>
                  </a:txBody>
                  <a:tcPr marL="6978" marR="6978" marT="6978" marB="0" anchor="b">
                    <a:lnL>
                      <a:noFill/>
                    </a:lnL>
                    <a:lnR>
                      <a:noFill/>
                    </a:lnR>
                    <a:lnT>
                      <a:noFill/>
                    </a:lnT>
                    <a:lnB>
                      <a:noFill/>
                    </a:lnB>
                    <a:noFill/>
                  </a:tcPr>
                </a:tc>
                <a:tc>
                  <a:txBody>
                    <a:bodyPr/>
                    <a:lstStyle/>
                    <a:p>
                      <a:pPr algn="r" fontAlgn="b">
                        <a:buNone/>
                      </a:pPr>
                      <a:r>
                        <a:rPr lang="en-SG" sz="1200" b="0" i="0" u="none" strike="noStrike">
                          <a:solidFill>
                            <a:schemeClr val="tx1"/>
                          </a:solidFill>
                          <a:effectLst/>
                          <a:latin typeface="+mn-lt"/>
                        </a:rPr>
                        <a:t>100%</a:t>
                      </a:r>
                    </a:p>
                  </a:txBody>
                  <a:tcPr marL="6978" marR="6978" marT="6978" marB="0" anchor="b">
                    <a:lnL>
                      <a:noFill/>
                    </a:lnL>
                    <a:lnR>
                      <a:noFill/>
                    </a:lnR>
                    <a:lnT>
                      <a:noFill/>
                    </a:lnT>
                    <a:lnB>
                      <a:noFill/>
                    </a:lnB>
                    <a:noFill/>
                  </a:tcPr>
                </a:tc>
                <a:tc>
                  <a:txBody>
                    <a:bodyPr/>
                    <a:lstStyle/>
                    <a:p>
                      <a:pPr algn="r" fontAlgn="b">
                        <a:buNone/>
                      </a:pPr>
                      <a:r>
                        <a:rPr lang="en-SG" sz="1200" b="0" i="0" u="none" strike="noStrike" dirty="0">
                          <a:solidFill>
                            <a:schemeClr val="tx1"/>
                          </a:solidFill>
                          <a:effectLst/>
                          <a:latin typeface="+mn-lt"/>
                        </a:rPr>
                        <a:t>100%</a:t>
                      </a:r>
                    </a:p>
                  </a:txBody>
                  <a:tcPr marL="6978" marR="6978" marT="6978" marB="0" anchor="b">
                    <a:lnL>
                      <a:noFill/>
                    </a:lnL>
                    <a:lnR>
                      <a:noFill/>
                    </a:lnR>
                    <a:lnT>
                      <a:noFill/>
                    </a:lnT>
                    <a:lnB>
                      <a:noFill/>
                    </a:lnB>
                    <a:noFill/>
                  </a:tcPr>
                </a:tc>
                <a:extLst>
                  <a:ext uri="{0D108BD9-81ED-4DB2-BD59-A6C34878D82A}">
                    <a16:rowId xmlns:a16="http://schemas.microsoft.com/office/drawing/2014/main" val="4286751877"/>
                  </a:ext>
                </a:extLst>
              </a:tr>
            </a:tbl>
          </a:graphicData>
        </a:graphic>
      </p:graphicFrame>
      <p:sp>
        <p:nvSpPr>
          <p:cNvPr id="3" name="TextBox 2">
            <a:extLst>
              <a:ext uri="{FF2B5EF4-FFF2-40B4-BE49-F238E27FC236}">
                <a16:creationId xmlns:a16="http://schemas.microsoft.com/office/drawing/2014/main" id="{0EC46E77-E0C9-2175-E094-93B604F9A3F2}"/>
              </a:ext>
            </a:extLst>
          </p:cNvPr>
          <p:cNvSpPr txBox="1"/>
          <p:nvPr/>
        </p:nvSpPr>
        <p:spPr>
          <a:xfrm>
            <a:off x="1119114" y="5636216"/>
            <a:ext cx="10957038" cy="662554"/>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P value is smaller than 0.05, means the 2 variables are depend on each others.</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On a scale of 0 to 1, CV 0.008 indicates the strength of relationship is very week on the relationship.</a:t>
            </a:r>
          </a:p>
        </p:txBody>
      </p:sp>
    </p:spTree>
    <p:extLst>
      <p:ext uri="{BB962C8B-B14F-4D97-AF65-F5344CB8AC3E}">
        <p14:creationId xmlns:p14="http://schemas.microsoft.com/office/powerpoint/2010/main" val="1358789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A4F298F8-7C30-A346-FF2C-4E5F00A165B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A9D7C8D-6348-AEEC-AEF7-157FBB957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7475C4A-7609-2106-8D64-1F1DF669B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25F649E-485C-8565-9632-6AC9994F4D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062F0667-0109-9351-766E-D22392E6E4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5293669C-623E-DB9D-48F4-D7F437793F1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103491F2-E5B3-6A90-4BEE-938B79A4C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9341534-A6E9-B107-9DD6-F9A453727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A7B19F74-86E6-10DC-13FF-A4007EF49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8469D181-6B29-37B7-9740-0EECE1C16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338CFC-8FE8-B0EA-490E-AA1C9BE9FF22}"/>
              </a:ext>
            </a:extLst>
          </p:cNvPr>
          <p:cNvSpPr txBox="1">
            <a:spLocks/>
          </p:cNvSpPr>
          <p:nvPr/>
        </p:nvSpPr>
        <p:spPr>
          <a:xfrm>
            <a:off x="994279" y="223754"/>
            <a:ext cx="7055212" cy="531620"/>
          </a:xfrm>
          <a:prstGeom prst="rect">
            <a:avLst/>
          </a:prstGeom>
        </p:spPr>
        <p:txBody>
          <a:bodyPr vert="horz" lIns="91440" tIns="45720" rIns="91440" bIns="45720" rtlCol="0" anchor="t">
            <a:normAutofit fontScale="925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Geographic &amp; Distribution Channel Analysis</a:t>
            </a:r>
          </a:p>
        </p:txBody>
      </p:sp>
      <p:graphicFrame>
        <p:nvGraphicFramePr>
          <p:cNvPr id="3" name="Table 2">
            <a:extLst>
              <a:ext uri="{FF2B5EF4-FFF2-40B4-BE49-F238E27FC236}">
                <a16:creationId xmlns:a16="http://schemas.microsoft.com/office/drawing/2014/main" id="{2A999BAC-E971-13A4-6E9C-4FC93675C234}"/>
              </a:ext>
            </a:extLst>
          </p:cNvPr>
          <p:cNvGraphicFramePr>
            <a:graphicFrameLocks noGrp="1"/>
          </p:cNvGraphicFramePr>
          <p:nvPr>
            <p:extLst>
              <p:ext uri="{D42A27DB-BD31-4B8C-83A1-F6EECF244321}">
                <p14:modId xmlns:p14="http://schemas.microsoft.com/office/powerpoint/2010/main" val="1668430219"/>
              </p:ext>
            </p:extLst>
          </p:nvPr>
        </p:nvGraphicFramePr>
        <p:xfrm>
          <a:off x="410713" y="1063303"/>
          <a:ext cx="6081786" cy="2330514"/>
        </p:xfrm>
        <a:graphic>
          <a:graphicData uri="http://schemas.openxmlformats.org/drawingml/2006/table">
            <a:tbl>
              <a:tblPr firstRow="1" bandRow="1">
                <a:tableStyleId>{9D7B26C5-4107-4FEC-AEDC-1716B250A1EF}</a:tableStyleId>
              </a:tblPr>
              <a:tblGrid>
                <a:gridCol w="1875745">
                  <a:extLst>
                    <a:ext uri="{9D8B030D-6E8A-4147-A177-3AD203B41FA5}">
                      <a16:colId xmlns:a16="http://schemas.microsoft.com/office/drawing/2014/main" val="3475676978"/>
                    </a:ext>
                  </a:extLst>
                </a:gridCol>
                <a:gridCol w="1415439">
                  <a:extLst>
                    <a:ext uri="{9D8B030D-6E8A-4147-A177-3AD203B41FA5}">
                      <a16:colId xmlns:a16="http://schemas.microsoft.com/office/drawing/2014/main" val="4280768222"/>
                    </a:ext>
                  </a:extLst>
                </a:gridCol>
                <a:gridCol w="909103">
                  <a:extLst>
                    <a:ext uri="{9D8B030D-6E8A-4147-A177-3AD203B41FA5}">
                      <a16:colId xmlns:a16="http://schemas.microsoft.com/office/drawing/2014/main" val="3750476209"/>
                    </a:ext>
                  </a:extLst>
                </a:gridCol>
                <a:gridCol w="819919">
                  <a:extLst>
                    <a:ext uri="{9D8B030D-6E8A-4147-A177-3AD203B41FA5}">
                      <a16:colId xmlns:a16="http://schemas.microsoft.com/office/drawing/2014/main" val="1710593565"/>
                    </a:ext>
                  </a:extLst>
                </a:gridCol>
                <a:gridCol w="1061580">
                  <a:extLst>
                    <a:ext uri="{9D8B030D-6E8A-4147-A177-3AD203B41FA5}">
                      <a16:colId xmlns:a16="http://schemas.microsoft.com/office/drawing/2014/main" val="3974101745"/>
                    </a:ext>
                  </a:extLst>
                </a:gridCol>
              </a:tblGrid>
              <a:tr h="258946">
                <a:tc>
                  <a:txBody>
                    <a:bodyPr/>
                    <a:lstStyle/>
                    <a:p>
                      <a:pPr algn="l" fontAlgn="b">
                        <a:buNone/>
                      </a:pPr>
                      <a:r>
                        <a:rPr lang="en-SG" sz="1200" b="0" u="none" strike="noStrike" dirty="0">
                          <a:solidFill>
                            <a:schemeClr val="tx1"/>
                          </a:solidFill>
                          <a:effectLst/>
                        </a:rPr>
                        <a:t>Cancelled</a:t>
                      </a: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Corporate</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Direct</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TA/TO</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dirty="0">
                          <a:solidFill>
                            <a:schemeClr val="tx1"/>
                          </a:solidFill>
                          <a:effectLst/>
                        </a:rPr>
                        <a:t>Grand Total</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179598690"/>
                  </a:ext>
                </a:extLst>
              </a:tr>
              <a:tr h="258946">
                <a:tc>
                  <a:txBody>
                    <a:bodyPr/>
                    <a:lstStyle/>
                    <a:p>
                      <a:pPr algn="l" fontAlgn="b">
                        <a:buNone/>
                      </a:pPr>
                      <a:r>
                        <a:rPr lang="en-SG" sz="1200" b="0" u="none" strike="noStrike">
                          <a:solidFill>
                            <a:schemeClr val="tx1"/>
                          </a:solidFill>
                          <a:effectLst/>
                        </a:rPr>
                        <a:t>Africa</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4%</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31%</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24%</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610370459"/>
                  </a:ext>
                </a:extLst>
              </a:tr>
              <a:tr h="258946">
                <a:tc>
                  <a:txBody>
                    <a:bodyPr/>
                    <a:lstStyle/>
                    <a:p>
                      <a:pPr algn="l" fontAlgn="b">
                        <a:buNone/>
                      </a:pPr>
                      <a:r>
                        <a:rPr lang="en-SG" sz="1200" b="0" u="none" strike="noStrike">
                          <a:solidFill>
                            <a:schemeClr val="tx1"/>
                          </a:solidFill>
                          <a:effectLst/>
                        </a:rPr>
                        <a:t>Asia</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9%</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15%</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13%</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4127055727"/>
                  </a:ext>
                </a:extLst>
              </a:tr>
              <a:tr h="258946">
                <a:tc>
                  <a:txBody>
                    <a:bodyPr/>
                    <a:lstStyle/>
                    <a:p>
                      <a:pPr algn="l" fontAlgn="b">
                        <a:buNone/>
                      </a:pPr>
                      <a:r>
                        <a:rPr lang="en-SG" sz="1200" b="0" u="none" strike="noStrike">
                          <a:solidFill>
                            <a:schemeClr val="tx1"/>
                          </a:solidFill>
                          <a:effectLst/>
                        </a:rPr>
                        <a:t>Europe</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17%</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39%</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28%</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036579810"/>
                  </a:ext>
                </a:extLst>
              </a:tr>
              <a:tr h="258946">
                <a:tc>
                  <a:txBody>
                    <a:bodyPr/>
                    <a:lstStyle/>
                    <a:p>
                      <a:pPr algn="l" fontAlgn="b">
                        <a:buNone/>
                      </a:pPr>
                      <a:r>
                        <a:rPr lang="en-SG" sz="1200" b="0" u="none" strike="noStrike">
                          <a:solidFill>
                            <a:schemeClr val="tx1"/>
                          </a:solidFill>
                          <a:effectLst/>
                        </a:rPr>
                        <a:t>North America</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7%</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15%</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12%</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278052178"/>
                  </a:ext>
                </a:extLst>
              </a:tr>
              <a:tr h="258946">
                <a:tc>
                  <a:txBody>
                    <a:bodyPr/>
                    <a:lstStyle/>
                    <a:p>
                      <a:pPr algn="l" fontAlgn="b">
                        <a:buNone/>
                      </a:pPr>
                      <a:r>
                        <a:rPr lang="en-SG" sz="1200" b="0" u="none" strike="noStrike">
                          <a:solidFill>
                            <a:schemeClr val="tx1"/>
                          </a:solidFill>
                          <a:effectLst/>
                        </a:rPr>
                        <a:t>Oceania</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18%</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14%</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581682485"/>
                  </a:ext>
                </a:extLst>
              </a:tr>
              <a:tr h="258946">
                <a:tc>
                  <a:txBody>
                    <a:bodyPr/>
                    <a:lstStyle/>
                    <a:p>
                      <a:pPr algn="l" fontAlgn="b">
                        <a:buNone/>
                      </a:pPr>
                      <a:r>
                        <a:rPr lang="en-SG" sz="1200" b="0" u="none" strike="noStrike">
                          <a:solidFill>
                            <a:schemeClr val="tx1"/>
                          </a:solidFill>
                          <a:effectLst/>
                        </a:rPr>
                        <a:t>South America</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8%</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25%</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22%</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815856387"/>
                  </a:ext>
                </a:extLst>
              </a:tr>
              <a:tr h="258946">
                <a:tc>
                  <a:txBody>
                    <a:bodyPr/>
                    <a:lstStyle/>
                    <a:p>
                      <a:pPr algn="l" fontAlgn="b">
                        <a:buNone/>
                      </a:pPr>
                      <a:r>
                        <a:rPr lang="en-SG" sz="1200" b="0" u="none" strike="noStrike">
                          <a:solidFill>
                            <a:schemeClr val="tx1"/>
                          </a:solidFill>
                          <a:effectLst/>
                        </a:rPr>
                        <a:t>Undefined</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7%</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8%</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37%</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10%</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003692155"/>
                  </a:ext>
                </a:extLst>
              </a:tr>
              <a:tr h="258946">
                <a:tc>
                  <a:txBody>
                    <a:bodyPr/>
                    <a:lstStyle/>
                    <a:p>
                      <a:pPr algn="l" fontAlgn="b">
                        <a:buNone/>
                      </a:pPr>
                      <a:r>
                        <a:rPr lang="en-SG" sz="1200" b="0" u="none" strike="noStrike">
                          <a:solidFill>
                            <a:schemeClr val="tx1"/>
                          </a:solidFill>
                          <a:effectLst/>
                        </a:rPr>
                        <a:t>Total Cancelled</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21%</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17%</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37%</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27%</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49823730"/>
                  </a:ext>
                </a:extLst>
              </a:tr>
            </a:tbl>
          </a:graphicData>
        </a:graphic>
      </p:graphicFrame>
      <p:graphicFrame>
        <p:nvGraphicFramePr>
          <p:cNvPr id="4" name="Chart 3">
            <a:extLst>
              <a:ext uri="{FF2B5EF4-FFF2-40B4-BE49-F238E27FC236}">
                <a16:creationId xmlns:a16="http://schemas.microsoft.com/office/drawing/2014/main" id="{9BAF040E-F40F-0469-0644-1E5006769CE6}"/>
              </a:ext>
            </a:extLst>
          </p:cNvPr>
          <p:cNvGraphicFramePr>
            <a:graphicFrameLocks/>
          </p:cNvGraphicFramePr>
          <p:nvPr>
            <p:extLst>
              <p:ext uri="{D42A27DB-BD31-4B8C-83A1-F6EECF244321}">
                <p14:modId xmlns:p14="http://schemas.microsoft.com/office/powerpoint/2010/main" val="1843482826"/>
              </p:ext>
            </p:extLst>
          </p:nvPr>
        </p:nvGraphicFramePr>
        <p:xfrm>
          <a:off x="6761019" y="821731"/>
          <a:ext cx="5237018" cy="2902786"/>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Box 8">
            <a:extLst>
              <a:ext uri="{FF2B5EF4-FFF2-40B4-BE49-F238E27FC236}">
                <a16:creationId xmlns:a16="http://schemas.microsoft.com/office/drawing/2014/main" id="{BC572827-140F-EADD-92BB-F8C76111976A}"/>
              </a:ext>
            </a:extLst>
          </p:cNvPr>
          <p:cNvSpPr txBox="1"/>
          <p:nvPr/>
        </p:nvSpPr>
        <p:spPr>
          <a:xfrm>
            <a:off x="1075131" y="4340767"/>
            <a:ext cx="10273891" cy="1333507"/>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In Europe, most guest are using TA/TO channel to make bookings. But 39% of the TA/TO channel are cancelled at the end. </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Corporate Distribution Channel cancelled from Europe Country Zone.</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Need to revise booking policy of Corporate and TA/TO, </a:t>
            </a:r>
            <a:r>
              <a:rPr lang="en-SG" sz="1400" dirty="0"/>
              <a:t>with bookings Quarter.</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Engage to Direct Channel with more offer and can reduce distribution channel commission.</a:t>
            </a:r>
          </a:p>
        </p:txBody>
      </p:sp>
    </p:spTree>
    <p:extLst>
      <p:ext uri="{BB962C8B-B14F-4D97-AF65-F5344CB8AC3E}">
        <p14:creationId xmlns:p14="http://schemas.microsoft.com/office/powerpoint/2010/main" val="2914490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5239AA47-13F9-F1A6-B897-77711C9DF0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1BBDD4A-EF97-06C7-9C85-4DCDD89D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982132A-141D-B218-EE9E-3BE9F3390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5C2DD54-9B1B-778B-6D15-D010670C0D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4084ACEA-6A1A-B766-FF08-D3C003F06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F0F99087-2CC1-F488-6D66-594D541905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966D139E-731F-C46B-7D0F-83362B4666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E84E399-83AD-9609-1958-08735B2E0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96ADF7DA-2C97-7FBF-CF3F-FC97F0B4E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541A338C-026C-8198-DF3F-B7167921E2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5BADDD-93A8-6C43-ACB0-0687151C9645}"/>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Distribution Type &amp; Customer Type Analysis</a:t>
            </a:r>
          </a:p>
        </p:txBody>
      </p:sp>
      <p:graphicFrame>
        <p:nvGraphicFramePr>
          <p:cNvPr id="3" name="Chart 2">
            <a:extLst>
              <a:ext uri="{FF2B5EF4-FFF2-40B4-BE49-F238E27FC236}">
                <a16:creationId xmlns:a16="http://schemas.microsoft.com/office/drawing/2014/main" id="{2AA0CC36-E148-6DC0-47B0-F4FFC9C96B60}"/>
              </a:ext>
            </a:extLst>
          </p:cNvPr>
          <p:cNvGraphicFramePr>
            <a:graphicFrameLocks/>
          </p:cNvGraphicFramePr>
          <p:nvPr>
            <p:extLst>
              <p:ext uri="{D42A27DB-BD31-4B8C-83A1-F6EECF244321}">
                <p14:modId xmlns:p14="http://schemas.microsoft.com/office/powerpoint/2010/main" val="3748422571"/>
              </p:ext>
            </p:extLst>
          </p:nvPr>
        </p:nvGraphicFramePr>
        <p:xfrm>
          <a:off x="247286" y="909174"/>
          <a:ext cx="6822710" cy="343753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 name="Table 3">
            <a:extLst>
              <a:ext uri="{FF2B5EF4-FFF2-40B4-BE49-F238E27FC236}">
                <a16:creationId xmlns:a16="http://schemas.microsoft.com/office/drawing/2014/main" id="{C14740D7-F360-CBC1-69CC-5C104DC7704C}"/>
              </a:ext>
            </a:extLst>
          </p:cNvPr>
          <p:cNvGraphicFramePr>
            <a:graphicFrameLocks noGrp="1"/>
          </p:cNvGraphicFramePr>
          <p:nvPr>
            <p:extLst>
              <p:ext uri="{D42A27DB-BD31-4B8C-83A1-F6EECF244321}">
                <p14:modId xmlns:p14="http://schemas.microsoft.com/office/powerpoint/2010/main" val="2395769780"/>
              </p:ext>
            </p:extLst>
          </p:nvPr>
        </p:nvGraphicFramePr>
        <p:xfrm>
          <a:off x="627206" y="4858995"/>
          <a:ext cx="6343437" cy="1016000"/>
        </p:xfrm>
        <a:graphic>
          <a:graphicData uri="http://schemas.openxmlformats.org/drawingml/2006/table">
            <a:tbl>
              <a:tblPr firstRow="1" bandRow="1">
                <a:tableStyleId>{9D7B26C5-4107-4FEC-AEDC-1716B250A1EF}</a:tableStyleId>
              </a:tblPr>
              <a:tblGrid>
                <a:gridCol w="1956443">
                  <a:extLst>
                    <a:ext uri="{9D8B030D-6E8A-4147-A177-3AD203B41FA5}">
                      <a16:colId xmlns:a16="http://schemas.microsoft.com/office/drawing/2014/main" val="3020371758"/>
                    </a:ext>
                  </a:extLst>
                </a:gridCol>
                <a:gridCol w="1476334">
                  <a:extLst>
                    <a:ext uri="{9D8B030D-6E8A-4147-A177-3AD203B41FA5}">
                      <a16:colId xmlns:a16="http://schemas.microsoft.com/office/drawing/2014/main" val="1541789226"/>
                    </a:ext>
                  </a:extLst>
                </a:gridCol>
                <a:gridCol w="948215">
                  <a:extLst>
                    <a:ext uri="{9D8B030D-6E8A-4147-A177-3AD203B41FA5}">
                      <a16:colId xmlns:a16="http://schemas.microsoft.com/office/drawing/2014/main" val="3641070632"/>
                    </a:ext>
                  </a:extLst>
                </a:gridCol>
                <a:gridCol w="855194">
                  <a:extLst>
                    <a:ext uri="{9D8B030D-6E8A-4147-A177-3AD203B41FA5}">
                      <a16:colId xmlns:a16="http://schemas.microsoft.com/office/drawing/2014/main" val="1738770602"/>
                    </a:ext>
                  </a:extLst>
                </a:gridCol>
                <a:gridCol w="1107251">
                  <a:extLst>
                    <a:ext uri="{9D8B030D-6E8A-4147-A177-3AD203B41FA5}">
                      <a16:colId xmlns:a16="http://schemas.microsoft.com/office/drawing/2014/main" val="3771940700"/>
                    </a:ext>
                  </a:extLst>
                </a:gridCol>
              </a:tblGrid>
              <a:tr h="203200">
                <a:tc>
                  <a:txBody>
                    <a:bodyPr/>
                    <a:lstStyle/>
                    <a:p>
                      <a:pPr algn="l" fontAlgn="b">
                        <a:buNone/>
                      </a:pPr>
                      <a:r>
                        <a:rPr lang="en-SG" sz="1200" b="0" u="none" strike="noStrike" dirty="0">
                          <a:solidFill>
                            <a:schemeClr val="tx1"/>
                          </a:solidFill>
                          <a:effectLst/>
                        </a:rPr>
                        <a:t>Total Nights Cancelled</a:t>
                      </a: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Contract</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Group</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Transient</a:t>
                      </a:r>
                      <a:endParaRPr lang="en-SG" sz="1200" b="0" i="0" u="none" strike="noStrike">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Transient-Party</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080112157"/>
                  </a:ext>
                </a:extLst>
              </a:tr>
              <a:tr h="203200">
                <a:tc>
                  <a:txBody>
                    <a:bodyPr/>
                    <a:lstStyle/>
                    <a:p>
                      <a:pPr algn="l" fontAlgn="b">
                        <a:buNone/>
                      </a:pPr>
                      <a:r>
                        <a:rPr lang="en-SG" sz="1200" b="0" u="none" strike="noStrike" dirty="0">
                          <a:solidFill>
                            <a:schemeClr val="tx1"/>
                          </a:solidFill>
                          <a:effectLst/>
                        </a:rPr>
                        <a:t>Corporate</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65%</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38%</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19%</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651970891"/>
                  </a:ext>
                </a:extLst>
              </a:tr>
              <a:tr h="203200">
                <a:tc>
                  <a:txBody>
                    <a:bodyPr/>
                    <a:lstStyle/>
                    <a:p>
                      <a:pPr algn="l" fontAlgn="b">
                        <a:buNone/>
                      </a:pPr>
                      <a:r>
                        <a:rPr lang="en-SG" sz="1200" b="0" u="none" strike="noStrike">
                          <a:solidFill>
                            <a:schemeClr val="tx1"/>
                          </a:solidFill>
                          <a:effectLst/>
                        </a:rPr>
                        <a:t>Direct</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31%</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21%</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15%</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10115284"/>
                  </a:ext>
                </a:extLst>
              </a:tr>
              <a:tr h="203200">
                <a:tc>
                  <a:txBody>
                    <a:bodyPr/>
                    <a:lstStyle/>
                    <a:p>
                      <a:pPr algn="l" fontAlgn="b">
                        <a:buNone/>
                      </a:pPr>
                      <a:r>
                        <a:rPr lang="en-SG" sz="1200" b="0" u="none" strike="noStrike">
                          <a:solidFill>
                            <a:schemeClr val="tx1"/>
                          </a:solidFill>
                          <a:effectLst/>
                        </a:rPr>
                        <a:t>TA/TO</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9%</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13%</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37%</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26%</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064799748"/>
                  </a:ext>
                </a:extLst>
              </a:tr>
              <a:tr h="203200">
                <a:tc>
                  <a:txBody>
                    <a:bodyPr/>
                    <a:lstStyle/>
                    <a:p>
                      <a:pPr algn="l" fontAlgn="b">
                        <a:buNone/>
                      </a:pPr>
                      <a:r>
                        <a:rPr lang="en-SG" sz="1200" b="0" u="none" strike="noStrike" dirty="0">
                          <a:solidFill>
                            <a:schemeClr val="tx1"/>
                          </a:solidFill>
                          <a:effectLst/>
                        </a:rPr>
                        <a:t>Undefined</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613581251"/>
                  </a:ext>
                </a:extLst>
              </a:tr>
            </a:tbl>
          </a:graphicData>
        </a:graphic>
      </p:graphicFrame>
      <p:sp>
        <p:nvSpPr>
          <p:cNvPr id="5" name="TextBox 4">
            <a:extLst>
              <a:ext uri="{FF2B5EF4-FFF2-40B4-BE49-F238E27FC236}">
                <a16:creationId xmlns:a16="http://schemas.microsoft.com/office/drawing/2014/main" id="{E783C54A-0AB9-5A0C-931B-794E1E2397EE}"/>
              </a:ext>
            </a:extLst>
          </p:cNvPr>
          <p:cNvSpPr txBox="1"/>
          <p:nvPr/>
        </p:nvSpPr>
        <p:spPr>
          <a:xfrm>
            <a:off x="7425776" y="1770627"/>
            <a:ext cx="4527217" cy="2032159"/>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71 % of the Resort Hotel’s guest are Transient type.</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The guest type who are using most to TA/TO is Transient customer type. Second most using TA/TO is Transient-Party customer type.</a:t>
            </a:r>
          </a:p>
          <a:p>
            <a:pPr indent="-285750" defTabSz="914400">
              <a:lnSpc>
                <a:spcPct val="120000"/>
              </a:lnSpc>
              <a:spcAft>
                <a:spcPts val="600"/>
              </a:spcAft>
              <a:buClr>
                <a:schemeClr val="accent6"/>
              </a:buClr>
              <a:buSzPct val="90000"/>
              <a:buFont typeface="Wingdings" panose="05000000000000000000" pitchFamily="2" charset="2"/>
              <a:buChar char="§"/>
            </a:pPr>
            <a:r>
              <a:rPr lang="en-US" sz="1400" dirty="0"/>
              <a:t>Contract Customer type from Corporate channel having highest cancellation -&gt; Corporate contract need to revise.</a:t>
            </a:r>
          </a:p>
        </p:txBody>
      </p:sp>
    </p:spTree>
    <p:extLst>
      <p:ext uri="{BB962C8B-B14F-4D97-AF65-F5344CB8AC3E}">
        <p14:creationId xmlns:p14="http://schemas.microsoft.com/office/powerpoint/2010/main" val="8065963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22AE5933-D73B-64AB-BA2B-3FC20C776F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4386C5B-F158-A971-6D59-59FF4403D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EF68039-3AF1-8E1B-5D21-286B95433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1C4527B-7C12-0E44-A082-B12C021947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05A9C2A5-CC1E-E3A4-425C-F29A058BA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4B76C236-99BB-0B93-5633-4D1CB91E77B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84DAF89E-A6A9-8CF8-05F0-9B1813096F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9E32E92-18C4-03E5-0303-EDF86210CB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1538385F-8FF0-4D7B-71B3-069961EF43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919732B8-EBE5-D2FF-42BF-BA98E430B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FED53B-8CDF-BD3E-07CC-A6BAD12F7D77}"/>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Customer Type &amp; </a:t>
            </a:r>
            <a:r>
              <a:rPr lang="en-US" sz="2800" dirty="0" err="1"/>
              <a:t>Lead_time</a:t>
            </a:r>
            <a:endParaRPr lang="en-US" sz="2800" dirty="0"/>
          </a:p>
        </p:txBody>
      </p:sp>
      <p:graphicFrame>
        <p:nvGraphicFramePr>
          <p:cNvPr id="4" name="Table 3">
            <a:extLst>
              <a:ext uri="{FF2B5EF4-FFF2-40B4-BE49-F238E27FC236}">
                <a16:creationId xmlns:a16="http://schemas.microsoft.com/office/drawing/2014/main" id="{AA9FDC0C-ECE2-83CA-0DBB-E8DDD0464110}"/>
              </a:ext>
            </a:extLst>
          </p:cNvPr>
          <p:cNvGraphicFramePr>
            <a:graphicFrameLocks noGrp="1"/>
          </p:cNvGraphicFramePr>
          <p:nvPr>
            <p:extLst>
              <p:ext uri="{D42A27DB-BD31-4B8C-83A1-F6EECF244321}">
                <p14:modId xmlns:p14="http://schemas.microsoft.com/office/powerpoint/2010/main" val="742717137"/>
              </p:ext>
            </p:extLst>
          </p:nvPr>
        </p:nvGraphicFramePr>
        <p:xfrm>
          <a:off x="3292254" y="1583477"/>
          <a:ext cx="5537200" cy="1370965"/>
        </p:xfrm>
        <a:graphic>
          <a:graphicData uri="http://schemas.openxmlformats.org/drawingml/2006/table">
            <a:tbl>
              <a:tblPr firstRow="1" bandRow="1">
                <a:tableStyleId>{9D7B26C5-4107-4FEC-AEDC-1716B250A1EF}</a:tableStyleId>
              </a:tblPr>
              <a:tblGrid>
                <a:gridCol w="2066925">
                  <a:extLst>
                    <a:ext uri="{9D8B030D-6E8A-4147-A177-3AD203B41FA5}">
                      <a16:colId xmlns:a16="http://schemas.microsoft.com/office/drawing/2014/main" val="2832167223"/>
                    </a:ext>
                  </a:extLst>
                </a:gridCol>
                <a:gridCol w="1562100">
                  <a:extLst>
                    <a:ext uri="{9D8B030D-6E8A-4147-A177-3AD203B41FA5}">
                      <a16:colId xmlns:a16="http://schemas.microsoft.com/office/drawing/2014/main" val="1273959338"/>
                    </a:ext>
                  </a:extLst>
                </a:gridCol>
                <a:gridCol w="1003300">
                  <a:extLst>
                    <a:ext uri="{9D8B030D-6E8A-4147-A177-3AD203B41FA5}">
                      <a16:colId xmlns:a16="http://schemas.microsoft.com/office/drawing/2014/main" val="3109614952"/>
                    </a:ext>
                  </a:extLst>
                </a:gridCol>
                <a:gridCol w="904875">
                  <a:extLst>
                    <a:ext uri="{9D8B030D-6E8A-4147-A177-3AD203B41FA5}">
                      <a16:colId xmlns:a16="http://schemas.microsoft.com/office/drawing/2014/main" val="3738336700"/>
                    </a:ext>
                  </a:extLst>
                </a:gridCol>
              </a:tblGrid>
              <a:tr h="406400">
                <a:tc gridSpan="2">
                  <a:txBody>
                    <a:bodyPr/>
                    <a:lstStyle/>
                    <a:p>
                      <a:pPr algn="ctr" fontAlgn="ctr">
                        <a:buNone/>
                      </a:pPr>
                      <a:r>
                        <a:rPr lang="en-SG" sz="1200" b="0" u="none" strike="noStrike" dirty="0">
                          <a:solidFill>
                            <a:schemeClr val="tx1"/>
                          </a:solidFill>
                          <a:effectLst/>
                        </a:rPr>
                        <a:t>Relationship</a:t>
                      </a:r>
                      <a:endParaRPr lang="en-SG" sz="1200" b="0" i="0" u="none" strike="noStrike" dirty="0">
                        <a:solidFill>
                          <a:schemeClr val="tx1"/>
                        </a:solidFill>
                        <a:effectLst/>
                        <a:latin typeface="+mn-lt"/>
                      </a:endParaRPr>
                    </a:p>
                  </a:txBody>
                  <a:tcPr marL="9525" marR="9525" marT="9525" marB="0" anchor="ctr"/>
                </a:tc>
                <a:tc hMerge="1">
                  <a:txBody>
                    <a:bodyPr/>
                    <a:lstStyle/>
                    <a:p>
                      <a:endParaRPr lang="en-US"/>
                    </a:p>
                  </a:txBody>
                  <a:tcPr/>
                </a:tc>
                <a:tc>
                  <a:txBody>
                    <a:bodyPr/>
                    <a:lstStyle/>
                    <a:p>
                      <a:pPr algn="ctr" fontAlgn="ctr">
                        <a:buNone/>
                      </a:pPr>
                      <a:r>
                        <a:rPr lang="en-SG" sz="1200" b="0" u="none" strike="noStrike" dirty="0">
                          <a:solidFill>
                            <a:schemeClr val="tx1"/>
                          </a:solidFill>
                          <a:effectLst/>
                        </a:rPr>
                        <a:t>Covariance (COVARIANCE.S)</a:t>
                      </a:r>
                      <a:endParaRPr lang="en-SG" sz="1200" b="0" i="0" u="none" strike="noStrike" dirty="0">
                        <a:solidFill>
                          <a:schemeClr val="tx1"/>
                        </a:solidFill>
                        <a:effectLst/>
                        <a:latin typeface="+mn-lt"/>
                      </a:endParaRPr>
                    </a:p>
                  </a:txBody>
                  <a:tcPr marL="9525" marR="9525" marT="9525" marB="0" anchor="ctr"/>
                </a:tc>
                <a:tc>
                  <a:txBody>
                    <a:bodyPr/>
                    <a:lstStyle/>
                    <a:p>
                      <a:pPr algn="ctr" fontAlgn="ctr">
                        <a:buNone/>
                      </a:pPr>
                      <a:r>
                        <a:rPr lang="en-SG" sz="1200" b="0" u="none" strike="noStrike">
                          <a:solidFill>
                            <a:schemeClr val="tx1"/>
                          </a:solidFill>
                          <a:effectLst/>
                        </a:rPr>
                        <a:t>Correlation (CORREL)</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1947961878"/>
                  </a:ext>
                </a:extLst>
              </a:tr>
              <a:tr h="203200">
                <a:tc>
                  <a:txBody>
                    <a:bodyPr/>
                    <a:lstStyle/>
                    <a:p>
                      <a:pPr algn="l" fontAlgn="b">
                        <a:buNone/>
                      </a:pPr>
                      <a:r>
                        <a:rPr lang="en-SG" sz="1200" b="0" u="none" strike="noStrike">
                          <a:solidFill>
                            <a:schemeClr val="tx1"/>
                          </a:solidFill>
                          <a:effectLst/>
                        </a:rPr>
                        <a:t>Lead_Time</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is_Transient</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-9.93</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-0.23</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490205395"/>
                  </a:ext>
                </a:extLst>
              </a:tr>
              <a:tr h="203200">
                <a:tc>
                  <a:txBody>
                    <a:bodyPr/>
                    <a:lstStyle/>
                    <a:p>
                      <a:pPr algn="l" fontAlgn="b">
                        <a:buNone/>
                      </a:pPr>
                      <a:r>
                        <a:rPr lang="en-SG" sz="1200" b="0" u="none" strike="noStrike">
                          <a:solidFill>
                            <a:schemeClr val="tx1"/>
                          </a:solidFill>
                          <a:effectLst/>
                        </a:rPr>
                        <a:t>Lead_Time</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is_Transient</a:t>
                      </a:r>
                      <a:r>
                        <a:rPr lang="en-SG" sz="1200" b="0" u="none" strike="noStrike" dirty="0">
                          <a:solidFill>
                            <a:schemeClr val="tx1"/>
                          </a:solidFill>
                          <a:effectLst/>
                        </a:rPr>
                        <a:t>-Party</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6.86</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0.17</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085356370"/>
                  </a:ext>
                </a:extLst>
              </a:tr>
              <a:tr h="203200">
                <a:tc>
                  <a:txBody>
                    <a:bodyPr/>
                    <a:lstStyle/>
                    <a:p>
                      <a:pPr algn="l" fontAlgn="b">
                        <a:buNone/>
                      </a:pPr>
                      <a:r>
                        <a:rPr lang="en-SG" sz="1200" b="0" u="none" strike="noStrike">
                          <a:solidFill>
                            <a:schemeClr val="tx1"/>
                          </a:solidFill>
                          <a:effectLst/>
                        </a:rPr>
                        <a:t>Lead_Time</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is_Transient-Group</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-0.29</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-0.03</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101380222"/>
                  </a:ext>
                </a:extLst>
              </a:tr>
              <a:tr h="203200">
                <a:tc>
                  <a:txBody>
                    <a:bodyPr/>
                    <a:lstStyle/>
                    <a:p>
                      <a:pPr algn="l" fontAlgn="b">
                        <a:buNone/>
                      </a:pPr>
                      <a:r>
                        <a:rPr lang="en-SG" sz="1200" b="0" u="none" strike="noStrike">
                          <a:solidFill>
                            <a:schemeClr val="tx1"/>
                          </a:solidFill>
                          <a:effectLst/>
                        </a:rPr>
                        <a:t>Lead_Time</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is_Transient-Contract</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3.35</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0.16</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72086884"/>
                  </a:ext>
                </a:extLst>
              </a:tr>
            </a:tbl>
          </a:graphicData>
        </a:graphic>
      </p:graphicFrame>
      <p:sp>
        <p:nvSpPr>
          <p:cNvPr id="5" name="TextBox 4">
            <a:extLst>
              <a:ext uri="{FF2B5EF4-FFF2-40B4-BE49-F238E27FC236}">
                <a16:creationId xmlns:a16="http://schemas.microsoft.com/office/drawing/2014/main" id="{759D7536-BCE8-1C00-0E72-70408B73C5E3}"/>
              </a:ext>
            </a:extLst>
          </p:cNvPr>
          <p:cNvSpPr txBox="1"/>
          <p:nvPr/>
        </p:nvSpPr>
        <p:spPr>
          <a:xfrm>
            <a:off x="1816134" y="3719097"/>
            <a:ext cx="9372600" cy="2290692"/>
          </a:xfrm>
          <a:prstGeom prst="rect">
            <a:avLst/>
          </a:prstGeom>
          <a:noFill/>
        </p:spPr>
        <p:txBody>
          <a:bodyPr wrap="square">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Transient Customers' booking habits, actively reserving rooms at the last minute. This is driven by a negative correlation (-0.23), meaning that as the booking window shortens.</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Transient-Party Customers and Contract prefer booking far in advance to secure group blocks or event spaces. Their positive correlation (0.17 and 0.16) proves that longer planning cycles directly align with this segment's behaviour.</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Group Customers display highly unpredictable behaviour that cannot be anticipated using time metrics. Their correlation (-0.03) and low covariance (-0.24) reveal that lead time has zero statistical impact on when these groups decide to book.</a:t>
            </a:r>
          </a:p>
        </p:txBody>
      </p:sp>
    </p:spTree>
    <p:extLst>
      <p:ext uri="{BB962C8B-B14F-4D97-AF65-F5344CB8AC3E}">
        <p14:creationId xmlns:p14="http://schemas.microsoft.com/office/powerpoint/2010/main" val="3976074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79B887B9-F551-8F15-00F4-7E43570AE8E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40B465-EF34-3159-4B9C-71696D913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864148-F38C-35E2-DA49-F8BAC3F07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163FFDF-7764-02FB-1353-6A57BCF0EE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498ABD87-F45E-675A-0936-7B1395465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90923146-105B-CBAE-425A-47916DBF116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28ECB497-47EF-D69D-2CE0-FB6DE3C59E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0AA60F1C-A3A2-74CE-0A24-F991EAF864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0B241038-895A-2549-5528-56213C0E3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F01F7EBF-2BB0-5FAE-A5C8-BB2DECDA80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C47771-AD2B-6746-2BD4-895357B91831}"/>
              </a:ext>
            </a:extLst>
          </p:cNvPr>
          <p:cNvSpPr txBox="1">
            <a:spLocks/>
          </p:cNvSpPr>
          <p:nvPr/>
        </p:nvSpPr>
        <p:spPr>
          <a:xfrm>
            <a:off x="994279" y="223754"/>
            <a:ext cx="6130421" cy="589046"/>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Customer Preferences Analysis</a:t>
            </a:r>
          </a:p>
        </p:txBody>
      </p:sp>
      <p:sp>
        <p:nvSpPr>
          <p:cNvPr id="3" name="TextBox 2">
            <a:extLst>
              <a:ext uri="{FF2B5EF4-FFF2-40B4-BE49-F238E27FC236}">
                <a16:creationId xmlns:a16="http://schemas.microsoft.com/office/drawing/2014/main" id="{65AB7862-442B-440F-4D3E-6ED3573BA8A4}"/>
              </a:ext>
            </a:extLst>
          </p:cNvPr>
          <p:cNvSpPr txBox="1"/>
          <p:nvPr/>
        </p:nvSpPr>
        <p:spPr>
          <a:xfrm>
            <a:off x="1002200" y="5401794"/>
            <a:ext cx="10851203" cy="1256562"/>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Transient guests are the primary source of occupancy loss, accounting for 83% of all cancelled room nights.</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Although Full Board has the highest cancellation rate (57%), its volume is very small.</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The largest operational concern is Bed &amp; Breakfast bookings from Transient guests, which generate over 33,000 cancelled room nights and represent roughly 70% of all cancelled nights.</a:t>
            </a:r>
          </a:p>
        </p:txBody>
      </p:sp>
      <p:graphicFrame>
        <p:nvGraphicFramePr>
          <p:cNvPr id="4" name="Table 3">
            <a:extLst>
              <a:ext uri="{FF2B5EF4-FFF2-40B4-BE49-F238E27FC236}">
                <a16:creationId xmlns:a16="http://schemas.microsoft.com/office/drawing/2014/main" id="{CDD9C896-EF7D-80AE-B5A7-99DE11DF7F53}"/>
              </a:ext>
            </a:extLst>
          </p:cNvPr>
          <p:cNvGraphicFramePr>
            <a:graphicFrameLocks noGrp="1"/>
          </p:cNvGraphicFramePr>
          <p:nvPr>
            <p:extLst>
              <p:ext uri="{D42A27DB-BD31-4B8C-83A1-F6EECF244321}">
                <p14:modId xmlns:p14="http://schemas.microsoft.com/office/powerpoint/2010/main" val="602453117"/>
              </p:ext>
            </p:extLst>
          </p:nvPr>
        </p:nvGraphicFramePr>
        <p:xfrm>
          <a:off x="1007076" y="746662"/>
          <a:ext cx="10851203" cy="1350662"/>
        </p:xfrm>
        <a:graphic>
          <a:graphicData uri="http://schemas.openxmlformats.org/drawingml/2006/table">
            <a:tbl>
              <a:tblPr firstRow="1" bandRow="1">
                <a:tableStyleId>{9D7B26C5-4107-4FEC-AEDC-1716B250A1EF}</a:tableStyleId>
              </a:tblPr>
              <a:tblGrid>
                <a:gridCol w="1269071">
                  <a:extLst>
                    <a:ext uri="{9D8B030D-6E8A-4147-A177-3AD203B41FA5}">
                      <a16:colId xmlns:a16="http://schemas.microsoft.com/office/drawing/2014/main" val="3898489198"/>
                    </a:ext>
                  </a:extLst>
                </a:gridCol>
                <a:gridCol w="980158">
                  <a:extLst>
                    <a:ext uri="{9D8B030D-6E8A-4147-A177-3AD203B41FA5}">
                      <a16:colId xmlns:a16="http://schemas.microsoft.com/office/drawing/2014/main" val="2337964625"/>
                    </a:ext>
                  </a:extLst>
                </a:gridCol>
                <a:gridCol w="1623842">
                  <a:extLst>
                    <a:ext uri="{9D8B030D-6E8A-4147-A177-3AD203B41FA5}">
                      <a16:colId xmlns:a16="http://schemas.microsoft.com/office/drawing/2014/main" val="206274605"/>
                    </a:ext>
                  </a:extLst>
                </a:gridCol>
                <a:gridCol w="1506808">
                  <a:extLst>
                    <a:ext uri="{9D8B030D-6E8A-4147-A177-3AD203B41FA5}">
                      <a16:colId xmlns:a16="http://schemas.microsoft.com/office/drawing/2014/main" val="348541722"/>
                    </a:ext>
                  </a:extLst>
                </a:gridCol>
                <a:gridCol w="1784763">
                  <a:extLst>
                    <a:ext uri="{9D8B030D-6E8A-4147-A177-3AD203B41FA5}">
                      <a16:colId xmlns:a16="http://schemas.microsoft.com/office/drawing/2014/main" val="1636618361"/>
                    </a:ext>
                  </a:extLst>
                </a:gridCol>
                <a:gridCol w="2016738">
                  <a:extLst>
                    <a:ext uri="{9D8B030D-6E8A-4147-A177-3AD203B41FA5}">
                      <a16:colId xmlns:a16="http://schemas.microsoft.com/office/drawing/2014/main" val="235788663"/>
                    </a:ext>
                  </a:extLst>
                </a:gridCol>
                <a:gridCol w="1669823">
                  <a:extLst>
                    <a:ext uri="{9D8B030D-6E8A-4147-A177-3AD203B41FA5}">
                      <a16:colId xmlns:a16="http://schemas.microsoft.com/office/drawing/2014/main" val="3221339236"/>
                    </a:ext>
                  </a:extLst>
                </a:gridCol>
              </a:tblGrid>
              <a:tr h="584390">
                <a:tc>
                  <a:txBody>
                    <a:bodyPr/>
                    <a:lstStyle/>
                    <a:p>
                      <a:pPr algn="l" fontAlgn="b">
                        <a:buNone/>
                      </a:pPr>
                      <a:endParaRPr lang="en-SG" sz="1200" b="0" i="0" u="none" strike="noStrike" dirty="0">
                        <a:solidFill>
                          <a:schemeClr val="tx1"/>
                        </a:solidFill>
                        <a:effectLst/>
                        <a:latin typeface="+mn-lt"/>
                      </a:endParaRPr>
                    </a:p>
                  </a:txBody>
                  <a:tcPr marL="8688" marR="8688" marT="8688" marB="0" anchor="ctr"/>
                </a:tc>
                <a:tc>
                  <a:txBody>
                    <a:bodyPr/>
                    <a:lstStyle/>
                    <a:p>
                      <a:pPr algn="l" fontAlgn="b">
                        <a:buNone/>
                      </a:pPr>
                      <a:r>
                        <a:rPr lang="en-SG" sz="1200" b="0" u="none" strike="noStrike" dirty="0">
                          <a:solidFill>
                            <a:schemeClr val="tx1"/>
                          </a:solidFill>
                          <a:effectLst/>
                        </a:rPr>
                        <a:t> </a:t>
                      </a:r>
                      <a:r>
                        <a:rPr lang="en-SG" sz="1200" b="0" u="none" strike="noStrike" dirty="0" err="1">
                          <a:solidFill>
                            <a:schemeClr val="tx1"/>
                          </a:solidFill>
                          <a:effectLst/>
                        </a:rPr>
                        <a:t>is_family</a:t>
                      </a:r>
                      <a:endParaRPr lang="en-SG" sz="1200" b="0" i="0" u="none" strike="noStrike" dirty="0">
                        <a:solidFill>
                          <a:schemeClr val="tx1"/>
                        </a:solidFill>
                        <a:effectLst/>
                        <a:latin typeface="+mn-lt"/>
                      </a:endParaRPr>
                    </a:p>
                  </a:txBody>
                  <a:tcPr marL="8688" marR="8688" marT="8688" marB="0" anchor="ctr"/>
                </a:tc>
                <a:tc>
                  <a:txBody>
                    <a:bodyPr/>
                    <a:lstStyle/>
                    <a:p>
                      <a:pPr algn="l" fontAlgn="b">
                        <a:buNone/>
                      </a:pPr>
                      <a:r>
                        <a:rPr lang="en-SG" sz="1200" b="0" u="none" strike="noStrike" dirty="0">
                          <a:solidFill>
                            <a:schemeClr val="tx1"/>
                          </a:solidFill>
                          <a:effectLst/>
                        </a:rPr>
                        <a:t> </a:t>
                      </a:r>
                      <a:r>
                        <a:rPr lang="en-SG" sz="1200" b="0" u="none" strike="noStrike" dirty="0" err="1">
                          <a:solidFill>
                            <a:schemeClr val="tx1"/>
                          </a:solidFill>
                          <a:effectLst/>
                        </a:rPr>
                        <a:t>required_car_parking_spaces</a:t>
                      </a:r>
                      <a:endParaRPr lang="en-SG" sz="1200" b="0" i="0" u="none" strike="noStrike" dirty="0">
                        <a:solidFill>
                          <a:schemeClr val="tx1"/>
                        </a:solidFill>
                        <a:effectLst/>
                        <a:latin typeface="+mn-lt"/>
                      </a:endParaRPr>
                    </a:p>
                  </a:txBody>
                  <a:tcPr marL="8688" marR="8688" marT="8688" marB="0" anchor="ctr"/>
                </a:tc>
                <a:tc>
                  <a:txBody>
                    <a:bodyPr/>
                    <a:lstStyle/>
                    <a:p>
                      <a:pPr algn="l" fontAlgn="b">
                        <a:buNone/>
                      </a:pPr>
                      <a:r>
                        <a:rPr lang="en-SG" sz="1200" b="0" u="none" strike="noStrike" dirty="0">
                          <a:solidFill>
                            <a:schemeClr val="tx1"/>
                          </a:solidFill>
                          <a:effectLst/>
                        </a:rPr>
                        <a:t> </a:t>
                      </a:r>
                      <a:r>
                        <a:rPr lang="en-SG" sz="1200" b="0" u="none" strike="noStrike" dirty="0" err="1">
                          <a:solidFill>
                            <a:schemeClr val="tx1"/>
                          </a:solidFill>
                          <a:effectLst/>
                        </a:rPr>
                        <a:t>same_room_type</a:t>
                      </a:r>
                      <a:endParaRPr lang="en-SG" sz="1200" b="0" i="0" u="none" strike="noStrike" dirty="0">
                        <a:solidFill>
                          <a:schemeClr val="tx1"/>
                        </a:solidFill>
                        <a:effectLst/>
                        <a:latin typeface="+mn-lt"/>
                      </a:endParaRPr>
                    </a:p>
                  </a:txBody>
                  <a:tcPr marL="8688" marR="8688" marT="8688" marB="0" anchor="ctr"/>
                </a:tc>
                <a:tc>
                  <a:txBody>
                    <a:bodyPr/>
                    <a:lstStyle/>
                    <a:p>
                      <a:pPr algn="l" fontAlgn="b">
                        <a:buNone/>
                      </a:pPr>
                      <a:r>
                        <a:rPr lang="en-SG" sz="1200" b="0" u="none" strike="noStrike" dirty="0">
                          <a:solidFill>
                            <a:schemeClr val="tx1"/>
                          </a:solidFill>
                          <a:effectLst/>
                        </a:rPr>
                        <a:t> </a:t>
                      </a:r>
                      <a:r>
                        <a:rPr lang="en-SG" sz="1200" b="0" u="none" strike="noStrike" dirty="0" err="1">
                          <a:solidFill>
                            <a:schemeClr val="tx1"/>
                          </a:solidFill>
                          <a:effectLst/>
                        </a:rPr>
                        <a:t>previous_cancellations</a:t>
                      </a:r>
                      <a:endParaRPr lang="en-SG" sz="1200" b="0" i="0" u="none" strike="noStrike" dirty="0">
                        <a:solidFill>
                          <a:schemeClr val="tx1"/>
                        </a:solidFill>
                        <a:effectLst/>
                        <a:latin typeface="+mn-lt"/>
                      </a:endParaRPr>
                    </a:p>
                  </a:txBody>
                  <a:tcPr marL="8688" marR="8688" marT="8688" marB="0" anchor="ctr"/>
                </a:tc>
                <a:tc>
                  <a:txBody>
                    <a:bodyPr/>
                    <a:lstStyle/>
                    <a:p>
                      <a:pPr algn="l" fontAlgn="b">
                        <a:buNone/>
                      </a:pPr>
                      <a:r>
                        <a:rPr lang="en-SG" sz="1200" b="0" u="none" strike="noStrike">
                          <a:solidFill>
                            <a:schemeClr val="tx1"/>
                          </a:solidFill>
                          <a:effectLst/>
                        </a:rPr>
                        <a:t> previous_bookings_not_canceled</a:t>
                      </a:r>
                      <a:endParaRPr lang="en-SG" sz="1200" b="0" i="0" u="none" strike="noStrike">
                        <a:solidFill>
                          <a:schemeClr val="tx1"/>
                        </a:solidFill>
                        <a:effectLst/>
                        <a:latin typeface="+mn-lt"/>
                      </a:endParaRPr>
                    </a:p>
                  </a:txBody>
                  <a:tcPr marL="8688" marR="8688" marT="8688" marB="0" anchor="ctr"/>
                </a:tc>
                <a:tc>
                  <a:txBody>
                    <a:bodyPr/>
                    <a:lstStyle/>
                    <a:p>
                      <a:pPr algn="l" fontAlgn="b">
                        <a:buNone/>
                      </a:pPr>
                      <a:r>
                        <a:rPr lang="en-SG" sz="1200" b="0" u="none" strike="noStrike" dirty="0">
                          <a:solidFill>
                            <a:schemeClr val="tx1"/>
                          </a:solidFill>
                          <a:effectLst/>
                        </a:rPr>
                        <a:t> </a:t>
                      </a:r>
                      <a:r>
                        <a:rPr lang="en-SG" sz="1200" b="0" u="none" strike="noStrike" dirty="0" err="1">
                          <a:solidFill>
                            <a:schemeClr val="tx1"/>
                          </a:solidFill>
                          <a:effectLst/>
                        </a:rPr>
                        <a:t>is_repeated_guest</a:t>
                      </a:r>
                      <a:endParaRPr lang="en-SG" sz="1200" b="0" i="0" u="none" strike="noStrike" dirty="0">
                        <a:solidFill>
                          <a:schemeClr val="tx1"/>
                        </a:solidFill>
                        <a:effectLst/>
                        <a:latin typeface="+mn-lt"/>
                      </a:endParaRPr>
                    </a:p>
                  </a:txBody>
                  <a:tcPr marL="8688" marR="8688" marT="8688" marB="0" anchor="ctr"/>
                </a:tc>
                <a:extLst>
                  <a:ext uri="{0D108BD9-81ED-4DB2-BD59-A6C34878D82A}">
                    <a16:rowId xmlns:a16="http://schemas.microsoft.com/office/drawing/2014/main" val="110996724"/>
                  </a:ext>
                </a:extLst>
              </a:tr>
              <a:tr h="174170">
                <a:tc>
                  <a:txBody>
                    <a:bodyPr/>
                    <a:lstStyle/>
                    <a:p>
                      <a:pPr algn="l" fontAlgn="b">
                        <a:buNone/>
                      </a:pPr>
                      <a:r>
                        <a:rPr lang="en-SG" sz="1200" b="0" u="none" strike="noStrike">
                          <a:solidFill>
                            <a:schemeClr val="tx1"/>
                          </a:solidFill>
                          <a:effectLst/>
                        </a:rPr>
                        <a:t>Contract</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4%</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2%</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dirty="0">
                          <a:solidFill>
                            <a:schemeClr val="tx1"/>
                          </a:solidFill>
                          <a:effectLst/>
                        </a:rPr>
                        <a:t>89%</a:t>
                      </a:r>
                      <a:endParaRPr lang="en-SG" sz="1200" b="0" i="0" u="none" strike="noStrike" dirty="0">
                        <a:solidFill>
                          <a:schemeClr val="tx1"/>
                        </a:solidFill>
                        <a:effectLst/>
                        <a:latin typeface="+mn-lt"/>
                      </a:endParaRPr>
                    </a:p>
                  </a:txBody>
                  <a:tcPr marL="8688" marR="8688" marT="8688" marB="0" anchor="ctr"/>
                </a:tc>
                <a:tc>
                  <a:txBody>
                    <a:bodyPr/>
                    <a:lstStyle/>
                    <a:p>
                      <a:pPr algn="r" fontAlgn="b">
                        <a:buNone/>
                      </a:pPr>
                      <a:r>
                        <a:rPr lang="en-SG" sz="1200" b="0" u="none" strike="noStrike" dirty="0">
                          <a:solidFill>
                            <a:schemeClr val="tx1"/>
                          </a:solidFill>
                          <a:effectLst/>
                        </a:rPr>
                        <a:t>1%</a:t>
                      </a:r>
                      <a:endParaRPr lang="en-SG" sz="1200" b="0" i="0" u="none" strike="noStrike" dirty="0">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1%</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dirty="0">
                          <a:solidFill>
                            <a:schemeClr val="tx1"/>
                          </a:solidFill>
                          <a:effectLst/>
                        </a:rPr>
                        <a:t>1%</a:t>
                      </a:r>
                      <a:endParaRPr lang="en-SG" sz="1200" b="0" i="0" u="none" strike="noStrike" dirty="0">
                        <a:solidFill>
                          <a:schemeClr val="tx1"/>
                        </a:solidFill>
                        <a:effectLst/>
                        <a:latin typeface="+mn-lt"/>
                      </a:endParaRPr>
                    </a:p>
                  </a:txBody>
                  <a:tcPr marL="8688" marR="8688" marT="8688" marB="0" anchor="ctr"/>
                </a:tc>
                <a:extLst>
                  <a:ext uri="{0D108BD9-81ED-4DB2-BD59-A6C34878D82A}">
                    <a16:rowId xmlns:a16="http://schemas.microsoft.com/office/drawing/2014/main" val="3301181001"/>
                  </a:ext>
                </a:extLst>
              </a:tr>
              <a:tr h="174170">
                <a:tc>
                  <a:txBody>
                    <a:bodyPr/>
                    <a:lstStyle/>
                    <a:p>
                      <a:pPr algn="l" fontAlgn="b">
                        <a:buNone/>
                      </a:pPr>
                      <a:r>
                        <a:rPr lang="en-SG" sz="1200" b="0" u="none" strike="noStrike">
                          <a:solidFill>
                            <a:schemeClr val="tx1"/>
                          </a:solidFill>
                          <a:effectLst/>
                        </a:rPr>
                        <a:t>Group</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16%</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75%</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1%</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dirty="0">
                          <a:solidFill>
                            <a:schemeClr val="tx1"/>
                          </a:solidFill>
                          <a:effectLst/>
                        </a:rPr>
                        <a:t>80%</a:t>
                      </a:r>
                      <a:endParaRPr lang="en-SG" sz="1200" b="0" i="0" u="none" strike="noStrike" dirty="0">
                        <a:solidFill>
                          <a:schemeClr val="tx1"/>
                        </a:solidFill>
                        <a:effectLst/>
                        <a:latin typeface="+mn-lt"/>
                      </a:endParaRPr>
                    </a:p>
                  </a:txBody>
                  <a:tcPr marL="8688" marR="8688" marT="8688" marB="0" anchor="ctr"/>
                </a:tc>
                <a:tc>
                  <a:txBody>
                    <a:bodyPr/>
                    <a:lstStyle/>
                    <a:p>
                      <a:pPr algn="r" fontAlgn="b">
                        <a:buNone/>
                      </a:pPr>
                      <a:r>
                        <a:rPr lang="en-SG" sz="1200" b="0" u="none" strike="noStrike" dirty="0">
                          <a:solidFill>
                            <a:schemeClr val="tx1"/>
                          </a:solidFill>
                          <a:effectLst/>
                        </a:rPr>
                        <a:t>41%</a:t>
                      </a:r>
                      <a:endParaRPr lang="en-SG" sz="1200" b="0" i="0" u="none" strike="noStrike" dirty="0">
                        <a:solidFill>
                          <a:schemeClr val="tx1"/>
                        </a:solidFill>
                        <a:effectLst/>
                        <a:latin typeface="+mn-lt"/>
                      </a:endParaRPr>
                    </a:p>
                  </a:txBody>
                  <a:tcPr marL="8688" marR="8688" marT="8688" marB="0" anchor="ctr"/>
                </a:tc>
                <a:extLst>
                  <a:ext uri="{0D108BD9-81ED-4DB2-BD59-A6C34878D82A}">
                    <a16:rowId xmlns:a16="http://schemas.microsoft.com/office/drawing/2014/main" val="211900229"/>
                  </a:ext>
                </a:extLst>
              </a:tr>
              <a:tr h="174170">
                <a:tc>
                  <a:txBody>
                    <a:bodyPr/>
                    <a:lstStyle/>
                    <a:p>
                      <a:pPr algn="l" fontAlgn="b">
                        <a:buNone/>
                      </a:pPr>
                      <a:r>
                        <a:rPr lang="en-SG" sz="1200" b="0" u="none" strike="noStrike">
                          <a:solidFill>
                            <a:schemeClr val="tx1"/>
                          </a:solidFill>
                          <a:effectLst/>
                        </a:rPr>
                        <a:t>Transient</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9%</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15%</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80%</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12%</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dirty="0">
                          <a:solidFill>
                            <a:schemeClr val="tx1"/>
                          </a:solidFill>
                          <a:effectLst/>
                        </a:rPr>
                        <a:t>19%</a:t>
                      </a:r>
                      <a:endParaRPr lang="en-SG" sz="1200" b="0" i="0" u="none" strike="noStrike" dirty="0">
                        <a:solidFill>
                          <a:schemeClr val="tx1"/>
                        </a:solidFill>
                        <a:effectLst/>
                        <a:latin typeface="+mn-lt"/>
                      </a:endParaRPr>
                    </a:p>
                  </a:txBody>
                  <a:tcPr marL="8688" marR="8688" marT="8688" marB="0" anchor="ctr"/>
                </a:tc>
                <a:tc>
                  <a:txBody>
                    <a:bodyPr/>
                    <a:lstStyle/>
                    <a:p>
                      <a:pPr algn="r" fontAlgn="b">
                        <a:buNone/>
                      </a:pPr>
                      <a:r>
                        <a:rPr lang="en-SG" sz="1200" b="0" u="none" strike="noStrike" dirty="0">
                          <a:solidFill>
                            <a:schemeClr val="tx1"/>
                          </a:solidFill>
                          <a:effectLst/>
                        </a:rPr>
                        <a:t>5%</a:t>
                      </a:r>
                      <a:endParaRPr lang="en-SG" sz="1200" b="0" i="0" u="none" strike="noStrike" dirty="0">
                        <a:solidFill>
                          <a:schemeClr val="tx1"/>
                        </a:solidFill>
                        <a:effectLst/>
                        <a:latin typeface="+mn-lt"/>
                      </a:endParaRPr>
                    </a:p>
                  </a:txBody>
                  <a:tcPr marL="8688" marR="8688" marT="8688" marB="0" anchor="ctr"/>
                </a:tc>
                <a:extLst>
                  <a:ext uri="{0D108BD9-81ED-4DB2-BD59-A6C34878D82A}">
                    <a16:rowId xmlns:a16="http://schemas.microsoft.com/office/drawing/2014/main" val="3572840427"/>
                  </a:ext>
                </a:extLst>
              </a:tr>
              <a:tr h="174170">
                <a:tc>
                  <a:txBody>
                    <a:bodyPr/>
                    <a:lstStyle/>
                    <a:p>
                      <a:pPr algn="l" fontAlgn="b">
                        <a:buNone/>
                      </a:pPr>
                      <a:r>
                        <a:rPr lang="en-SG" sz="1200" b="0" u="none" strike="noStrike">
                          <a:solidFill>
                            <a:schemeClr val="tx1"/>
                          </a:solidFill>
                          <a:effectLst/>
                        </a:rPr>
                        <a:t>Transient-Party</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3%</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9%</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77%</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dirty="0">
                          <a:solidFill>
                            <a:schemeClr val="tx1"/>
                          </a:solidFill>
                          <a:effectLst/>
                        </a:rPr>
                        <a:t>11%</a:t>
                      </a:r>
                      <a:endParaRPr lang="en-SG" sz="1200" b="0" i="0" u="none" strike="noStrike" dirty="0">
                        <a:solidFill>
                          <a:schemeClr val="tx1"/>
                        </a:solidFill>
                        <a:effectLst/>
                        <a:latin typeface="+mn-lt"/>
                      </a:endParaRPr>
                    </a:p>
                  </a:txBody>
                  <a:tcPr marL="8688" marR="8688" marT="8688" marB="0" anchor="ctr"/>
                </a:tc>
                <a:tc>
                  <a:txBody>
                    <a:bodyPr/>
                    <a:lstStyle/>
                    <a:p>
                      <a:pPr algn="r" fontAlgn="b">
                        <a:buNone/>
                      </a:pPr>
                      <a:r>
                        <a:rPr lang="en-SG" sz="1200" b="0" u="none" strike="noStrike">
                          <a:solidFill>
                            <a:schemeClr val="tx1"/>
                          </a:solidFill>
                          <a:effectLst/>
                        </a:rPr>
                        <a:t>4%</a:t>
                      </a:r>
                      <a:endParaRPr lang="en-SG" sz="1200" b="0" i="0" u="none" strike="noStrike">
                        <a:solidFill>
                          <a:schemeClr val="tx1"/>
                        </a:solidFill>
                        <a:effectLst/>
                        <a:latin typeface="+mn-lt"/>
                      </a:endParaRPr>
                    </a:p>
                  </a:txBody>
                  <a:tcPr marL="8688" marR="8688" marT="8688" marB="0" anchor="ctr"/>
                </a:tc>
                <a:tc>
                  <a:txBody>
                    <a:bodyPr/>
                    <a:lstStyle/>
                    <a:p>
                      <a:pPr algn="r" fontAlgn="b">
                        <a:buNone/>
                      </a:pPr>
                      <a:r>
                        <a:rPr lang="en-SG" sz="1200" b="0" u="none" strike="noStrike" dirty="0">
                          <a:solidFill>
                            <a:schemeClr val="tx1"/>
                          </a:solidFill>
                          <a:effectLst/>
                        </a:rPr>
                        <a:t>2%</a:t>
                      </a:r>
                      <a:endParaRPr lang="en-SG" sz="1200" b="0" i="0" u="none" strike="noStrike" dirty="0">
                        <a:solidFill>
                          <a:schemeClr val="tx1"/>
                        </a:solidFill>
                        <a:effectLst/>
                        <a:latin typeface="+mn-lt"/>
                      </a:endParaRPr>
                    </a:p>
                  </a:txBody>
                  <a:tcPr marL="8688" marR="8688" marT="8688" marB="0" anchor="ctr"/>
                </a:tc>
                <a:extLst>
                  <a:ext uri="{0D108BD9-81ED-4DB2-BD59-A6C34878D82A}">
                    <a16:rowId xmlns:a16="http://schemas.microsoft.com/office/drawing/2014/main" val="3013190236"/>
                  </a:ext>
                </a:extLst>
              </a:tr>
            </a:tbl>
          </a:graphicData>
        </a:graphic>
      </p:graphicFrame>
      <p:graphicFrame>
        <p:nvGraphicFramePr>
          <p:cNvPr id="7" name="Table 6">
            <a:extLst>
              <a:ext uri="{FF2B5EF4-FFF2-40B4-BE49-F238E27FC236}">
                <a16:creationId xmlns:a16="http://schemas.microsoft.com/office/drawing/2014/main" id="{8679A1A8-8D52-D1BF-A973-59E7463F1EB2}"/>
              </a:ext>
            </a:extLst>
          </p:cNvPr>
          <p:cNvGraphicFramePr>
            <a:graphicFrameLocks noGrp="1"/>
          </p:cNvGraphicFramePr>
          <p:nvPr>
            <p:extLst>
              <p:ext uri="{D42A27DB-BD31-4B8C-83A1-F6EECF244321}">
                <p14:modId xmlns:p14="http://schemas.microsoft.com/office/powerpoint/2010/main" val="3636772570"/>
              </p:ext>
            </p:extLst>
          </p:nvPr>
        </p:nvGraphicFramePr>
        <p:xfrm>
          <a:off x="1003267" y="2300291"/>
          <a:ext cx="4725999" cy="1371600"/>
        </p:xfrm>
        <a:graphic>
          <a:graphicData uri="http://schemas.openxmlformats.org/drawingml/2006/table">
            <a:tbl>
              <a:tblPr firstRow="1" bandRow="1">
                <a:tableStyleId>{9D7B26C5-4107-4FEC-AEDC-1716B250A1EF}</a:tableStyleId>
              </a:tblPr>
              <a:tblGrid>
                <a:gridCol w="1575333">
                  <a:extLst>
                    <a:ext uri="{9D8B030D-6E8A-4147-A177-3AD203B41FA5}">
                      <a16:colId xmlns:a16="http://schemas.microsoft.com/office/drawing/2014/main" val="2232575511"/>
                    </a:ext>
                  </a:extLst>
                </a:gridCol>
                <a:gridCol w="1575333">
                  <a:extLst>
                    <a:ext uri="{9D8B030D-6E8A-4147-A177-3AD203B41FA5}">
                      <a16:colId xmlns:a16="http://schemas.microsoft.com/office/drawing/2014/main" val="43698269"/>
                    </a:ext>
                  </a:extLst>
                </a:gridCol>
                <a:gridCol w="1575333">
                  <a:extLst>
                    <a:ext uri="{9D8B030D-6E8A-4147-A177-3AD203B41FA5}">
                      <a16:colId xmlns:a16="http://schemas.microsoft.com/office/drawing/2014/main" val="517096381"/>
                    </a:ext>
                  </a:extLst>
                </a:gridCol>
              </a:tblGrid>
              <a:tr h="218934">
                <a:tc>
                  <a:txBody>
                    <a:bodyPr/>
                    <a:lstStyle/>
                    <a:p>
                      <a:pPr>
                        <a:buNone/>
                      </a:pPr>
                      <a:r>
                        <a:rPr lang="en-SG" sz="1200"/>
                        <a:t>Meal Plan</a:t>
                      </a:r>
                    </a:p>
                  </a:txBody>
                  <a:tcPr anchor="ctr"/>
                </a:tc>
                <a:tc>
                  <a:txBody>
                    <a:bodyPr/>
                    <a:lstStyle/>
                    <a:p>
                      <a:pPr algn="r">
                        <a:buNone/>
                      </a:pPr>
                      <a:r>
                        <a:rPr lang="en-SG" sz="1200" dirty="0"/>
                        <a:t>Cancelled Nights</a:t>
                      </a:r>
                    </a:p>
                  </a:txBody>
                  <a:tcPr anchor="ctr"/>
                </a:tc>
                <a:tc>
                  <a:txBody>
                    <a:bodyPr/>
                    <a:lstStyle/>
                    <a:p>
                      <a:pPr algn="r">
                        <a:buNone/>
                      </a:pPr>
                      <a:r>
                        <a:rPr lang="en-SG" sz="1200" dirty="0"/>
                        <a:t>Cancelled %</a:t>
                      </a:r>
                    </a:p>
                  </a:txBody>
                  <a:tcPr anchor="ctr"/>
                </a:tc>
                <a:extLst>
                  <a:ext uri="{0D108BD9-81ED-4DB2-BD59-A6C34878D82A}">
                    <a16:rowId xmlns:a16="http://schemas.microsoft.com/office/drawing/2014/main" val="490999556"/>
                  </a:ext>
                </a:extLst>
              </a:tr>
              <a:tr h="218934">
                <a:tc>
                  <a:txBody>
                    <a:bodyPr/>
                    <a:lstStyle/>
                    <a:p>
                      <a:pPr>
                        <a:buNone/>
                      </a:pPr>
                      <a:r>
                        <a:rPr lang="en-SG" sz="1200"/>
                        <a:t>Bed &amp; Breakfast</a:t>
                      </a:r>
                    </a:p>
                  </a:txBody>
                  <a:tcPr anchor="ctr"/>
                </a:tc>
                <a:tc>
                  <a:txBody>
                    <a:bodyPr/>
                    <a:lstStyle/>
                    <a:p>
                      <a:pPr algn="r">
                        <a:buNone/>
                      </a:pPr>
                      <a:r>
                        <a:rPr lang="en-SG" sz="1200"/>
                        <a:t>33,806</a:t>
                      </a:r>
                    </a:p>
                  </a:txBody>
                  <a:tcPr anchor="ctr"/>
                </a:tc>
                <a:tc>
                  <a:txBody>
                    <a:bodyPr/>
                    <a:lstStyle/>
                    <a:p>
                      <a:pPr algn="r">
                        <a:buNone/>
                      </a:pPr>
                      <a:r>
                        <a:rPr lang="en-SG" sz="1200"/>
                        <a:t>70%</a:t>
                      </a:r>
                    </a:p>
                  </a:txBody>
                  <a:tcPr anchor="ctr"/>
                </a:tc>
                <a:extLst>
                  <a:ext uri="{0D108BD9-81ED-4DB2-BD59-A6C34878D82A}">
                    <a16:rowId xmlns:a16="http://schemas.microsoft.com/office/drawing/2014/main" val="2509156039"/>
                  </a:ext>
                </a:extLst>
              </a:tr>
              <a:tr h="218934">
                <a:tc>
                  <a:txBody>
                    <a:bodyPr/>
                    <a:lstStyle/>
                    <a:p>
                      <a:pPr>
                        <a:buNone/>
                      </a:pPr>
                      <a:r>
                        <a:rPr lang="en-SG" sz="1200"/>
                        <a:t>Half Board</a:t>
                      </a:r>
                    </a:p>
                  </a:txBody>
                  <a:tcPr anchor="ctr"/>
                </a:tc>
                <a:tc>
                  <a:txBody>
                    <a:bodyPr/>
                    <a:lstStyle/>
                    <a:p>
                      <a:pPr algn="r">
                        <a:buNone/>
                      </a:pPr>
                      <a:r>
                        <a:rPr lang="en-SG" sz="1200"/>
                        <a:t>11,783</a:t>
                      </a:r>
                    </a:p>
                  </a:txBody>
                  <a:tcPr anchor="ctr"/>
                </a:tc>
                <a:tc>
                  <a:txBody>
                    <a:bodyPr/>
                    <a:lstStyle/>
                    <a:p>
                      <a:pPr algn="r">
                        <a:buNone/>
                      </a:pPr>
                      <a:r>
                        <a:rPr lang="en-SG" sz="1200" dirty="0"/>
                        <a:t>25%</a:t>
                      </a:r>
                    </a:p>
                  </a:txBody>
                  <a:tcPr anchor="ctr"/>
                </a:tc>
                <a:extLst>
                  <a:ext uri="{0D108BD9-81ED-4DB2-BD59-A6C34878D82A}">
                    <a16:rowId xmlns:a16="http://schemas.microsoft.com/office/drawing/2014/main" val="3515273662"/>
                  </a:ext>
                </a:extLst>
              </a:tr>
              <a:tr h="218934">
                <a:tc>
                  <a:txBody>
                    <a:bodyPr/>
                    <a:lstStyle/>
                    <a:p>
                      <a:pPr>
                        <a:buNone/>
                      </a:pPr>
                      <a:r>
                        <a:rPr lang="en-SG" sz="1200"/>
                        <a:t>Full Board</a:t>
                      </a:r>
                    </a:p>
                  </a:txBody>
                  <a:tcPr anchor="ctr"/>
                </a:tc>
                <a:tc>
                  <a:txBody>
                    <a:bodyPr/>
                    <a:lstStyle/>
                    <a:p>
                      <a:pPr algn="r">
                        <a:buNone/>
                      </a:pPr>
                      <a:r>
                        <a:rPr lang="en-SG" sz="1200"/>
                        <a:t>1,462</a:t>
                      </a:r>
                    </a:p>
                  </a:txBody>
                  <a:tcPr anchor="ctr"/>
                </a:tc>
                <a:tc>
                  <a:txBody>
                    <a:bodyPr/>
                    <a:lstStyle/>
                    <a:p>
                      <a:pPr algn="r">
                        <a:buNone/>
                      </a:pPr>
                      <a:r>
                        <a:rPr lang="en-SG" sz="1200"/>
                        <a:t>3%</a:t>
                      </a:r>
                    </a:p>
                  </a:txBody>
                  <a:tcPr anchor="ctr"/>
                </a:tc>
                <a:extLst>
                  <a:ext uri="{0D108BD9-81ED-4DB2-BD59-A6C34878D82A}">
                    <a16:rowId xmlns:a16="http://schemas.microsoft.com/office/drawing/2014/main" val="3404352164"/>
                  </a:ext>
                </a:extLst>
              </a:tr>
              <a:tr h="218934">
                <a:tc>
                  <a:txBody>
                    <a:bodyPr/>
                    <a:lstStyle/>
                    <a:p>
                      <a:pPr>
                        <a:buNone/>
                      </a:pPr>
                      <a:r>
                        <a:rPr lang="en-SG" sz="1200"/>
                        <a:t>Undefined</a:t>
                      </a:r>
                    </a:p>
                  </a:txBody>
                  <a:tcPr anchor="ctr"/>
                </a:tc>
                <a:tc>
                  <a:txBody>
                    <a:bodyPr/>
                    <a:lstStyle/>
                    <a:p>
                      <a:pPr algn="r">
                        <a:buNone/>
                      </a:pPr>
                      <a:r>
                        <a:rPr lang="en-SG" sz="1200"/>
                        <a:t>1,031</a:t>
                      </a:r>
                    </a:p>
                  </a:txBody>
                  <a:tcPr anchor="ctr"/>
                </a:tc>
                <a:tc>
                  <a:txBody>
                    <a:bodyPr/>
                    <a:lstStyle/>
                    <a:p>
                      <a:pPr algn="r">
                        <a:buNone/>
                      </a:pPr>
                      <a:r>
                        <a:rPr lang="en-SG" sz="1200" dirty="0"/>
                        <a:t>2%</a:t>
                      </a:r>
                    </a:p>
                  </a:txBody>
                  <a:tcPr anchor="ctr"/>
                </a:tc>
                <a:extLst>
                  <a:ext uri="{0D108BD9-81ED-4DB2-BD59-A6C34878D82A}">
                    <a16:rowId xmlns:a16="http://schemas.microsoft.com/office/drawing/2014/main" val="2325764252"/>
                  </a:ext>
                </a:extLst>
              </a:tr>
            </a:tbl>
          </a:graphicData>
        </a:graphic>
      </p:graphicFrame>
      <p:graphicFrame>
        <p:nvGraphicFramePr>
          <p:cNvPr id="9" name="Table 8">
            <a:extLst>
              <a:ext uri="{FF2B5EF4-FFF2-40B4-BE49-F238E27FC236}">
                <a16:creationId xmlns:a16="http://schemas.microsoft.com/office/drawing/2014/main" id="{1A955599-8B9C-6787-A968-A24DA66FDC1B}"/>
              </a:ext>
            </a:extLst>
          </p:cNvPr>
          <p:cNvGraphicFramePr>
            <a:graphicFrameLocks noGrp="1"/>
          </p:cNvGraphicFramePr>
          <p:nvPr>
            <p:extLst>
              <p:ext uri="{D42A27DB-BD31-4B8C-83A1-F6EECF244321}">
                <p14:modId xmlns:p14="http://schemas.microsoft.com/office/powerpoint/2010/main" val="1998627073"/>
              </p:ext>
            </p:extLst>
          </p:nvPr>
        </p:nvGraphicFramePr>
        <p:xfrm>
          <a:off x="1003266" y="3836038"/>
          <a:ext cx="4782333" cy="1371600"/>
        </p:xfrm>
        <a:graphic>
          <a:graphicData uri="http://schemas.openxmlformats.org/drawingml/2006/table">
            <a:tbl>
              <a:tblPr firstRow="1" bandRow="1">
                <a:tableStyleId>{9D7B26C5-4107-4FEC-AEDC-1716B250A1EF}</a:tableStyleId>
              </a:tblPr>
              <a:tblGrid>
                <a:gridCol w="1594111">
                  <a:extLst>
                    <a:ext uri="{9D8B030D-6E8A-4147-A177-3AD203B41FA5}">
                      <a16:colId xmlns:a16="http://schemas.microsoft.com/office/drawing/2014/main" val="616882676"/>
                    </a:ext>
                  </a:extLst>
                </a:gridCol>
                <a:gridCol w="1594111">
                  <a:extLst>
                    <a:ext uri="{9D8B030D-6E8A-4147-A177-3AD203B41FA5}">
                      <a16:colId xmlns:a16="http://schemas.microsoft.com/office/drawing/2014/main" val="1625809458"/>
                    </a:ext>
                  </a:extLst>
                </a:gridCol>
                <a:gridCol w="1594111">
                  <a:extLst>
                    <a:ext uri="{9D8B030D-6E8A-4147-A177-3AD203B41FA5}">
                      <a16:colId xmlns:a16="http://schemas.microsoft.com/office/drawing/2014/main" val="1284585013"/>
                    </a:ext>
                  </a:extLst>
                </a:gridCol>
              </a:tblGrid>
              <a:tr h="235924">
                <a:tc>
                  <a:txBody>
                    <a:bodyPr/>
                    <a:lstStyle/>
                    <a:p>
                      <a:pPr>
                        <a:buNone/>
                      </a:pPr>
                      <a:r>
                        <a:rPr lang="en-SG" sz="1200"/>
                        <a:t>Customer Type</a:t>
                      </a:r>
                    </a:p>
                  </a:txBody>
                  <a:tcPr anchor="ctr"/>
                </a:tc>
                <a:tc>
                  <a:txBody>
                    <a:bodyPr/>
                    <a:lstStyle/>
                    <a:p>
                      <a:pPr algn="r">
                        <a:buNone/>
                      </a:pPr>
                      <a:r>
                        <a:rPr lang="en-SG" sz="1200"/>
                        <a:t>Cancelled Nights</a:t>
                      </a:r>
                    </a:p>
                  </a:txBody>
                  <a:tcPr anchor="ctr"/>
                </a:tc>
                <a:tc>
                  <a:txBody>
                    <a:bodyPr/>
                    <a:lstStyle/>
                    <a:p>
                      <a:pPr algn="r">
                        <a:buNone/>
                      </a:pPr>
                      <a:r>
                        <a:rPr lang="en-SG" sz="1200" dirty="0"/>
                        <a:t>Cancelled %</a:t>
                      </a:r>
                    </a:p>
                  </a:txBody>
                  <a:tcPr anchor="ctr"/>
                </a:tc>
                <a:extLst>
                  <a:ext uri="{0D108BD9-81ED-4DB2-BD59-A6C34878D82A}">
                    <a16:rowId xmlns:a16="http://schemas.microsoft.com/office/drawing/2014/main" val="4068551392"/>
                  </a:ext>
                </a:extLst>
              </a:tr>
              <a:tr h="235924">
                <a:tc>
                  <a:txBody>
                    <a:bodyPr/>
                    <a:lstStyle/>
                    <a:p>
                      <a:pPr>
                        <a:buNone/>
                      </a:pPr>
                      <a:r>
                        <a:rPr lang="en-SG" sz="1200"/>
                        <a:t>Transient</a:t>
                      </a:r>
                    </a:p>
                  </a:txBody>
                  <a:tcPr anchor="ctr"/>
                </a:tc>
                <a:tc>
                  <a:txBody>
                    <a:bodyPr/>
                    <a:lstStyle/>
                    <a:p>
                      <a:pPr algn="r">
                        <a:buNone/>
                      </a:pPr>
                      <a:r>
                        <a:rPr lang="en-SG" sz="1200" dirty="0"/>
                        <a:t>39,760</a:t>
                      </a:r>
                    </a:p>
                  </a:txBody>
                  <a:tcPr anchor="ctr"/>
                </a:tc>
                <a:tc>
                  <a:txBody>
                    <a:bodyPr/>
                    <a:lstStyle/>
                    <a:p>
                      <a:pPr algn="r">
                        <a:buNone/>
                      </a:pPr>
                      <a:r>
                        <a:rPr lang="en-SG" sz="1200"/>
                        <a:t>83%</a:t>
                      </a:r>
                    </a:p>
                  </a:txBody>
                  <a:tcPr anchor="ctr"/>
                </a:tc>
                <a:extLst>
                  <a:ext uri="{0D108BD9-81ED-4DB2-BD59-A6C34878D82A}">
                    <a16:rowId xmlns:a16="http://schemas.microsoft.com/office/drawing/2014/main" val="1867299458"/>
                  </a:ext>
                </a:extLst>
              </a:tr>
              <a:tr h="235924">
                <a:tc>
                  <a:txBody>
                    <a:bodyPr/>
                    <a:lstStyle/>
                    <a:p>
                      <a:pPr>
                        <a:buNone/>
                      </a:pPr>
                      <a:r>
                        <a:rPr lang="en-SG" sz="1200"/>
                        <a:t>Transient-Party</a:t>
                      </a:r>
                    </a:p>
                  </a:txBody>
                  <a:tcPr anchor="ctr"/>
                </a:tc>
                <a:tc>
                  <a:txBody>
                    <a:bodyPr/>
                    <a:lstStyle/>
                    <a:p>
                      <a:pPr algn="r">
                        <a:buNone/>
                      </a:pPr>
                      <a:r>
                        <a:rPr lang="en-SG" sz="1200"/>
                        <a:t>6,712</a:t>
                      </a:r>
                    </a:p>
                  </a:txBody>
                  <a:tcPr anchor="ctr"/>
                </a:tc>
                <a:tc>
                  <a:txBody>
                    <a:bodyPr/>
                    <a:lstStyle/>
                    <a:p>
                      <a:pPr algn="r">
                        <a:buNone/>
                      </a:pPr>
                      <a:r>
                        <a:rPr lang="en-SG" sz="1200"/>
                        <a:t>14%</a:t>
                      </a:r>
                    </a:p>
                  </a:txBody>
                  <a:tcPr anchor="ctr"/>
                </a:tc>
                <a:extLst>
                  <a:ext uri="{0D108BD9-81ED-4DB2-BD59-A6C34878D82A}">
                    <a16:rowId xmlns:a16="http://schemas.microsoft.com/office/drawing/2014/main" val="3161176692"/>
                  </a:ext>
                </a:extLst>
              </a:tr>
              <a:tr h="235924">
                <a:tc>
                  <a:txBody>
                    <a:bodyPr/>
                    <a:lstStyle/>
                    <a:p>
                      <a:pPr>
                        <a:buNone/>
                      </a:pPr>
                      <a:r>
                        <a:rPr lang="en-SG" sz="1200"/>
                        <a:t>Contract</a:t>
                      </a:r>
                    </a:p>
                  </a:txBody>
                  <a:tcPr anchor="ctr"/>
                </a:tc>
                <a:tc>
                  <a:txBody>
                    <a:bodyPr/>
                    <a:lstStyle/>
                    <a:p>
                      <a:pPr algn="r">
                        <a:buNone/>
                      </a:pPr>
                      <a:r>
                        <a:rPr lang="en-SG" sz="1200"/>
                        <a:t>1,464</a:t>
                      </a:r>
                    </a:p>
                  </a:txBody>
                  <a:tcPr anchor="ctr"/>
                </a:tc>
                <a:tc>
                  <a:txBody>
                    <a:bodyPr/>
                    <a:lstStyle/>
                    <a:p>
                      <a:pPr algn="r">
                        <a:buNone/>
                      </a:pPr>
                      <a:r>
                        <a:rPr lang="en-SG" sz="1200" dirty="0"/>
                        <a:t>3%</a:t>
                      </a:r>
                    </a:p>
                  </a:txBody>
                  <a:tcPr anchor="ctr"/>
                </a:tc>
                <a:extLst>
                  <a:ext uri="{0D108BD9-81ED-4DB2-BD59-A6C34878D82A}">
                    <a16:rowId xmlns:a16="http://schemas.microsoft.com/office/drawing/2014/main" val="1523103281"/>
                  </a:ext>
                </a:extLst>
              </a:tr>
              <a:tr h="235924">
                <a:tc>
                  <a:txBody>
                    <a:bodyPr/>
                    <a:lstStyle/>
                    <a:p>
                      <a:pPr>
                        <a:buNone/>
                      </a:pPr>
                      <a:r>
                        <a:rPr lang="en-SG" sz="1200"/>
                        <a:t>Group</a:t>
                      </a:r>
                    </a:p>
                  </a:txBody>
                  <a:tcPr anchor="ctr"/>
                </a:tc>
                <a:tc>
                  <a:txBody>
                    <a:bodyPr/>
                    <a:lstStyle/>
                    <a:p>
                      <a:pPr algn="r">
                        <a:buNone/>
                      </a:pPr>
                      <a:r>
                        <a:rPr lang="en-SG" sz="1200"/>
                        <a:t>147</a:t>
                      </a:r>
                    </a:p>
                  </a:txBody>
                  <a:tcPr anchor="ctr"/>
                </a:tc>
                <a:tc>
                  <a:txBody>
                    <a:bodyPr/>
                    <a:lstStyle/>
                    <a:p>
                      <a:pPr algn="r">
                        <a:buNone/>
                      </a:pPr>
                      <a:r>
                        <a:rPr lang="en-SG" sz="1200" dirty="0"/>
                        <a:t>0%</a:t>
                      </a:r>
                    </a:p>
                  </a:txBody>
                  <a:tcPr anchor="ctr"/>
                </a:tc>
                <a:extLst>
                  <a:ext uri="{0D108BD9-81ED-4DB2-BD59-A6C34878D82A}">
                    <a16:rowId xmlns:a16="http://schemas.microsoft.com/office/drawing/2014/main" val="3736802737"/>
                  </a:ext>
                </a:extLst>
              </a:tr>
            </a:tbl>
          </a:graphicData>
        </a:graphic>
      </p:graphicFrame>
      <p:graphicFrame>
        <p:nvGraphicFramePr>
          <p:cNvPr id="11" name="Chart 10">
            <a:extLst>
              <a:ext uri="{FF2B5EF4-FFF2-40B4-BE49-F238E27FC236}">
                <a16:creationId xmlns:a16="http://schemas.microsoft.com/office/drawing/2014/main" id="{FBFABC16-AA86-CD47-90F2-1DA2316ACA50}"/>
              </a:ext>
            </a:extLst>
          </p:cNvPr>
          <p:cNvGraphicFramePr>
            <a:graphicFrameLocks/>
          </p:cNvGraphicFramePr>
          <p:nvPr>
            <p:extLst>
              <p:ext uri="{D42A27DB-BD31-4B8C-83A1-F6EECF244321}">
                <p14:modId xmlns:p14="http://schemas.microsoft.com/office/powerpoint/2010/main" val="1549401302"/>
              </p:ext>
            </p:extLst>
          </p:nvPr>
        </p:nvGraphicFramePr>
        <p:xfrm>
          <a:off x="6406403" y="2300291"/>
          <a:ext cx="5653006" cy="278545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6825071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72F4038B-8665-6EBF-E148-40A68E2AF7F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61B230F-CEF1-685C-0ACF-BCD2ED1BE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275C36-92F2-776E-75AF-E9B77C462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FEC2A815-DE5F-4E57-DEC9-A8A8392CC6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2F1057B2-3210-0EDA-D9EB-50FEB706C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0E20BD96-AAB3-0E68-2478-2E6D0F1DB0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4DEC3B99-3E84-218E-90CD-ABA883F160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C13AAFB-F320-D9C3-21FB-151640AEC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9BB038CD-3DD9-87D6-DD88-4FFE777E7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420A1F92-15C8-4314-B63F-CB70824590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3C70FD-5820-A76F-1658-F99AE20733E1}"/>
              </a:ext>
            </a:extLst>
          </p:cNvPr>
          <p:cNvSpPr txBox="1">
            <a:spLocks/>
          </p:cNvSpPr>
          <p:nvPr/>
        </p:nvSpPr>
        <p:spPr>
          <a:xfrm>
            <a:off x="994279" y="223754"/>
            <a:ext cx="7835175" cy="5316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Cancellation Others Relationship Analysis </a:t>
            </a:r>
          </a:p>
          <a:p>
            <a:pPr algn="l"/>
            <a:endParaRPr lang="en-US" sz="2800" dirty="0"/>
          </a:p>
        </p:txBody>
      </p:sp>
      <p:graphicFrame>
        <p:nvGraphicFramePr>
          <p:cNvPr id="3" name="Table 2">
            <a:extLst>
              <a:ext uri="{FF2B5EF4-FFF2-40B4-BE49-F238E27FC236}">
                <a16:creationId xmlns:a16="http://schemas.microsoft.com/office/drawing/2014/main" id="{DBB2E625-7D87-4794-A092-185AFD85EF94}"/>
              </a:ext>
            </a:extLst>
          </p:cNvPr>
          <p:cNvGraphicFramePr>
            <a:graphicFrameLocks noGrp="1"/>
          </p:cNvGraphicFramePr>
          <p:nvPr>
            <p:extLst>
              <p:ext uri="{D42A27DB-BD31-4B8C-83A1-F6EECF244321}">
                <p14:modId xmlns:p14="http://schemas.microsoft.com/office/powerpoint/2010/main" val="2747880035"/>
              </p:ext>
            </p:extLst>
          </p:nvPr>
        </p:nvGraphicFramePr>
        <p:xfrm>
          <a:off x="3250120" y="755374"/>
          <a:ext cx="6347310" cy="3251200"/>
        </p:xfrm>
        <a:graphic>
          <a:graphicData uri="http://schemas.openxmlformats.org/drawingml/2006/table">
            <a:tbl>
              <a:tblPr firstRow="1" bandRow="1">
                <a:tableStyleId>{9D7B26C5-4107-4FEC-AEDC-1716B250A1EF}</a:tableStyleId>
              </a:tblPr>
              <a:tblGrid>
                <a:gridCol w="1709338">
                  <a:extLst>
                    <a:ext uri="{9D8B030D-6E8A-4147-A177-3AD203B41FA5}">
                      <a16:colId xmlns:a16="http://schemas.microsoft.com/office/drawing/2014/main" val="4161047621"/>
                    </a:ext>
                  </a:extLst>
                </a:gridCol>
                <a:gridCol w="2216257">
                  <a:extLst>
                    <a:ext uri="{9D8B030D-6E8A-4147-A177-3AD203B41FA5}">
                      <a16:colId xmlns:a16="http://schemas.microsoft.com/office/drawing/2014/main" val="3281792322"/>
                    </a:ext>
                  </a:extLst>
                </a:gridCol>
                <a:gridCol w="1384454">
                  <a:extLst>
                    <a:ext uri="{9D8B030D-6E8A-4147-A177-3AD203B41FA5}">
                      <a16:colId xmlns:a16="http://schemas.microsoft.com/office/drawing/2014/main" val="179134908"/>
                    </a:ext>
                  </a:extLst>
                </a:gridCol>
                <a:gridCol w="1037261">
                  <a:extLst>
                    <a:ext uri="{9D8B030D-6E8A-4147-A177-3AD203B41FA5}">
                      <a16:colId xmlns:a16="http://schemas.microsoft.com/office/drawing/2014/main" val="4121276699"/>
                    </a:ext>
                  </a:extLst>
                </a:gridCol>
              </a:tblGrid>
              <a:tr h="609600">
                <a:tc gridSpan="2">
                  <a:txBody>
                    <a:bodyPr/>
                    <a:lstStyle/>
                    <a:p>
                      <a:pPr algn="ctr" fontAlgn="ctr">
                        <a:buNone/>
                      </a:pPr>
                      <a:r>
                        <a:rPr lang="en-SG" sz="1200" b="0" u="none" strike="noStrike" dirty="0">
                          <a:solidFill>
                            <a:schemeClr val="tx1"/>
                          </a:solidFill>
                          <a:effectLst/>
                        </a:rPr>
                        <a:t>Relationship</a:t>
                      </a:r>
                      <a:endParaRPr lang="en-SG" sz="1200" b="0" i="0" u="none" strike="noStrike" dirty="0">
                        <a:solidFill>
                          <a:schemeClr val="tx1"/>
                        </a:solidFill>
                        <a:effectLst/>
                        <a:latin typeface="+mn-lt"/>
                      </a:endParaRPr>
                    </a:p>
                  </a:txBody>
                  <a:tcPr marL="9525" marR="9525" marT="9525" marB="0" anchor="ctr"/>
                </a:tc>
                <a:tc hMerge="1">
                  <a:txBody>
                    <a:bodyPr/>
                    <a:lstStyle/>
                    <a:p>
                      <a:endParaRPr lang="en-US"/>
                    </a:p>
                  </a:txBody>
                  <a:tcPr/>
                </a:tc>
                <a:tc>
                  <a:txBody>
                    <a:bodyPr/>
                    <a:lstStyle/>
                    <a:p>
                      <a:pPr algn="ctr" fontAlgn="ctr">
                        <a:buNone/>
                      </a:pPr>
                      <a:r>
                        <a:rPr lang="en-SG" sz="1200" b="0" u="none" strike="noStrike">
                          <a:solidFill>
                            <a:schemeClr val="tx1"/>
                          </a:solidFill>
                          <a:effectLst/>
                        </a:rPr>
                        <a:t>Covariance (COVARIANCE.S)</a:t>
                      </a:r>
                      <a:endParaRPr lang="en-SG" sz="1200" b="0" i="0" u="none" strike="noStrike">
                        <a:solidFill>
                          <a:schemeClr val="tx1"/>
                        </a:solidFill>
                        <a:effectLst/>
                        <a:latin typeface="+mn-lt"/>
                      </a:endParaRPr>
                    </a:p>
                  </a:txBody>
                  <a:tcPr marL="9525" marR="9525" marT="9525" marB="0" anchor="ctr"/>
                </a:tc>
                <a:tc>
                  <a:txBody>
                    <a:bodyPr/>
                    <a:lstStyle/>
                    <a:p>
                      <a:pPr algn="ctr" fontAlgn="ctr">
                        <a:buNone/>
                      </a:pPr>
                      <a:r>
                        <a:rPr lang="en-SG" sz="1200" b="0" u="none" strike="noStrike" dirty="0">
                          <a:solidFill>
                            <a:schemeClr val="tx1"/>
                          </a:solidFill>
                          <a:effectLst/>
                        </a:rPr>
                        <a:t>Correlation (CORREL)</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137112997"/>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total_nights</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0.01</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611183700"/>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total_booking_changes</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0.03</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091760926"/>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total_special_requests</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0.04</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31272487"/>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total_adults</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-0.03</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793406250"/>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total_childs</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0.01</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0.03</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499073588"/>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total_babies</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-0.02</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02047823"/>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dirty="0" err="1">
                          <a:solidFill>
                            <a:schemeClr val="tx1"/>
                          </a:solidFill>
                          <a:effectLst/>
                        </a:rPr>
                        <a:t>is_family</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0.02</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612365790"/>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is_repeated_guest</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0.01</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0.08</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439068084"/>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previouous_cancellation</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-0.10</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-0.10</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817745892"/>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previouous_non_cancellation</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0.05</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0.06</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955458337"/>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required car parking</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0.00</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-0.01</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77913483"/>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is_same_room</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0.02</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0.06</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205933673"/>
                  </a:ext>
                </a:extLst>
              </a:tr>
              <a:tr h="203200">
                <a:tc>
                  <a:txBody>
                    <a:bodyPr/>
                    <a:lstStyle/>
                    <a:p>
                      <a:pPr algn="l" fontAlgn="b">
                        <a:buNone/>
                      </a:pPr>
                      <a:r>
                        <a:rPr lang="en-SG" sz="1200" b="0" u="none" strike="noStrike">
                          <a:solidFill>
                            <a:schemeClr val="tx1"/>
                          </a:solidFill>
                          <a:effectLst/>
                        </a:rPr>
                        <a:t>Is Cancelled</a:t>
                      </a:r>
                      <a:endParaRPr lang="en-SG" sz="1200" b="0" i="0" u="none" strike="noStrike">
                        <a:solidFill>
                          <a:schemeClr val="tx1"/>
                        </a:solidFill>
                        <a:effectLst/>
                        <a:latin typeface="+mn-lt"/>
                      </a:endParaRPr>
                    </a:p>
                  </a:txBody>
                  <a:tcPr marL="9525" marR="9525" marT="9525" marB="0" anchor="b"/>
                </a:tc>
                <a:tc>
                  <a:txBody>
                    <a:bodyPr/>
                    <a:lstStyle/>
                    <a:p>
                      <a:pPr algn="l" fontAlgn="b">
                        <a:buNone/>
                      </a:pPr>
                      <a:r>
                        <a:rPr lang="en-SG" sz="1200" b="0" u="none" strike="noStrike">
                          <a:solidFill>
                            <a:schemeClr val="tx1"/>
                          </a:solidFill>
                          <a:effectLst/>
                        </a:rPr>
                        <a:t>days_in_waiting</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-0.21</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-0.04</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622737921"/>
                  </a:ext>
                </a:extLst>
              </a:tr>
            </a:tbl>
          </a:graphicData>
        </a:graphic>
      </p:graphicFrame>
      <p:sp>
        <p:nvSpPr>
          <p:cNvPr id="4" name="TextBox 3">
            <a:extLst>
              <a:ext uri="{FF2B5EF4-FFF2-40B4-BE49-F238E27FC236}">
                <a16:creationId xmlns:a16="http://schemas.microsoft.com/office/drawing/2014/main" id="{21E49271-EB25-4812-8D9A-E240F8B84F17}"/>
              </a:ext>
            </a:extLst>
          </p:cNvPr>
          <p:cNvSpPr txBox="1"/>
          <p:nvPr/>
        </p:nvSpPr>
        <p:spPr>
          <a:xfrm>
            <a:off x="1184785" y="4405393"/>
            <a:ext cx="10803059" cy="1515095"/>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The negative sign -0.10 means an inverse relationship. Surprisingly, guests who have a history of a previous cancellation are less likely to cancel this specific booking. They appear highly committed to making the trip happen this time around.</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Repeated Guests 0.08 are slightly higher rate to cancel than new customer.</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Guests who make more special requests are actually more likely to cancel their stay. If they find a better deal elsewhere or their vacation plans change, they cancel.</a:t>
            </a:r>
          </a:p>
        </p:txBody>
      </p:sp>
    </p:spTree>
    <p:extLst>
      <p:ext uri="{BB962C8B-B14F-4D97-AF65-F5344CB8AC3E}">
        <p14:creationId xmlns:p14="http://schemas.microsoft.com/office/powerpoint/2010/main" val="16714257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F9582293-51A7-7C5C-F0F4-29F9DD6E311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7E5F884-18D4-768C-62C7-795BC0CACC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1615DC-6B54-6BE8-4C58-0BAFFD4CB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F44FA8D-BDBE-BDE5-F1BF-50163039C2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0B7F076D-EAD1-C574-5D74-D8600F736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20ADBCBF-4947-1FD6-6EB2-C9E6739D5DA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BBA898F0-A973-45F8-39F1-0B0BA89AB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E438CF7-1567-53D6-BDBE-533CA4D1B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5B1CF5B0-5287-86DA-70FB-8B7A115890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19E75B8B-8609-3CBB-6190-CF870A11F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B8D083-BF5F-BE22-376D-C3DC86E058CC}"/>
              </a:ext>
            </a:extLst>
          </p:cNvPr>
          <p:cNvSpPr txBox="1">
            <a:spLocks/>
          </p:cNvSpPr>
          <p:nvPr/>
        </p:nvSpPr>
        <p:spPr>
          <a:xfrm>
            <a:off x="994279" y="223754"/>
            <a:ext cx="6130421" cy="589046"/>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Cancellation Risks Points</a:t>
            </a:r>
          </a:p>
        </p:txBody>
      </p:sp>
      <p:sp>
        <p:nvSpPr>
          <p:cNvPr id="3" name="TextBox 2">
            <a:extLst>
              <a:ext uri="{FF2B5EF4-FFF2-40B4-BE49-F238E27FC236}">
                <a16:creationId xmlns:a16="http://schemas.microsoft.com/office/drawing/2014/main" id="{1D90A887-F320-17F3-6DB4-9FA775064DDA}"/>
              </a:ext>
            </a:extLst>
          </p:cNvPr>
          <p:cNvSpPr txBox="1"/>
          <p:nvPr/>
        </p:nvSpPr>
        <p:spPr>
          <a:xfrm>
            <a:off x="1132777" y="3724079"/>
            <a:ext cx="10169013" cy="3010889"/>
          </a:xfrm>
          <a:prstGeom prst="rect">
            <a:avLst/>
          </a:prstGeom>
          <a:noFill/>
        </p:spPr>
        <p:txBody>
          <a:bodyPr wrap="square" rtlCol="0">
            <a:spAutoFit/>
          </a:bodyPr>
          <a:lstStyle/>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Low Risk (0 – 4 Points)</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Moderate Risk (5 – 11 Points) → Monitor: Bookings driven by timing (Long Lead Time + Peak Quarters) </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High Risk (12 – 20 Points) → Action Required: These bookings have an incredibly high probability of cancelling.</a:t>
            </a:r>
          </a:p>
          <a:p>
            <a:pPr defTabSz="914400">
              <a:lnSpc>
                <a:spcPct val="120000"/>
              </a:lnSpc>
              <a:spcAft>
                <a:spcPts val="600"/>
              </a:spcAft>
              <a:buClr>
                <a:schemeClr val="accent6"/>
              </a:buClr>
              <a:buSzPct val="90000"/>
            </a:pPr>
            <a:endParaRPr lang="en-SG" sz="1400" dirty="0"/>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Based on the risk points, calculate the expected cancellation rooms and allow over booking.</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Expected cancellation rate = Hotel Cancellation Rate × Lift  -&gt; </a:t>
            </a:r>
            <a:r>
              <a:rPr lang="en-SG" sz="1400" dirty="0" err="1"/>
              <a:t>Eg.</a:t>
            </a:r>
            <a:r>
              <a:rPr lang="en-SG" sz="1400" dirty="0"/>
              <a:t> 27% x 1.45 = 39.15% -&gt; Safety Factor = 61%</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Expected cancellations rooms = (number of booked rooms x Expected cancellation rate)</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Safe overbooking rooms  = Expected cancellations rooms  x  Safety Factor</a:t>
            </a:r>
          </a:p>
          <a:p>
            <a:pPr indent="-285750" defTabSz="914400">
              <a:lnSpc>
                <a:spcPct val="120000"/>
              </a:lnSpc>
              <a:spcAft>
                <a:spcPts val="600"/>
              </a:spcAft>
              <a:buClr>
                <a:schemeClr val="accent6"/>
              </a:buClr>
              <a:buSzPct val="90000"/>
              <a:buFont typeface="Wingdings" panose="05000000000000000000" pitchFamily="2" charset="2"/>
              <a:buChar char="§"/>
            </a:pPr>
            <a:r>
              <a:rPr lang="en-SG" sz="1400" dirty="0"/>
              <a:t>Overbooking percentage = (Safe overbooking rooms / total available rooms ) x 100</a:t>
            </a:r>
          </a:p>
        </p:txBody>
      </p:sp>
      <p:graphicFrame>
        <p:nvGraphicFramePr>
          <p:cNvPr id="4" name="Table 3">
            <a:extLst>
              <a:ext uri="{FF2B5EF4-FFF2-40B4-BE49-F238E27FC236}">
                <a16:creationId xmlns:a16="http://schemas.microsoft.com/office/drawing/2014/main" id="{1A695272-ADA9-6BB4-2C7D-918486EF3D9E}"/>
              </a:ext>
            </a:extLst>
          </p:cNvPr>
          <p:cNvGraphicFramePr>
            <a:graphicFrameLocks noGrp="1"/>
          </p:cNvGraphicFramePr>
          <p:nvPr>
            <p:extLst>
              <p:ext uri="{D42A27DB-BD31-4B8C-83A1-F6EECF244321}">
                <p14:modId xmlns:p14="http://schemas.microsoft.com/office/powerpoint/2010/main" val="2284287694"/>
              </p:ext>
            </p:extLst>
          </p:nvPr>
        </p:nvGraphicFramePr>
        <p:xfrm>
          <a:off x="1132777" y="905272"/>
          <a:ext cx="6908799" cy="2405960"/>
        </p:xfrm>
        <a:graphic>
          <a:graphicData uri="http://schemas.openxmlformats.org/drawingml/2006/table">
            <a:tbl>
              <a:tblPr firstRow="1" bandRow="1">
                <a:tableStyleId>{3B4B98B0-60AC-42C2-AFA5-B58CD77FA1E5}</a:tableStyleId>
              </a:tblPr>
              <a:tblGrid>
                <a:gridCol w="2069149">
                  <a:extLst>
                    <a:ext uri="{9D8B030D-6E8A-4147-A177-3AD203B41FA5}">
                      <a16:colId xmlns:a16="http://schemas.microsoft.com/office/drawing/2014/main" val="2624289867"/>
                    </a:ext>
                  </a:extLst>
                </a:gridCol>
                <a:gridCol w="1561382">
                  <a:extLst>
                    <a:ext uri="{9D8B030D-6E8A-4147-A177-3AD203B41FA5}">
                      <a16:colId xmlns:a16="http://schemas.microsoft.com/office/drawing/2014/main" val="1270513962"/>
                    </a:ext>
                  </a:extLst>
                </a:gridCol>
                <a:gridCol w="1074773">
                  <a:extLst>
                    <a:ext uri="{9D8B030D-6E8A-4147-A177-3AD203B41FA5}">
                      <a16:colId xmlns:a16="http://schemas.microsoft.com/office/drawing/2014/main" val="610695686"/>
                    </a:ext>
                  </a:extLst>
                </a:gridCol>
                <a:gridCol w="1032458">
                  <a:extLst>
                    <a:ext uri="{9D8B030D-6E8A-4147-A177-3AD203B41FA5}">
                      <a16:colId xmlns:a16="http://schemas.microsoft.com/office/drawing/2014/main" val="2514076377"/>
                    </a:ext>
                  </a:extLst>
                </a:gridCol>
                <a:gridCol w="1171037">
                  <a:extLst>
                    <a:ext uri="{9D8B030D-6E8A-4147-A177-3AD203B41FA5}">
                      <a16:colId xmlns:a16="http://schemas.microsoft.com/office/drawing/2014/main" val="1724732136"/>
                    </a:ext>
                  </a:extLst>
                </a:gridCol>
              </a:tblGrid>
              <a:tr h="240596">
                <a:tc>
                  <a:txBody>
                    <a:bodyPr/>
                    <a:lstStyle/>
                    <a:p>
                      <a:pPr algn="ctr" fontAlgn="b">
                        <a:buNone/>
                      </a:pPr>
                      <a:r>
                        <a:rPr lang="en-SG" sz="1200" b="0" u="none" strike="noStrike">
                          <a:solidFill>
                            <a:schemeClr val="tx1"/>
                          </a:solidFill>
                          <a:effectLst/>
                        </a:rPr>
                        <a:t>Total Cancellation %</a:t>
                      </a:r>
                      <a:endParaRPr lang="en-SG" sz="1200" b="0" i="0" u="none" strike="noStrike">
                        <a:solidFill>
                          <a:schemeClr val="tx1"/>
                        </a:solidFill>
                        <a:effectLst/>
                        <a:latin typeface="+mn-lt"/>
                      </a:endParaRPr>
                    </a:p>
                  </a:txBody>
                  <a:tcPr marL="9525" marR="9525" marT="9525" marB="0" anchor="ctr"/>
                </a:tc>
                <a:tc>
                  <a:txBody>
                    <a:bodyPr/>
                    <a:lstStyle/>
                    <a:p>
                      <a:pPr algn="l" fontAlgn="b">
                        <a:buNone/>
                      </a:pPr>
                      <a:r>
                        <a:rPr lang="en-SG" sz="1200" b="0" u="none" strike="noStrike">
                          <a:solidFill>
                            <a:schemeClr val="tx1"/>
                          </a:solidFill>
                          <a:effectLst/>
                        </a:rPr>
                        <a:t>27%</a:t>
                      </a:r>
                      <a:endParaRPr lang="en-SG" sz="1200" b="0" i="0" u="none" strike="noStrike">
                        <a:solidFill>
                          <a:schemeClr val="tx1"/>
                        </a:solidFill>
                        <a:effectLst/>
                        <a:latin typeface="+mn-lt"/>
                      </a:endParaRPr>
                    </a:p>
                  </a:txBody>
                  <a:tcPr marL="9525" marR="9525" marT="9525" marB="0" anchor="ctr"/>
                </a:tc>
                <a:tc>
                  <a:txBody>
                    <a:bodyPr/>
                    <a:lstStyle/>
                    <a:p>
                      <a:pPr algn="ctr" fontAlgn="b">
                        <a:buNone/>
                      </a:pPr>
                      <a:r>
                        <a:rPr lang="en-SG" sz="1200" b="0" u="none" strike="noStrike">
                          <a:solidFill>
                            <a:schemeClr val="tx1"/>
                          </a:solidFill>
                          <a:effectLst/>
                        </a:rPr>
                        <a:t>Cancellation %</a:t>
                      </a:r>
                      <a:endParaRPr lang="en-SG" sz="1200" b="0" i="0" u="none" strike="noStrike">
                        <a:solidFill>
                          <a:schemeClr val="tx1"/>
                        </a:solidFill>
                        <a:effectLst/>
                        <a:latin typeface="+mn-lt"/>
                      </a:endParaRPr>
                    </a:p>
                  </a:txBody>
                  <a:tcPr marL="9525" marR="9525" marT="9525" marB="0" anchor="ctr"/>
                </a:tc>
                <a:tc>
                  <a:txBody>
                    <a:bodyPr/>
                    <a:lstStyle/>
                    <a:p>
                      <a:pPr algn="ctr" fontAlgn="b">
                        <a:buNone/>
                      </a:pPr>
                      <a:r>
                        <a:rPr lang="en-SG" sz="1200" b="0" u="none" strike="noStrike" dirty="0">
                          <a:solidFill>
                            <a:schemeClr val="tx1"/>
                          </a:solidFill>
                          <a:effectLst/>
                        </a:rPr>
                        <a:t>Lift</a:t>
                      </a:r>
                      <a:endParaRPr lang="en-SG" sz="1200" b="0" i="0" u="none" strike="noStrike" dirty="0">
                        <a:solidFill>
                          <a:schemeClr val="tx1"/>
                        </a:solidFill>
                        <a:effectLst/>
                        <a:latin typeface="+mn-lt"/>
                      </a:endParaRPr>
                    </a:p>
                  </a:txBody>
                  <a:tcPr marL="9525" marR="9525" marT="9525" marB="0" anchor="ctr"/>
                </a:tc>
                <a:tc>
                  <a:txBody>
                    <a:bodyPr/>
                    <a:lstStyle/>
                    <a:p>
                      <a:pPr algn="ctr" fontAlgn="b">
                        <a:buNone/>
                      </a:pPr>
                      <a:r>
                        <a:rPr lang="en-SG" sz="1200" b="0" u="none" strike="noStrike">
                          <a:solidFill>
                            <a:schemeClr val="tx1"/>
                          </a:solidFill>
                          <a:effectLst/>
                        </a:rPr>
                        <a:t>Risks Points</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1579371903"/>
                  </a:ext>
                </a:extLst>
              </a:tr>
              <a:tr h="240596">
                <a:tc>
                  <a:txBody>
                    <a:bodyPr/>
                    <a:lstStyle/>
                    <a:p>
                      <a:pPr algn="l" fontAlgn="b">
                        <a:buNone/>
                      </a:pPr>
                      <a:r>
                        <a:rPr lang="en-SG" sz="1200" b="0" u="none" strike="noStrike">
                          <a:solidFill>
                            <a:schemeClr val="tx1"/>
                          </a:solidFill>
                          <a:effectLst/>
                        </a:rPr>
                        <a:t>Lead Time</a:t>
                      </a:r>
                      <a:endParaRPr lang="en-SG" sz="1200" b="0" i="0" u="none" strike="noStrike">
                        <a:solidFill>
                          <a:schemeClr val="tx1"/>
                        </a:solidFill>
                        <a:effectLst/>
                        <a:latin typeface="+mn-lt"/>
                      </a:endParaRPr>
                    </a:p>
                  </a:txBody>
                  <a:tcPr marL="9525" marR="9525" marT="9525" marB="0" anchor="ctr"/>
                </a:tc>
                <a:tc>
                  <a:txBody>
                    <a:bodyPr/>
                    <a:lstStyle/>
                    <a:p>
                      <a:pPr algn="l" fontAlgn="b">
                        <a:buNone/>
                      </a:pPr>
                      <a:r>
                        <a:rPr lang="en-SG" sz="1200" b="0" u="none" strike="noStrike">
                          <a:solidFill>
                            <a:schemeClr val="tx1"/>
                          </a:solidFill>
                          <a:effectLst/>
                        </a:rPr>
                        <a:t>Above Ave 130</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39.1%</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1.45</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18</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3570365952"/>
                  </a:ext>
                </a:extLst>
              </a:tr>
              <a:tr h="240596">
                <a:tc>
                  <a:txBody>
                    <a:bodyPr/>
                    <a:lstStyle/>
                    <a:p>
                      <a:pPr algn="l" fontAlgn="b">
                        <a:buNone/>
                      </a:pPr>
                      <a:r>
                        <a:rPr lang="en-SG" sz="1200" b="0" u="none" strike="noStrike" dirty="0">
                          <a:solidFill>
                            <a:schemeClr val="tx1"/>
                          </a:solidFill>
                          <a:effectLst/>
                        </a:rPr>
                        <a:t>Customer Type</a:t>
                      </a:r>
                      <a:endParaRPr lang="en-SG" sz="1200" b="0" i="0" u="none" strike="noStrike" dirty="0">
                        <a:solidFill>
                          <a:schemeClr val="tx1"/>
                        </a:solidFill>
                        <a:effectLst/>
                        <a:latin typeface="+mn-lt"/>
                      </a:endParaRPr>
                    </a:p>
                  </a:txBody>
                  <a:tcPr marL="9525" marR="9525" marT="9525" marB="0" anchor="ctr"/>
                </a:tc>
                <a:tc>
                  <a:txBody>
                    <a:bodyPr/>
                    <a:lstStyle/>
                    <a:p>
                      <a:pPr algn="l" fontAlgn="b">
                        <a:buNone/>
                      </a:pPr>
                      <a:r>
                        <a:rPr lang="en-SG" sz="1200" b="0" u="none" strike="noStrike" dirty="0">
                          <a:solidFill>
                            <a:schemeClr val="tx1"/>
                          </a:solidFill>
                          <a:effectLst/>
                        </a:rPr>
                        <a:t>Transient</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30.3%</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1.12</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3913229293"/>
                  </a:ext>
                </a:extLst>
              </a:tr>
              <a:tr h="240596">
                <a:tc>
                  <a:txBody>
                    <a:bodyPr/>
                    <a:lstStyle/>
                    <a:p>
                      <a:pPr algn="l" fontAlgn="b">
                        <a:buNone/>
                      </a:pPr>
                      <a:r>
                        <a:rPr lang="en-SG" sz="1200" b="0" u="none" strike="noStrike">
                          <a:solidFill>
                            <a:schemeClr val="tx1"/>
                          </a:solidFill>
                          <a:effectLst/>
                        </a:rPr>
                        <a:t>Distribution Channel</a:t>
                      </a:r>
                      <a:endParaRPr lang="en-SG" sz="1200" b="0" i="0" u="none" strike="noStrike">
                        <a:solidFill>
                          <a:schemeClr val="tx1"/>
                        </a:solidFill>
                        <a:effectLst/>
                        <a:latin typeface="+mn-lt"/>
                      </a:endParaRPr>
                    </a:p>
                  </a:txBody>
                  <a:tcPr marL="9525" marR="9525" marT="9525" marB="0" anchor="ctr"/>
                </a:tc>
                <a:tc>
                  <a:txBody>
                    <a:bodyPr/>
                    <a:lstStyle/>
                    <a:p>
                      <a:pPr algn="l" fontAlgn="b">
                        <a:buNone/>
                      </a:pPr>
                      <a:r>
                        <a:rPr lang="en-SG" sz="1200" b="0" u="none" strike="noStrike">
                          <a:solidFill>
                            <a:schemeClr val="tx1"/>
                          </a:solidFill>
                          <a:effectLst/>
                        </a:rPr>
                        <a:t>TA/TO </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30.5%</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1.13</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3795927279"/>
                  </a:ext>
                </a:extLst>
              </a:tr>
              <a:tr h="240596">
                <a:tc>
                  <a:txBody>
                    <a:bodyPr/>
                    <a:lstStyle/>
                    <a:p>
                      <a:pPr algn="l" fontAlgn="b">
                        <a:buNone/>
                      </a:pPr>
                      <a:r>
                        <a:rPr lang="en-SG" sz="1200" b="0" u="none" strike="noStrike">
                          <a:solidFill>
                            <a:schemeClr val="tx1"/>
                          </a:solidFill>
                          <a:effectLst/>
                        </a:rPr>
                        <a:t>Deposit Type</a:t>
                      </a:r>
                      <a:endParaRPr lang="en-SG" sz="1200" b="0" i="0" u="none" strike="noStrike">
                        <a:solidFill>
                          <a:schemeClr val="tx1"/>
                        </a:solidFill>
                        <a:effectLst/>
                        <a:latin typeface="+mn-lt"/>
                      </a:endParaRPr>
                    </a:p>
                  </a:txBody>
                  <a:tcPr marL="9525" marR="9525" marT="9525" marB="0" anchor="ctr"/>
                </a:tc>
                <a:tc>
                  <a:txBody>
                    <a:bodyPr/>
                    <a:lstStyle/>
                    <a:p>
                      <a:pPr algn="l" fontAlgn="b">
                        <a:buNone/>
                      </a:pPr>
                      <a:r>
                        <a:rPr lang="en-SG" sz="1200" b="0" u="none" strike="noStrike">
                          <a:solidFill>
                            <a:schemeClr val="tx1"/>
                          </a:solidFill>
                          <a:effectLst/>
                        </a:rPr>
                        <a:t>No Deposit</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23.7%</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0.88</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0</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136086633"/>
                  </a:ext>
                </a:extLst>
              </a:tr>
              <a:tr h="240596">
                <a:tc>
                  <a:txBody>
                    <a:bodyPr/>
                    <a:lstStyle/>
                    <a:p>
                      <a:pPr algn="l" fontAlgn="b">
                        <a:buNone/>
                      </a:pPr>
                      <a:r>
                        <a:rPr lang="en-SG" sz="1200" b="0" u="none" strike="noStrike">
                          <a:solidFill>
                            <a:schemeClr val="tx1"/>
                          </a:solidFill>
                          <a:effectLst/>
                        </a:rPr>
                        <a:t>Peak Season Quarter</a:t>
                      </a:r>
                      <a:endParaRPr lang="en-SG" sz="1200" b="0" i="0" u="none" strike="noStrike">
                        <a:solidFill>
                          <a:schemeClr val="tx1"/>
                        </a:solidFill>
                        <a:effectLst/>
                        <a:latin typeface="+mn-lt"/>
                      </a:endParaRPr>
                    </a:p>
                  </a:txBody>
                  <a:tcPr marL="9525" marR="9525" marT="9525" marB="0" anchor="ctr"/>
                </a:tc>
                <a:tc>
                  <a:txBody>
                    <a:bodyPr/>
                    <a:lstStyle/>
                    <a:p>
                      <a:pPr algn="l" fontAlgn="b">
                        <a:buNone/>
                      </a:pPr>
                      <a:r>
                        <a:rPr lang="en-SG" sz="1200" b="0" u="none" strike="noStrike" dirty="0">
                          <a:solidFill>
                            <a:schemeClr val="tx1"/>
                          </a:solidFill>
                          <a:effectLst/>
                        </a:rPr>
                        <a:t>Q3 (Peak Season)</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30.8%</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1.14</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6</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3600645142"/>
                  </a:ext>
                </a:extLst>
              </a:tr>
              <a:tr h="240596">
                <a:tc>
                  <a:txBody>
                    <a:bodyPr/>
                    <a:lstStyle/>
                    <a:p>
                      <a:pPr algn="l" fontAlgn="b">
                        <a:buNone/>
                      </a:pPr>
                      <a:r>
                        <a:rPr lang="en-SG" sz="1200" b="0" u="none" strike="noStrike">
                          <a:solidFill>
                            <a:schemeClr val="tx1"/>
                          </a:solidFill>
                          <a:effectLst/>
                        </a:rPr>
                        <a:t>Second Cancellation Quarter</a:t>
                      </a:r>
                      <a:endParaRPr lang="en-SG" sz="1200" b="0" i="0" u="none" strike="noStrike">
                        <a:solidFill>
                          <a:schemeClr val="tx1"/>
                        </a:solidFill>
                        <a:effectLst/>
                        <a:latin typeface="+mn-lt"/>
                      </a:endParaRPr>
                    </a:p>
                  </a:txBody>
                  <a:tcPr marL="9525" marR="9525" marT="9525" marB="0" anchor="ctr"/>
                </a:tc>
                <a:tc>
                  <a:txBody>
                    <a:bodyPr/>
                    <a:lstStyle/>
                    <a:p>
                      <a:pPr algn="l" fontAlgn="b">
                        <a:buNone/>
                      </a:pPr>
                      <a:r>
                        <a:rPr lang="en-SG" sz="1200" b="0" u="none" strike="noStrike">
                          <a:solidFill>
                            <a:schemeClr val="tx1"/>
                          </a:solidFill>
                          <a:effectLst/>
                        </a:rPr>
                        <a:t>Q2</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30.1%</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1.12</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5</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4195921510"/>
                  </a:ext>
                </a:extLst>
              </a:tr>
              <a:tr h="240596">
                <a:tc>
                  <a:txBody>
                    <a:bodyPr/>
                    <a:lstStyle/>
                    <a:p>
                      <a:pPr algn="l" fontAlgn="b">
                        <a:buNone/>
                      </a:pPr>
                      <a:r>
                        <a:rPr lang="en-SG" sz="1200" b="0" u="none" strike="noStrike">
                          <a:solidFill>
                            <a:schemeClr val="tx1"/>
                          </a:solidFill>
                          <a:effectLst/>
                        </a:rPr>
                        <a:t>Stay Length</a:t>
                      </a:r>
                      <a:endParaRPr lang="en-SG" sz="1200" b="0" i="0" u="none" strike="noStrike">
                        <a:solidFill>
                          <a:schemeClr val="tx1"/>
                        </a:solidFill>
                        <a:effectLst/>
                        <a:latin typeface="+mn-lt"/>
                      </a:endParaRPr>
                    </a:p>
                  </a:txBody>
                  <a:tcPr marL="9525" marR="9525" marT="9525" marB="0" anchor="ctr"/>
                </a:tc>
                <a:tc>
                  <a:txBody>
                    <a:bodyPr/>
                    <a:lstStyle/>
                    <a:p>
                      <a:pPr algn="l" fontAlgn="b">
                        <a:buNone/>
                      </a:pPr>
                      <a:r>
                        <a:rPr lang="en-SG" sz="1200" b="0" u="none" strike="noStrike">
                          <a:solidFill>
                            <a:schemeClr val="tx1"/>
                          </a:solidFill>
                          <a:effectLst/>
                        </a:rPr>
                        <a:t>&gt; 7 nights</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28.9%</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1.07</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3</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1221722210"/>
                  </a:ext>
                </a:extLst>
              </a:tr>
              <a:tr h="240596">
                <a:tc>
                  <a:txBody>
                    <a:bodyPr/>
                    <a:lstStyle/>
                    <a:p>
                      <a:pPr algn="l" fontAlgn="b">
                        <a:buNone/>
                      </a:pPr>
                      <a:r>
                        <a:rPr lang="en-SG" sz="1200" b="0" u="none" strike="noStrike">
                          <a:solidFill>
                            <a:schemeClr val="tx1"/>
                          </a:solidFill>
                          <a:effectLst/>
                        </a:rPr>
                        <a:t>Contry Zone</a:t>
                      </a:r>
                      <a:endParaRPr lang="en-SG" sz="1200" b="0" i="0" u="none" strike="noStrike">
                        <a:solidFill>
                          <a:schemeClr val="tx1"/>
                        </a:solidFill>
                        <a:effectLst/>
                        <a:latin typeface="+mn-lt"/>
                      </a:endParaRPr>
                    </a:p>
                  </a:txBody>
                  <a:tcPr marL="9525" marR="9525" marT="9525" marB="0" anchor="ctr"/>
                </a:tc>
                <a:tc>
                  <a:txBody>
                    <a:bodyPr/>
                    <a:lstStyle/>
                    <a:p>
                      <a:pPr algn="l" fontAlgn="b">
                        <a:buNone/>
                      </a:pPr>
                      <a:r>
                        <a:rPr lang="en-SG" sz="1200" b="0" u="none" strike="noStrike">
                          <a:solidFill>
                            <a:schemeClr val="tx1"/>
                          </a:solidFill>
                          <a:effectLst/>
                        </a:rPr>
                        <a:t>Europe</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27.9%</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1.04</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1</a:t>
                      </a:r>
                      <a:endParaRPr lang="en-SG" sz="1200" b="0"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3364553579"/>
                  </a:ext>
                </a:extLst>
              </a:tr>
              <a:tr h="240596">
                <a:tc>
                  <a:txBody>
                    <a:bodyPr/>
                    <a:lstStyle/>
                    <a:p>
                      <a:pPr algn="l" fontAlgn="b">
                        <a:buNone/>
                      </a:pPr>
                      <a:r>
                        <a:rPr lang="en-SG" sz="1200" b="0" u="none" strike="noStrike">
                          <a:solidFill>
                            <a:schemeClr val="tx1"/>
                          </a:solidFill>
                          <a:effectLst/>
                        </a:rPr>
                        <a:t>Others</a:t>
                      </a:r>
                      <a:endParaRPr lang="en-SG" sz="1200" b="0" i="0" u="none" strike="noStrike">
                        <a:solidFill>
                          <a:schemeClr val="tx1"/>
                        </a:solidFill>
                        <a:effectLst/>
                        <a:latin typeface="+mn-lt"/>
                      </a:endParaRPr>
                    </a:p>
                  </a:txBody>
                  <a:tcPr marL="9525" marR="9525" marT="9525" marB="0" anchor="ctr"/>
                </a:tc>
                <a:tc>
                  <a:txBody>
                    <a:bodyPr/>
                    <a:lstStyle/>
                    <a:p>
                      <a:pPr algn="l" fontAlgn="b">
                        <a:buNone/>
                      </a:pPr>
                      <a:r>
                        <a:rPr lang="en-SG" sz="1200" b="0" u="none" strike="noStrike">
                          <a:solidFill>
                            <a:schemeClr val="tx1"/>
                          </a:solidFill>
                          <a:effectLst/>
                        </a:rPr>
                        <a:t>High special requests</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a:solidFill>
                            <a:schemeClr val="tx1"/>
                          </a:solidFill>
                          <a:effectLst/>
                        </a:rPr>
                        <a:t>21.5%</a:t>
                      </a:r>
                      <a:endParaRPr lang="en-SG" sz="1200" b="0" i="0" u="none" strike="noStrike">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0.80</a:t>
                      </a:r>
                      <a:endParaRPr lang="en-SG" sz="1200" b="0" i="0" u="none" strike="noStrike" dirty="0">
                        <a:solidFill>
                          <a:schemeClr val="tx1"/>
                        </a:solidFill>
                        <a:effectLst/>
                        <a:latin typeface="+mn-lt"/>
                      </a:endParaRPr>
                    </a:p>
                  </a:txBody>
                  <a:tcPr marL="9525" marR="9525" marT="9525" marB="0" anchor="ctr"/>
                </a:tc>
                <a:tc>
                  <a:txBody>
                    <a:bodyPr/>
                    <a:lstStyle/>
                    <a:p>
                      <a:pPr algn="r" fontAlgn="b">
                        <a:buNone/>
                      </a:pPr>
                      <a:r>
                        <a:rPr lang="en-SG" sz="1200" b="0" u="none" strike="noStrike" dirty="0">
                          <a:solidFill>
                            <a:schemeClr val="tx1"/>
                          </a:solidFill>
                          <a:effectLst/>
                        </a:rPr>
                        <a:t>0</a:t>
                      </a:r>
                      <a:endParaRPr lang="en-SG" sz="12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22870933"/>
                  </a:ext>
                </a:extLst>
              </a:tr>
            </a:tbl>
          </a:graphicData>
        </a:graphic>
      </p:graphicFrame>
      <p:sp>
        <p:nvSpPr>
          <p:cNvPr id="5" name="TextBox 4">
            <a:extLst>
              <a:ext uri="{FF2B5EF4-FFF2-40B4-BE49-F238E27FC236}">
                <a16:creationId xmlns:a16="http://schemas.microsoft.com/office/drawing/2014/main" id="{E0E4B218-3BB7-17EB-F61E-4A40D198AEB6}"/>
              </a:ext>
            </a:extLst>
          </p:cNvPr>
          <p:cNvSpPr txBox="1"/>
          <p:nvPr/>
        </p:nvSpPr>
        <p:spPr>
          <a:xfrm>
            <a:off x="8198907" y="1132212"/>
            <a:ext cx="3919349" cy="1508746"/>
          </a:xfrm>
          <a:prstGeom prst="rect">
            <a:avLst/>
          </a:prstGeom>
          <a:noFill/>
        </p:spPr>
        <p:txBody>
          <a:bodyPr wrap="square" rtlCol="0">
            <a:spAutoFit/>
          </a:bodyPr>
          <a:lstStyle/>
          <a:p>
            <a:pPr defTabSz="914400">
              <a:lnSpc>
                <a:spcPct val="120000"/>
              </a:lnSpc>
              <a:spcAft>
                <a:spcPts val="600"/>
              </a:spcAft>
              <a:buClr>
                <a:schemeClr val="accent6"/>
              </a:buClr>
              <a:buSzPct val="90000"/>
            </a:pPr>
            <a:r>
              <a:rPr lang="en-SG" sz="1050" dirty="0"/>
              <a:t>* Lift was calculated by dividing the cancellation rate of each factor by the hotel's overall cancellation rate of 27%.</a:t>
            </a:r>
          </a:p>
          <a:p>
            <a:pPr defTabSz="914400">
              <a:lnSpc>
                <a:spcPct val="120000"/>
              </a:lnSpc>
              <a:spcAft>
                <a:spcPts val="600"/>
              </a:spcAft>
              <a:buClr>
                <a:schemeClr val="accent6"/>
              </a:buClr>
              <a:buSzPct val="90000"/>
            </a:pPr>
            <a:r>
              <a:rPr lang="en-SG" sz="1050" dirty="0"/>
              <a:t>* Risk points were derived from lift values using a linear transformation. The baseline lift of 1.0 represents average cancellation risk and was multiplied by a scaling constant of 40 to convert relative risk into an interpretable 0–20 scoring framework.</a:t>
            </a:r>
          </a:p>
        </p:txBody>
      </p:sp>
    </p:spTree>
    <p:extLst>
      <p:ext uri="{BB962C8B-B14F-4D97-AF65-F5344CB8AC3E}">
        <p14:creationId xmlns:p14="http://schemas.microsoft.com/office/powerpoint/2010/main" val="41891088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4862D3DE-C691-AFD2-2241-0658F850C53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448040C-3942-F133-A23C-42C759D64B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82F8576-547D-56E9-4843-472462E48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BF6BAE1-4550-F95C-09A6-2D3A8F4D2A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BAE55A5E-4857-3B8D-C2D9-727FA9DCE6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E0B0B05C-9832-BB6B-181A-4272EAF9B44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43C703EB-978D-1123-D786-0C1D8A1E8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7151790-C7E7-65FF-C252-81C86A42D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446056FA-D7DF-565A-2416-E1A5FF0E1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F5CDE6E5-9AAA-DB59-A14C-291CAEA458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A03160-00E9-0804-266D-CDBCD8E15B7E}"/>
              </a:ext>
            </a:extLst>
          </p:cNvPr>
          <p:cNvSpPr txBox="1">
            <a:spLocks/>
          </p:cNvSpPr>
          <p:nvPr/>
        </p:nvSpPr>
        <p:spPr>
          <a:xfrm>
            <a:off x="994279" y="223754"/>
            <a:ext cx="6130421" cy="589046"/>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Interaction Analysis</a:t>
            </a:r>
          </a:p>
        </p:txBody>
      </p:sp>
      <p:sp>
        <p:nvSpPr>
          <p:cNvPr id="3" name="Title 1">
            <a:extLst>
              <a:ext uri="{FF2B5EF4-FFF2-40B4-BE49-F238E27FC236}">
                <a16:creationId xmlns:a16="http://schemas.microsoft.com/office/drawing/2014/main" id="{5BECA6F7-76A2-CBE7-4358-870E2896C86A}"/>
              </a:ext>
            </a:extLst>
          </p:cNvPr>
          <p:cNvSpPr txBox="1">
            <a:spLocks/>
          </p:cNvSpPr>
          <p:nvPr/>
        </p:nvSpPr>
        <p:spPr>
          <a:xfrm>
            <a:off x="6384048" y="228567"/>
            <a:ext cx="5430619" cy="589046"/>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Business Impact  Analysis</a:t>
            </a:r>
          </a:p>
        </p:txBody>
      </p:sp>
      <p:graphicFrame>
        <p:nvGraphicFramePr>
          <p:cNvPr id="4" name="Table 3">
            <a:extLst>
              <a:ext uri="{FF2B5EF4-FFF2-40B4-BE49-F238E27FC236}">
                <a16:creationId xmlns:a16="http://schemas.microsoft.com/office/drawing/2014/main" id="{95F4C4E3-D4CE-4083-ECCA-9465CF5A821C}"/>
              </a:ext>
            </a:extLst>
          </p:cNvPr>
          <p:cNvGraphicFramePr>
            <a:graphicFrameLocks noGrp="1"/>
          </p:cNvGraphicFramePr>
          <p:nvPr/>
        </p:nvGraphicFramePr>
        <p:xfrm>
          <a:off x="1120187" y="1096921"/>
          <a:ext cx="4050037" cy="1710671"/>
        </p:xfrm>
        <a:graphic>
          <a:graphicData uri="http://schemas.openxmlformats.org/drawingml/2006/table">
            <a:tbl>
              <a:tblPr>
                <a:tableStyleId>{3B4B98B0-60AC-42C2-AFA5-B58CD77FA1E5}</a:tableStyleId>
              </a:tblPr>
              <a:tblGrid>
                <a:gridCol w="3369704">
                  <a:extLst>
                    <a:ext uri="{9D8B030D-6E8A-4147-A177-3AD203B41FA5}">
                      <a16:colId xmlns:a16="http://schemas.microsoft.com/office/drawing/2014/main" val="3905202981"/>
                    </a:ext>
                  </a:extLst>
                </a:gridCol>
                <a:gridCol w="680333">
                  <a:extLst>
                    <a:ext uri="{9D8B030D-6E8A-4147-A177-3AD203B41FA5}">
                      <a16:colId xmlns:a16="http://schemas.microsoft.com/office/drawing/2014/main" val="869964460"/>
                    </a:ext>
                  </a:extLst>
                </a:gridCol>
              </a:tblGrid>
              <a:tr h="458066">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&gt;130 +  No Deposit +  Online TA</a:t>
                      </a:r>
                      <a:endParaRPr lang="en-SG" sz="1200" b="0" i="0" u="none" strike="noStrike" dirty="0">
                        <a:solidFill>
                          <a:schemeClr val="tx1"/>
                        </a:solidFill>
                        <a:effectLst/>
                        <a:latin typeface="Times New Roman" panose="02020603050405020304" pitchFamily="18" charset="0"/>
                      </a:endParaRPr>
                    </a:p>
                  </a:txBody>
                  <a:tcPr marL="9525" marR="9525" marT="9525" marB="0" anchor="ctr"/>
                </a:tc>
                <a:tc>
                  <a:txBody>
                    <a:bodyPr/>
                    <a:lstStyle/>
                    <a:p>
                      <a:pPr algn="r" fontAlgn="b">
                        <a:buNone/>
                      </a:pPr>
                      <a:r>
                        <a:rPr lang="en-SG" sz="1200" b="0" u="none" strike="noStrike">
                          <a:solidFill>
                            <a:schemeClr val="tx1"/>
                          </a:solidFill>
                          <a:effectLst/>
                        </a:rPr>
                        <a:t>53%</a:t>
                      </a:r>
                      <a:endParaRPr lang="en-SG" sz="1200" b="0" i="0" u="none" strike="noStrike">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753121049"/>
                  </a:ext>
                </a:extLst>
              </a:tr>
              <a:tr h="399638">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&gt;130 + Online TA</a:t>
                      </a:r>
                      <a:endParaRPr lang="en-SG" sz="1200" b="0" i="0" u="none" strike="noStrike" dirty="0">
                        <a:solidFill>
                          <a:schemeClr val="tx1"/>
                        </a:solidFill>
                        <a:effectLst/>
                        <a:latin typeface="Times New Roman" panose="02020603050405020304" pitchFamily="18" charset="0"/>
                      </a:endParaRPr>
                    </a:p>
                  </a:txBody>
                  <a:tcPr marL="9525" marR="9525" marT="9525" marB="0" anchor="ctr"/>
                </a:tc>
                <a:tc>
                  <a:txBody>
                    <a:bodyPr/>
                    <a:lstStyle/>
                    <a:p>
                      <a:pPr algn="r" fontAlgn="b">
                        <a:buNone/>
                      </a:pPr>
                      <a:r>
                        <a:rPr lang="en-SG" sz="1200" b="0" u="none" strike="noStrike">
                          <a:solidFill>
                            <a:schemeClr val="tx1"/>
                          </a:solidFill>
                          <a:effectLst/>
                        </a:rPr>
                        <a:t>53%</a:t>
                      </a:r>
                      <a:endParaRPr lang="en-SG" sz="1200" b="0" i="0" u="none" strike="noStrike">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054003875"/>
                  </a:ext>
                </a:extLst>
              </a:tr>
              <a:tr h="381503">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&gt;130 + Transient</a:t>
                      </a:r>
                      <a:endParaRPr lang="en-SG" sz="1200" b="0" i="0" u="none" strike="noStrike" dirty="0">
                        <a:solidFill>
                          <a:schemeClr val="tx1"/>
                        </a:solidFill>
                        <a:effectLst/>
                        <a:latin typeface="Times New Roman" panose="02020603050405020304" pitchFamily="18" charset="0"/>
                      </a:endParaRPr>
                    </a:p>
                  </a:txBody>
                  <a:tcPr marL="9525" marR="9525" marT="9525" marB="0" anchor="ctr"/>
                </a:tc>
                <a:tc>
                  <a:txBody>
                    <a:bodyPr/>
                    <a:lstStyle/>
                    <a:p>
                      <a:pPr algn="r" fontAlgn="b">
                        <a:buNone/>
                      </a:pPr>
                      <a:r>
                        <a:rPr lang="en-SG" sz="1200" b="0" u="none" strike="noStrike" dirty="0">
                          <a:solidFill>
                            <a:schemeClr val="tx1"/>
                          </a:solidFill>
                          <a:effectLst/>
                        </a:rPr>
                        <a:t>51%</a:t>
                      </a:r>
                      <a:endParaRPr lang="en-SG" sz="1200" b="0" i="0" u="none" strike="noStrike" dirty="0">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438359444"/>
                  </a:ext>
                </a:extLst>
              </a:tr>
              <a:tr h="471464">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&gt;130 +  No Deposit +  Transient</a:t>
                      </a:r>
                      <a:endParaRPr lang="en-SG" sz="1200" b="0" i="0" u="none" strike="noStrike" dirty="0">
                        <a:solidFill>
                          <a:schemeClr val="tx1"/>
                        </a:solidFill>
                        <a:effectLst/>
                        <a:latin typeface="Times New Roman" panose="02020603050405020304" pitchFamily="18" charset="0"/>
                      </a:endParaRPr>
                    </a:p>
                  </a:txBody>
                  <a:tcPr marL="9525" marR="9525" marT="9525" marB="0" anchor="ctr"/>
                </a:tc>
                <a:tc>
                  <a:txBody>
                    <a:bodyPr/>
                    <a:lstStyle/>
                    <a:p>
                      <a:pPr algn="r" fontAlgn="b">
                        <a:buNone/>
                      </a:pPr>
                      <a:r>
                        <a:rPr lang="en-SG" sz="1200" b="0" u="none" strike="noStrike" dirty="0">
                          <a:solidFill>
                            <a:schemeClr val="tx1"/>
                          </a:solidFill>
                          <a:effectLst/>
                        </a:rPr>
                        <a:t>42%</a:t>
                      </a:r>
                      <a:endParaRPr lang="en-SG" sz="1200" b="0" i="0" u="none" strike="noStrike" dirty="0">
                        <a:solidFill>
                          <a:schemeClr val="tx1"/>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904624184"/>
                  </a:ext>
                </a:extLst>
              </a:tr>
            </a:tbl>
          </a:graphicData>
        </a:graphic>
      </p:graphicFrame>
      <p:sp>
        <p:nvSpPr>
          <p:cNvPr id="5" name="TextBox 4">
            <a:extLst>
              <a:ext uri="{FF2B5EF4-FFF2-40B4-BE49-F238E27FC236}">
                <a16:creationId xmlns:a16="http://schemas.microsoft.com/office/drawing/2014/main" id="{64C2B293-5B97-4615-1128-BEB2B8713672}"/>
              </a:ext>
            </a:extLst>
          </p:cNvPr>
          <p:cNvSpPr txBox="1"/>
          <p:nvPr/>
        </p:nvSpPr>
        <p:spPr>
          <a:xfrm>
            <a:off x="1120187" y="4732798"/>
            <a:ext cx="10169013" cy="1815882"/>
          </a:xfrm>
          <a:prstGeom prst="rect">
            <a:avLst/>
          </a:prstGeom>
          <a:noFill/>
        </p:spPr>
        <p:txBody>
          <a:bodyPr wrap="square" rtlCol="0">
            <a:spAutoFit/>
          </a:bodyPr>
          <a:lstStyle/>
          <a:p>
            <a:pPr marL="285750" indent="-285750">
              <a:buFont typeface="Arial" panose="020B0604020202020204" pitchFamily="34" charset="0"/>
              <a:buChar char="•"/>
            </a:pPr>
            <a:r>
              <a:rPr lang="en-SG" sz="1400" dirty="0"/>
              <a:t>The interaction analysis shows that cancellation risk is driven by both booking behaviour and booking volume. While some segments such as Non-Refundable bookings exhibit extremely high cancellation rates, their overall impact is limited by low booking volume. The largest contributors to total cancellations are bookings from Europe, TA/TO distribution channels, transient customers, no-deposit reservations, and short stays due to their substantial booking volumes. Among the interaction effects, the combination of long lead time, no deposit, and transient customer type represents the most critical predictive risk segment, generating both high cancellation probability and high cancellation volume. These findings support prioritizing Lead Time, Deposit Type, Customer Type, Distribution Channel, and Market Segment as the key variables in the predictive cancellation risk model and overbooking strategy.</a:t>
            </a:r>
          </a:p>
        </p:txBody>
      </p:sp>
      <p:graphicFrame>
        <p:nvGraphicFramePr>
          <p:cNvPr id="6" name="Table 5">
            <a:extLst>
              <a:ext uri="{FF2B5EF4-FFF2-40B4-BE49-F238E27FC236}">
                <a16:creationId xmlns:a16="http://schemas.microsoft.com/office/drawing/2014/main" id="{33FAB050-2C8E-3672-F1B2-EA8F8FA6C6A2}"/>
              </a:ext>
            </a:extLst>
          </p:cNvPr>
          <p:cNvGraphicFramePr>
            <a:graphicFrameLocks noGrp="1"/>
          </p:cNvGraphicFramePr>
          <p:nvPr/>
        </p:nvGraphicFramePr>
        <p:xfrm>
          <a:off x="6457994" y="1036554"/>
          <a:ext cx="4613818" cy="1771039"/>
        </p:xfrm>
        <a:graphic>
          <a:graphicData uri="http://schemas.openxmlformats.org/drawingml/2006/table">
            <a:tbl>
              <a:tblPr firstRow="1" bandRow="1">
                <a:tableStyleId>{3B4B98B0-60AC-42C2-AFA5-B58CD77FA1E5}</a:tableStyleId>
              </a:tblPr>
              <a:tblGrid>
                <a:gridCol w="2617337">
                  <a:extLst>
                    <a:ext uri="{9D8B030D-6E8A-4147-A177-3AD203B41FA5}">
                      <a16:colId xmlns:a16="http://schemas.microsoft.com/office/drawing/2014/main" val="3880696693"/>
                    </a:ext>
                  </a:extLst>
                </a:gridCol>
                <a:gridCol w="1996481">
                  <a:extLst>
                    <a:ext uri="{9D8B030D-6E8A-4147-A177-3AD203B41FA5}">
                      <a16:colId xmlns:a16="http://schemas.microsoft.com/office/drawing/2014/main" val="1655313909"/>
                    </a:ext>
                  </a:extLst>
                </a:gridCol>
              </a:tblGrid>
              <a:tr h="247729">
                <a:tc>
                  <a:txBody>
                    <a:bodyPr/>
                    <a:lstStyle/>
                    <a:p>
                      <a:pPr algn="ctr" fontAlgn="b">
                        <a:buNone/>
                      </a:pPr>
                      <a:r>
                        <a:rPr lang="en-SG" sz="1200" b="0" u="none" strike="noStrike" dirty="0">
                          <a:solidFill>
                            <a:schemeClr val="tx1"/>
                          </a:solidFill>
                          <a:effectLst/>
                        </a:rPr>
                        <a:t>Segment</a:t>
                      </a:r>
                      <a:endParaRPr lang="en-SG" sz="1200" b="0" i="0" u="none" strike="noStrike" dirty="0">
                        <a:solidFill>
                          <a:schemeClr val="tx1"/>
                        </a:solidFill>
                        <a:effectLst/>
                        <a:latin typeface="+mn-lt"/>
                      </a:endParaRPr>
                    </a:p>
                  </a:txBody>
                  <a:tcPr marL="9525" marR="9525" marT="9525" marB="0" anchor="b"/>
                </a:tc>
                <a:tc>
                  <a:txBody>
                    <a:bodyPr/>
                    <a:lstStyle/>
                    <a:p>
                      <a:pPr algn="ctr" fontAlgn="b">
                        <a:buNone/>
                      </a:pPr>
                      <a:r>
                        <a:rPr lang="en-SG" sz="1200" b="0" u="none" strike="noStrike">
                          <a:solidFill>
                            <a:schemeClr val="tx1"/>
                          </a:solidFill>
                          <a:effectLst/>
                        </a:rPr>
                        <a:t>Risk Impact</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899329799"/>
                  </a:ext>
                </a:extLst>
              </a:tr>
              <a:tr h="304662">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≤130 + Europe</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a:solidFill>
                            <a:schemeClr val="tx1"/>
                          </a:solidFill>
                          <a:effectLst/>
                        </a:rPr>
                        <a:t>5,394</a:t>
                      </a:r>
                      <a:endParaRPr lang="en-SG" sz="12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65918891"/>
                  </a:ext>
                </a:extLst>
              </a:tr>
              <a:tr h="304662">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≤130 + ≤7 Nights</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5,262</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997013724"/>
                  </a:ext>
                </a:extLst>
              </a:tr>
              <a:tr h="304662">
                <a:tc>
                  <a:txBody>
                    <a:bodyPr/>
                    <a:lstStyle/>
                    <a:p>
                      <a:pPr algn="l" fontAlgn="b">
                        <a:buNone/>
                      </a:pPr>
                      <a:r>
                        <a:rPr lang="en-SG" sz="1200" b="0" u="none" strike="noStrike">
                          <a:solidFill>
                            <a:schemeClr val="tx1"/>
                          </a:solidFill>
                          <a:effectLst/>
                        </a:rPr>
                        <a:t>lead_time ≤130 + No Deposit</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5,105</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738650000"/>
                  </a:ext>
                </a:extLst>
              </a:tr>
              <a:tr h="304662">
                <a:tc>
                  <a:txBody>
                    <a:bodyPr/>
                    <a:lstStyle/>
                    <a:p>
                      <a:pPr algn="l" fontAlgn="b">
                        <a:buNone/>
                      </a:pPr>
                      <a:r>
                        <a:rPr lang="en-SG" sz="1200" b="0" u="none" strike="noStrike">
                          <a:solidFill>
                            <a:schemeClr val="tx1"/>
                          </a:solidFill>
                          <a:effectLst/>
                        </a:rPr>
                        <a:t>lead_time ≤130 + Transient</a:t>
                      </a:r>
                      <a:endParaRPr lang="en-SG" sz="1200" b="0" i="0" u="none" strike="noStrike">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4,807</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223995372"/>
                  </a:ext>
                </a:extLst>
              </a:tr>
              <a:tr h="304662">
                <a:tc>
                  <a:txBody>
                    <a:bodyPr/>
                    <a:lstStyle/>
                    <a:p>
                      <a:pPr algn="l" fontAlgn="b">
                        <a:buNone/>
                      </a:pPr>
                      <a:r>
                        <a:rPr lang="en-SG" sz="1200" b="0" u="none" strike="noStrike" dirty="0" err="1">
                          <a:solidFill>
                            <a:schemeClr val="tx1"/>
                          </a:solidFill>
                          <a:effectLst/>
                        </a:rPr>
                        <a:t>lead_time</a:t>
                      </a:r>
                      <a:r>
                        <a:rPr lang="en-SG" sz="1200" b="0" u="none" strike="noStrike" dirty="0">
                          <a:solidFill>
                            <a:schemeClr val="tx1"/>
                          </a:solidFill>
                          <a:effectLst/>
                        </a:rPr>
                        <a:t> ≤130 + TA/TO</a:t>
                      </a:r>
                      <a:endParaRPr lang="en-SG" sz="1200" b="0" i="0" u="none" strike="noStrike" dirty="0">
                        <a:solidFill>
                          <a:schemeClr val="tx1"/>
                        </a:solidFill>
                        <a:effectLst/>
                        <a:latin typeface="+mn-lt"/>
                      </a:endParaRPr>
                    </a:p>
                  </a:txBody>
                  <a:tcPr marL="9525" marR="9525" marT="9525" marB="0" anchor="b"/>
                </a:tc>
                <a:tc>
                  <a:txBody>
                    <a:bodyPr/>
                    <a:lstStyle/>
                    <a:p>
                      <a:pPr algn="r" fontAlgn="b">
                        <a:buNone/>
                      </a:pPr>
                      <a:r>
                        <a:rPr lang="en-SG" sz="1200" b="0" u="none" strike="noStrike" dirty="0">
                          <a:solidFill>
                            <a:schemeClr val="tx1"/>
                          </a:solidFill>
                          <a:effectLst/>
                        </a:rPr>
                        <a:t>4,316</a:t>
                      </a:r>
                      <a:endParaRPr lang="en-SG" sz="12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803931438"/>
                  </a:ext>
                </a:extLst>
              </a:tr>
            </a:tbl>
          </a:graphicData>
        </a:graphic>
      </p:graphicFrame>
      <p:graphicFrame>
        <p:nvGraphicFramePr>
          <p:cNvPr id="7" name="Table 6">
            <a:extLst>
              <a:ext uri="{FF2B5EF4-FFF2-40B4-BE49-F238E27FC236}">
                <a16:creationId xmlns:a16="http://schemas.microsoft.com/office/drawing/2014/main" id="{C48CCE2F-C0AB-BECC-5BF6-1FC45D28588F}"/>
              </a:ext>
            </a:extLst>
          </p:cNvPr>
          <p:cNvGraphicFramePr>
            <a:graphicFrameLocks noGrp="1"/>
          </p:cNvGraphicFramePr>
          <p:nvPr/>
        </p:nvGraphicFramePr>
        <p:xfrm>
          <a:off x="1425142" y="3083167"/>
          <a:ext cx="4037307" cy="1282700"/>
        </p:xfrm>
        <a:graphic>
          <a:graphicData uri="http://schemas.openxmlformats.org/drawingml/2006/table">
            <a:tbl>
              <a:tblPr/>
              <a:tblGrid>
                <a:gridCol w="1736324">
                  <a:extLst>
                    <a:ext uri="{9D8B030D-6E8A-4147-A177-3AD203B41FA5}">
                      <a16:colId xmlns:a16="http://schemas.microsoft.com/office/drawing/2014/main" val="3073682106"/>
                    </a:ext>
                  </a:extLst>
                </a:gridCol>
                <a:gridCol w="2300983">
                  <a:extLst>
                    <a:ext uri="{9D8B030D-6E8A-4147-A177-3AD203B41FA5}">
                      <a16:colId xmlns:a16="http://schemas.microsoft.com/office/drawing/2014/main" val="2724709007"/>
                    </a:ext>
                  </a:extLst>
                </a:gridCol>
              </a:tblGrid>
              <a:tr h="203200">
                <a:tc>
                  <a:txBody>
                    <a:bodyPr/>
                    <a:lstStyle/>
                    <a:p>
                      <a:pPr algn="l" fontAlgn="b">
                        <a:buNone/>
                      </a:pPr>
                      <a:r>
                        <a:rPr lang="en-SG" sz="1200" b="1" i="0" u="none" strike="noStrike">
                          <a:solidFill>
                            <a:schemeClr val="tx1"/>
                          </a:solidFill>
                          <a:effectLst/>
                          <a:latin typeface="+mn-lt"/>
                        </a:rPr>
                        <a:t>Core Predictors</a:t>
                      </a:r>
                    </a:p>
                  </a:txBody>
                  <a:tcPr marL="9525" marR="9525" marT="9525" marB="0" anchor="b">
                    <a:lnL>
                      <a:noFill/>
                    </a:lnL>
                    <a:lnR>
                      <a:noFill/>
                    </a:lnR>
                    <a:lnT>
                      <a:noFill/>
                    </a:lnT>
                    <a:lnB>
                      <a:noFill/>
                    </a:lnB>
                    <a:noFill/>
                  </a:tcPr>
                </a:tc>
                <a:tc>
                  <a:txBody>
                    <a:bodyPr/>
                    <a:lstStyle/>
                    <a:p>
                      <a:pPr algn="l" fontAlgn="b">
                        <a:buNone/>
                      </a:pPr>
                      <a:r>
                        <a:rPr lang="en-SG" sz="1200" b="1" i="0" u="none" strike="noStrike" dirty="0">
                          <a:solidFill>
                            <a:schemeClr val="tx1"/>
                          </a:solidFill>
                          <a:effectLst/>
                          <a:latin typeface="+mn-lt"/>
                        </a:rPr>
                        <a:t>Supporting Predictors</a:t>
                      </a:r>
                    </a:p>
                  </a:txBody>
                  <a:tcPr marL="9525" marR="9525" marT="9525" marB="0" anchor="b">
                    <a:lnL>
                      <a:noFill/>
                    </a:lnL>
                    <a:lnR>
                      <a:noFill/>
                    </a:lnR>
                    <a:lnT>
                      <a:noFill/>
                    </a:lnT>
                    <a:lnB>
                      <a:noFill/>
                    </a:lnB>
                    <a:noFill/>
                  </a:tcPr>
                </a:tc>
                <a:extLst>
                  <a:ext uri="{0D108BD9-81ED-4DB2-BD59-A6C34878D82A}">
                    <a16:rowId xmlns:a16="http://schemas.microsoft.com/office/drawing/2014/main" val="1217809428"/>
                  </a:ext>
                </a:extLst>
              </a:tr>
              <a:tr h="215900">
                <a:tc>
                  <a:txBody>
                    <a:bodyPr/>
                    <a:lstStyle/>
                    <a:p>
                      <a:pPr algn="l" fontAlgn="b">
                        <a:buNone/>
                      </a:pPr>
                      <a:r>
                        <a:rPr lang="en-SG" sz="1200" b="0" i="0" u="none" strike="noStrike">
                          <a:solidFill>
                            <a:schemeClr val="tx1"/>
                          </a:solidFill>
                          <a:effectLst/>
                          <a:latin typeface="+mn-lt"/>
                        </a:rPr>
                        <a:t>Lead_time</a:t>
                      </a:r>
                    </a:p>
                  </a:txBody>
                  <a:tcPr marL="9525" marR="9525" marT="9525" marB="0" anchor="b">
                    <a:lnL>
                      <a:noFill/>
                    </a:lnL>
                    <a:lnR>
                      <a:noFill/>
                    </a:lnR>
                    <a:lnT>
                      <a:noFill/>
                    </a:lnT>
                    <a:lnB>
                      <a:noFill/>
                    </a:lnB>
                    <a:noFill/>
                  </a:tcPr>
                </a:tc>
                <a:tc>
                  <a:txBody>
                    <a:bodyPr/>
                    <a:lstStyle/>
                    <a:p>
                      <a:pPr algn="l" fontAlgn="b">
                        <a:buNone/>
                      </a:pPr>
                      <a:r>
                        <a:rPr lang="en-SG" sz="1200" b="0" i="0" u="none" strike="noStrike" dirty="0" err="1">
                          <a:solidFill>
                            <a:schemeClr val="tx1"/>
                          </a:solidFill>
                          <a:effectLst/>
                          <a:latin typeface="+mn-lt"/>
                        </a:rPr>
                        <a:t>Country_zone</a:t>
                      </a:r>
                      <a:endParaRPr lang="en-SG" sz="1200" b="0" i="0" u="none" strike="noStrike" dirty="0">
                        <a:solidFill>
                          <a:schemeClr val="tx1"/>
                        </a:solidFill>
                        <a:effectLst/>
                        <a:latin typeface="+mn-lt"/>
                      </a:endParaRPr>
                    </a:p>
                  </a:txBody>
                  <a:tcPr marL="9525" marR="9525" marT="9525" marB="0" anchor="b">
                    <a:lnL>
                      <a:noFill/>
                    </a:lnL>
                    <a:lnR>
                      <a:noFill/>
                    </a:lnR>
                    <a:lnT>
                      <a:noFill/>
                    </a:lnT>
                    <a:lnB>
                      <a:noFill/>
                    </a:lnB>
                    <a:noFill/>
                  </a:tcPr>
                </a:tc>
                <a:extLst>
                  <a:ext uri="{0D108BD9-81ED-4DB2-BD59-A6C34878D82A}">
                    <a16:rowId xmlns:a16="http://schemas.microsoft.com/office/drawing/2014/main" val="3635424979"/>
                  </a:ext>
                </a:extLst>
              </a:tr>
              <a:tr h="215900">
                <a:tc>
                  <a:txBody>
                    <a:bodyPr/>
                    <a:lstStyle/>
                    <a:p>
                      <a:pPr algn="l" fontAlgn="b">
                        <a:buNone/>
                      </a:pPr>
                      <a:r>
                        <a:rPr lang="en-SG" sz="1200" b="0" i="0" u="none" strike="noStrike">
                          <a:solidFill>
                            <a:schemeClr val="tx1"/>
                          </a:solidFill>
                          <a:effectLst/>
                          <a:latin typeface="+mn-lt"/>
                        </a:rPr>
                        <a:t>Deposit_type</a:t>
                      </a:r>
                    </a:p>
                  </a:txBody>
                  <a:tcPr marL="9525" marR="9525" marT="9525" marB="0" anchor="b">
                    <a:lnL>
                      <a:noFill/>
                    </a:lnL>
                    <a:lnR>
                      <a:noFill/>
                    </a:lnR>
                    <a:lnT>
                      <a:noFill/>
                    </a:lnT>
                    <a:lnB>
                      <a:noFill/>
                    </a:lnB>
                    <a:noFill/>
                  </a:tcPr>
                </a:tc>
                <a:tc>
                  <a:txBody>
                    <a:bodyPr/>
                    <a:lstStyle/>
                    <a:p>
                      <a:pPr algn="l" fontAlgn="b">
                        <a:buNone/>
                      </a:pPr>
                      <a:r>
                        <a:rPr lang="en-SG" sz="1200" b="0" i="0" u="none" strike="noStrike" dirty="0">
                          <a:solidFill>
                            <a:schemeClr val="tx1"/>
                          </a:solidFill>
                          <a:effectLst/>
                          <a:latin typeface="+mn-lt"/>
                        </a:rPr>
                        <a:t>Quarter</a:t>
                      </a:r>
                    </a:p>
                  </a:txBody>
                  <a:tcPr marL="9525" marR="9525" marT="9525" marB="0" anchor="b">
                    <a:lnL>
                      <a:noFill/>
                    </a:lnL>
                    <a:lnR>
                      <a:noFill/>
                    </a:lnR>
                    <a:lnT>
                      <a:noFill/>
                    </a:lnT>
                    <a:lnB>
                      <a:noFill/>
                    </a:lnB>
                    <a:noFill/>
                  </a:tcPr>
                </a:tc>
                <a:extLst>
                  <a:ext uri="{0D108BD9-81ED-4DB2-BD59-A6C34878D82A}">
                    <a16:rowId xmlns:a16="http://schemas.microsoft.com/office/drawing/2014/main" val="1045889060"/>
                  </a:ext>
                </a:extLst>
              </a:tr>
              <a:tr h="215900">
                <a:tc>
                  <a:txBody>
                    <a:bodyPr/>
                    <a:lstStyle/>
                    <a:p>
                      <a:pPr algn="l" fontAlgn="b">
                        <a:buNone/>
                      </a:pPr>
                      <a:r>
                        <a:rPr lang="en-SG" sz="1200" b="0" i="0" u="none" strike="noStrike">
                          <a:solidFill>
                            <a:schemeClr val="tx1"/>
                          </a:solidFill>
                          <a:effectLst/>
                          <a:latin typeface="+mn-lt"/>
                        </a:rPr>
                        <a:t>Customer_type</a:t>
                      </a:r>
                    </a:p>
                  </a:txBody>
                  <a:tcPr marL="9525" marR="9525" marT="9525" marB="0" anchor="b">
                    <a:lnL>
                      <a:noFill/>
                    </a:lnL>
                    <a:lnR>
                      <a:noFill/>
                    </a:lnR>
                    <a:lnT>
                      <a:noFill/>
                    </a:lnT>
                    <a:lnB>
                      <a:noFill/>
                    </a:lnB>
                    <a:noFill/>
                  </a:tcPr>
                </a:tc>
                <a:tc>
                  <a:txBody>
                    <a:bodyPr/>
                    <a:lstStyle/>
                    <a:p>
                      <a:pPr algn="l" fontAlgn="b">
                        <a:buNone/>
                      </a:pPr>
                      <a:r>
                        <a:rPr lang="en-SG" sz="1200" b="0" i="0" u="none" strike="noStrike" dirty="0" err="1">
                          <a:solidFill>
                            <a:schemeClr val="tx1"/>
                          </a:solidFill>
                          <a:effectLst/>
                          <a:latin typeface="+mn-lt"/>
                        </a:rPr>
                        <a:t>Total_nights</a:t>
                      </a:r>
                      <a:endParaRPr lang="en-SG" sz="1200" b="0" i="0" u="none" strike="noStrike" dirty="0">
                        <a:solidFill>
                          <a:schemeClr val="tx1"/>
                        </a:solidFill>
                        <a:effectLst/>
                        <a:latin typeface="+mn-lt"/>
                      </a:endParaRPr>
                    </a:p>
                  </a:txBody>
                  <a:tcPr marL="9525" marR="9525" marT="9525" marB="0" anchor="b">
                    <a:lnL>
                      <a:noFill/>
                    </a:lnL>
                    <a:lnR>
                      <a:noFill/>
                    </a:lnR>
                    <a:lnT>
                      <a:noFill/>
                    </a:lnT>
                    <a:lnB>
                      <a:noFill/>
                    </a:lnB>
                    <a:noFill/>
                  </a:tcPr>
                </a:tc>
                <a:extLst>
                  <a:ext uri="{0D108BD9-81ED-4DB2-BD59-A6C34878D82A}">
                    <a16:rowId xmlns:a16="http://schemas.microsoft.com/office/drawing/2014/main" val="3602124937"/>
                  </a:ext>
                </a:extLst>
              </a:tr>
              <a:tr h="215900">
                <a:tc gridSpan="2">
                  <a:txBody>
                    <a:bodyPr/>
                    <a:lstStyle/>
                    <a:p>
                      <a:pPr algn="l" fontAlgn="b">
                        <a:buNone/>
                      </a:pPr>
                      <a:r>
                        <a:rPr lang="en-SG" sz="1200" b="0" i="0" u="none" strike="noStrike" dirty="0" err="1">
                          <a:solidFill>
                            <a:schemeClr val="tx1"/>
                          </a:solidFill>
                          <a:effectLst/>
                          <a:latin typeface="+mn-lt"/>
                        </a:rPr>
                        <a:t>Distribution_channel</a:t>
                      </a:r>
                      <a:endParaRPr lang="en-SG" sz="1200" b="0" i="0" u="none" strike="noStrike" dirty="0">
                        <a:solidFill>
                          <a:schemeClr val="tx1"/>
                        </a:solidFill>
                        <a:effectLst/>
                        <a:latin typeface="+mn-lt"/>
                      </a:endParaRPr>
                    </a:p>
                  </a:txBody>
                  <a:tcPr marL="9525" marR="9525" marT="9525" marB="0" anchor="b">
                    <a:lnL>
                      <a:noFill/>
                    </a:lnL>
                    <a:lnR>
                      <a:noFill/>
                    </a:lnR>
                    <a:lnT>
                      <a:noFill/>
                    </a:lnT>
                    <a:lnB>
                      <a:noFill/>
                    </a:lnB>
                    <a:noFill/>
                  </a:tcPr>
                </a:tc>
                <a:tc hMerge="1">
                  <a:txBody>
                    <a:bodyPr/>
                    <a:lstStyle/>
                    <a:p>
                      <a:endParaRPr lang="en-US"/>
                    </a:p>
                  </a:txBody>
                  <a:tcPr/>
                </a:tc>
                <a:extLst>
                  <a:ext uri="{0D108BD9-81ED-4DB2-BD59-A6C34878D82A}">
                    <a16:rowId xmlns:a16="http://schemas.microsoft.com/office/drawing/2014/main" val="4179865368"/>
                  </a:ext>
                </a:extLst>
              </a:tr>
              <a:tr h="215900">
                <a:tc>
                  <a:txBody>
                    <a:bodyPr/>
                    <a:lstStyle/>
                    <a:p>
                      <a:pPr algn="l" fontAlgn="b">
                        <a:buNone/>
                      </a:pPr>
                      <a:r>
                        <a:rPr lang="en-SG" sz="1200" b="0" i="0" u="none" strike="noStrike" dirty="0" err="1">
                          <a:solidFill>
                            <a:schemeClr val="tx1"/>
                          </a:solidFill>
                          <a:effectLst/>
                          <a:latin typeface="+mn-lt"/>
                        </a:rPr>
                        <a:t>Market_segment</a:t>
                      </a:r>
                      <a:endParaRPr lang="en-SG" sz="1200" b="0" i="0" u="none" strike="noStrike" dirty="0">
                        <a:solidFill>
                          <a:schemeClr val="tx1"/>
                        </a:solidFill>
                        <a:effectLst/>
                        <a:latin typeface="+mn-lt"/>
                      </a:endParaRPr>
                    </a:p>
                  </a:txBody>
                  <a:tcPr marL="9525" marR="9525" marT="9525" marB="0" anchor="b">
                    <a:lnL>
                      <a:noFill/>
                    </a:lnL>
                    <a:lnR>
                      <a:noFill/>
                    </a:lnR>
                    <a:lnT>
                      <a:noFill/>
                    </a:lnT>
                    <a:lnB>
                      <a:noFill/>
                    </a:lnB>
                    <a:noFill/>
                  </a:tcPr>
                </a:tc>
                <a:tc>
                  <a:txBody>
                    <a:bodyPr/>
                    <a:lstStyle/>
                    <a:p>
                      <a:pPr algn="l" fontAlgn="b">
                        <a:buNone/>
                      </a:pPr>
                      <a:endParaRPr lang="en-SG" sz="1200" b="0" i="0" u="none" strike="noStrike" dirty="0">
                        <a:solidFill>
                          <a:schemeClr val="tx1"/>
                        </a:solidFill>
                        <a:effectLst/>
                        <a:latin typeface="+mn-lt"/>
                      </a:endParaRPr>
                    </a:p>
                  </a:txBody>
                  <a:tcPr marL="9525" marR="9525" marT="9525" marB="0" anchor="b">
                    <a:lnL>
                      <a:noFill/>
                    </a:lnL>
                    <a:lnR>
                      <a:noFill/>
                    </a:lnR>
                    <a:lnT>
                      <a:noFill/>
                    </a:lnT>
                    <a:lnB>
                      <a:noFill/>
                    </a:lnB>
                    <a:noFill/>
                  </a:tcPr>
                </a:tc>
                <a:extLst>
                  <a:ext uri="{0D108BD9-81ED-4DB2-BD59-A6C34878D82A}">
                    <a16:rowId xmlns:a16="http://schemas.microsoft.com/office/drawing/2014/main" val="1275340348"/>
                  </a:ext>
                </a:extLst>
              </a:tr>
            </a:tbl>
          </a:graphicData>
        </a:graphic>
      </p:graphicFrame>
    </p:spTree>
    <p:extLst>
      <p:ext uri="{BB962C8B-B14F-4D97-AF65-F5344CB8AC3E}">
        <p14:creationId xmlns:p14="http://schemas.microsoft.com/office/powerpoint/2010/main" val="3775921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E3727598-F960-901C-431B-A32FB27AF06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D47528-67F1-7694-9121-6194245BE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022FB0C-B095-52E8-8530-B0C537D386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6FA0F41-169A-DEC9-5051-0531E5D6B4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EA005414-1ECB-79D0-E721-03F7D6D8A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DDCEF827-2549-DDBE-0E16-8E9125A33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04E5CFF6-6F52-F2A0-74BB-943F646A8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81B1C7-9EC8-215E-4F7F-B00317D1AB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EAB9F797-A0A2-EE65-D159-534420E7E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AA84B0CF-D1AE-935D-EB7B-0F85133159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4ED699-A652-0BAE-49EE-55CFC23351D5}"/>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SG" sz="2800" dirty="0"/>
              <a:t>Executive</a:t>
            </a:r>
            <a:r>
              <a:rPr lang="en-US" sz="2800" dirty="0"/>
              <a:t> Conclusion _ Resort Hotel</a:t>
            </a:r>
          </a:p>
        </p:txBody>
      </p:sp>
      <p:sp>
        <p:nvSpPr>
          <p:cNvPr id="3" name="TextBox 2">
            <a:extLst>
              <a:ext uri="{FF2B5EF4-FFF2-40B4-BE49-F238E27FC236}">
                <a16:creationId xmlns:a16="http://schemas.microsoft.com/office/drawing/2014/main" id="{9C1C92F2-4540-BA27-22AF-A541E956DFBD}"/>
              </a:ext>
            </a:extLst>
          </p:cNvPr>
          <p:cNvSpPr txBox="1"/>
          <p:nvPr/>
        </p:nvSpPr>
        <p:spPr>
          <a:xfrm>
            <a:off x="1003266" y="2116168"/>
            <a:ext cx="10904428" cy="4665893"/>
          </a:xfrm>
          <a:prstGeom prst="rect">
            <a:avLst/>
          </a:prstGeom>
          <a:noFill/>
        </p:spPr>
        <p:txBody>
          <a:bodyPr wrap="square" rtlCol="0">
            <a:spAutoFit/>
          </a:bodyPr>
          <a:lstStyle/>
          <a:p>
            <a:r>
              <a:rPr lang="en-SG" sz="1400" dirty="0"/>
              <a:t>Resort Hotel's biggest challenge is its 27% cancellation rate, which causes approximately 4.59 million in lost revenue and 48,083 lost room nights. The strongest cancellation driver is long lead-time bookings (&gt;130 days), where cancellation rates increase to 39% (Lift = 1.45). Cancellation risk becomes even higher when combined with Online TA bookings, No Deposit reservations, and Transient customers, with some combinations exceeding 50% cancellation rates.</a:t>
            </a:r>
          </a:p>
          <a:p>
            <a:endParaRPr lang="en-SG" sz="1400" dirty="0"/>
          </a:p>
          <a:p>
            <a:r>
              <a:rPr lang="en-SG" sz="1400" dirty="0"/>
              <a:t>Management should prioritize a cancellation-reduction strategy focused on long lead-time reservations, OTA bookings, and high-risk European markets by introducing</a:t>
            </a:r>
          </a:p>
          <a:p>
            <a:endParaRPr lang="en-SG" sz="1400" dirty="0"/>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Deposit policies for high-risk reservations</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Automated booking reconfirmations before arrival</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Predictive cancellation scoring, based on lead time and booking channel</a:t>
            </a:r>
          </a:p>
          <a:p>
            <a:pPr marL="285750" indent="-285750" defTabSz="914400">
              <a:lnSpc>
                <a:spcPct val="120000"/>
              </a:lnSpc>
              <a:spcAft>
                <a:spcPts val="600"/>
              </a:spcAft>
              <a:buClr>
                <a:schemeClr val="accent6"/>
              </a:buClr>
              <a:buSzPct val="90000"/>
              <a:buFont typeface="Arial" panose="020B0604020202020204" pitchFamily="34" charset="0"/>
              <a:buChar char="•"/>
            </a:pPr>
            <a:r>
              <a:rPr lang="en-SG" sz="1400" dirty="0">
                <a:latin typeface="Arial" panose="020B0604020202020204" pitchFamily="34" charset="0"/>
                <a:cs typeface="Arial" panose="020B0604020202020204" pitchFamily="34" charset="0"/>
              </a:rPr>
              <a:t>Targeted incentives for direct bookings. </a:t>
            </a:r>
          </a:p>
          <a:p>
            <a:endParaRPr lang="en-SG" sz="1400" dirty="0"/>
          </a:p>
          <a:p>
            <a:r>
              <a:rPr lang="en-SG" sz="1400" dirty="0"/>
              <a:t>Quarter should not be treated as the root cause of cancellations. It is primarily a seasonal indicator that helps identify when cancellation risk increases.</a:t>
            </a:r>
          </a:p>
          <a:p>
            <a:endParaRPr lang="en-SG" sz="1400" dirty="0"/>
          </a:p>
          <a:p>
            <a:r>
              <a:rPr lang="en-SG" sz="1400" dirty="0"/>
              <a:t>If control of the core predictors (Lead Time, Market Segment, Deposit Type, Customer Type, and Country Zone) still results in high cancellation levels, management should then consider supporting predictors such as Quarter (especially Q2 and Q3), ADR bands above 110, and longer stays (&gt;7 nights), which show elevated cancellation tendencies but are secondary drivers rather than root causes.</a:t>
            </a:r>
          </a:p>
        </p:txBody>
      </p:sp>
      <p:sp>
        <p:nvSpPr>
          <p:cNvPr id="4" name="TextBox 3">
            <a:extLst>
              <a:ext uri="{FF2B5EF4-FFF2-40B4-BE49-F238E27FC236}">
                <a16:creationId xmlns:a16="http://schemas.microsoft.com/office/drawing/2014/main" id="{376BC430-4504-FE5F-DC90-494FCFD3938E}"/>
              </a:ext>
            </a:extLst>
          </p:cNvPr>
          <p:cNvSpPr txBox="1"/>
          <p:nvPr/>
        </p:nvSpPr>
        <p:spPr>
          <a:xfrm>
            <a:off x="7299658" y="237295"/>
            <a:ext cx="3059591" cy="1169551"/>
          </a:xfrm>
          <a:prstGeom prst="rect">
            <a:avLst/>
          </a:prstGeom>
          <a:noFill/>
        </p:spPr>
        <p:txBody>
          <a:bodyPr wrap="square" rtlCol="0">
            <a:spAutoFit/>
          </a:bodyPr>
          <a:lstStyle/>
          <a:p>
            <a:r>
              <a:rPr lang="en-SG" sz="1400" b="1" dirty="0">
                <a:latin typeface="Arial" panose="020B0604020202020204" pitchFamily="34" charset="0"/>
                <a:cs typeface="Arial" panose="020B0604020202020204" pitchFamily="34" charset="0"/>
              </a:rPr>
              <a:t>KPI Section</a:t>
            </a:r>
          </a:p>
          <a:p>
            <a:r>
              <a:rPr lang="en-SG" sz="1400" dirty="0">
                <a:latin typeface="Arial" panose="020B0604020202020204" pitchFamily="34" charset="0"/>
                <a:cs typeface="Arial" panose="020B0604020202020204" pitchFamily="34" charset="0"/>
              </a:rPr>
              <a:t>Revenue = 14.47M</a:t>
            </a:r>
            <a:br>
              <a:rPr lang="en-SG" sz="1400" dirty="0">
                <a:latin typeface="Arial" panose="020B0604020202020204" pitchFamily="34" charset="0"/>
                <a:cs typeface="Arial" panose="020B0604020202020204" pitchFamily="34" charset="0"/>
              </a:rPr>
            </a:br>
            <a:r>
              <a:rPr lang="en-SG" sz="1400" dirty="0">
                <a:latin typeface="Arial" panose="020B0604020202020204" pitchFamily="34" charset="0"/>
                <a:cs typeface="Arial" panose="020B0604020202020204" pitchFamily="34" charset="0"/>
              </a:rPr>
              <a:t>Lost Revenue = 4.59M</a:t>
            </a:r>
            <a:br>
              <a:rPr lang="en-SG" sz="1400" dirty="0">
                <a:latin typeface="Arial" panose="020B0604020202020204" pitchFamily="34" charset="0"/>
                <a:cs typeface="Arial" panose="020B0604020202020204" pitchFamily="34" charset="0"/>
              </a:rPr>
            </a:br>
            <a:r>
              <a:rPr lang="en-SG" sz="1400" dirty="0">
                <a:latin typeface="Arial" panose="020B0604020202020204" pitchFamily="34" charset="0"/>
                <a:cs typeface="Arial" panose="020B0604020202020204" pitchFamily="34" charset="0"/>
              </a:rPr>
              <a:t>Cancellation Rate = 27%</a:t>
            </a:r>
            <a:br>
              <a:rPr lang="en-SG" sz="1400" dirty="0">
                <a:latin typeface="Arial" panose="020B0604020202020204" pitchFamily="34" charset="0"/>
                <a:cs typeface="Arial" panose="020B0604020202020204" pitchFamily="34" charset="0"/>
              </a:rPr>
            </a:br>
            <a:r>
              <a:rPr lang="en-SG" sz="1400" dirty="0">
                <a:latin typeface="Arial" panose="020B0604020202020204" pitchFamily="34" charset="0"/>
                <a:cs typeface="Arial" panose="020B0604020202020204" pitchFamily="34" charset="0"/>
              </a:rPr>
              <a:t>Lost Nights = 48,083</a:t>
            </a:r>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9A40050-D14B-6479-DF12-C09606CED134}"/>
              </a:ext>
            </a:extLst>
          </p:cNvPr>
          <p:cNvSpPr txBox="1"/>
          <p:nvPr/>
        </p:nvSpPr>
        <p:spPr>
          <a:xfrm>
            <a:off x="9781929" y="231463"/>
            <a:ext cx="3059591" cy="1600438"/>
          </a:xfrm>
          <a:prstGeom prst="rect">
            <a:avLst/>
          </a:prstGeom>
          <a:noFill/>
        </p:spPr>
        <p:txBody>
          <a:bodyPr wrap="square" rtlCol="0">
            <a:spAutoFit/>
          </a:bodyPr>
          <a:lstStyle/>
          <a:p>
            <a:r>
              <a:rPr lang="en-SG" sz="1400" b="1" dirty="0">
                <a:latin typeface="Arial" panose="020B0604020202020204" pitchFamily="34" charset="0"/>
                <a:cs typeface="Arial" panose="020B0604020202020204" pitchFamily="34" charset="0"/>
              </a:rPr>
              <a:t>Risk Section</a:t>
            </a:r>
          </a:p>
          <a:p>
            <a:r>
              <a:rPr lang="en-SG" sz="1400" dirty="0">
                <a:latin typeface="Arial" panose="020B0604020202020204" pitchFamily="34" charset="0"/>
                <a:cs typeface="Arial" panose="020B0604020202020204" pitchFamily="34" charset="0"/>
              </a:rPr>
              <a:t>Lead Time &gt;130 days</a:t>
            </a:r>
            <a:br>
              <a:rPr lang="en-SG" sz="1400" dirty="0">
                <a:latin typeface="Arial" panose="020B0604020202020204" pitchFamily="34" charset="0"/>
                <a:cs typeface="Arial" panose="020B0604020202020204" pitchFamily="34" charset="0"/>
              </a:rPr>
            </a:br>
            <a:r>
              <a:rPr lang="en-SG" sz="1400" dirty="0">
                <a:latin typeface="Arial" panose="020B0604020202020204" pitchFamily="34" charset="0"/>
                <a:cs typeface="Arial" panose="020B0604020202020204" pitchFamily="34" charset="0"/>
              </a:rPr>
              <a:t>Online TA bookings</a:t>
            </a:r>
            <a:br>
              <a:rPr lang="en-SG" sz="1400" dirty="0">
                <a:latin typeface="Arial" panose="020B0604020202020204" pitchFamily="34" charset="0"/>
                <a:cs typeface="Arial" panose="020B0604020202020204" pitchFamily="34" charset="0"/>
              </a:rPr>
            </a:br>
            <a:r>
              <a:rPr lang="en-SG" sz="1400" dirty="0">
                <a:latin typeface="Arial" panose="020B0604020202020204" pitchFamily="34" charset="0"/>
                <a:cs typeface="Arial" panose="020B0604020202020204" pitchFamily="34" charset="0"/>
              </a:rPr>
              <a:t>European guests</a:t>
            </a:r>
            <a:br>
              <a:rPr lang="en-SG" sz="1400" dirty="0">
                <a:latin typeface="Arial" panose="020B0604020202020204" pitchFamily="34" charset="0"/>
                <a:cs typeface="Arial" panose="020B0604020202020204" pitchFamily="34" charset="0"/>
              </a:rPr>
            </a:br>
            <a:r>
              <a:rPr lang="en-SG" sz="1400" dirty="0">
                <a:latin typeface="Arial" panose="020B0604020202020204" pitchFamily="34" charset="0"/>
                <a:cs typeface="Arial" panose="020B0604020202020204" pitchFamily="34" charset="0"/>
              </a:rPr>
              <a:t>Transient guests</a:t>
            </a:r>
            <a:br>
              <a:rPr lang="en-SG" sz="1400" dirty="0">
                <a:latin typeface="Arial" panose="020B0604020202020204" pitchFamily="34" charset="0"/>
                <a:cs typeface="Arial" panose="020B0604020202020204" pitchFamily="34" charset="0"/>
              </a:rPr>
            </a:br>
            <a:r>
              <a:rPr lang="en-SG" sz="1400" dirty="0">
                <a:latin typeface="Arial" panose="020B0604020202020204" pitchFamily="34" charset="0"/>
                <a:cs typeface="Arial" panose="020B0604020202020204" pitchFamily="34" charset="0"/>
              </a:rPr>
              <a:t>No Deposit bookings</a:t>
            </a:r>
            <a:br>
              <a:rPr lang="en-SG" sz="1400" dirty="0">
                <a:latin typeface="Arial" panose="020B0604020202020204" pitchFamily="34" charset="0"/>
                <a:cs typeface="Arial" panose="020B0604020202020204" pitchFamily="34" charset="0"/>
              </a:rPr>
            </a:br>
            <a:r>
              <a:rPr lang="en-SG" sz="1400" dirty="0">
                <a:latin typeface="Arial" panose="020B0604020202020204" pitchFamily="34" charset="0"/>
                <a:cs typeface="Arial" panose="020B0604020202020204" pitchFamily="34" charset="0"/>
              </a:rPr>
              <a:t>Online TA segment</a:t>
            </a:r>
          </a:p>
        </p:txBody>
      </p:sp>
    </p:spTree>
    <p:extLst>
      <p:ext uri="{BB962C8B-B14F-4D97-AF65-F5344CB8AC3E}">
        <p14:creationId xmlns:p14="http://schemas.microsoft.com/office/powerpoint/2010/main" val="6845644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C61FBBF2-D5D1-53E7-E80A-CE49687DD12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39CE00F-A3D7-793C-B21E-92E015E34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4D3BA3-8F35-05B2-58B4-D6835D08E9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ED827A8-B2BA-EE07-AE77-F347FC684EB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14" name="Freeform: Shape 13">
            <a:extLst>
              <a:ext uri="{FF2B5EF4-FFF2-40B4-BE49-F238E27FC236}">
                <a16:creationId xmlns:a16="http://schemas.microsoft.com/office/drawing/2014/main" id="{2F88E7CC-3269-13E4-952B-2174D93CA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FBC33655-B921-C843-BF0C-15FD12B390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8" name="Rectangle 17">
            <a:extLst>
              <a:ext uri="{FF2B5EF4-FFF2-40B4-BE49-F238E27FC236}">
                <a16:creationId xmlns:a16="http://schemas.microsoft.com/office/drawing/2014/main" id="{FC511B2C-A51D-2C58-1F87-03F110924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70E4AF3A-3F0C-4AAC-8B00-A94B8D0858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C23DD43C-3DF2-F755-A1E9-936C0993E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C9C945BA-D64D-6D0D-87F1-FC8734011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2A0C3F71-6EC9-6D04-DEB5-F9783D0DBB7E}"/>
              </a:ext>
            </a:extLst>
          </p:cNvPr>
          <p:cNvGraphicFramePr>
            <a:graphicFrameLocks noGrp="1"/>
          </p:cNvGraphicFramePr>
          <p:nvPr>
            <p:extLst>
              <p:ext uri="{D42A27DB-BD31-4B8C-83A1-F6EECF244321}">
                <p14:modId xmlns:p14="http://schemas.microsoft.com/office/powerpoint/2010/main" val="4256910150"/>
              </p:ext>
            </p:extLst>
          </p:nvPr>
        </p:nvGraphicFramePr>
        <p:xfrm>
          <a:off x="2691670" y="813307"/>
          <a:ext cx="6957515" cy="3560094"/>
        </p:xfrm>
        <a:graphic>
          <a:graphicData uri="http://schemas.openxmlformats.org/drawingml/2006/table">
            <a:tbl>
              <a:tblPr firstRow="1" bandRow="1">
                <a:tableStyleId>{9D7B26C5-4107-4FEC-AEDC-1716B250A1EF}</a:tableStyleId>
              </a:tblPr>
              <a:tblGrid>
                <a:gridCol w="2937525">
                  <a:extLst>
                    <a:ext uri="{9D8B030D-6E8A-4147-A177-3AD203B41FA5}">
                      <a16:colId xmlns:a16="http://schemas.microsoft.com/office/drawing/2014/main" val="1402373573"/>
                    </a:ext>
                  </a:extLst>
                </a:gridCol>
                <a:gridCol w="1797970">
                  <a:extLst>
                    <a:ext uri="{9D8B030D-6E8A-4147-A177-3AD203B41FA5}">
                      <a16:colId xmlns:a16="http://schemas.microsoft.com/office/drawing/2014/main" val="3085956223"/>
                    </a:ext>
                  </a:extLst>
                </a:gridCol>
                <a:gridCol w="2222020">
                  <a:extLst>
                    <a:ext uri="{9D8B030D-6E8A-4147-A177-3AD203B41FA5}">
                      <a16:colId xmlns:a16="http://schemas.microsoft.com/office/drawing/2014/main" val="1816502313"/>
                    </a:ext>
                  </a:extLst>
                </a:gridCol>
              </a:tblGrid>
              <a:tr h="245300">
                <a:tc>
                  <a:txBody>
                    <a:bodyPr/>
                    <a:lstStyle/>
                    <a:p>
                      <a:pPr>
                        <a:buNone/>
                      </a:pPr>
                      <a:r>
                        <a:rPr lang="en-SG" sz="1400"/>
                        <a:t>KPI</a:t>
                      </a:r>
                    </a:p>
                  </a:txBody>
                  <a:tcPr marL="70129" marR="70129" marT="35064" marB="35064" anchor="ctr"/>
                </a:tc>
                <a:tc>
                  <a:txBody>
                    <a:bodyPr/>
                    <a:lstStyle/>
                    <a:p>
                      <a:pPr>
                        <a:buNone/>
                      </a:pPr>
                      <a:r>
                        <a:rPr lang="en-SG" sz="1400"/>
                        <a:t>City Hotel</a:t>
                      </a:r>
                    </a:p>
                  </a:txBody>
                  <a:tcPr marL="70129" marR="70129" marT="35064" marB="35064" anchor="ctr"/>
                </a:tc>
                <a:tc>
                  <a:txBody>
                    <a:bodyPr/>
                    <a:lstStyle/>
                    <a:p>
                      <a:pPr>
                        <a:buNone/>
                      </a:pPr>
                      <a:r>
                        <a:rPr lang="en-SG" sz="1400"/>
                        <a:t>Resort Hotel</a:t>
                      </a:r>
                    </a:p>
                  </a:txBody>
                  <a:tcPr marL="70129" marR="70129" marT="35064" marB="35064" anchor="ctr"/>
                </a:tc>
                <a:extLst>
                  <a:ext uri="{0D108BD9-81ED-4DB2-BD59-A6C34878D82A}">
                    <a16:rowId xmlns:a16="http://schemas.microsoft.com/office/drawing/2014/main" val="385664872"/>
                  </a:ext>
                </a:extLst>
              </a:tr>
              <a:tr h="245300">
                <a:tc>
                  <a:txBody>
                    <a:bodyPr/>
                    <a:lstStyle/>
                    <a:p>
                      <a:pPr>
                        <a:buNone/>
                      </a:pPr>
                      <a:r>
                        <a:rPr lang="en-SG" sz="1400"/>
                        <a:t>Total Revenue</a:t>
                      </a:r>
                    </a:p>
                  </a:txBody>
                  <a:tcPr marL="70129" marR="70129" marT="35064" marB="35064" anchor="ctr"/>
                </a:tc>
                <a:tc>
                  <a:txBody>
                    <a:bodyPr/>
                    <a:lstStyle/>
                    <a:p>
                      <a:pPr>
                        <a:buNone/>
                      </a:pPr>
                      <a:r>
                        <a:rPr lang="en-SG" sz="1400" dirty="0"/>
                        <a:t>11.5M</a:t>
                      </a:r>
                    </a:p>
                  </a:txBody>
                  <a:tcPr marL="70129" marR="70129" marT="35064" marB="35064" anchor="ctr"/>
                </a:tc>
                <a:tc>
                  <a:txBody>
                    <a:bodyPr/>
                    <a:lstStyle/>
                    <a:p>
                      <a:pPr>
                        <a:buNone/>
                      </a:pPr>
                      <a:r>
                        <a:rPr lang="en-SG" sz="1400" dirty="0"/>
                        <a:t>9.88M</a:t>
                      </a:r>
                    </a:p>
                  </a:txBody>
                  <a:tcPr marL="70129" marR="70129" marT="35064" marB="35064" anchor="ctr"/>
                </a:tc>
                <a:extLst>
                  <a:ext uri="{0D108BD9-81ED-4DB2-BD59-A6C34878D82A}">
                    <a16:rowId xmlns:a16="http://schemas.microsoft.com/office/drawing/2014/main" val="3715430323"/>
                  </a:ext>
                </a:extLst>
              </a:tr>
              <a:tr h="245300">
                <a:tc>
                  <a:txBody>
                    <a:bodyPr/>
                    <a:lstStyle/>
                    <a:p>
                      <a:pPr>
                        <a:buNone/>
                      </a:pPr>
                      <a:r>
                        <a:rPr lang="en-SG" sz="1400"/>
                        <a:t>Lost Revenue</a:t>
                      </a:r>
                    </a:p>
                  </a:txBody>
                  <a:tcPr marL="70129" marR="70129" marT="35064" marB="35064" anchor="ctr"/>
                </a:tc>
                <a:tc>
                  <a:txBody>
                    <a:bodyPr/>
                    <a:lstStyle/>
                    <a:p>
                      <a:pPr>
                        <a:buNone/>
                      </a:pPr>
                      <a:r>
                        <a:rPr lang="en-SG" sz="1400" dirty="0"/>
                        <a:t>4.57M</a:t>
                      </a:r>
                    </a:p>
                  </a:txBody>
                  <a:tcPr marL="70129" marR="70129" marT="35064" marB="35064" anchor="ctr"/>
                </a:tc>
                <a:tc>
                  <a:txBody>
                    <a:bodyPr/>
                    <a:lstStyle/>
                    <a:p>
                      <a:pPr>
                        <a:buNone/>
                      </a:pPr>
                      <a:r>
                        <a:rPr lang="en-SG" sz="1400" dirty="0"/>
                        <a:t>4.59M</a:t>
                      </a:r>
                    </a:p>
                  </a:txBody>
                  <a:tcPr marL="70129" marR="70129" marT="35064" marB="35064" anchor="ctr"/>
                </a:tc>
                <a:extLst>
                  <a:ext uri="{0D108BD9-81ED-4DB2-BD59-A6C34878D82A}">
                    <a16:rowId xmlns:a16="http://schemas.microsoft.com/office/drawing/2014/main" val="3673555119"/>
                  </a:ext>
                </a:extLst>
              </a:tr>
              <a:tr h="245300">
                <a:tc>
                  <a:txBody>
                    <a:bodyPr/>
                    <a:lstStyle/>
                    <a:p>
                      <a:pPr>
                        <a:buNone/>
                      </a:pPr>
                      <a:r>
                        <a:rPr lang="en-SG" sz="1400"/>
                        <a:t>Cancellation Rate</a:t>
                      </a:r>
                    </a:p>
                  </a:txBody>
                  <a:tcPr marL="70129" marR="70129" marT="35064" marB="35064" anchor="ctr"/>
                </a:tc>
                <a:tc>
                  <a:txBody>
                    <a:bodyPr/>
                    <a:lstStyle/>
                    <a:p>
                      <a:pPr>
                        <a:buNone/>
                      </a:pPr>
                      <a:r>
                        <a:rPr lang="en-SG" sz="1400"/>
                        <a:t>40%</a:t>
                      </a:r>
                    </a:p>
                  </a:txBody>
                  <a:tcPr marL="70129" marR="70129" marT="35064" marB="35064" anchor="ctr"/>
                </a:tc>
                <a:tc>
                  <a:txBody>
                    <a:bodyPr/>
                    <a:lstStyle/>
                    <a:p>
                      <a:pPr>
                        <a:buNone/>
                      </a:pPr>
                      <a:r>
                        <a:rPr lang="en-SG" sz="1400"/>
                        <a:t>27%</a:t>
                      </a:r>
                    </a:p>
                  </a:txBody>
                  <a:tcPr marL="70129" marR="70129" marT="35064" marB="35064" anchor="ctr"/>
                </a:tc>
                <a:extLst>
                  <a:ext uri="{0D108BD9-81ED-4DB2-BD59-A6C34878D82A}">
                    <a16:rowId xmlns:a16="http://schemas.microsoft.com/office/drawing/2014/main" val="1410266183"/>
                  </a:ext>
                </a:extLst>
              </a:tr>
              <a:tr h="245300">
                <a:tc>
                  <a:txBody>
                    <a:bodyPr/>
                    <a:lstStyle/>
                    <a:p>
                      <a:pPr>
                        <a:buNone/>
                      </a:pPr>
                      <a:r>
                        <a:rPr lang="en-SG" sz="1400"/>
                        <a:t>Lost Nights</a:t>
                      </a:r>
                    </a:p>
                  </a:txBody>
                  <a:tcPr marL="70129" marR="70129" marT="35064" marB="35064" anchor="ctr"/>
                </a:tc>
                <a:tc>
                  <a:txBody>
                    <a:bodyPr/>
                    <a:lstStyle/>
                    <a:p>
                      <a:pPr>
                        <a:buNone/>
                      </a:pPr>
                      <a:r>
                        <a:rPr lang="en-SG" sz="1400"/>
                        <a:t>95,873</a:t>
                      </a:r>
                    </a:p>
                  </a:txBody>
                  <a:tcPr marL="70129" marR="70129" marT="35064" marB="35064" anchor="ctr"/>
                </a:tc>
                <a:tc>
                  <a:txBody>
                    <a:bodyPr/>
                    <a:lstStyle/>
                    <a:p>
                      <a:pPr>
                        <a:buNone/>
                      </a:pPr>
                      <a:r>
                        <a:rPr lang="en-SG" sz="1400"/>
                        <a:t>47,152</a:t>
                      </a:r>
                    </a:p>
                  </a:txBody>
                  <a:tcPr marL="70129" marR="70129" marT="35064" marB="35064" anchor="ctr"/>
                </a:tc>
                <a:extLst>
                  <a:ext uri="{0D108BD9-81ED-4DB2-BD59-A6C34878D82A}">
                    <a16:rowId xmlns:a16="http://schemas.microsoft.com/office/drawing/2014/main" val="3172971187"/>
                  </a:ext>
                </a:extLst>
              </a:tr>
              <a:tr h="245300">
                <a:tc>
                  <a:txBody>
                    <a:bodyPr/>
                    <a:lstStyle/>
                    <a:p>
                      <a:pPr>
                        <a:buNone/>
                      </a:pPr>
                      <a:r>
                        <a:rPr lang="en-SG" sz="1400" dirty="0" err="1"/>
                        <a:t>Avg</a:t>
                      </a:r>
                      <a:r>
                        <a:rPr lang="en-SG" sz="1400" dirty="0"/>
                        <a:t> Lead Time Cancelled</a:t>
                      </a:r>
                    </a:p>
                  </a:txBody>
                  <a:tcPr marL="70129" marR="70129" marT="35064" marB="35064" anchor="ctr"/>
                </a:tc>
                <a:tc>
                  <a:txBody>
                    <a:bodyPr/>
                    <a:lstStyle/>
                    <a:p>
                      <a:pPr>
                        <a:buNone/>
                      </a:pPr>
                      <a:r>
                        <a:rPr lang="en-SG" sz="1400" dirty="0"/>
                        <a:t>151 days</a:t>
                      </a:r>
                    </a:p>
                  </a:txBody>
                  <a:tcPr marL="70129" marR="70129" marT="35064" marB="35064" anchor="ctr"/>
                </a:tc>
                <a:tc>
                  <a:txBody>
                    <a:bodyPr/>
                    <a:lstStyle/>
                    <a:p>
                      <a:pPr>
                        <a:buNone/>
                      </a:pPr>
                      <a:r>
                        <a:rPr lang="en-SG" sz="1400"/>
                        <a:t>131 days</a:t>
                      </a:r>
                    </a:p>
                  </a:txBody>
                  <a:tcPr marL="70129" marR="70129" marT="35064" marB="35064" anchor="ctr"/>
                </a:tc>
                <a:extLst>
                  <a:ext uri="{0D108BD9-81ED-4DB2-BD59-A6C34878D82A}">
                    <a16:rowId xmlns:a16="http://schemas.microsoft.com/office/drawing/2014/main" val="3826191003"/>
                  </a:ext>
                </a:extLst>
              </a:tr>
              <a:tr h="362607">
                <a:tc>
                  <a:txBody>
                    <a:bodyPr/>
                    <a:lstStyle/>
                    <a:p>
                      <a:pPr>
                        <a:buNone/>
                      </a:pPr>
                      <a:r>
                        <a:rPr lang="en-SG" sz="1400"/>
                        <a:t>Avg Lead Time Non-Cancelled</a:t>
                      </a:r>
                    </a:p>
                  </a:txBody>
                  <a:tcPr marL="70129" marR="70129" marT="35064" marB="35064" anchor="ctr"/>
                </a:tc>
                <a:tc>
                  <a:txBody>
                    <a:bodyPr/>
                    <a:lstStyle/>
                    <a:p>
                      <a:pPr>
                        <a:buNone/>
                      </a:pPr>
                      <a:r>
                        <a:rPr lang="en-SG" sz="1400" dirty="0"/>
                        <a:t>81 days</a:t>
                      </a:r>
                    </a:p>
                  </a:txBody>
                  <a:tcPr marL="70129" marR="70129" marT="35064" marB="35064" anchor="ctr"/>
                </a:tc>
                <a:tc>
                  <a:txBody>
                    <a:bodyPr/>
                    <a:lstStyle/>
                    <a:p>
                      <a:pPr>
                        <a:buNone/>
                      </a:pPr>
                      <a:r>
                        <a:rPr lang="en-SG" sz="1400"/>
                        <a:t>79 days</a:t>
                      </a:r>
                    </a:p>
                  </a:txBody>
                  <a:tcPr marL="70129" marR="70129" marT="35064" marB="35064" anchor="ctr"/>
                </a:tc>
                <a:extLst>
                  <a:ext uri="{0D108BD9-81ED-4DB2-BD59-A6C34878D82A}">
                    <a16:rowId xmlns:a16="http://schemas.microsoft.com/office/drawing/2014/main" val="1782585752"/>
                  </a:ext>
                </a:extLst>
              </a:tr>
              <a:tr h="245300">
                <a:tc>
                  <a:txBody>
                    <a:bodyPr/>
                    <a:lstStyle/>
                    <a:p>
                      <a:pPr>
                        <a:buNone/>
                      </a:pPr>
                      <a:r>
                        <a:rPr lang="en-SG" sz="1400"/>
                        <a:t>Highest Risk Segment</a:t>
                      </a:r>
                    </a:p>
                  </a:txBody>
                  <a:tcPr marL="70129" marR="70129" marT="35064" marB="35064" anchor="ctr"/>
                </a:tc>
                <a:tc>
                  <a:txBody>
                    <a:bodyPr/>
                    <a:lstStyle/>
                    <a:p>
                      <a:pPr>
                        <a:buNone/>
                      </a:pPr>
                      <a:r>
                        <a:rPr lang="en-SG" sz="1400"/>
                        <a:t>Online TA</a:t>
                      </a:r>
                    </a:p>
                  </a:txBody>
                  <a:tcPr marL="70129" marR="70129" marT="35064" marB="35064" anchor="ctr"/>
                </a:tc>
                <a:tc>
                  <a:txBody>
                    <a:bodyPr/>
                    <a:lstStyle/>
                    <a:p>
                      <a:pPr>
                        <a:buNone/>
                      </a:pPr>
                      <a:r>
                        <a:rPr lang="en-SG" sz="1400"/>
                        <a:t>Online TA</a:t>
                      </a:r>
                    </a:p>
                  </a:txBody>
                  <a:tcPr marL="70129" marR="70129" marT="35064" marB="35064" anchor="ctr"/>
                </a:tc>
                <a:extLst>
                  <a:ext uri="{0D108BD9-81ED-4DB2-BD59-A6C34878D82A}">
                    <a16:rowId xmlns:a16="http://schemas.microsoft.com/office/drawing/2014/main" val="1752140601"/>
                  </a:ext>
                </a:extLst>
              </a:tr>
              <a:tr h="245300">
                <a:tc>
                  <a:txBody>
                    <a:bodyPr/>
                    <a:lstStyle/>
                    <a:p>
                      <a:pPr>
                        <a:buNone/>
                      </a:pPr>
                      <a:r>
                        <a:rPr lang="en-SG" sz="1400"/>
                        <a:t>Highest Risk Lead Time</a:t>
                      </a:r>
                    </a:p>
                  </a:txBody>
                  <a:tcPr marL="70129" marR="70129" marT="35064" marB="35064" anchor="ctr"/>
                </a:tc>
                <a:tc>
                  <a:txBody>
                    <a:bodyPr/>
                    <a:lstStyle/>
                    <a:p>
                      <a:pPr>
                        <a:buNone/>
                      </a:pPr>
                      <a:r>
                        <a:rPr lang="en-SG" sz="1400"/>
                        <a:t>&gt;150 days</a:t>
                      </a:r>
                    </a:p>
                  </a:txBody>
                  <a:tcPr marL="70129" marR="70129" marT="35064" marB="35064" anchor="ctr"/>
                </a:tc>
                <a:tc>
                  <a:txBody>
                    <a:bodyPr/>
                    <a:lstStyle/>
                    <a:p>
                      <a:pPr>
                        <a:buNone/>
                      </a:pPr>
                      <a:r>
                        <a:rPr lang="en-SG" sz="1400"/>
                        <a:t>&gt;130 days</a:t>
                      </a:r>
                    </a:p>
                  </a:txBody>
                  <a:tcPr marL="70129" marR="70129" marT="35064" marB="35064" anchor="ctr"/>
                </a:tc>
                <a:extLst>
                  <a:ext uri="{0D108BD9-81ED-4DB2-BD59-A6C34878D82A}">
                    <a16:rowId xmlns:a16="http://schemas.microsoft.com/office/drawing/2014/main" val="1013946093"/>
                  </a:ext>
                </a:extLst>
              </a:tr>
              <a:tr h="245300">
                <a:tc>
                  <a:txBody>
                    <a:bodyPr/>
                    <a:lstStyle/>
                    <a:p>
                      <a:pPr>
                        <a:buNone/>
                      </a:pPr>
                      <a:r>
                        <a:rPr lang="en-SG" sz="1400"/>
                        <a:t>Highest Risk Deposit</a:t>
                      </a:r>
                    </a:p>
                  </a:txBody>
                  <a:tcPr marL="70129" marR="70129" marT="35064" marB="35064" anchor="ctr"/>
                </a:tc>
                <a:tc>
                  <a:txBody>
                    <a:bodyPr/>
                    <a:lstStyle/>
                    <a:p>
                      <a:pPr>
                        <a:buNone/>
                      </a:pPr>
                      <a:r>
                        <a:rPr lang="en-SG" sz="1400"/>
                        <a:t>No Deposit</a:t>
                      </a:r>
                    </a:p>
                  </a:txBody>
                  <a:tcPr marL="70129" marR="70129" marT="35064" marB="35064" anchor="ctr"/>
                </a:tc>
                <a:tc>
                  <a:txBody>
                    <a:bodyPr/>
                    <a:lstStyle/>
                    <a:p>
                      <a:pPr>
                        <a:buNone/>
                      </a:pPr>
                      <a:r>
                        <a:rPr lang="en-SG" sz="1400"/>
                        <a:t>No Deposit</a:t>
                      </a:r>
                    </a:p>
                  </a:txBody>
                  <a:tcPr marL="70129" marR="70129" marT="35064" marB="35064" anchor="ctr"/>
                </a:tc>
                <a:extLst>
                  <a:ext uri="{0D108BD9-81ED-4DB2-BD59-A6C34878D82A}">
                    <a16:rowId xmlns:a16="http://schemas.microsoft.com/office/drawing/2014/main" val="2293287828"/>
                  </a:ext>
                </a:extLst>
              </a:tr>
              <a:tr h="362607">
                <a:tc>
                  <a:txBody>
                    <a:bodyPr/>
                    <a:lstStyle/>
                    <a:p>
                      <a:pPr>
                        <a:buNone/>
                      </a:pPr>
                      <a:r>
                        <a:rPr lang="en-SG" sz="1400"/>
                        <a:t>Highest Risk Customer Type</a:t>
                      </a:r>
                    </a:p>
                  </a:txBody>
                  <a:tcPr marL="70129" marR="70129" marT="35064" marB="35064" anchor="ctr"/>
                </a:tc>
                <a:tc>
                  <a:txBody>
                    <a:bodyPr/>
                    <a:lstStyle/>
                    <a:p>
                      <a:pPr>
                        <a:buNone/>
                      </a:pPr>
                      <a:r>
                        <a:rPr lang="en-SG" sz="1400"/>
                        <a:t>Transient</a:t>
                      </a:r>
                    </a:p>
                  </a:txBody>
                  <a:tcPr marL="70129" marR="70129" marT="35064" marB="35064" anchor="ctr"/>
                </a:tc>
                <a:tc>
                  <a:txBody>
                    <a:bodyPr/>
                    <a:lstStyle/>
                    <a:p>
                      <a:pPr>
                        <a:buNone/>
                      </a:pPr>
                      <a:r>
                        <a:rPr lang="en-SG" sz="1400"/>
                        <a:t>Transient</a:t>
                      </a:r>
                    </a:p>
                  </a:txBody>
                  <a:tcPr marL="70129" marR="70129" marT="35064" marB="35064" anchor="ctr"/>
                </a:tc>
                <a:extLst>
                  <a:ext uri="{0D108BD9-81ED-4DB2-BD59-A6C34878D82A}">
                    <a16:rowId xmlns:a16="http://schemas.microsoft.com/office/drawing/2014/main" val="2012029973"/>
                  </a:ext>
                </a:extLst>
              </a:tr>
              <a:tr h="245300">
                <a:tc>
                  <a:txBody>
                    <a:bodyPr/>
                    <a:lstStyle/>
                    <a:p>
                      <a:pPr>
                        <a:buNone/>
                      </a:pPr>
                      <a:r>
                        <a:rPr lang="en-SG" sz="1400"/>
                        <a:t>Highest Risk Region</a:t>
                      </a:r>
                    </a:p>
                  </a:txBody>
                  <a:tcPr marL="70129" marR="70129" marT="35064" marB="35064" anchor="ctr"/>
                </a:tc>
                <a:tc>
                  <a:txBody>
                    <a:bodyPr/>
                    <a:lstStyle/>
                    <a:p>
                      <a:pPr>
                        <a:buNone/>
                      </a:pPr>
                      <a:r>
                        <a:rPr lang="en-SG" sz="1400"/>
                        <a:t>Europe</a:t>
                      </a:r>
                    </a:p>
                  </a:txBody>
                  <a:tcPr marL="70129" marR="70129" marT="35064" marB="35064" anchor="ctr"/>
                </a:tc>
                <a:tc>
                  <a:txBody>
                    <a:bodyPr/>
                    <a:lstStyle/>
                    <a:p>
                      <a:pPr>
                        <a:buNone/>
                      </a:pPr>
                      <a:r>
                        <a:rPr lang="en-SG" sz="1400" dirty="0"/>
                        <a:t>Europe</a:t>
                      </a:r>
                    </a:p>
                  </a:txBody>
                  <a:tcPr marL="70129" marR="70129" marT="35064" marB="35064" anchor="ctr"/>
                </a:tc>
                <a:extLst>
                  <a:ext uri="{0D108BD9-81ED-4DB2-BD59-A6C34878D82A}">
                    <a16:rowId xmlns:a16="http://schemas.microsoft.com/office/drawing/2014/main" val="693687269"/>
                  </a:ext>
                </a:extLst>
              </a:tr>
            </a:tbl>
          </a:graphicData>
        </a:graphic>
      </p:graphicFrame>
      <p:sp>
        <p:nvSpPr>
          <p:cNvPr id="6" name="TextBox 5">
            <a:extLst>
              <a:ext uri="{FF2B5EF4-FFF2-40B4-BE49-F238E27FC236}">
                <a16:creationId xmlns:a16="http://schemas.microsoft.com/office/drawing/2014/main" id="{F133E76A-4627-32CC-5DF0-63627CC84DD0}"/>
              </a:ext>
            </a:extLst>
          </p:cNvPr>
          <p:cNvSpPr txBox="1"/>
          <p:nvPr/>
        </p:nvSpPr>
        <p:spPr>
          <a:xfrm>
            <a:off x="1258229" y="4537832"/>
            <a:ext cx="10378323" cy="2031325"/>
          </a:xfrm>
          <a:prstGeom prst="rect">
            <a:avLst/>
          </a:prstGeom>
          <a:noFill/>
        </p:spPr>
        <p:txBody>
          <a:bodyPr wrap="square">
            <a:spAutoFit/>
          </a:bodyPr>
          <a:lstStyle/>
          <a:p>
            <a:r>
              <a:rPr lang="en-SG" sz="1400" dirty="0"/>
              <a:t>City Hotel has a much higher cancellation rate (40% vs 27%). Resort Hotel loses almost the same revenue (4.59M) despite a lower cancellation rate because cancelled bookings have higher ADR and longer stays.</a:t>
            </a:r>
          </a:p>
          <a:p>
            <a:endParaRPr lang="en-SG" sz="1400" dirty="0"/>
          </a:p>
          <a:p>
            <a:r>
              <a:rPr lang="en-SG" sz="1400" dirty="0"/>
              <a:t>Both hotels share the same core predictors: </a:t>
            </a:r>
          </a:p>
          <a:p>
            <a:pPr marL="342900" indent="-342900">
              <a:buFont typeface="Arial" panose="020B0604020202020204" pitchFamily="34" charset="0"/>
              <a:buChar char="•"/>
            </a:pPr>
            <a:r>
              <a:rPr lang="en-SG" sz="1400" dirty="0"/>
              <a:t>Long Lead Time </a:t>
            </a:r>
          </a:p>
          <a:p>
            <a:pPr marL="342900" indent="-342900">
              <a:buFont typeface="Arial" panose="020B0604020202020204" pitchFamily="34" charset="0"/>
              <a:buChar char="•"/>
            </a:pPr>
            <a:r>
              <a:rPr lang="en-SG" sz="1400" dirty="0"/>
              <a:t>Online TA / TA-TO channels </a:t>
            </a:r>
          </a:p>
          <a:p>
            <a:pPr marL="342900" indent="-342900">
              <a:buFont typeface="Arial" panose="020B0604020202020204" pitchFamily="34" charset="0"/>
              <a:buChar char="•"/>
            </a:pPr>
            <a:r>
              <a:rPr lang="en-SG" sz="1400" dirty="0"/>
              <a:t>Transient customers </a:t>
            </a:r>
          </a:p>
          <a:p>
            <a:pPr marL="342900" indent="-342900">
              <a:buFont typeface="Arial" panose="020B0604020202020204" pitchFamily="34" charset="0"/>
              <a:buChar char="•"/>
            </a:pPr>
            <a:r>
              <a:rPr lang="en-SG" sz="1400" dirty="0"/>
              <a:t>No Deposit bookings </a:t>
            </a:r>
          </a:p>
          <a:p>
            <a:pPr marL="342900" indent="-342900">
              <a:buFont typeface="Arial" panose="020B0604020202020204" pitchFamily="34" charset="0"/>
              <a:buChar char="•"/>
            </a:pPr>
            <a:r>
              <a:rPr lang="en-SG" sz="1400" dirty="0"/>
              <a:t>European guests</a:t>
            </a:r>
          </a:p>
        </p:txBody>
      </p:sp>
      <p:sp>
        <p:nvSpPr>
          <p:cNvPr id="7" name="Title 1">
            <a:extLst>
              <a:ext uri="{FF2B5EF4-FFF2-40B4-BE49-F238E27FC236}">
                <a16:creationId xmlns:a16="http://schemas.microsoft.com/office/drawing/2014/main" id="{0F548795-9C57-A698-4039-2D2810BEAA9B}"/>
              </a:ext>
            </a:extLst>
          </p:cNvPr>
          <p:cNvSpPr txBox="1">
            <a:spLocks/>
          </p:cNvSpPr>
          <p:nvPr/>
        </p:nvSpPr>
        <p:spPr>
          <a:xfrm>
            <a:off x="994279" y="223754"/>
            <a:ext cx="7304401" cy="46166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800" dirty="0"/>
              <a:t>Comparison of City Hotel and Resort Hotel</a:t>
            </a:r>
          </a:p>
        </p:txBody>
      </p:sp>
    </p:spTree>
    <p:extLst>
      <p:ext uri="{BB962C8B-B14F-4D97-AF65-F5344CB8AC3E}">
        <p14:creationId xmlns:p14="http://schemas.microsoft.com/office/powerpoint/2010/main" val="30516369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F0B51748-2D43-805C-BD2B-BD339AE2BFF3}"/>
            </a:ext>
          </a:extLst>
        </p:cNvPr>
        <p:cNvGrpSpPr/>
        <p:nvPr/>
      </p:nvGrpSpPr>
      <p:grpSpPr>
        <a:xfrm>
          <a:off x="0" y="0"/>
          <a:ext cx="0" cy="0"/>
          <a:chOff x="0" y="0"/>
          <a:chExt cx="0" cy="0"/>
        </a:xfrm>
      </p:grpSpPr>
      <p:pic>
        <p:nvPicPr>
          <p:cNvPr id="63" name="Picture 62">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64" name="Picture 63">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65" name="Rectangle 64">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6" name="Rectangle 65">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7" name="Rectangle 66">
            <a:extLst>
              <a:ext uri="{FF2B5EF4-FFF2-40B4-BE49-F238E27FC236}">
                <a16:creationId xmlns:a16="http://schemas.microsoft.com/office/drawing/2014/main" id="{BAF0407B-48CB-4C05-B0D7-7A69A0D40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8" name="Rectangle 67">
            <a:extLst>
              <a:ext uri="{FF2B5EF4-FFF2-40B4-BE49-F238E27FC236}">
                <a16:creationId xmlns:a16="http://schemas.microsoft.com/office/drawing/2014/main" id="{ADC50C3D-0DA0-4914-B5B4-D1819CC69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9" name="TextBox 68">
            <a:extLst>
              <a:ext uri="{FF2B5EF4-FFF2-40B4-BE49-F238E27FC236}">
                <a16:creationId xmlns:a16="http://schemas.microsoft.com/office/drawing/2014/main" id="{8CF9E583-1A92-4144-B4FA-81D98317FA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70" name="Rectangle 69">
            <a:extLst>
              <a:ext uri="{FF2B5EF4-FFF2-40B4-BE49-F238E27FC236}">
                <a16:creationId xmlns:a16="http://schemas.microsoft.com/office/drawing/2014/main" id="{7EE9F1D6-64BF-4324-9841-93E3B60FD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 name="Picture 70">
            <a:extLst>
              <a:ext uri="{FF2B5EF4-FFF2-40B4-BE49-F238E27FC236}">
                <a16:creationId xmlns:a16="http://schemas.microsoft.com/office/drawing/2014/main" id="{B63EADF6-96FB-4085-86CE-E5754AD0153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72" name="Picture 71">
            <a:extLst>
              <a:ext uri="{FF2B5EF4-FFF2-40B4-BE49-F238E27FC236}">
                <a16:creationId xmlns:a16="http://schemas.microsoft.com/office/drawing/2014/main" id="{E1A28DA3-A38C-4B8F-9153-AEE97C3201F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73" name="Rectangle 72">
            <a:extLst>
              <a:ext uri="{FF2B5EF4-FFF2-40B4-BE49-F238E27FC236}">
                <a16:creationId xmlns:a16="http://schemas.microsoft.com/office/drawing/2014/main" id="{91BA3BB2-3CF5-4447-8F36-4EDC5CC39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6C8642A-1839-4DA2-99E2-1C24CB20D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2C500C40-E4A5-4D71-BF51-8B40908B5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27C14D-7392-8BD3-53C4-900B8DA5B359}"/>
              </a:ext>
            </a:extLst>
          </p:cNvPr>
          <p:cNvSpPr txBox="1">
            <a:spLocks/>
          </p:cNvSpPr>
          <p:nvPr/>
        </p:nvSpPr>
        <p:spPr>
          <a:xfrm>
            <a:off x="1969804" y="3428998"/>
            <a:ext cx="4324492" cy="226855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spcAft>
                <a:spcPts val="600"/>
              </a:spcAft>
            </a:pPr>
            <a:r>
              <a:rPr lang="en-US" sz="4800"/>
              <a:t>Thank you</a:t>
            </a:r>
          </a:p>
        </p:txBody>
      </p:sp>
      <p:sp>
        <p:nvSpPr>
          <p:cNvPr id="76" name="Rectangle 75">
            <a:extLst>
              <a:ext uri="{FF2B5EF4-FFF2-40B4-BE49-F238E27FC236}">
                <a16:creationId xmlns:a16="http://schemas.microsoft.com/office/drawing/2014/main" id="{5750C232-8114-45E7-8E48-7D80EE523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69065" y="647189"/>
            <a:ext cx="3673003" cy="55642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Graphic 76" descr="Handshake">
            <a:extLst>
              <a:ext uri="{FF2B5EF4-FFF2-40B4-BE49-F238E27FC236}">
                <a16:creationId xmlns:a16="http://schemas.microsoft.com/office/drawing/2014/main" id="{3E10CB29-1DF2-EA79-34C3-430356A438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80672" y="1910000"/>
            <a:ext cx="3039664" cy="3039664"/>
          </a:xfrm>
          <a:prstGeom prst="rect">
            <a:avLst/>
          </a:prstGeom>
          <a:ln>
            <a:noFill/>
          </a:ln>
        </p:spPr>
      </p:pic>
      <p:sp>
        <p:nvSpPr>
          <p:cNvPr id="78" name="Rectangle 77">
            <a:extLst>
              <a:ext uri="{FF2B5EF4-FFF2-40B4-BE49-F238E27FC236}">
                <a16:creationId xmlns:a16="http://schemas.microsoft.com/office/drawing/2014/main" id="{5257FDA9-983E-4BD5-A2EA-8B79B4B9F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6744" y="888935"/>
            <a:ext cx="3179298" cy="5078094"/>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277A7CBA-703A-4777-8681-036B48D80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25531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7670</TotalTime>
  <Words>6857</Words>
  <Application>Microsoft Macintosh PowerPoint</Application>
  <PresentationFormat>Widescreen</PresentationFormat>
  <Paragraphs>2091</Paragraphs>
  <Slides>48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Aptos</vt:lpstr>
      <vt:lpstr>Aptos Narrow</vt:lpstr>
      <vt:lpstr>Arial</vt:lpstr>
      <vt:lpstr>Calibri</vt:lpstr>
      <vt:lpstr>MS Shell Dlg 2</vt:lpstr>
      <vt:lpstr>Times New Roman</vt:lpstr>
      <vt:lpstr>Wingdings</vt:lpstr>
      <vt:lpstr>Wingdings 3</vt:lpstr>
      <vt:lpstr>Madison</vt:lpstr>
      <vt:lpstr>Hotel Booking Analyst</vt:lpstr>
      <vt:lpstr>Hotels included in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 Chi Thinn</dc:creator>
  <cp:lastModifiedBy>Zar Chi Thinn</cp:lastModifiedBy>
  <cp:revision>546</cp:revision>
  <dcterms:created xsi:type="dcterms:W3CDTF">2026-05-31T14:31:20Z</dcterms:created>
  <dcterms:modified xsi:type="dcterms:W3CDTF">2026-07-01T07:47:54Z</dcterms:modified>
</cp:coreProperties>
</file>